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9" autoAdjust="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67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055640"/>
          </a:solidFill>
          <a:ln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lujo_devops_del_código_a_producció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0"/>
            <a:ext cx="5143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828800"/>
            <a:ext cx="5852160" cy="1308050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l"/>
            <a:r>
              <a:rPr sz="4000" b="1" i="0" dirty="0" err="1">
                <a:solidFill>
                  <a:srgbClr val="FFFFFF"/>
                </a:solidFill>
                <a:latin typeface="Arial"/>
              </a:rPr>
              <a:t>Fundamentos</a:t>
            </a:r>
            <a:r>
              <a:rPr sz="4000" b="1" i="0" dirty="0">
                <a:solidFill>
                  <a:srgbClr val="FFFFFF"/>
                </a:solidFill>
                <a:latin typeface="Arial"/>
              </a:rPr>
              <a:t>
de </a:t>
            </a:r>
            <a:r>
              <a:rPr sz="4000" b="1" i="0" dirty="0" err="1">
                <a:solidFill>
                  <a:srgbClr val="FFFFFF"/>
                </a:solidFill>
                <a:latin typeface="Arial"/>
              </a:rPr>
              <a:t>contenedores</a:t>
            </a:r>
            <a:endParaRPr sz="4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9CB873E-685B-674F-42EF-2BCBE16E595D}"/>
              </a:ext>
            </a:extLst>
          </p:cNvPr>
          <p:cNvSpPr/>
          <p:nvPr/>
        </p:nvSpPr>
        <p:spPr>
          <a:xfrm>
            <a:off x="548640" y="502920"/>
            <a:ext cx="11091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B2DFDB"/>
                </a:solidFill>
                <a:effectLst/>
                <a:uFillTx/>
                <a:latin typeface="Arial"/>
                <a:ea typeface="Arial"/>
              </a:rPr>
              <a:t>DESPLIEGUE DE APLICACIONES WEB  —  CURSO 2026/2027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8D19E44C-8D7D-DC4C-F500-8F8435DC93E3}"/>
              </a:ext>
            </a:extLst>
          </p:cNvPr>
          <p:cNvSpPr/>
          <p:nvPr/>
        </p:nvSpPr>
        <p:spPr>
          <a:xfrm>
            <a:off x="0" y="5120640"/>
            <a:ext cx="7954920" cy="9140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E3D37BB-2692-A6BF-8485-3C8D15DF0F71}"/>
              </a:ext>
            </a:extLst>
          </p:cNvPr>
          <p:cNvSpPr/>
          <p:nvPr/>
        </p:nvSpPr>
        <p:spPr>
          <a:xfrm>
            <a:off x="548640" y="5120640"/>
            <a:ext cx="68576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000" b="0" i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Tema 2 — Virtualización y contenedores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9250D8C8-CB52-5581-AA97-E6678C993253}"/>
              </a:ext>
            </a:extLst>
          </p:cNvPr>
          <p:cNvSpPr/>
          <p:nvPr/>
        </p:nvSpPr>
        <p:spPr>
          <a:xfrm>
            <a:off x="937260" y="546354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05288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2200" b="1" dirty="0">
                <a:solidFill>
                  <a:srgbClr val="004D40"/>
                </a:solidFill>
                <a:latin typeface="+mj-lt"/>
              </a:rPr>
              <a:t>Cambiar la </a:t>
            </a:r>
            <a:r>
              <a:rPr sz="2200" b="1" dirty="0" err="1">
                <a:solidFill>
                  <a:srgbClr val="004D40"/>
                </a:solidFill>
                <a:latin typeface="+mj-lt"/>
              </a:rPr>
              <a:t>pregunta</a:t>
            </a:r>
            <a:r>
              <a:rPr sz="2200" b="1" dirty="0">
                <a:solidFill>
                  <a:srgbClr val="004D40"/>
                </a:solidFill>
                <a:latin typeface="+mj-lt"/>
              </a:rPr>
              <a:t>: de “¿</a:t>
            </a:r>
            <a:r>
              <a:rPr sz="2200" b="1" dirty="0" err="1">
                <a:solidFill>
                  <a:srgbClr val="004D40"/>
                </a:solidFill>
                <a:latin typeface="+mj-lt"/>
              </a:rPr>
              <a:t>funciona</a:t>
            </a:r>
            <a:r>
              <a:rPr sz="2200" b="1" dirty="0">
                <a:solidFill>
                  <a:srgbClr val="004D40"/>
                </a:solidFill>
                <a:latin typeface="+mj-lt"/>
              </a:rPr>
              <a:t> </a:t>
            </a:r>
            <a:r>
              <a:rPr sz="2200" b="1" dirty="0" err="1">
                <a:solidFill>
                  <a:srgbClr val="004D40"/>
                </a:solidFill>
                <a:latin typeface="+mj-lt"/>
              </a:rPr>
              <a:t>aquí</a:t>
            </a:r>
            <a:r>
              <a:rPr sz="2200" b="1" dirty="0">
                <a:solidFill>
                  <a:srgbClr val="004D40"/>
                </a:solidFill>
                <a:latin typeface="+mj-lt"/>
              </a:rPr>
              <a:t>?” a “¿</a:t>
            </a:r>
            <a:r>
              <a:rPr sz="2200" b="1" dirty="0" err="1">
                <a:solidFill>
                  <a:srgbClr val="004D40"/>
                </a:solidFill>
                <a:latin typeface="+mj-lt"/>
              </a:rPr>
              <a:t>puedo</a:t>
            </a:r>
            <a:r>
              <a:rPr sz="2200" b="1" dirty="0">
                <a:solidFill>
                  <a:srgbClr val="004D40"/>
                </a:solidFill>
                <a:latin typeface="+mj-lt"/>
              </a:rPr>
              <a:t> </a:t>
            </a:r>
            <a:r>
              <a:rPr sz="2200" b="1" dirty="0" err="1">
                <a:solidFill>
                  <a:srgbClr val="004D40"/>
                </a:solidFill>
                <a:latin typeface="+mj-lt"/>
              </a:rPr>
              <a:t>empaquetarlo</a:t>
            </a:r>
            <a:r>
              <a:rPr sz="2200" b="1" dirty="0">
                <a:solidFill>
                  <a:srgbClr val="004D40"/>
                </a:solidFill>
                <a:latin typeface="+mj-lt"/>
              </a:rPr>
              <a:t> y </a:t>
            </a:r>
            <a:r>
              <a:rPr sz="2200" b="1" dirty="0" err="1">
                <a:solidFill>
                  <a:srgbClr val="004D40"/>
                </a:solidFill>
                <a:latin typeface="+mj-lt"/>
              </a:rPr>
              <a:t>repetirlo</a:t>
            </a:r>
            <a:r>
              <a:rPr sz="2200" b="1" dirty="0">
                <a:solidFill>
                  <a:srgbClr val="004D40"/>
                </a:solidFill>
                <a:latin typeface="+mj-lt"/>
              </a:rPr>
              <a:t>?”</a:t>
            </a:r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7ABE1D5F-4C63-5699-32F9-5C8649D7FAC5}"/>
              </a:ext>
            </a:extLst>
          </p:cNvPr>
          <p:cNvGrpSpPr/>
          <p:nvPr/>
        </p:nvGrpSpPr>
        <p:grpSpPr>
          <a:xfrm>
            <a:off x="1681786" y="1601496"/>
            <a:ext cx="8828122" cy="2071989"/>
            <a:chOff x="1448392" y="1468164"/>
            <a:chExt cx="8828122" cy="2071989"/>
          </a:xfrm>
        </p:grpSpPr>
        <p:sp>
          <p:nvSpPr>
            <p:cNvPr id="6" name="Rounded Rectangle 5"/>
            <p:cNvSpPr/>
            <p:nvPr/>
          </p:nvSpPr>
          <p:spPr>
            <a:xfrm>
              <a:off x="1448392" y="1468164"/>
              <a:ext cx="4020494" cy="2071989"/>
            </a:xfrm>
            <a:prstGeom prst="roundRect">
              <a:avLst/>
            </a:prstGeom>
            <a:solidFill>
              <a:srgbClr val="FCEBEA"/>
            </a:solidFill>
            <a:ln w="12700">
              <a:solidFill>
                <a:srgbClr val="AFD2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9728" tIns="448056" bIns="73152" rtlCol="0" anchor="ctr"/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300">
                  <a:solidFill>
                    <a:srgbClr val="313A44"/>
                  </a:solidFill>
                  <a:latin typeface="Arial"/>
                </a:defRPr>
              </a:pPr>
              <a:r>
                <a:rPr lang="es-ES" sz="1600" dirty="0"/>
                <a:t>Dependencias fuera del repositorio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300">
                  <a:solidFill>
                    <a:srgbClr val="313A44"/>
                  </a:solidFill>
                  <a:latin typeface="Arial"/>
                </a:defRPr>
              </a:pPr>
              <a:r>
                <a:rPr lang="es-ES" sz="1600" dirty="0"/>
                <a:t>Versiones distintas entre máquinas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300">
                  <a:solidFill>
                    <a:srgbClr val="313A44"/>
                  </a:solidFill>
                  <a:latin typeface="Arial"/>
                </a:defRPr>
              </a:pPr>
              <a:r>
                <a:rPr lang="es-ES" sz="1600" dirty="0"/>
                <a:t>Instalaciones manuales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300">
                  <a:solidFill>
                    <a:srgbClr val="313A44"/>
                  </a:solidFill>
                  <a:latin typeface="Arial"/>
                </a:defRPr>
              </a:pPr>
              <a:r>
                <a:rPr lang="es-ES" sz="1600" dirty="0"/>
                <a:t>Entorno difícil de reconstruir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448392" y="1468165"/>
              <a:ext cx="4020494" cy="387284"/>
            </a:xfrm>
            <a:prstGeom prst="rect">
              <a:avLst/>
            </a:prstGeom>
            <a:solidFill>
              <a:srgbClr val="C54646"/>
            </a:solidFill>
            <a:ln>
              <a:solidFill>
                <a:srgbClr val="C546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12400" y="1489342"/>
              <a:ext cx="3886478" cy="353943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l"/>
              <a:r>
                <a:rPr b="1" i="0" dirty="0">
                  <a:solidFill>
                    <a:srgbClr val="FFFFFF"/>
                  </a:solidFill>
                  <a:latin typeface="Arial"/>
                </a:rPr>
                <a:t>Solo </a:t>
              </a:r>
              <a:r>
                <a:rPr b="1" i="0" dirty="0" err="1">
                  <a:solidFill>
                    <a:srgbClr val="FFFFFF"/>
                  </a:solidFill>
                  <a:latin typeface="Arial"/>
                </a:rPr>
                <a:t>código</a:t>
              </a:r>
              <a:endParaRPr b="1" i="0" dirty="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56020" y="1468164"/>
              <a:ext cx="4020494" cy="2071989"/>
            </a:xfrm>
            <a:prstGeom prst="roundRect">
              <a:avLst/>
            </a:prstGeom>
            <a:solidFill>
              <a:srgbClr val="E8F6F0"/>
            </a:solidFill>
            <a:ln w="12700">
              <a:solidFill>
                <a:srgbClr val="AFD2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9728" tIns="448056" bIns="73152" rtlCol="0" anchor="ctr"/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300">
                  <a:solidFill>
                    <a:srgbClr val="313A44"/>
                  </a:solidFill>
                  <a:latin typeface="Arial"/>
                </a:defRPr>
              </a:pPr>
              <a:r>
                <a:rPr sz="1600" dirty="0"/>
                <a:t>Runtime </a:t>
              </a:r>
              <a:r>
                <a:rPr sz="1600" dirty="0" err="1"/>
                <a:t>conocido</a:t>
              </a:r>
              <a:endParaRPr sz="1600" dirty="0"/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300">
                  <a:solidFill>
                    <a:srgbClr val="313A44"/>
                  </a:solidFill>
                  <a:latin typeface="Arial"/>
                </a:defRPr>
              </a:pPr>
              <a:r>
                <a:rPr sz="1600" dirty="0" err="1"/>
                <a:t>Configuración</a:t>
              </a:r>
              <a:r>
                <a:rPr sz="1600" dirty="0"/>
                <a:t> externa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300">
                  <a:solidFill>
                    <a:srgbClr val="313A44"/>
                  </a:solidFill>
                  <a:latin typeface="Arial"/>
                </a:defRPr>
              </a:pPr>
              <a:r>
                <a:rPr sz="1600" dirty="0" err="1"/>
                <a:t>Entorno</a:t>
              </a:r>
              <a:r>
                <a:rPr sz="1600" dirty="0"/>
                <a:t> </a:t>
              </a:r>
              <a:r>
                <a:rPr sz="1600" dirty="0" err="1"/>
                <a:t>aislado</a:t>
              </a:r>
              <a:endParaRPr sz="1600" dirty="0"/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300">
                  <a:solidFill>
                    <a:srgbClr val="313A44"/>
                  </a:solidFill>
                  <a:latin typeface="Arial"/>
                </a:defRPr>
              </a:pPr>
              <a:r>
                <a:rPr sz="1600" dirty="0" err="1"/>
                <a:t>Misma</a:t>
              </a:r>
              <a:r>
                <a:rPr sz="1600" dirty="0"/>
                <a:t> </a:t>
              </a:r>
              <a:r>
                <a:rPr sz="1600" dirty="0" err="1"/>
                <a:t>unidad</a:t>
              </a:r>
              <a:r>
                <a:rPr sz="1600" dirty="0"/>
                <a:t> </a:t>
              </a:r>
              <a:r>
                <a:rPr sz="1600" dirty="0" err="1"/>
                <a:t>en</a:t>
              </a:r>
              <a:r>
                <a:rPr sz="1600" dirty="0"/>
                <a:t> </a:t>
              </a:r>
              <a:r>
                <a:rPr sz="1600" dirty="0" err="1"/>
                <a:t>distintos</a:t>
              </a:r>
              <a:r>
                <a:rPr sz="1600" dirty="0"/>
                <a:t> </a:t>
              </a:r>
              <a:r>
                <a:rPr sz="1600" dirty="0" err="1"/>
                <a:t>entornos</a:t>
              </a:r>
              <a:endParaRPr sz="16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56020" y="1468165"/>
              <a:ext cx="4020494" cy="387284"/>
            </a:xfrm>
            <a:prstGeom prst="rect">
              <a:avLst/>
            </a:prstGeom>
            <a:solidFill>
              <a:srgbClr val="055640"/>
            </a:solidFill>
            <a:ln>
              <a:solidFill>
                <a:srgbClr val="0556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320028" y="1489342"/>
              <a:ext cx="3886478" cy="353943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l"/>
              <a:r>
                <a:rPr b="1" i="0" dirty="0">
                  <a:solidFill>
                    <a:srgbClr val="FFFFFF"/>
                  </a:solidFill>
                  <a:latin typeface="Arial"/>
                </a:rPr>
                <a:t>Unidad reproducible</a:t>
              </a:r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5BF1AAE-EE73-AF10-B781-26ACEB3433F8}"/>
              </a:ext>
            </a:extLst>
          </p:cNvPr>
          <p:cNvGrpSpPr/>
          <p:nvPr/>
        </p:nvGrpSpPr>
        <p:grpSpPr>
          <a:xfrm>
            <a:off x="815340" y="4456498"/>
            <a:ext cx="10561319" cy="658368"/>
            <a:chOff x="749809" y="4456498"/>
            <a:chExt cx="10561319" cy="658368"/>
          </a:xfrm>
        </p:grpSpPr>
        <p:sp>
          <p:nvSpPr>
            <p:cNvPr id="12" name="Rounded Rectangle 11"/>
            <p:cNvSpPr/>
            <p:nvPr/>
          </p:nvSpPr>
          <p:spPr>
            <a:xfrm>
              <a:off x="749809" y="4456498"/>
              <a:ext cx="1446058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418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68097" y="4531767"/>
              <a:ext cx="1409482" cy="507831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ctr"/>
              <a:r>
                <a:rPr sz="1400" b="1" i="0" dirty="0" err="1">
                  <a:solidFill>
                    <a:srgbClr val="18365F"/>
                  </a:solidFill>
                  <a:latin typeface="Arial"/>
                </a:rPr>
                <a:t>Entorno</a:t>
              </a:r>
              <a:r>
                <a:rPr sz="1400" b="1" i="0" dirty="0">
                  <a:solidFill>
                    <a:srgbClr val="18365F"/>
                  </a:solidFill>
                  <a:latin typeface="Arial"/>
                </a:rPr>
                <a:t>
reproducible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269019" y="4456498"/>
              <a:ext cx="1446058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0B4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287307" y="4639488"/>
              <a:ext cx="1409482" cy="292388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18365F"/>
                  </a:solidFill>
                  <a:latin typeface="Arial"/>
                </a:rPr>
                <a:t>Imagen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3788229" y="4456498"/>
              <a:ext cx="1446058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8E5BC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06517" y="4639488"/>
              <a:ext cx="1409482" cy="292388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18365F"/>
                  </a:solidFill>
                  <a:latin typeface="Arial"/>
                </a:rPr>
                <a:t>Contenedor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307439" y="4456498"/>
              <a:ext cx="1446058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8913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25727" y="4639488"/>
              <a:ext cx="1409482" cy="292388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18365F"/>
                  </a:solidFill>
                  <a:latin typeface="Arial"/>
                </a:rPr>
                <a:t>Ejecución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6826650" y="4456498"/>
              <a:ext cx="1446058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359B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844938" y="4639488"/>
              <a:ext cx="1409482" cy="292388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18365F"/>
                  </a:solidFill>
                  <a:latin typeface="Arial"/>
                </a:rPr>
                <a:t>Persistencia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8345860" y="4456498"/>
              <a:ext cx="1446058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5D91D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364148" y="4639488"/>
              <a:ext cx="1409482" cy="292388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18365F"/>
                  </a:solidFill>
                  <a:latin typeface="Arial"/>
                </a:rPr>
                <a:t>Construcción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865070" y="4456498"/>
              <a:ext cx="1446058" cy="65836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896FB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883358" y="4639488"/>
              <a:ext cx="1409482" cy="292388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ctr"/>
              <a:r>
                <a:rPr sz="1400" b="1" i="0">
                  <a:solidFill>
                    <a:srgbClr val="18365F"/>
                  </a:solidFill>
                  <a:latin typeface="Arial"/>
                </a:rPr>
                <a:t>Publicación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937260" y="5547893"/>
            <a:ext cx="10564088" cy="353943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dirty="0">
                <a:solidFill>
                  <a:srgbClr val="18365F"/>
                </a:solidFill>
                <a:latin typeface="Aptos" panose="020B0004020202020204" pitchFamily="34" charset="0"/>
              </a:rPr>
              <a:t>Idea clave: una imagen empaqueta un entorno; un contenedor es una instancia creada a partir de ella.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0AAB31E7-05DC-A4F8-18EF-7F2A2829FBB1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B6E2E76F-C079-7E95-0CB6-56AE52EFEF87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4995100A-FF92-A92D-34A1-81422BD29454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Objetivo</a:t>
            </a:r>
            <a:r>
              <a:rPr lang="en-U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de la </a:t>
            </a:r>
            <a:r>
              <a:rPr lang="en-US" sz="2500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sesión</a:t>
            </a:r>
            <a:endParaRPr lang="en-US" sz="2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12F7C-5D34-BFCE-5C5C-5C2E1C1A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0F9CD227-026A-BF7A-9FE7-317E7D96D575}"/>
              </a:ext>
            </a:extLst>
          </p:cNvPr>
          <p:cNvSpPr/>
          <p:nvPr/>
        </p:nvSpPr>
        <p:spPr>
          <a:xfrm>
            <a:off x="937260" y="546354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8D578-FA5E-B36B-DB24-4DA077C67151}"/>
              </a:ext>
            </a:extLst>
          </p:cNvPr>
          <p:cNvSpPr txBox="1"/>
          <p:nvPr/>
        </p:nvSpPr>
        <p:spPr>
          <a:xfrm>
            <a:off x="914400" y="868680"/>
            <a:ext cx="10305288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lang="es-ES" sz="2200" b="1" dirty="0">
                <a:solidFill>
                  <a:srgbClr val="004D40"/>
                </a:solidFill>
                <a:latin typeface="+mj-lt"/>
              </a:rPr>
              <a:t>Copiar el repositorio no reproduce automáticamente la ejecución.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A79924B4-04D3-C335-F314-A217BD5111A6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21DBFA7D-295E-C1E1-DCA6-01EA9A7ED97A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A7818150-7705-AD3C-552F-FC2A06C516FD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A708281F-F007-98D9-CFE4-AECDA4FBAE9B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7C9BBC19-22FF-A526-9385-3F2190291FC3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DD17C328-87D3-E1D0-6573-9796F5AF0EAC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C7BE19E-2F5A-32A7-ED58-C2FD3E03B59C}"/>
              </a:ext>
            </a:extLst>
          </p:cNvPr>
          <p:cNvSpPr txBox="1"/>
          <p:nvPr/>
        </p:nvSpPr>
        <p:spPr>
          <a:xfrm>
            <a:off x="937260" y="5578670"/>
            <a:ext cx="10564088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sz="1400" dirty="0">
                <a:solidFill>
                  <a:srgbClr val="18365F"/>
                </a:solidFill>
                <a:latin typeface="Arial"/>
              </a:rPr>
              <a:t>Los contenedores sirven en desarrollo, pruebas, construcción y distribución; no son solo una tecnología de producción.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BFA160-8821-350C-D7F6-ECEDFB578E18}"/>
              </a:ext>
            </a:extLst>
          </p:cNvPr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5425E2A6-5FB4-45AE-436C-0F396EBAE9AB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A87E9F9B-24BA-3063-AA96-6494BC12813D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FBB5F104-6CEB-E8EB-384A-3A805A582D0B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Del código al entorno reproducible</a:t>
            </a:r>
          </a:p>
        </p:txBody>
      </p:sp>
      <p:sp>
        <p:nvSpPr>
          <p:cNvPr id="36" name="Rounded Rectangle 18">
            <a:extLst>
              <a:ext uri="{FF2B5EF4-FFF2-40B4-BE49-F238E27FC236}">
                <a16:creationId xmlns:a16="http://schemas.microsoft.com/office/drawing/2014/main" id="{FA341507-8EB2-1C4B-55DC-DFDF746F929D}"/>
              </a:ext>
            </a:extLst>
          </p:cNvPr>
          <p:cNvSpPr/>
          <p:nvPr/>
        </p:nvSpPr>
        <p:spPr>
          <a:xfrm>
            <a:off x="833628" y="1698446"/>
            <a:ext cx="4250100" cy="2412958"/>
          </a:xfrm>
          <a:prstGeom prst="roundRect">
            <a:avLst>
              <a:gd name="adj" fmla="val 16667"/>
            </a:avLst>
          </a:prstGeom>
          <a:solidFill>
            <a:srgbClr val="E9F1FA"/>
          </a:solidFill>
          <a:ln>
            <a:solidFill>
              <a:srgbClr val="B5CEC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tIns="481680" rIns="101520" bIns="101520" anchor="ctr">
            <a:noAutofit/>
          </a:bodyPr>
          <a:lstStyle/>
          <a:p>
            <a:pPr marL="285750" indent="-285750" defTabSz="4572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u="none" strike="noStrike" dirty="0">
                <a:solidFill>
                  <a:srgbClr val="2D3436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Artefacto construido</a:t>
            </a:r>
          </a:p>
          <a:p>
            <a:pPr marL="285750" indent="-285750" defTabSz="4572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u="none" strike="noStrike" dirty="0" err="1">
                <a:solidFill>
                  <a:srgbClr val="2D3436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Runtime</a:t>
            </a:r>
            <a:r>
              <a:rPr lang="es-ES" sz="1600" b="0" u="none" strike="noStrike" dirty="0">
                <a:solidFill>
                  <a:srgbClr val="2D3436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y versiones</a:t>
            </a:r>
          </a:p>
          <a:p>
            <a:pPr marL="285750" indent="-285750" defTabSz="4572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u="none" strike="noStrike" dirty="0">
                <a:solidFill>
                  <a:srgbClr val="2D3436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Bibliotecas y herramientas</a:t>
            </a:r>
          </a:p>
          <a:p>
            <a:pPr marL="285750" indent="-285750" defTabSz="4572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u="none" strike="noStrike" dirty="0">
                <a:solidFill>
                  <a:srgbClr val="2D3436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Configuración externa</a:t>
            </a:r>
          </a:p>
          <a:p>
            <a:pPr marL="285750" indent="-285750" defTabSz="4572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u="none" strike="noStrike" dirty="0">
                <a:solidFill>
                  <a:srgbClr val="2D3436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Servicios auxiliares</a:t>
            </a:r>
          </a:p>
          <a:p>
            <a:pPr marL="285750" indent="-285750" defTabSz="4572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1600" b="0" u="none" strike="noStrike" dirty="0">
                <a:solidFill>
                  <a:srgbClr val="2D3436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Directorios, permisos y puertos</a:t>
            </a:r>
            <a:r>
              <a:rPr lang="en-US" sz="1600" b="0" u="none" strike="noStrike" dirty="0">
                <a:solidFill>
                  <a:srgbClr val="2D3436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ounded Rectangle 19">
            <a:extLst>
              <a:ext uri="{FF2B5EF4-FFF2-40B4-BE49-F238E27FC236}">
                <a16:creationId xmlns:a16="http://schemas.microsoft.com/office/drawing/2014/main" id="{2E69D109-07F9-1870-F1FD-9128B3C4BA74}"/>
              </a:ext>
            </a:extLst>
          </p:cNvPr>
          <p:cNvSpPr/>
          <p:nvPr/>
        </p:nvSpPr>
        <p:spPr>
          <a:xfrm>
            <a:off x="815340" y="1671056"/>
            <a:ext cx="4268388" cy="373517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400" b="0" u="none" strike="noStrike" dirty="0">
              <a:solidFill>
                <a:schemeClr val="lt1"/>
              </a:solidFill>
              <a:effectLst/>
              <a:uFillTx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CDA9663D-05C9-03D6-8014-5DA5C97BE6DC}"/>
              </a:ext>
            </a:extLst>
          </p:cNvPr>
          <p:cNvSpPr/>
          <p:nvPr/>
        </p:nvSpPr>
        <p:spPr>
          <a:xfrm>
            <a:off x="870060" y="1671529"/>
            <a:ext cx="4125884" cy="4003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76320" tIns="76320" rIns="76320" bIns="7632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s-ES" sz="1600" b="1" u="none" strike="noStrike" dirty="0">
                <a:solidFill>
                  <a:srgbClr val="FFFFFF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Qué puede necesitar una aplicación</a:t>
            </a:r>
          </a:p>
        </p:txBody>
      </p:sp>
      <p:sp>
        <p:nvSpPr>
          <p:cNvPr id="48" name="Rounded Rectangle 8">
            <a:extLst>
              <a:ext uri="{FF2B5EF4-FFF2-40B4-BE49-F238E27FC236}">
                <a16:creationId xmlns:a16="http://schemas.microsoft.com/office/drawing/2014/main" id="{440A2749-B217-8AB3-8747-7388062E2395}"/>
              </a:ext>
            </a:extLst>
          </p:cNvPr>
          <p:cNvSpPr/>
          <p:nvPr/>
        </p:nvSpPr>
        <p:spPr>
          <a:xfrm>
            <a:off x="5320719" y="1604216"/>
            <a:ext cx="6035040" cy="301752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8B140C6D-2A2A-3D31-6DE0-304B9C298B32}"/>
              </a:ext>
            </a:extLst>
          </p:cNvPr>
          <p:cNvSpPr txBox="1"/>
          <p:nvPr/>
        </p:nvSpPr>
        <p:spPr>
          <a:xfrm>
            <a:off x="5549319" y="1805384"/>
            <a:ext cx="5577840" cy="353943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b="1" i="0" dirty="0" err="1">
                <a:solidFill>
                  <a:srgbClr val="055640"/>
                </a:solidFill>
                <a:latin typeface="Arial"/>
              </a:rPr>
              <a:t>Ejemplo</a:t>
            </a:r>
            <a:r>
              <a:rPr b="1" i="0" dirty="0">
                <a:solidFill>
                  <a:srgbClr val="055640"/>
                </a:solidFill>
                <a:latin typeface="Arial"/>
              </a:rPr>
              <a:t>: imagen de </a:t>
            </a:r>
            <a:r>
              <a:rPr b="1" i="0" dirty="0" err="1">
                <a:solidFill>
                  <a:srgbClr val="055640"/>
                </a:solidFill>
                <a:latin typeface="Arial"/>
              </a:rPr>
              <a:t>una</a:t>
            </a:r>
            <a:r>
              <a:rPr b="1" i="0" dirty="0">
                <a:solidFill>
                  <a:srgbClr val="055640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55640"/>
                </a:solidFill>
                <a:latin typeface="Arial"/>
              </a:rPr>
              <a:t>aplicación</a:t>
            </a:r>
            <a:r>
              <a:rPr b="1" i="0" dirty="0">
                <a:solidFill>
                  <a:srgbClr val="055640"/>
                </a:solidFill>
                <a:latin typeface="Arial"/>
              </a:rPr>
              <a:t> web Java</a:t>
            </a:r>
          </a:p>
        </p:txBody>
      </p:sp>
      <p:sp>
        <p:nvSpPr>
          <p:cNvPr id="52" name="Rounded Rectangle 10">
            <a:extLst>
              <a:ext uri="{FF2B5EF4-FFF2-40B4-BE49-F238E27FC236}">
                <a16:creationId xmlns:a16="http://schemas.microsoft.com/office/drawing/2014/main" id="{A6F8511A-0D8E-DE1C-4365-4BF7618F177A}"/>
              </a:ext>
            </a:extLst>
          </p:cNvPr>
          <p:cNvSpPr/>
          <p:nvPr/>
        </p:nvSpPr>
        <p:spPr>
          <a:xfrm>
            <a:off x="5960799" y="2381456"/>
            <a:ext cx="44805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>
              <a:defRPr sz="1400">
                <a:solidFill>
                  <a:srgbClr val="2D3A4C"/>
                </a:solidFill>
                <a:latin typeface="Consolas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imagen de la </a:t>
            </a:r>
            <a:r>
              <a:rPr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aplicación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runtime de Java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└── </a:t>
            </a:r>
            <a:r>
              <a:rPr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aplicación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Spring Boot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└── </a:t>
            </a:r>
            <a:r>
              <a:rPr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servidor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HTTP </a:t>
            </a:r>
            <a:r>
              <a:rPr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embebido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TextBox 11">
            <a:extLst>
              <a:ext uri="{FF2B5EF4-FFF2-40B4-BE49-F238E27FC236}">
                <a16:creationId xmlns:a16="http://schemas.microsoft.com/office/drawing/2014/main" id="{FFF13B00-4554-436B-01C5-1939650C8075}"/>
              </a:ext>
            </a:extLst>
          </p:cNvPr>
          <p:cNvSpPr txBox="1"/>
          <p:nvPr/>
        </p:nvSpPr>
        <p:spPr>
          <a:xfrm>
            <a:off x="5640759" y="3946891"/>
            <a:ext cx="5394960" cy="507831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1400" b="0" i="0" dirty="0">
                <a:solidFill>
                  <a:srgbClr val="313A44"/>
                </a:solidFill>
                <a:latin typeface="Arial"/>
              </a:rPr>
              <a:t>La base de </a:t>
            </a:r>
            <a:r>
              <a:rPr sz="1400" b="0" i="0" dirty="0" err="1">
                <a:solidFill>
                  <a:srgbClr val="313A44"/>
                </a:solidFill>
                <a:latin typeface="Arial"/>
              </a:rPr>
              <a:t>datos</a:t>
            </a:r>
            <a:r>
              <a:rPr sz="1400" b="0" i="0" dirty="0">
                <a:solidFill>
                  <a:srgbClr val="313A44"/>
                </a:solidFill>
                <a:latin typeface="Arial"/>
              </a:rPr>
              <a:t>, la </a:t>
            </a:r>
            <a:r>
              <a:rPr sz="1400" b="0" i="0" dirty="0" err="1">
                <a:solidFill>
                  <a:srgbClr val="313A44"/>
                </a:solidFill>
                <a:latin typeface="Arial"/>
              </a:rPr>
              <a:t>aplicación</a:t>
            </a:r>
            <a:r>
              <a:rPr sz="1400" b="0" i="0" dirty="0">
                <a:solidFill>
                  <a:srgbClr val="313A44"/>
                </a:solidFill>
                <a:latin typeface="Arial"/>
              </a:rPr>
              <a:t> y un </a:t>
            </a:r>
            <a:r>
              <a:rPr sz="1400" b="0" i="0" dirty="0" err="1">
                <a:solidFill>
                  <a:srgbClr val="313A44"/>
                </a:solidFill>
                <a:latin typeface="Arial"/>
              </a:rPr>
              <a:t>posible</a:t>
            </a:r>
            <a:r>
              <a:rPr sz="1400" b="0" i="0" dirty="0">
                <a:solidFill>
                  <a:srgbClr val="313A44"/>
                </a:solidFill>
                <a:latin typeface="Arial"/>
              </a:rPr>
              <a:t> proxy </a:t>
            </a:r>
            <a:r>
              <a:rPr sz="1400" b="0" i="0" dirty="0" err="1">
                <a:solidFill>
                  <a:srgbClr val="313A44"/>
                </a:solidFill>
                <a:latin typeface="Arial"/>
              </a:rPr>
              <a:t>pueden</a:t>
            </a:r>
            <a:r>
              <a:rPr sz="1400" b="0" i="0" dirty="0">
                <a:solidFill>
                  <a:srgbClr val="313A44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313A44"/>
                </a:solidFill>
                <a:latin typeface="Arial"/>
              </a:rPr>
              <a:t>seguir</a:t>
            </a:r>
            <a:r>
              <a:rPr sz="1400" b="0" i="0" dirty="0">
                <a:solidFill>
                  <a:srgbClr val="313A44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313A44"/>
                </a:solidFill>
                <a:latin typeface="Arial"/>
              </a:rPr>
              <a:t>siendo</a:t>
            </a:r>
            <a:r>
              <a:rPr sz="1400" b="0" i="0" dirty="0">
                <a:solidFill>
                  <a:srgbClr val="313A44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313A44"/>
                </a:solidFill>
                <a:latin typeface="Arial"/>
              </a:rPr>
              <a:t>piezas</a:t>
            </a:r>
            <a:r>
              <a:rPr sz="1400" b="0" i="0" dirty="0">
                <a:solidFill>
                  <a:srgbClr val="313A44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313A44"/>
                </a:solidFill>
                <a:latin typeface="Arial"/>
              </a:rPr>
              <a:t>desplegables</a:t>
            </a:r>
            <a:r>
              <a:rPr sz="1400" b="0" i="0" dirty="0">
                <a:solidFill>
                  <a:srgbClr val="313A44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313A44"/>
                </a:solidFill>
                <a:latin typeface="Arial"/>
              </a:rPr>
              <a:t>distintas</a:t>
            </a:r>
            <a:r>
              <a:rPr sz="1400" b="0" i="0" dirty="0">
                <a:solidFill>
                  <a:srgbClr val="313A44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5232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DCC2AB-6234-E7F9-1EE0-EA023B050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DA7511F6-1D31-D1AF-2096-FD560437A3D8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4982D345-F323-3E43-B0FB-669626AC6A05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0A182E56-543E-7B05-5654-F11B01CFF267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CE6ED1A1-AC95-17C1-CA95-00FEDC809791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1252CA50-704A-C3F9-A1C4-23A472ACC000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16D17D25-417F-63C3-BAB3-EA7070CF020D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Shape 0">
            <a:extLst>
              <a:ext uri="{FF2B5EF4-FFF2-40B4-BE49-F238E27FC236}">
                <a16:creationId xmlns:a16="http://schemas.microsoft.com/office/drawing/2014/main" id="{4521AD8C-1805-476B-7D34-A93A4C6C9094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A633294-E2B9-8552-C70B-3B47B902A72F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Máquina virtual y contenedor</a:t>
            </a:r>
          </a:p>
        </p:txBody>
      </p:sp>
      <p:pic>
        <p:nvPicPr>
          <p:cNvPr id="6" name="Picture 4" descr="máquina_virtual_vs_contenedor_comparativa_visual.png">
            <a:extLst>
              <a:ext uri="{FF2B5EF4-FFF2-40B4-BE49-F238E27FC236}">
                <a16:creationId xmlns:a16="http://schemas.microsoft.com/office/drawing/2014/main" id="{1E115DEA-A2A2-3E87-4A41-C797DF4AE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498" y="868680"/>
            <a:ext cx="9098522" cy="5120640"/>
          </a:xfrm>
          <a:prstGeom prst="rect">
            <a:avLst/>
          </a:prstGeom>
        </p:spPr>
      </p:pic>
      <p:sp>
        <p:nvSpPr>
          <p:cNvPr id="10" name="Text 2">
            <a:extLst>
              <a:ext uri="{FF2B5EF4-FFF2-40B4-BE49-F238E27FC236}">
                <a16:creationId xmlns:a16="http://schemas.microsoft.com/office/drawing/2014/main" id="{FA71C531-320D-3AFB-D4DA-31D92F5B2E41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D595C44-FB86-D918-444D-C853A3A09ADE}"/>
              </a:ext>
            </a:extLst>
          </p:cNvPr>
          <p:cNvGrpSpPr/>
          <p:nvPr/>
        </p:nvGrpSpPr>
        <p:grpSpPr>
          <a:xfrm>
            <a:off x="1074596" y="5998124"/>
            <a:ext cx="10042808" cy="407518"/>
            <a:chOff x="1531498" y="5998124"/>
            <a:chExt cx="10042808" cy="407518"/>
          </a:xfrm>
        </p:grpSpPr>
        <p:sp>
          <p:nvSpPr>
            <p:cNvPr id="12" name="Shape 18">
              <a:extLst>
                <a:ext uri="{FF2B5EF4-FFF2-40B4-BE49-F238E27FC236}">
                  <a16:creationId xmlns:a16="http://schemas.microsoft.com/office/drawing/2014/main" id="{98432AA1-8F2A-8415-32B7-7E43001CF485}"/>
                </a:ext>
              </a:extLst>
            </p:cNvPr>
            <p:cNvSpPr/>
            <p:nvPr/>
          </p:nvSpPr>
          <p:spPr>
            <a:xfrm>
              <a:off x="1531498" y="5998124"/>
              <a:ext cx="10039834" cy="407518"/>
            </a:xfrm>
            <a:prstGeom prst="roundRect">
              <a:avLst>
                <a:gd name="adj" fmla="val 12308"/>
              </a:avLst>
            </a:prstGeom>
            <a:solidFill>
              <a:srgbClr val="FFFDE7"/>
            </a:solidFill>
            <a:ln w="16510">
              <a:solidFill>
                <a:srgbClr val="00ACC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TextBox 32">
              <a:extLst>
                <a:ext uri="{FF2B5EF4-FFF2-40B4-BE49-F238E27FC236}">
                  <a16:creationId xmlns:a16="http://schemas.microsoft.com/office/drawing/2014/main" id="{E27D5B0E-6860-F186-16F0-8E7B4F477B9D}"/>
                </a:ext>
              </a:extLst>
            </p:cNvPr>
            <p:cNvSpPr txBox="1"/>
            <p:nvPr/>
          </p:nvSpPr>
          <p:spPr>
            <a:xfrm>
              <a:off x="1531498" y="6067358"/>
              <a:ext cx="10042808" cy="292388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ctr"/>
              <a:r>
                <a:rPr lang="es-ES" sz="1400" dirty="0">
                  <a:solidFill>
                    <a:srgbClr val="18365F"/>
                  </a:solidFill>
                  <a:latin typeface="Arial"/>
                </a:rPr>
                <a:t>No son alternativas excluyentes: es habitual ejecutar contenedores dentro de máquinas virtuales.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574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F7EFF-3041-44F0-6AD2-D8B65654F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1F399879-FF0B-70D1-0C09-7C7C78B7D3CE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5EA9A631-A484-918E-A652-6957CC1AA32B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2EA477E9-0AFD-3062-139D-833B45975A95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DDABB091-4C09-5C73-3C46-ECB5D4B0B82F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CA43DE8D-9125-B736-D9E9-EF31E7445314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808B0886-A0CE-2B9F-716B-2C56EED317FB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Shape 0">
            <a:extLst>
              <a:ext uri="{FF2B5EF4-FFF2-40B4-BE49-F238E27FC236}">
                <a16:creationId xmlns:a16="http://schemas.microsoft.com/office/drawing/2014/main" id="{34880A56-D7B4-4259-A747-95E5F31F27E1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E0A80CD4-1DB4-2102-8457-071D47E0177C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Imagen, contenedor y persistencia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4B5F6573-738B-AB84-8855-68237B2F2211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EDABCA5-3788-1451-0E16-36B7F0DD6A4B}"/>
              </a:ext>
            </a:extLst>
          </p:cNvPr>
          <p:cNvGrpSpPr/>
          <p:nvPr/>
        </p:nvGrpSpPr>
        <p:grpSpPr>
          <a:xfrm>
            <a:off x="1074595" y="5959637"/>
            <a:ext cx="10309265" cy="507831"/>
            <a:chOff x="1531498" y="5959637"/>
            <a:chExt cx="10042808" cy="507831"/>
          </a:xfrm>
        </p:grpSpPr>
        <p:sp>
          <p:nvSpPr>
            <p:cNvPr id="12" name="Shape 18">
              <a:extLst>
                <a:ext uri="{FF2B5EF4-FFF2-40B4-BE49-F238E27FC236}">
                  <a16:creationId xmlns:a16="http://schemas.microsoft.com/office/drawing/2014/main" id="{BCB0DAEA-3034-F7EA-A89D-0BCBB80D6B4F}"/>
                </a:ext>
              </a:extLst>
            </p:cNvPr>
            <p:cNvSpPr/>
            <p:nvPr/>
          </p:nvSpPr>
          <p:spPr>
            <a:xfrm>
              <a:off x="1531498" y="5998124"/>
              <a:ext cx="10039834" cy="407518"/>
            </a:xfrm>
            <a:prstGeom prst="roundRect">
              <a:avLst>
                <a:gd name="adj" fmla="val 12308"/>
              </a:avLst>
            </a:prstGeom>
            <a:solidFill>
              <a:srgbClr val="FFFDE7"/>
            </a:solidFill>
            <a:ln w="16510">
              <a:solidFill>
                <a:srgbClr val="00ACC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TextBox 32">
              <a:extLst>
                <a:ext uri="{FF2B5EF4-FFF2-40B4-BE49-F238E27FC236}">
                  <a16:creationId xmlns:a16="http://schemas.microsoft.com/office/drawing/2014/main" id="{A4C8969D-9E73-F750-9D32-01DF35395B56}"/>
                </a:ext>
              </a:extLst>
            </p:cNvPr>
            <p:cNvSpPr txBox="1"/>
            <p:nvPr/>
          </p:nvSpPr>
          <p:spPr>
            <a:xfrm>
              <a:off x="1531498" y="5959637"/>
              <a:ext cx="10042808" cy="507831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ctr"/>
              <a:r>
                <a:rPr lang="es-ES" sz="1400" dirty="0">
                  <a:solidFill>
                    <a:srgbClr val="18365F"/>
                  </a:solidFill>
                  <a:latin typeface="Arial"/>
                </a:rPr>
                <a:t>Regla práctica: si un dato debe sobrevivir a </a:t>
              </a:r>
              <a:r>
                <a:rPr lang="es-ES" sz="1400" dirty="0" err="1">
                  <a:solidFill>
                    <a:srgbClr val="18365F"/>
                  </a:solidFill>
                  <a:latin typeface="Arial"/>
                </a:rPr>
                <a:t>docker</a:t>
              </a:r>
              <a:r>
                <a:rPr lang="es-ES" sz="1400" dirty="0">
                  <a:solidFill>
                    <a:srgbClr val="18365F"/>
                  </a:solidFill>
                  <a:latin typeface="Arial"/>
                </a:rPr>
                <a:t> </a:t>
              </a:r>
              <a:r>
                <a:rPr lang="es-ES" sz="1400" dirty="0" err="1">
                  <a:solidFill>
                    <a:srgbClr val="18365F"/>
                  </a:solidFill>
                  <a:latin typeface="Arial"/>
                </a:rPr>
                <a:t>rm</a:t>
              </a:r>
              <a:r>
                <a:rPr lang="es-ES" sz="1400" dirty="0">
                  <a:solidFill>
                    <a:srgbClr val="18365F"/>
                  </a:solidFill>
                  <a:latin typeface="Arial"/>
                </a:rPr>
                <a:t>, no debería quedarse únicamente en la capa de escritura del contenedor.</a:t>
              </a:r>
            </a:p>
          </p:txBody>
        </p:sp>
      </p:grpSp>
      <p:pic>
        <p:nvPicPr>
          <p:cNvPr id="3" name="Picture 4" descr="infografía_imagen_contenedor_y_persistencia.png">
            <a:extLst>
              <a:ext uri="{FF2B5EF4-FFF2-40B4-BE49-F238E27FC236}">
                <a16:creationId xmlns:a16="http://schemas.microsoft.com/office/drawing/2014/main" id="{7CF69D1F-D2B3-7A7A-8D77-C1FA1F72A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741" y="868680"/>
            <a:ext cx="6722518" cy="504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16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5CCA0-AA96-976B-87E6-9323EF573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7A33C38D-CA36-7FCF-C792-0205F8E3B95C}"/>
              </a:ext>
            </a:extLst>
          </p:cNvPr>
          <p:cNvSpPr/>
          <p:nvPr/>
        </p:nvSpPr>
        <p:spPr>
          <a:xfrm>
            <a:off x="937260" y="546354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B9047-89AC-4226-3E30-F0C23C1D368E}"/>
              </a:ext>
            </a:extLst>
          </p:cNvPr>
          <p:cNvSpPr txBox="1"/>
          <p:nvPr/>
        </p:nvSpPr>
        <p:spPr>
          <a:xfrm>
            <a:off x="914400" y="868680"/>
            <a:ext cx="10305288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lang="es-ES" sz="2200" b="1" dirty="0">
                <a:solidFill>
                  <a:srgbClr val="004D40"/>
                </a:solidFill>
                <a:latin typeface="+mj-lt"/>
              </a:rPr>
              <a:t>Detener un contenedor no es lo mismo que eliminarlo.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86F17DE5-92B1-A599-B918-6446B640E06D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67D45594-EF06-63D3-3658-AE80ACCF249A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44817240-64BB-8DAB-32DC-A2D848D217BE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1F81BBE1-4914-1977-36C5-660A1444AFF5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416AE187-96B4-6544-6D93-960E32C9B125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1B70181F-0A3D-CB22-95AC-74546A188D36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CF6236C-F65A-E103-9732-EFC0BA22CE07}"/>
              </a:ext>
            </a:extLst>
          </p:cNvPr>
          <p:cNvSpPr txBox="1"/>
          <p:nvPr/>
        </p:nvSpPr>
        <p:spPr>
          <a:xfrm>
            <a:off x="937260" y="5578670"/>
            <a:ext cx="10564088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sz="1400" dirty="0">
                <a:solidFill>
                  <a:srgbClr val="18365F"/>
                </a:solidFill>
                <a:latin typeface="Arial"/>
              </a:rPr>
              <a:t>Un contenedor en ejecución depende de su proceso principal: si ese proceso termina, el contenedor queda detenido.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20A705-BD30-619C-0123-97F06C85D67F}"/>
              </a:ext>
            </a:extLst>
          </p:cNvPr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EC81FE9D-2A0E-EE57-3EA7-2A4C45284CF5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748B0D41-64AE-99A5-0E0F-3D024CFC4C19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6D28193D-EC56-6227-9401-CA533BE50640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Ciclo de vida de un contenedor</a:t>
            </a: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77AB3537-E592-68DB-3539-1A6BD83BBC9E}"/>
              </a:ext>
            </a:extLst>
          </p:cNvPr>
          <p:cNvSpPr/>
          <p:nvPr/>
        </p:nvSpPr>
        <p:spPr>
          <a:xfrm>
            <a:off x="914400" y="1828800"/>
            <a:ext cx="1828800" cy="77724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418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6B9697B4-3F93-FA83-DB3E-DFDBF0CEBB2C}"/>
              </a:ext>
            </a:extLst>
          </p:cNvPr>
          <p:cNvSpPr txBox="1"/>
          <p:nvPr/>
        </p:nvSpPr>
        <p:spPr>
          <a:xfrm>
            <a:off x="914400" y="2010117"/>
            <a:ext cx="1828800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600" b="1" i="0">
                <a:solidFill>
                  <a:srgbClr val="1836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Creado</a:t>
            </a: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4071D1E4-0920-8375-250A-D3B1DBADA73F}"/>
              </a:ext>
            </a:extLst>
          </p:cNvPr>
          <p:cNvSpPr/>
          <p:nvPr/>
        </p:nvSpPr>
        <p:spPr>
          <a:xfrm>
            <a:off x="3657600" y="1828800"/>
            <a:ext cx="1828800" cy="77724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5FCE574F-6944-BC5D-8B6D-503363EC95DB}"/>
              </a:ext>
            </a:extLst>
          </p:cNvPr>
          <p:cNvSpPr txBox="1"/>
          <p:nvPr/>
        </p:nvSpPr>
        <p:spPr>
          <a:xfrm>
            <a:off x="3657600" y="2010117"/>
            <a:ext cx="1828800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600" b="1" i="0">
                <a:solidFill>
                  <a:srgbClr val="1836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Ejecutando</a:t>
            </a: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CAA03FB-17FA-92C2-589A-38BEB0D647DA}"/>
              </a:ext>
            </a:extLst>
          </p:cNvPr>
          <p:cNvSpPr/>
          <p:nvPr/>
        </p:nvSpPr>
        <p:spPr>
          <a:xfrm>
            <a:off x="6400800" y="1828800"/>
            <a:ext cx="1828800" cy="777240"/>
          </a:xfrm>
          <a:prstGeom prst="roundRect">
            <a:avLst/>
          </a:prstGeom>
          <a:solidFill>
            <a:srgbClr val="FCF5DB"/>
          </a:solidFill>
          <a:ln w="12700">
            <a:solidFill>
              <a:srgbClr val="E8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4C0AEE68-89C0-73E5-9E3D-B462BABC7D78}"/>
              </a:ext>
            </a:extLst>
          </p:cNvPr>
          <p:cNvSpPr txBox="1"/>
          <p:nvPr/>
        </p:nvSpPr>
        <p:spPr>
          <a:xfrm>
            <a:off x="6400800" y="2010117"/>
            <a:ext cx="1828800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600" b="1" i="0">
                <a:solidFill>
                  <a:srgbClr val="1836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Detenido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9157523B-1783-CD06-540E-8D63409FD7E7}"/>
              </a:ext>
            </a:extLst>
          </p:cNvPr>
          <p:cNvSpPr/>
          <p:nvPr/>
        </p:nvSpPr>
        <p:spPr>
          <a:xfrm>
            <a:off x="9144000" y="1828800"/>
            <a:ext cx="1828800" cy="777240"/>
          </a:xfrm>
          <a:prstGeom prst="roundRect">
            <a:avLst/>
          </a:prstGeom>
          <a:solidFill>
            <a:srgbClr val="FCEBEA"/>
          </a:solidFill>
          <a:ln w="12700">
            <a:solidFill>
              <a:srgbClr val="D7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E08C7996-87D7-BBC8-1883-F5AFFA9837D5}"/>
              </a:ext>
            </a:extLst>
          </p:cNvPr>
          <p:cNvSpPr txBox="1"/>
          <p:nvPr/>
        </p:nvSpPr>
        <p:spPr>
          <a:xfrm>
            <a:off x="9144000" y="2010117"/>
            <a:ext cx="1828800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600" b="1" i="0">
                <a:solidFill>
                  <a:srgbClr val="1836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Eliminado</a:t>
            </a:r>
          </a:p>
        </p:txBody>
      </p:sp>
      <p:cxnSp>
        <p:nvCxnSpPr>
          <p:cNvPr id="11" name="Connector 13">
            <a:extLst>
              <a:ext uri="{FF2B5EF4-FFF2-40B4-BE49-F238E27FC236}">
                <a16:creationId xmlns:a16="http://schemas.microsoft.com/office/drawing/2014/main" id="{F8396D57-B059-BDE3-B034-ACE514808D52}"/>
              </a:ext>
            </a:extLst>
          </p:cNvPr>
          <p:cNvCxnSpPr/>
          <p:nvPr/>
        </p:nvCxnSpPr>
        <p:spPr>
          <a:xfrm>
            <a:off x="2743200" y="2212848"/>
            <a:ext cx="914400" cy="0"/>
          </a:xfrm>
          <a:prstGeom prst="line">
            <a:avLst/>
          </a:prstGeom>
          <a:ln w="2032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4">
            <a:extLst>
              <a:ext uri="{FF2B5EF4-FFF2-40B4-BE49-F238E27FC236}">
                <a16:creationId xmlns:a16="http://schemas.microsoft.com/office/drawing/2014/main" id="{AF82439E-F1DD-F0DC-C08E-6367F1A9321E}"/>
              </a:ext>
            </a:extLst>
          </p:cNvPr>
          <p:cNvCxnSpPr/>
          <p:nvPr/>
        </p:nvCxnSpPr>
        <p:spPr>
          <a:xfrm>
            <a:off x="5486400" y="2212848"/>
            <a:ext cx="914400" cy="0"/>
          </a:xfrm>
          <a:prstGeom prst="line">
            <a:avLst/>
          </a:prstGeom>
          <a:ln w="2032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5">
            <a:extLst>
              <a:ext uri="{FF2B5EF4-FFF2-40B4-BE49-F238E27FC236}">
                <a16:creationId xmlns:a16="http://schemas.microsoft.com/office/drawing/2014/main" id="{F2DA1D5D-8A26-D26B-B2BF-644D67E205A4}"/>
              </a:ext>
            </a:extLst>
          </p:cNvPr>
          <p:cNvCxnSpPr/>
          <p:nvPr/>
        </p:nvCxnSpPr>
        <p:spPr>
          <a:xfrm>
            <a:off x="8229600" y="2212848"/>
            <a:ext cx="914400" cy="0"/>
          </a:xfrm>
          <a:prstGeom prst="line">
            <a:avLst/>
          </a:prstGeom>
          <a:ln w="20320">
            <a:solidFill>
              <a:srgbClr val="7D91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6">
            <a:extLst>
              <a:ext uri="{FF2B5EF4-FFF2-40B4-BE49-F238E27FC236}">
                <a16:creationId xmlns:a16="http://schemas.microsoft.com/office/drawing/2014/main" id="{B35E2945-B186-1937-0F5A-FCDDF2B0AAE4}"/>
              </a:ext>
            </a:extLst>
          </p:cNvPr>
          <p:cNvSpPr txBox="1"/>
          <p:nvPr/>
        </p:nvSpPr>
        <p:spPr>
          <a:xfrm>
            <a:off x="2468880" y="1508760"/>
            <a:ext cx="914400" cy="29238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1400" b="0" i="0" dirty="0" err="1">
                <a:solidFill>
                  <a:srgbClr val="737C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arrancar</a:t>
            </a:r>
            <a:endParaRPr sz="1400" b="0" i="0" dirty="0">
              <a:solidFill>
                <a:srgbClr val="737C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46A56987-A623-70D2-2C7F-9BFAB211516A}"/>
              </a:ext>
            </a:extLst>
          </p:cNvPr>
          <p:cNvSpPr txBox="1"/>
          <p:nvPr/>
        </p:nvSpPr>
        <p:spPr>
          <a:xfrm>
            <a:off x="5212080" y="1508760"/>
            <a:ext cx="914400" cy="29238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1400" b="0" i="0">
                <a:solidFill>
                  <a:srgbClr val="737C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detener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03B4841-2B70-9186-4C73-AC8CD14AE374}"/>
              </a:ext>
            </a:extLst>
          </p:cNvPr>
          <p:cNvSpPr txBox="1"/>
          <p:nvPr/>
        </p:nvSpPr>
        <p:spPr>
          <a:xfrm>
            <a:off x="7955279" y="1508760"/>
            <a:ext cx="914400" cy="29238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1400" b="0" i="0">
                <a:solidFill>
                  <a:srgbClr val="737C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eliminar</a:t>
            </a: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70252A37-FB52-A4F6-6A0D-3CEB2CC18497}"/>
              </a:ext>
            </a:extLst>
          </p:cNvPr>
          <p:cNvSpPr/>
          <p:nvPr/>
        </p:nvSpPr>
        <p:spPr>
          <a:xfrm>
            <a:off x="5257800" y="2788920"/>
            <a:ext cx="1463040" cy="384048"/>
          </a:xfrm>
          <a:prstGeom prst="roundRect">
            <a:avLst/>
          </a:prstGeom>
          <a:solidFill>
            <a:srgbClr val="F3EEFA"/>
          </a:solidFill>
          <a:ln w="12700">
            <a:solidFill>
              <a:srgbClr val="8E5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5D6E35-6963-47CE-56A1-377DFF404BD8}"/>
              </a:ext>
            </a:extLst>
          </p:cNvPr>
          <p:cNvSpPr txBox="1"/>
          <p:nvPr/>
        </p:nvSpPr>
        <p:spPr>
          <a:xfrm>
            <a:off x="5257800" y="2834751"/>
            <a:ext cx="1463040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 dirty="0">
                <a:solidFill>
                  <a:srgbClr val="1836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 start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F3E7B31-C608-6901-2258-69F8D0952122}"/>
              </a:ext>
            </a:extLst>
          </p:cNvPr>
          <p:cNvSpPr/>
          <p:nvPr/>
        </p:nvSpPr>
        <p:spPr>
          <a:xfrm>
            <a:off x="1005840" y="3428999"/>
            <a:ext cx="3017520" cy="1641349"/>
          </a:xfrm>
          <a:prstGeom prst="roundRect">
            <a:avLst/>
          </a:prstGeom>
          <a:solidFill>
            <a:srgbClr val="FCF5DB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Detiene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el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proceso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principal.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contenedor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capa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escritura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siguen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existiendo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80877660-FBAD-4944-EA19-B68AA9D604D7}"/>
              </a:ext>
            </a:extLst>
          </p:cNvPr>
          <p:cNvSpPr/>
          <p:nvPr/>
        </p:nvSpPr>
        <p:spPr>
          <a:xfrm>
            <a:off x="1005840" y="3429000"/>
            <a:ext cx="3017520" cy="347472"/>
          </a:xfrm>
          <a:prstGeom prst="rect">
            <a:avLst/>
          </a:prstGeom>
          <a:solidFill>
            <a:srgbClr val="E89134"/>
          </a:solidFill>
          <a:ln>
            <a:solidFill>
              <a:srgbClr val="E8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3">
            <a:extLst>
              <a:ext uri="{FF2B5EF4-FFF2-40B4-BE49-F238E27FC236}">
                <a16:creationId xmlns:a16="http://schemas.microsoft.com/office/drawing/2014/main" id="{98210F25-D3BE-02C4-63E2-1E377FD9E70D}"/>
              </a:ext>
            </a:extLst>
          </p:cNvPr>
          <p:cNvSpPr txBox="1"/>
          <p:nvPr/>
        </p:nvSpPr>
        <p:spPr>
          <a:xfrm>
            <a:off x="1069848" y="3432010"/>
            <a:ext cx="288950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</a:t>
            </a:r>
          </a:p>
        </p:txBody>
      </p:sp>
      <p:sp>
        <p:nvSpPr>
          <p:cNvPr id="27" name="Rounded Rectangle 24">
            <a:extLst>
              <a:ext uri="{FF2B5EF4-FFF2-40B4-BE49-F238E27FC236}">
                <a16:creationId xmlns:a16="http://schemas.microsoft.com/office/drawing/2014/main" id="{DCE70ED3-2AE2-675F-1277-2E429AA25A59}"/>
              </a:ext>
            </a:extLst>
          </p:cNvPr>
          <p:cNvSpPr/>
          <p:nvPr/>
        </p:nvSpPr>
        <p:spPr>
          <a:xfrm>
            <a:off x="4526280" y="3428999"/>
            <a:ext cx="3017520" cy="1641349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Vuelve a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ejecutar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ese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mismo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contenedor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Conserva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cambios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seguían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capa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B83F96E7-B2D0-0ABD-7FAA-FFCF97D4A50A}"/>
              </a:ext>
            </a:extLst>
          </p:cNvPr>
          <p:cNvSpPr/>
          <p:nvPr/>
        </p:nvSpPr>
        <p:spPr>
          <a:xfrm>
            <a:off x="4526280" y="3429000"/>
            <a:ext cx="3017520" cy="347472"/>
          </a:xfrm>
          <a:prstGeom prst="rect">
            <a:avLst/>
          </a:prstGeom>
          <a:solidFill>
            <a:srgbClr val="4184D7"/>
          </a:solidFill>
          <a:ln>
            <a:solidFill>
              <a:srgbClr val="418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C5B11508-843D-B4D9-E0AC-B53BB484CD15}"/>
              </a:ext>
            </a:extLst>
          </p:cNvPr>
          <p:cNvSpPr txBox="1"/>
          <p:nvPr/>
        </p:nvSpPr>
        <p:spPr>
          <a:xfrm>
            <a:off x="4590288" y="3432010"/>
            <a:ext cx="288950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CE3A9A88-B341-FA46-6258-17149770A7AB}"/>
              </a:ext>
            </a:extLst>
          </p:cNvPr>
          <p:cNvSpPr/>
          <p:nvPr/>
        </p:nvSpPr>
        <p:spPr>
          <a:xfrm>
            <a:off x="8046720" y="3428999"/>
            <a:ext cx="3017520" cy="1641349"/>
          </a:xfrm>
          <a:prstGeom prst="roundRect">
            <a:avLst/>
          </a:prstGeom>
          <a:solidFill>
            <a:srgbClr val="FCEBEA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t"/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Elimina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el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contenedor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Su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capa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escritura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desaparece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 con </a:t>
            </a:r>
            <a:r>
              <a:rPr sz="1400" dirty="0" err="1">
                <a:latin typeface="Arial" panose="020B0604020202020204" pitchFamily="34" charset="0"/>
                <a:cs typeface="Arial" panose="020B0604020202020204" pitchFamily="34" charset="0"/>
              </a:rPr>
              <a:t>él</a:t>
            </a:r>
            <a:r>
              <a:rPr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78E2610E-E48B-9B4D-C579-6F239CE2F4B4}"/>
              </a:ext>
            </a:extLst>
          </p:cNvPr>
          <p:cNvSpPr/>
          <p:nvPr/>
        </p:nvSpPr>
        <p:spPr>
          <a:xfrm>
            <a:off x="8046720" y="3429000"/>
            <a:ext cx="3017520" cy="347472"/>
          </a:xfrm>
          <a:prstGeom prst="rect">
            <a:avLst/>
          </a:prstGeom>
          <a:solidFill>
            <a:srgbClr val="D73F3F"/>
          </a:solidFill>
          <a:ln>
            <a:solidFill>
              <a:srgbClr val="D7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29">
            <a:extLst>
              <a:ext uri="{FF2B5EF4-FFF2-40B4-BE49-F238E27FC236}">
                <a16:creationId xmlns:a16="http://schemas.microsoft.com/office/drawing/2014/main" id="{CC04856B-4BE9-8D62-ADD7-8A28467F4CF0}"/>
              </a:ext>
            </a:extLst>
          </p:cNvPr>
          <p:cNvSpPr txBox="1"/>
          <p:nvPr/>
        </p:nvSpPr>
        <p:spPr>
          <a:xfrm>
            <a:off x="8110728" y="3432010"/>
            <a:ext cx="288950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27793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783E7-426E-EFA8-13DD-68E4AF18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BC7F4BFF-EB63-CEA7-B5B9-D111DB1BC25C}"/>
              </a:ext>
            </a:extLst>
          </p:cNvPr>
          <p:cNvSpPr/>
          <p:nvPr/>
        </p:nvSpPr>
        <p:spPr>
          <a:xfrm>
            <a:off x="937260" y="546354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0EF397-4F2B-6823-0093-D4A8CFDF919C}"/>
              </a:ext>
            </a:extLst>
          </p:cNvPr>
          <p:cNvSpPr txBox="1"/>
          <p:nvPr/>
        </p:nvSpPr>
        <p:spPr>
          <a:xfrm>
            <a:off x="914400" y="868680"/>
            <a:ext cx="10305288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lang="es-ES" sz="2200" b="1" dirty="0">
                <a:solidFill>
                  <a:srgbClr val="004D40"/>
                </a:solidFill>
                <a:latin typeface="+mj-lt"/>
              </a:rPr>
              <a:t>No memorices comandos: asocia cada uno con una pregunta.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5F967AC5-2833-747C-7BA2-C2858FFE3E39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EE20FFEC-B820-6A2A-07BD-88AE11B85324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BAD0E51A-9861-0B9D-0D1A-4F34ECE831A0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BCC94CFE-1712-6CE0-05FA-97EB46C37760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A110DF80-6607-460B-6666-7FD982B4449B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4EAAE258-4E46-6CE3-F833-BF1AAFC71C24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860EDC9-0F7B-4AE7-9EF0-D7E0947C8D35}"/>
              </a:ext>
            </a:extLst>
          </p:cNvPr>
          <p:cNvSpPr txBox="1"/>
          <p:nvPr/>
        </p:nvSpPr>
        <p:spPr>
          <a:xfrm>
            <a:off x="937260" y="5578670"/>
            <a:ext cx="10564088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sz="1400" dirty="0">
                <a:solidFill>
                  <a:srgbClr val="18365F"/>
                </a:solidFill>
                <a:latin typeface="Arial"/>
              </a:rPr>
              <a:t>Reflejo útil: estado → logs → interior. No recrees contenedores al azar antes de buscar pistas.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AFDAE6-A3B6-E8A7-22A1-414EF9FA0AF9}"/>
              </a:ext>
            </a:extLst>
          </p:cNvPr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8A5BE2F8-B536-2B12-DE0A-8452AE98AB7C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88AD017E-8BCE-1F92-A928-C8F84C7811F9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7B6DC0D5-FD99-2FFF-2FB2-B555E9BFB426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Ejecutar, observar y diagnosticar</a:t>
            </a:r>
          </a:p>
        </p:txBody>
      </p:sp>
      <p:sp>
        <p:nvSpPr>
          <p:cNvPr id="37" name="Rounded Rectangle 5">
            <a:extLst>
              <a:ext uri="{FF2B5EF4-FFF2-40B4-BE49-F238E27FC236}">
                <a16:creationId xmlns:a16="http://schemas.microsoft.com/office/drawing/2014/main" id="{4F2F52D1-E3C7-ACCC-18F7-561BA396B315}"/>
              </a:ext>
            </a:extLst>
          </p:cNvPr>
          <p:cNvSpPr/>
          <p:nvPr/>
        </p:nvSpPr>
        <p:spPr>
          <a:xfrm>
            <a:off x="1097280" y="1463040"/>
            <a:ext cx="4114800" cy="56692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0ADBD05A-37F2-86E9-A4EA-413D238167B7}"/>
              </a:ext>
            </a:extLst>
          </p:cNvPr>
          <p:cNvSpPr txBox="1"/>
          <p:nvPr/>
        </p:nvSpPr>
        <p:spPr>
          <a:xfrm>
            <a:off x="1234440" y="1539202"/>
            <a:ext cx="3840480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 dirty="0">
                <a:solidFill>
                  <a:srgbClr val="18365F"/>
                </a:solidFill>
                <a:latin typeface="Arial"/>
              </a:rPr>
              <a:t>¿</a:t>
            </a:r>
            <a:r>
              <a:rPr sz="1600" b="1" i="0" dirty="0" err="1">
                <a:solidFill>
                  <a:srgbClr val="18365F"/>
                </a:solidFill>
                <a:latin typeface="Arial"/>
              </a:rPr>
              <a:t>Está</a:t>
            </a:r>
            <a:r>
              <a:rPr sz="1600" b="1" i="0" dirty="0">
                <a:solidFill>
                  <a:srgbClr val="18365F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18365F"/>
                </a:solidFill>
                <a:latin typeface="Arial"/>
              </a:rPr>
              <a:t>ejecutándose</a:t>
            </a:r>
            <a:r>
              <a:rPr sz="1600" b="1" i="0" dirty="0">
                <a:solidFill>
                  <a:srgbClr val="18365F"/>
                </a:solidFill>
                <a:latin typeface="Arial"/>
              </a:rPr>
              <a:t>?</a:t>
            </a:r>
          </a:p>
        </p:txBody>
      </p:sp>
      <p:sp>
        <p:nvSpPr>
          <p:cNvPr id="42" name="Rounded Rectangle 7">
            <a:extLst>
              <a:ext uri="{FF2B5EF4-FFF2-40B4-BE49-F238E27FC236}">
                <a16:creationId xmlns:a16="http://schemas.microsoft.com/office/drawing/2014/main" id="{907045FA-1324-B4A6-FA2C-0F5D5D9EC4AF}"/>
              </a:ext>
            </a:extLst>
          </p:cNvPr>
          <p:cNvSpPr/>
          <p:nvPr/>
        </p:nvSpPr>
        <p:spPr>
          <a:xfrm>
            <a:off x="5577840" y="1463040"/>
            <a:ext cx="5120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200">
                <a:solidFill>
                  <a:srgbClr val="2D3A4C"/>
                </a:solidFill>
                <a:latin typeface="Consolas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docker </a:t>
            </a:r>
            <a:r>
              <a:rPr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-a</a:t>
            </a:r>
          </a:p>
        </p:txBody>
      </p:sp>
      <p:sp>
        <p:nvSpPr>
          <p:cNvPr id="46" name="Rounded Rectangle 8">
            <a:extLst>
              <a:ext uri="{FF2B5EF4-FFF2-40B4-BE49-F238E27FC236}">
                <a16:creationId xmlns:a16="http://schemas.microsoft.com/office/drawing/2014/main" id="{CD5ABBB0-AD85-BD4C-9686-176F16A67CFE}"/>
              </a:ext>
            </a:extLst>
          </p:cNvPr>
          <p:cNvSpPr/>
          <p:nvPr/>
        </p:nvSpPr>
        <p:spPr>
          <a:xfrm>
            <a:off x="1097280" y="2240280"/>
            <a:ext cx="4114800" cy="56692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84D07BB5-E6DC-15A8-44F8-F97D8503EEC2}"/>
              </a:ext>
            </a:extLst>
          </p:cNvPr>
          <p:cNvSpPr txBox="1"/>
          <p:nvPr/>
        </p:nvSpPr>
        <p:spPr>
          <a:xfrm>
            <a:off x="1234440" y="2316442"/>
            <a:ext cx="3840480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18365F"/>
                </a:solidFill>
                <a:latin typeface="Arial"/>
              </a:rPr>
              <a:t>¿Qué dicen los logs?</a:t>
            </a:r>
          </a:p>
        </p:txBody>
      </p:sp>
      <p:sp>
        <p:nvSpPr>
          <p:cNvPr id="51" name="Rounded Rectangle 10">
            <a:extLst>
              <a:ext uri="{FF2B5EF4-FFF2-40B4-BE49-F238E27FC236}">
                <a16:creationId xmlns:a16="http://schemas.microsoft.com/office/drawing/2014/main" id="{AEFDEB9B-8D8B-CCDF-E081-34C405B9B48E}"/>
              </a:ext>
            </a:extLst>
          </p:cNvPr>
          <p:cNvSpPr/>
          <p:nvPr/>
        </p:nvSpPr>
        <p:spPr>
          <a:xfrm>
            <a:off x="5577840" y="2240280"/>
            <a:ext cx="5120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200">
                <a:solidFill>
                  <a:srgbClr val="2D3A4C"/>
                </a:solidFill>
                <a:latin typeface="Consolas"/>
              </a:defRPr>
            </a:pPr>
            <a:r>
              <a:rPr sz="1600">
                <a:latin typeface="Courier New" panose="02070309020205020404" pitchFamily="49" charset="0"/>
                <a:cs typeface="Courier New" panose="02070309020205020404" pitchFamily="49" charset="0"/>
              </a:rPr>
              <a:t>docker logs &lt;contenedor&gt;</a:t>
            </a:r>
          </a:p>
        </p:txBody>
      </p:sp>
      <p:sp>
        <p:nvSpPr>
          <p:cNvPr id="53" name="Rounded Rectangle 11">
            <a:extLst>
              <a:ext uri="{FF2B5EF4-FFF2-40B4-BE49-F238E27FC236}">
                <a16:creationId xmlns:a16="http://schemas.microsoft.com/office/drawing/2014/main" id="{E288A4C6-8984-CCBA-F0CD-E531567A583F}"/>
              </a:ext>
            </a:extLst>
          </p:cNvPr>
          <p:cNvSpPr/>
          <p:nvPr/>
        </p:nvSpPr>
        <p:spPr>
          <a:xfrm>
            <a:off x="1097280" y="3017520"/>
            <a:ext cx="4114800" cy="56692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12">
            <a:extLst>
              <a:ext uri="{FF2B5EF4-FFF2-40B4-BE49-F238E27FC236}">
                <a16:creationId xmlns:a16="http://schemas.microsoft.com/office/drawing/2014/main" id="{A924301A-3CAC-D03D-12B9-5C5F2AAC9302}"/>
              </a:ext>
            </a:extLst>
          </p:cNvPr>
          <p:cNvSpPr txBox="1"/>
          <p:nvPr/>
        </p:nvSpPr>
        <p:spPr>
          <a:xfrm>
            <a:off x="1234440" y="3093681"/>
            <a:ext cx="3840480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18365F"/>
                </a:solidFill>
                <a:latin typeface="Arial"/>
              </a:rPr>
              <a:t>¿Necesito inspeccionarlo?</a:t>
            </a:r>
          </a:p>
        </p:txBody>
      </p:sp>
      <p:sp>
        <p:nvSpPr>
          <p:cNvPr id="57" name="Rounded Rectangle 13">
            <a:extLst>
              <a:ext uri="{FF2B5EF4-FFF2-40B4-BE49-F238E27FC236}">
                <a16:creationId xmlns:a16="http://schemas.microsoft.com/office/drawing/2014/main" id="{A663CCDA-1946-1301-02EB-3AB29921ACFF}"/>
              </a:ext>
            </a:extLst>
          </p:cNvPr>
          <p:cNvSpPr/>
          <p:nvPr/>
        </p:nvSpPr>
        <p:spPr>
          <a:xfrm>
            <a:off x="5577840" y="3017520"/>
            <a:ext cx="5120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200">
                <a:solidFill>
                  <a:srgbClr val="2D3A4C"/>
                </a:solidFill>
                <a:latin typeface="Consolas"/>
              </a:defRPr>
            </a:pPr>
            <a:r>
              <a:rPr sz="1600">
                <a:latin typeface="Courier New" panose="02070309020205020404" pitchFamily="49" charset="0"/>
                <a:cs typeface="Courier New" panose="02070309020205020404" pitchFamily="49" charset="0"/>
              </a:rPr>
              <a:t>docker exec -it &lt;contenedor&gt; sh</a:t>
            </a:r>
          </a:p>
        </p:txBody>
      </p:sp>
      <p:sp>
        <p:nvSpPr>
          <p:cNvPr id="59" name="Rounded Rectangle 14">
            <a:extLst>
              <a:ext uri="{FF2B5EF4-FFF2-40B4-BE49-F238E27FC236}">
                <a16:creationId xmlns:a16="http://schemas.microsoft.com/office/drawing/2014/main" id="{BF73D922-A9F7-B6AD-752D-67CFB416511A}"/>
              </a:ext>
            </a:extLst>
          </p:cNvPr>
          <p:cNvSpPr/>
          <p:nvPr/>
        </p:nvSpPr>
        <p:spPr>
          <a:xfrm>
            <a:off x="1097280" y="3794760"/>
            <a:ext cx="4114800" cy="566928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15">
            <a:extLst>
              <a:ext uri="{FF2B5EF4-FFF2-40B4-BE49-F238E27FC236}">
                <a16:creationId xmlns:a16="http://schemas.microsoft.com/office/drawing/2014/main" id="{68AFFD05-BA4F-DD9C-ACEB-00A08BF1FE80}"/>
              </a:ext>
            </a:extLst>
          </p:cNvPr>
          <p:cNvSpPr txBox="1"/>
          <p:nvPr/>
        </p:nvSpPr>
        <p:spPr>
          <a:xfrm>
            <a:off x="1234440" y="3870922"/>
            <a:ext cx="3840480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18365F"/>
                </a:solidFill>
                <a:latin typeface="Arial"/>
              </a:rPr>
              <a:t>¿Con qué configuración arrancó?</a:t>
            </a:r>
          </a:p>
        </p:txBody>
      </p:sp>
      <p:sp>
        <p:nvSpPr>
          <p:cNvPr id="63" name="Rounded Rectangle 16">
            <a:extLst>
              <a:ext uri="{FF2B5EF4-FFF2-40B4-BE49-F238E27FC236}">
                <a16:creationId xmlns:a16="http://schemas.microsoft.com/office/drawing/2014/main" id="{5597E650-848C-C446-028C-FE1C5F0DE67E}"/>
              </a:ext>
            </a:extLst>
          </p:cNvPr>
          <p:cNvSpPr/>
          <p:nvPr/>
        </p:nvSpPr>
        <p:spPr>
          <a:xfrm>
            <a:off x="5577840" y="3794760"/>
            <a:ext cx="5120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200">
                <a:solidFill>
                  <a:srgbClr val="2D3A4C"/>
                </a:solidFill>
                <a:latin typeface="Consolas"/>
              </a:defRPr>
            </a:pPr>
            <a:r>
              <a:rPr sz="1600">
                <a:latin typeface="Courier New" panose="02070309020205020404" pitchFamily="49" charset="0"/>
                <a:cs typeface="Courier New" panose="02070309020205020404" pitchFamily="49" charset="0"/>
              </a:rPr>
              <a:t>docker inspect &lt;contenedor&gt;</a:t>
            </a:r>
          </a:p>
        </p:txBody>
      </p:sp>
      <p:sp>
        <p:nvSpPr>
          <p:cNvPr id="65" name="Rounded Rectangle 17">
            <a:extLst>
              <a:ext uri="{FF2B5EF4-FFF2-40B4-BE49-F238E27FC236}">
                <a16:creationId xmlns:a16="http://schemas.microsoft.com/office/drawing/2014/main" id="{089FBEC4-1EEC-0857-C08C-8861A62CA4A4}"/>
              </a:ext>
            </a:extLst>
          </p:cNvPr>
          <p:cNvSpPr/>
          <p:nvPr/>
        </p:nvSpPr>
        <p:spPr>
          <a:xfrm>
            <a:off x="3355848" y="4601718"/>
            <a:ext cx="17800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18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18">
            <a:extLst>
              <a:ext uri="{FF2B5EF4-FFF2-40B4-BE49-F238E27FC236}">
                <a16:creationId xmlns:a16="http://schemas.microsoft.com/office/drawing/2014/main" id="{E89C47A0-473D-F058-BA58-BC8D1BFAF986}"/>
              </a:ext>
            </a:extLst>
          </p:cNvPr>
          <p:cNvSpPr txBox="1"/>
          <p:nvPr/>
        </p:nvSpPr>
        <p:spPr>
          <a:xfrm>
            <a:off x="3374136" y="4766420"/>
            <a:ext cx="1743456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Estado</a:t>
            </a:r>
          </a:p>
        </p:txBody>
      </p:sp>
      <p:sp>
        <p:nvSpPr>
          <p:cNvPr id="69" name="Rounded Rectangle 20">
            <a:extLst>
              <a:ext uri="{FF2B5EF4-FFF2-40B4-BE49-F238E27FC236}">
                <a16:creationId xmlns:a16="http://schemas.microsoft.com/office/drawing/2014/main" id="{A7EF5AA9-5A6E-8719-944C-95194F125ACA}"/>
              </a:ext>
            </a:extLst>
          </p:cNvPr>
          <p:cNvSpPr/>
          <p:nvPr/>
        </p:nvSpPr>
        <p:spPr>
          <a:xfrm>
            <a:off x="5209032" y="4601718"/>
            <a:ext cx="17800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21">
            <a:extLst>
              <a:ext uri="{FF2B5EF4-FFF2-40B4-BE49-F238E27FC236}">
                <a16:creationId xmlns:a16="http://schemas.microsoft.com/office/drawing/2014/main" id="{DE8753C1-648F-39B0-EB64-DF890C92CC26}"/>
              </a:ext>
            </a:extLst>
          </p:cNvPr>
          <p:cNvSpPr txBox="1"/>
          <p:nvPr/>
        </p:nvSpPr>
        <p:spPr>
          <a:xfrm>
            <a:off x="5227320" y="4766420"/>
            <a:ext cx="1743456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Logs</a:t>
            </a:r>
          </a:p>
        </p:txBody>
      </p:sp>
      <p:sp>
        <p:nvSpPr>
          <p:cNvPr id="73" name="Rounded Rectangle 23">
            <a:extLst>
              <a:ext uri="{FF2B5EF4-FFF2-40B4-BE49-F238E27FC236}">
                <a16:creationId xmlns:a16="http://schemas.microsoft.com/office/drawing/2014/main" id="{B9CB7691-D959-F8B0-2FD9-7EE948DE4148}"/>
              </a:ext>
            </a:extLst>
          </p:cNvPr>
          <p:cNvSpPr/>
          <p:nvPr/>
        </p:nvSpPr>
        <p:spPr>
          <a:xfrm>
            <a:off x="7062216" y="4601718"/>
            <a:ext cx="17800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5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24">
            <a:extLst>
              <a:ext uri="{FF2B5EF4-FFF2-40B4-BE49-F238E27FC236}">
                <a16:creationId xmlns:a16="http://schemas.microsoft.com/office/drawing/2014/main" id="{78F79D1B-2F65-BE6A-4319-2CD0481EF81A}"/>
              </a:ext>
            </a:extLst>
          </p:cNvPr>
          <p:cNvSpPr txBox="1"/>
          <p:nvPr/>
        </p:nvSpPr>
        <p:spPr>
          <a:xfrm>
            <a:off x="7080504" y="4766420"/>
            <a:ext cx="1743456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Interior</a:t>
            </a:r>
          </a:p>
        </p:txBody>
      </p:sp>
    </p:spTree>
    <p:extLst>
      <p:ext uri="{BB962C8B-B14F-4D97-AF65-F5344CB8AC3E}">
        <p14:creationId xmlns:p14="http://schemas.microsoft.com/office/powerpoint/2010/main" val="3966805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5268-243E-AD7F-2B9C-49C1F21FD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E8EC1920-D125-0AE8-C7F3-65E2CBB1522D}"/>
              </a:ext>
            </a:extLst>
          </p:cNvPr>
          <p:cNvSpPr/>
          <p:nvPr/>
        </p:nvSpPr>
        <p:spPr>
          <a:xfrm>
            <a:off x="937260" y="5463540"/>
            <a:ext cx="10560960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B4202-534E-3671-4D1F-66CD747CC2B6}"/>
              </a:ext>
            </a:extLst>
          </p:cNvPr>
          <p:cNvSpPr txBox="1"/>
          <p:nvPr/>
        </p:nvSpPr>
        <p:spPr>
          <a:xfrm>
            <a:off x="914400" y="868680"/>
            <a:ext cx="10305288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lang="es-ES" sz="2200" b="1" dirty="0">
                <a:solidFill>
                  <a:srgbClr val="004D40"/>
                </a:solidFill>
                <a:latin typeface="+mj-lt"/>
              </a:rPr>
              <a:t>Ejecutar un contenedor = combinar varias decisiones.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AEBF7E03-A597-1872-9184-8740F49592EB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85A250B7-F33C-16C3-8731-4792AD2D4CB6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A106E307-47D8-B3A5-0EBC-E884B03BE1A1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2E6A82BE-DF38-9467-6497-0AE6DE5D385F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B9741DB2-4E41-18A6-B711-32A03079FB2A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0C9CF927-503D-D331-221C-E2071DF26116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83D5504-153A-CB32-47FE-9CB110D1102F}"/>
              </a:ext>
            </a:extLst>
          </p:cNvPr>
          <p:cNvSpPr txBox="1"/>
          <p:nvPr/>
        </p:nvSpPr>
        <p:spPr>
          <a:xfrm>
            <a:off x="937260" y="5578670"/>
            <a:ext cx="10564088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sz="1400" dirty="0">
                <a:solidFill>
                  <a:srgbClr val="18365F"/>
                </a:solidFill>
                <a:latin typeface="Arial"/>
              </a:rPr>
              <a:t>Las imágenes mínimas no siempre incluyen </a:t>
            </a:r>
            <a:r>
              <a:rPr lang="es-ES" sz="1400" dirty="0" err="1">
                <a:solidFill>
                  <a:srgbClr val="18365F"/>
                </a:solidFill>
                <a:latin typeface="Arial"/>
              </a:rPr>
              <a:t>bash</a:t>
            </a:r>
            <a:r>
              <a:rPr lang="es-ES" sz="1400" dirty="0">
                <a:solidFill>
                  <a:srgbClr val="18365F"/>
                </a:solidFill>
                <a:latin typeface="Arial"/>
              </a:rPr>
              <a:t>; para entrar utilizaremos normalmente </a:t>
            </a:r>
            <a:r>
              <a:rPr lang="es-ES" sz="1400" dirty="0" err="1">
                <a:solidFill>
                  <a:srgbClr val="18365F"/>
                </a:solidFill>
                <a:latin typeface="Arial"/>
              </a:rPr>
              <a:t>sh</a:t>
            </a:r>
            <a:r>
              <a:rPr lang="es-ES" sz="1400" dirty="0">
                <a:solidFill>
                  <a:srgbClr val="18365F"/>
                </a:solidFill>
                <a:latin typeface="Arial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C40429-B839-8714-8143-488CBAFF8B93}"/>
              </a:ext>
            </a:extLst>
          </p:cNvPr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250E0307-9EA9-1C1C-1F7B-60CFC68FEE55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A60280DF-70E5-34F9-71D5-5B112FA3A83E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8EE1C822-E82F-5D4F-8AA7-F9C0A3A14668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Ejecutar, observar y diagnosticar</a:t>
            </a:r>
          </a:p>
        </p:txBody>
      </p:sp>
      <p:sp>
        <p:nvSpPr>
          <p:cNvPr id="52" name="Rounded Rectangle 5">
            <a:extLst>
              <a:ext uri="{FF2B5EF4-FFF2-40B4-BE49-F238E27FC236}">
                <a16:creationId xmlns:a16="http://schemas.microsoft.com/office/drawing/2014/main" id="{1EFF57D9-06BC-F022-924B-07CB4439096A}"/>
              </a:ext>
            </a:extLst>
          </p:cNvPr>
          <p:cNvSpPr/>
          <p:nvPr/>
        </p:nvSpPr>
        <p:spPr>
          <a:xfrm>
            <a:off x="1143000" y="1352342"/>
            <a:ext cx="9875520" cy="50353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600">
                <a:solidFill>
                  <a:srgbClr val="2D3A4C"/>
                </a:solidFill>
                <a:latin typeface="Consolas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-d --name web-demo -p 8088:80 nginx:1.30.4-alpine</a:t>
            </a:r>
          </a:p>
        </p:txBody>
      </p:sp>
      <p:sp>
        <p:nvSpPr>
          <p:cNvPr id="56" name="Rounded Rectangle 6">
            <a:extLst>
              <a:ext uri="{FF2B5EF4-FFF2-40B4-BE49-F238E27FC236}">
                <a16:creationId xmlns:a16="http://schemas.microsoft.com/office/drawing/2014/main" id="{7637485C-22A8-06D9-CD97-64ABEFBF3AEA}"/>
              </a:ext>
            </a:extLst>
          </p:cNvPr>
          <p:cNvSpPr/>
          <p:nvPr/>
        </p:nvSpPr>
        <p:spPr>
          <a:xfrm>
            <a:off x="937260" y="2157234"/>
            <a:ext cx="2377440" cy="150876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 dirty="0"/>
              <a:t>Segundo plano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 dirty="0"/>
              <a:t>El terminal </a:t>
            </a:r>
            <a:r>
              <a:rPr sz="1400" dirty="0" err="1"/>
              <a:t>queda</a:t>
            </a:r>
            <a:r>
              <a:rPr sz="1400" dirty="0"/>
              <a:t> libre</a:t>
            </a:r>
          </a:p>
        </p:txBody>
      </p:sp>
      <p:sp>
        <p:nvSpPr>
          <p:cNvPr id="60" name="Rectangle 7">
            <a:extLst>
              <a:ext uri="{FF2B5EF4-FFF2-40B4-BE49-F238E27FC236}">
                <a16:creationId xmlns:a16="http://schemas.microsoft.com/office/drawing/2014/main" id="{728F675F-7F83-065A-4DF4-AFBC6E1E9E5A}"/>
              </a:ext>
            </a:extLst>
          </p:cNvPr>
          <p:cNvSpPr/>
          <p:nvPr/>
        </p:nvSpPr>
        <p:spPr>
          <a:xfrm>
            <a:off x="937260" y="2157234"/>
            <a:ext cx="2377440" cy="347472"/>
          </a:xfrm>
          <a:prstGeom prst="rect">
            <a:avLst/>
          </a:prstGeom>
          <a:solidFill>
            <a:srgbClr val="4184D7"/>
          </a:solidFill>
          <a:ln>
            <a:solidFill>
              <a:srgbClr val="418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8">
            <a:extLst>
              <a:ext uri="{FF2B5EF4-FFF2-40B4-BE49-F238E27FC236}">
                <a16:creationId xmlns:a16="http://schemas.microsoft.com/office/drawing/2014/main" id="{2FCD7382-EF7E-DB45-3988-E8E913578AF7}"/>
              </a:ext>
            </a:extLst>
          </p:cNvPr>
          <p:cNvSpPr txBox="1"/>
          <p:nvPr/>
        </p:nvSpPr>
        <p:spPr>
          <a:xfrm>
            <a:off x="1001268" y="2160244"/>
            <a:ext cx="224942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Arial"/>
              </a:rPr>
              <a:t>-d</a:t>
            </a:r>
          </a:p>
        </p:txBody>
      </p:sp>
      <p:sp>
        <p:nvSpPr>
          <p:cNvPr id="68" name="Rounded Rectangle 9">
            <a:extLst>
              <a:ext uri="{FF2B5EF4-FFF2-40B4-BE49-F238E27FC236}">
                <a16:creationId xmlns:a16="http://schemas.microsoft.com/office/drawing/2014/main" id="{11489B15-F19C-67CB-E8C7-83251AAE2507}"/>
              </a:ext>
            </a:extLst>
          </p:cNvPr>
          <p:cNvSpPr/>
          <p:nvPr/>
        </p:nvSpPr>
        <p:spPr>
          <a:xfrm>
            <a:off x="3543300" y="2157234"/>
            <a:ext cx="2377440" cy="1508760"/>
          </a:xfrm>
          <a:prstGeom prst="roundRect">
            <a:avLst/>
          </a:prstGeom>
          <a:solidFill>
            <a:srgbClr val="F3EEFA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/>
              <a:t>Nombre reconocible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/>
              <a:t>Facilita logs, exec y stop</a:t>
            </a:r>
          </a:p>
        </p:txBody>
      </p:sp>
      <p:sp>
        <p:nvSpPr>
          <p:cNvPr id="72" name="Rectangle 10">
            <a:extLst>
              <a:ext uri="{FF2B5EF4-FFF2-40B4-BE49-F238E27FC236}">
                <a16:creationId xmlns:a16="http://schemas.microsoft.com/office/drawing/2014/main" id="{06D68F59-CBA8-874D-800C-5F958219F887}"/>
              </a:ext>
            </a:extLst>
          </p:cNvPr>
          <p:cNvSpPr/>
          <p:nvPr/>
        </p:nvSpPr>
        <p:spPr>
          <a:xfrm>
            <a:off x="3543300" y="2157234"/>
            <a:ext cx="2377440" cy="347472"/>
          </a:xfrm>
          <a:prstGeom prst="rect">
            <a:avLst/>
          </a:prstGeom>
          <a:solidFill>
            <a:srgbClr val="8E5BC2"/>
          </a:solidFill>
          <a:ln>
            <a:solidFill>
              <a:srgbClr val="8E5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11">
            <a:extLst>
              <a:ext uri="{FF2B5EF4-FFF2-40B4-BE49-F238E27FC236}">
                <a16:creationId xmlns:a16="http://schemas.microsoft.com/office/drawing/2014/main" id="{6C12D89C-2FCC-57AD-A426-BDE3643B59D1}"/>
              </a:ext>
            </a:extLst>
          </p:cNvPr>
          <p:cNvSpPr txBox="1"/>
          <p:nvPr/>
        </p:nvSpPr>
        <p:spPr>
          <a:xfrm>
            <a:off x="3607308" y="2160244"/>
            <a:ext cx="224942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--name</a:t>
            </a:r>
          </a:p>
        </p:txBody>
      </p:sp>
      <p:sp>
        <p:nvSpPr>
          <p:cNvPr id="78" name="Rounded Rectangle 12">
            <a:extLst>
              <a:ext uri="{FF2B5EF4-FFF2-40B4-BE49-F238E27FC236}">
                <a16:creationId xmlns:a16="http://schemas.microsoft.com/office/drawing/2014/main" id="{8A29F428-6CF8-33B6-855C-AACF5558D1B8}"/>
              </a:ext>
            </a:extLst>
          </p:cNvPr>
          <p:cNvSpPr/>
          <p:nvPr/>
        </p:nvSpPr>
        <p:spPr>
          <a:xfrm>
            <a:off x="6149340" y="2157234"/>
            <a:ext cx="2377440" cy="1508760"/>
          </a:xfrm>
          <a:prstGeom prst="roundRect">
            <a:avLst/>
          </a:prstGeom>
          <a:solidFill>
            <a:srgbClr val="FCF5DB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/>
              <a:t>Host : contenedor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/>
              <a:t>Publica un puerto al anfitrión</a:t>
            </a:r>
          </a:p>
        </p:txBody>
      </p:sp>
      <p:sp>
        <p:nvSpPr>
          <p:cNvPr id="80" name="Rectangle 13">
            <a:extLst>
              <a:ext uri="{FF2B5EF4-FFF2-40B4-BE49-F238E27FC236}">
                <a16:creationId xmlns:a16="http://schemas.microsoft.com/office/drawing/2014/main" id="{EF1CD317-95E0-0F91-F177-CAB8512A39C9}"/>
              </a:ext>
            </a:extLst>
          </p:cNvPr>
          <p:cNvSpPr/>
          <p:nvPr/>
        </p:nvSpPr>
        <p:spPr>
          <a:xfrm>
            <a:off x="6149340" y="2157234"/>
            <a:ext cx="2377440" cy="347472"/>
          </a:xfrm>
          <a:prstGeom prst="rect">
            <a:avLst/>
          </a:prstGeom>
          <a:solidFill>
            <a:srgbClr val="E89134"/>
          </a:solidFill>
          <a:ln>
            <a:solidFill>
              <a:srgbClr val="E8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14">
            <a:extLst>
              <a:ext uri="{FF2B5EF4-FFF2-40B4-BE49-F238E27FC236}">
                <a16:creationId xmlns:a16="http://schemas.microsoft.com/office/drawing/2014/main" id="{E5024DFB-1335-5BCD-19EF-00F97FCE09F3}"/>
              </a:ext>
            </a:extLst>
          </p:cNvPr>
          <p:cNvSpPr txBox="1"/>
          <p:nvPr/>
        </p:nvSpPr>
        <p:spPr>
          <a:xfrm>
            <a:off x="6213348" y="2160244"/>
            <a:ext cx="224942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-p 8088:80</a:t>
            </a:r>
          </a:p>
        </p:txBody>
      </p:sp>
      <p:sp>
        <p:nvSpPr>
          <p:cNvPr id="84" name="Rounded Rectangle 15">
            <a:extLst>
              <a:ext uri="{FF2B5EF4-FFF2-40B4-BE49-F238E27FC236}">
                <a16:creationId xmlns:a16="http://schemas.microsoft.com/office/drawing/2014/main" id="{B48DECD0-0867-2E0B-97EE-D49D67E26556}"/>
              </a:ext>
            </a:extLst>
          </p:cNvPr>
          <p:cNvSpPr/>
          <p:nvPr/>
        </p:nvSpPr>
        <p:spPr>
          <a:xfrm>
            <a:off x="8755380" y="2157234"/>
            <a:ext cx="2377440" cy="150876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/>
              <a:t>Qué se ejecuta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313A44"/>
                </a:solidFill>
                <a:latin typeface="Arial"/>
              </a:defRPr>
            </a:pPr>
            <a:r>
              <a:rPr sz="1400"/>
              <a:t>Versión explícita de la imagen</a:t>
            </a:r>
          </a:p>
        </p:txBody>
      </p:sp>
      <p:sp>
        <p:nvSpPr>
          <p:cNvPr id="86" name="Rectangle 16">
            <a:extLst>
              <a:ext uri="{FF2B5EF4-FFF2-40B4-BE49-F238E27FC236}">
                <a16:creationId xmlns:a16="http://schemas.microsoft.com/office/drawing/2014/main" id="{CB5F4280-1B0F-CDC4-CCB0-8469915F5EAA}"/>
              </a:ext>
            </a:extLst>
          </p:cNvPr>
          <p:cNvSpPr/>
          <p:nvPr/>
        </p:nvSpPr>
        <p:spPr>
          <a:xfrm>
            <a:off x="8755380" y="2157234"/>
            <a:ext cx="2377440" cy="347472"/>
          </a:xfrm>
          <a:prstGeom prst="rect">
            <a:avLst/>
          </a:prstGeom>
          <a:solidFill>
            <a:srgbClr val="055640"/>
          </a:solidFill>
          <a:ln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17">
            <a:extLst>
              <a:ext uri="{FF2B5EF4-FFF2-40B4-BE49-F238E27FC236}">
                <a16:creationId xmlns:a16="http://schemas.microsoft.com/office/drawing/2014/main" id="{68092A51-B8BA-9624-7F94-F8A224BFEC55}"/>
              </a:ext>
            </a:extLst>
          </p:cNvPr>
          <p:cNvSpPr txBox="1"/>
          <p:nvPr/>
        </p:nvSpPr>
        <p:spPr>
          <a:xfrm>
            <a:off x="8819388" y="2160244"/>
            <a:ext cx="224942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imagen:tag</a:t>
            </a:r>
          </a:p>
        </p:txBody>
      </p:sp>
      <p:sp>
        <p:nvSpPr>
          <p:cNvPr id="90" name="TextBox 18">
            <a:extLst>
              <a:ext uri="{FF2B5EF4-FFF2-40B4-BE49-F238E27FC236}">
                <a16:creationId xmlns:a16="http://schemas.microsoft.com/office/drawing/2014/main" id="{39ED6454-8EC5-4A43-F1AD-A1A600A55F37}"/>
              </a:ext>
            </a:extLst>
          </p:cNvPr>
          <p:cNvSpPr txBox="1"/>
          <p:nvPr/>
        </p:nvSpPr>
        <p:spPr>
          <a:xfrm>
            <a:off x="4132459" y="3878563"/>
            <a:ext cx="3840480" cy="323165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1600" b="1" i="0" dirty="0" err="1">
                <a:solidFill>
                  <a:srgbClr val="18365F"/>
                </a:solidFill>
                <a:latin typeface="Arial"/>
              </a:rPr>
              <a:t>Comprobaciones</a:t>
            </a:r>
            <a:r>
              <a:rPr sz="1600" b="1" i="0" dirty="0">
                <a:solidFill>
                  <a:srgbClr val="18365F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18365F"/>
                </a:solidFill>
                <a:latin typeface="Arial"/>
              </a:rPr>
              <a:t>inmediatas</a:t>
            </a:r>
            <a:endParaRPr sz="1600" b="1" i="0" dirty="0">
              <a:solidFill>
                <a:srgbClr val="18365F"/>
              </a:solidFill>
              <a:latin typeface="Arial"/>
            </a:endParaRPr>
          </a:p>
        </p:txBody>
      </p:sp>
      <p:sp>
        <p:nvSpPr>
          <p:cNvPr id="92" name="Rounded Rectangle 19">
            <a:extLst>
              <a:ext uri="{FF2B5EF4-FFF2-40B4-BE49-F238E27FC236}">
                <a16:creationId xmlns:a16="http://schemas.microsoft.com/office/drawing/2014/main" id="{68EDC226-683C-CBA9-785C-2BBC45B23BEA}"/>
              </a:ext>
            </a:extLst>
          </p:cNvPr>
          <p:cNvSpPr/>
          <p:nvPr/>
        </p:nvSpPr>
        <p:spPr>
          <a:xfrm>
            <a:off x="3629539" y="4244323"/>
            <a:ext cx="4846320" cy="8229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200">
                <a:solidFill>
                  <a:srgbClr val="2D3A4C"/>
                </a:solidFill>
                <a:latin typeface="Consolas"/>
              </a:defRPr>
            </a:pPr>
            <a:r>
              <a:rPr sz="1600" dirty="0">
                <a:solidFill>
                  <a:srgbClr val="2D3A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</a:t>
            </a:r>
            <a:r>
              <a:rPr sz="1600" dirty="0" err="1">
                <a:solidFill>
                  <a:srgbClr val="2D3A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br>
              <a:rPr sz="1600" dirty="0">
                <a:solidFill>
                  <a:srgbClr val="2D3A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solidFill>
                  <a:srgbClr val="2D3A4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logs web-demo</a:t>
            </a:r>
          </a:p>
        </p:txBody>
      </p:sp>
    </p:spTree>
    <p:extLst>
      <p:ext uri="{BB962C8B-B14F-4D97-AF65-F5344CB8AC3E}">
        <p14:creationId xmlns:p14="http://schemas.microsoft.com/office/powerpoint/2010/main" val="215820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97C74-1EC6-10D4-47AF-B77EE290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21D1190-F64E-B2BC-A6FE-78AF0EBF8949}"/>
              </a:ext>
            </a:extLst>
          </p:cNvPr>
          <p:cNvSpPr/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B2A4604F-B9E1-02B5-680D-E3194FC484ED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AE768401-AC2B-0F83-70EC-E807EF33600F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DAB94EFE-6E01-A1E2-592A-40660B1C4EBF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A319CD00-F6A5-8DE9-C75E-07889ED38C6D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48420AE7-2A14-0983-BCB6-AA294F01C2C0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D0CC8CD4-F7D7-FD57-7A14-41932EAE6713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1F66DA7-F80E-EED7-7362-A84C5F1E2B57}"/>
              </a:ext>
            </a:extLst>
          </p:cNvPr>
          <p:cNvSpPr txBox="1"/>
          <p:nvPr/>
        </p:nvSpPr>
        <p:spPr>
          <a:xfrm>
            <a:off x="937260" y="5578670"/>
            <a:ext cx="10564088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sz="1400" dirty="0">
                <a:solidFill>
                  <a:srgbClr val="18365F"/>
                </a:solidFill>
                <a:latin typeface="Arial"/>
              </a:rPr>
              <a:t>Publicar un puerto y externalizar configuración son decisiones distintas: una abre acceso; la otra adapta la misma imagen al entorno.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ED172-986B-1F4B-A572-EC07E15E9547}"/>
              </a:ext>
            </a:extLst>
          </p:cNvPr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A742CC06-271C-8A14-EE0E-4886B7BFD265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6EA75EBC-A260-30AE-F0D3-DA414F41C6C8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130689-1879-EB68-E5CC-55B4B8D469DE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Puertos y configuración externa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589D2EB-B40A-4874-40EB-74CF22C91C3A}"/>
              </a:ext>
            </a:extLst>
          </p:cNvPr>
          <p:cNvGrpSpPr/>
          <p:nvPr/>
        </p:nvGrpSpPr>
        <p:grpSpPr>
          <a:xfrm>
            <a:off x="1055265" y="1245016"/>
            <a:ext cx="10081469" cy="2444408"/>
            <a:chOff x="815339" y="1666996"/>
            <a:chExt cx="10081469" cy="2444408"/>
          </a:xfrm>
        </p:grpSpPr>
        <p:sp>
          <p:nvSpPr>
            <p:cNvPr id="36" name="Rounded Rectangle 18">
              <a:extLst>
                <a:ext uri="{FF2B5EF4-FFF2-40B4-BE49-F238E27FC236}">
                  <a16:creationId xmlns:a16="http://schemas.microsoft.com/office/drawing/2014/main" id="{FFA9E5E3-1CB9-7F68-9226-E82D18F9E393}"/>
                </a:ext>
              </a:extLst>
            </p:cNvPr>
            <p:cNvSpPr/>
            <p:nvPr/>
          </p:nvSpPr>
          <p:spPr>
            <a:xfrm>
              <a:off x="833627" y="1698446"/>
              <a:ext cx="4560493" cy="2412958"/>
            </a:xfrm>
            <a:prstGeom prst="roundRect">
              <a:avLst>
                <a:gd name="adj" fmla="val 16667"/>
              </a:avLst>
            </a:prstGeom>
            <a:solidFill>
              <a:srgbClr val="E9F1FA"/>
            </a:solidFill>
            <a:ln>
              <a:solidFill>
                <a:srgbClr val="B5CEC4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101520" tIns="481680" rIns="101520" bIns="101520" anchor="t">
              <a:noAutofit/>
            </a:bodyPr>
            <a:lstStyle/>
            <a:p>
              <a:pPr marL="285750" indent="-285750" defTabSz="457200">
                <a:lnSpc>
                  <a:spcPct val="10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s-ES" sz="1600" b="0" u="none" strike="noStrike" dirty="0">
                  <a:solidFill>
                    <a:srgbClr val="2D3436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Un contenedor no publica automáticamente sus servicios al anfitrión.</a:t>
              </a:r>
            </a:p>
            <a:p>
              <a:pPr marL="285750" indent="-285750" defTabSz="457200">
                <a:lnSpc>
                  <a:spcPct val="10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s-ES" sz="1600" b="0" u="none" strike="noStrike" dirty="0">
                  <a:solidFill>
                    <a:srgbClr val="2D3436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-p </a:t>
              </a:r>
              <a:r>
                <a:rPr lang="es-ES" sz="1600" b="0" u="none" strike="noStrike" dirty="0" err="1">
                  <a:solidFill>
                    <a:srgbClr val="2D3436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anfitrión:contenedor</a:t>
              </a:r>
              <a:endParaRPr lang="es-ES" sz="1600" b="0" u="none" strike="noStrike" dirty="0">
                <a:solidFill>
                  <a:srgbClr val="2D3436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457200">
                <a:lnSpc>
                  <a:spcPct val="100000"/>
                </a:lnSpc>
                <a:spcAft>
                  <a:spcPts val="600"/>
                </a:spcAft>
              </a:pPr>
              <a:r>
                <a:rPr lang="es-ES" sz="1600" b="0" u="none" strike="noStrike" dirty="0">
                  <a:solidFill>
                    <a:srgbClr val="2D3436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Ejemplo: navegador → localhost:8080 → puerto 80 del contenedor</a:t>
              </a:r>
            </a:p>
          </p:txBody>
        </p:sp>
        <p:sp>
          <p:nvSpPr>
            <p:cNvPr id="40" name="Rounded Rectangle 19">
              <a:extLst>
                <a:ext uri="{FF2B5EF4-FFF2-40B4-BE49-F238E27FC236}">
                  <a16:creationId xmlns:a16="http://schemas.microsoft.com/office/drawing/2014/main" id="{418C0D95-2BAF-1111-C5DC-41D41CAD2745}"/>
                </a:ext>
              </a:extLst>
            </p:cNvPr>
            <p:cNvSpPr/>
            <p:nvPr/>
          </p:nvSpPr>
          <p:spPr>
            <a:xfrm>
              <a:off x="815339" y="1671056"/>
              <a:ext cx="4580117" cy="373517"/>
            </a:xfrm>
            <a:prstGeom prst="roundRect">
              <a:avLst>
                <a:gd name="adj" fmla="val 16667"/>
              </a:avLst>
            </a:prstGeom>
            <a:solidFill>
              <a:srgbClr val="3B82F6"/>
            </a:solidFill>
            <a:ln>
              <a:solidFill>
                <a:srgbClr val="3B82F6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400" b="0" u="none" strike="noStrike" dirty="0">
                <a:solidFill>
                  <a:schemeClr val="lt1"/>
                </a:solidFill>
                <a:effectLst/>
                <a:uFillTx/>
              </a:endParaRPr>
            </a:p>
          </p:txBody>
        </p:sp>
        <p:sp>
          <p:nvSpPr>
            <p:cNvPr id="44" name="TextBox 20">
              <a:extLst>
                <a:ext uri="{FF2B5EF4-FFF2-40B4-BE49-F238E27FC236}">
                  <a16:creationId xmlns:a16="http://schemas.microsoft.com/office/drawing/2014/main" id="{44902A32-F6B8-2A31-8E47-FA5C1C67AB46}"/>
                </a:ext>
              </a:extLst>
            </p:cNvPr>
            <p:cNvSpPr/>
            <p:nvPr/>
          </p:nvSpPr>
          <p:spPr>
            <a:xfrm>
              <a:off x="870059" y="1671529"/>
              <a:ext cx="4427205" cy="40035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76320" tIns="76320" rIns="76320" bIns="76320" anchor="ctr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s-ES" sz="1600" b="1" u="none" strike="noStrike" dirty="0">
                  <a:solidFill>
                    <a:srgbClr val="FFFFFF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Publicar un puerto	</a:t>
              </a:r>
            </a:p>
          </p:txBody>
        </p:sp>
        <p:sp>
          <p:nvSpPr>
            <p:cNvPr id="6" name="Rounded Rectangle 15">
              <a:extLst>
                <a:ext uri="{FF2B5EF4-FFF2-40B4-BE49-F238E27FC236}">
                  <a16:creationId xmlns:a16="http://schemas.microsoft.com/office/drawing/2014/main" id="{B7916D62-C20B-9A5C-5A82-2EA5770B0C56}"/>
                </a:ext>
              </a:extLst>
            </p:cNvPr>
            <p:cNvSpPr/>
            <p:nvPr/>
          </p:nvSpPr>
          <p:spPr>
            <a:xfrm>
              <a:off x="6096000" y="1666996"/>
              <a:ext cx="4800808" cy="2444408"/>
            </a:xfrm>
            <a:prstGeom prst="roundRect">
              <a:avLst/>
            </a:prstGeom>
            <a:solidFill>
              <a:srgbClr val="E8F6F0"/>
            </a:solidFill>
            <a:ln w="12700">
              <a:solidFill>
                <a:srgbClr val="AFD2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9728" tIns="448056" bIns="73152" rtlCol="0" anchor="t"/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200">
                  <a:solidFill>
                    <a:srgbClr val="313A44"/>
                  </a:solidFill>
                  <a:latin typeface="Arial"/>
                </a:defRPr>
              </a:pPr>
              <a:r>
                <a:rPr lang="es-ES" sz="1600" dirty="0"/>
                <a:t>La misma imagen puede arrancar con valores diferentes.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200">
                  <a:solidFill>
                    <a:srgbClr val="313A44"/>
                  </a:solidFill>
                  <a:latin typeface="Arial"/>
                </a:defRPr>
              </a:pPr>
              <a:r>
                <a:rPr lang="es-ES" sz="1600" dirty="0"/>
                <a:t>Las variables se pasan al crear el contenedor.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200">
                  <a:solidFill>
                    <a:srgbClr val="313A44"/>
                  </a:solidFill>
                  <a:latin typeface="Arial"/>
                </a:defRPr>
              </a:pPr>
              <a:r>
                <a:rPr lang="es-ES" sz="1600" dirty="0"/>
                <a:t>Las credenciales reales no deben quedar dentro de la imagen.</a:t>
              </a:r>
            </a:p>
          </p:txBody>
        </p:sp>
        <p:sp>
          <p:nvSpPr>
            <p:cNvPr id="8" name="Rectangle 16">
              <a:extLst>
                <a:ext uri="{FF2B5EF4-FFF2-40B4-BE49-F238E27FC236}">
                  <a16:creationId xmlns:a16="http://schemas.microsoft.com/office/drawing/2014/main" id="{E6F28CC0-8D71-24C0-3D3E-BE16125C5793}"/>
                </a:ext>
              </a:extLst>
            </p:cNvPr>
            <p:cNvSpPr/>
            <p:nvPr/>
          </p:nvSpPr>
          <p:spPr>
            <a:xfrm>
              <a:off x="6096000" y="1666997"/>
              <a:ext cx="4800808" cy="373517"/>
            </a:xfrm>
            <a:prstGeom prst="rect">
              <a:avLst/>
            </a:prstGeom>
            <a:solidFill>
              <a:srgbClr val="055640"/>
            </a:solidFill>
            <a:ln>
              <a:solidFill>
                <a:srgbClr val="0556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17">
              <a:extLst>
                <a:ext uri="{FF2B5EF4-FFF2-40B4-BE49-F238E27FC236}">
                  <a16:creationId xmlns:a16="http://schemas.microsoft.com/office/drawing/2014/main" id="{FE48B991-C20B-D63E-AEC7-1C7C14084F12}"/>
                </a:ext>
              </a:extLst>
            </p:cNvPr>
            <p:cNvSpPr txBox="1"/>
            <p:nvPr/>
          </p:nvSpPr>
          <p:spPr>
            <a:xfrm>
              <a:off x="6160008" y="1721408"/>
              <a:ext cx="4542303" cy="323165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l"/>
              <a:r>
                <a:rPr lang="es-ES" sz="1600" b="1" dirty="0">
                  <a:solidFill>
                    <a:srgbClr val="FFFFFF"/>
                  </a:solidFill>
                  <a:latin typeface="Arial"/>
                </a:rPr>
                <a:t>Configurar sin construir</a:t>
              </a:r>
              <a:endParaRPr sz="1600" b="1" i="0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25A991A-2573-C8BB-E70D-59D301A89B02}"/>
              </a:ext>
            </a:extLst>
          </p:cNvPr>
          <p:cNvSpPr/>
          <p:nvPr/>
        </p:nvSpPr>
        <p:spPr>
          <a:xfrm>
            <a:off x="1234440" y="4229207"/>
            <a:ext cx="4206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800">
                <a:solidFill>
                  <a:srgbClr val="2D3A4C"/>
                </a:solidFill>
                <a:latin typeface="Consolas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-p 8080:80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E6EC70B6-AAA8-E34E-B64C-ADE524F7AFE7}"/>
              </a:ext>
            </a:extLst>
          </p:cNvPr>
          <p:cNvSpPr/>
          <p:nvPr/>
        </p:nvSpPr>
        <p:spPr>
          <a:xfrm>
            <a:off x="6720840" y="4000607"/>
            <a:ext cx="42062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100">
                <a:solidFill>
                  <a:srgbClr val="2D3A4C"/>
                </a:solidFill>
                <a:latin typeface="Consolas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docker run -d --name bd-demo \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-e POSTGRES_DB=</a:t>
            </a:r>
            <a:r>
              <a:rPr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tienda_demo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postgres:18-alpine</a:t>
            </a:r>
          </a:p>
        </p:txBody>
      </p:sp>
    </p:spTree>
    <p:extLst>
      <p:ext uri="{BB962C8B-B14F-4D97-AF65-F5344CB8AC3E}">
        <p14:creationId xmlns:p14="http://schemas.microsoft.com/office/powerpoint/2010/main" val="293708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0420B-D497-E201-680A-1F4B761B2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B9897236-5FC0-323A-480C-B540559DB2E9}"/>
              </a:ext>
            </a:extLst>
          </p:cNvPr>
          <p:cNvSpPr/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6EF15DA3-8797-0F76-5B52-293807DB7CA7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BB533932-9160-697C-7B5F-F607D32B9E6D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83F1041D-2C05-57D5-03D1-2B288ECDFD17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0FBA531F-AD3A-0581-3EB7-088F9CC87D9A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F3543BA0-F78A-5D82-94BD-D592941901C4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61B22F89-CF08-4D5C-DB05-2754B568114E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B102593-3510-6E58-4B20-797A436AE4EC}"/>
              </a:ext>
            </a:extLst>
          </p:cNvPr>
          <p:cNvSpPr txBox="1"/>
          <p:nvPr/>
        </p:nvSpPr>
        <p:spPr>
          <a:xfrm>
            <a:off x="937260" y="5578670"/>
            <a:ext cx="10564088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sz="1400" dirty="0">
                <a:solidFill>
                  <a:srgbClr val="18365F"/>
                </a:solidFill>
                <a:latin typeface="Arial"/>
              </a:rPr>
              <a:t>En esta sesión basta con distinguir ambos mecanismos; la configuración explícita llegará en las siguientes prácticas.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F495E3-420F-9BBA-ACBB-01C89090491F}"/>
              </a:ext>
            </a:extLst>
          </p:cNvPr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3349E6F0-BDED-45DE-5C2A-9135F52A2237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CA88BEA6-0D27-AE27-8EE2-0355248FA4D7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3D0AA1E9-C79F-7E5E-B1F6-177839DC5883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Montaje y redes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BA102B25-B556-7762-9E2D-CC960FA5CF33}"/>
              </a:ext>
            </a:extLst>
          </p:cNvPr>
          <p:cNvGrpSpPr/>
          <p:nvPr/>
        </p:nvGrpSpPr>
        <p:grpSpPr>
          <a:xfrm>
            <a:off x="1051490" y="1510479"/>
            <a:ext cx="10081469" cy="3333312"/>
            <a:chOff x="815339" y="1666996"/>
            <a:chExt cx="10081469" cy="3333312"/>
          </a:xfrm>
        </p:grpSpPr>
        <p:sp>
          <p:nvSpPr>
            <p:cNvPr id="36" name="Rounded Rectangle 18">
              <a:extLst>
                <a:ext uri="{FF2B5EF4-FFF2-40B4-BE49-F238E27FC236}">
                  <a16:creationId xmlns:a16="http://schemas.microsoft.com/office/drawing/2014/main" id="{777867AC-B0DF-F1CF-0C36-93234AAF8A90}"/>
                </a:ext>
              </a:extLst>
            </p:cNvPr>
            <p:cNvSpPr/>
            <p:nvPr/>
          </p:nvSpPr>
          <p:spPr>
            <a:xfrm>
              <a:off x="833627" y="1698445"/>
              <a:ext cx="4560493" cy="3290425"/>
            </a:xfrm>
            <a:prstGeom prst="roundRect">
              <a:avLst>
                <a:gd name="adj" fmla="val 16667"/>
              </a:avLst>
            </a:prstGeom>
            <a:solidFill>
              <a:srgbClr val="E9F1FA"/>
            </a:solidFill>
            <a:ln>
              <a:solidFill>
                <a:srgbClr val="B5CEC4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101520" tIns="481680" rIns="101520" bIns="101520" anchor="t">
              <a:noAutofit/>
            </a:bodyPr>
            <a:lstStyle/>
            <a:p>
              <a:pPr marL="285750" indent="-285750" defTabSz="457200">
                <a:lnSpc>
                  <a:spcPct val="10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s-ES" sz="1600" b="1" u="none" strike="noStrike" dirty="0">
                  <a:solidFill>
                    <a:srgbClr val="2D3436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Volumen</a:t>
              </a:r>
              <a:r>
                <a:rPr lang="es-ES" sz="1600" b="0" u="none" strike="noStrike" dirty="0">
                  <a:solidFill>
                    <a:srgbClr val="2D3436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→ lo gestiona Docker; buen encaje para datos persistentes.</a:t>
              </a:r>
            </a:p>
            <a:p>
              <a:pPr marL="285750" indent="-285750" defTabSz="457200">
                <a:lnSpc>
                  <a:spcPct val="10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s-ES" sz="1600" b="1" u="none" strike="noStrike" dirty="0" err="1">
                  <a:solidFill>
                    <a:srgbClr val="2D3436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Bind</a:t>
              </a:r>
              <a:r>
                <a:rPr lang="es-ES" sz="1600" b="0" u="none" strike="noStrike" dirty="0">
                  <a:solidFill>
                    <a:srgbClr val="2D3436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ES" sz="1600" b="1" u="none" strike="noStrike" dirty="0" err="1">
                  <a:solidFill>
                    <a:srgbClr val="2D3436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mount</a:t>
              </a:r>
              <a:r>
                <a:rPr lang="es-ES" sz="1600" b="0" u="none" strike="noStrike" dirty="0">
                  <a:solidFill>
                    <a:srgbClr val="2D3436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→ usa una ruta concreta del anfitrión; útil para configuración o ficheros locales.</a:t>
              </a:r>
            </a:p>
            <a:p>
              <a:pPr defTabSz="457200">
                <a:lnSpc>
                  <a:spcPct val="100000"/>
                </a:lnSpc>
                <a:spcAft>
                  <a:spcPts val="600"/>
                </a:spcAft>
              </a:pPr>
              <a:r>
                <a:rPr lang="es-ES" sz="1600" b="0" u="none" strike="noStrike" dirty="0">
                  <a:solidFill>
                    <a:srgbClr val="2D3436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Si debe sobrevivir al contenedor, debe tener un ciclo de vida independiente.</a:t>
              </a:r>
            </a:p>
          </p:txBody>
        </p:sp>
        <p:sp>
          <p:nvSpPr>
            <p:cNvPr id="40" name="Rounded Rectangle 19">
              <a:extLst>
                <a:ext uri="{FF2B5EF4-FFF2-40B4-BE49-F238E27FC236}">
                  <a16:creationId xmlns:a16="http://schemas.microsoft.com/office/drawing/2014/main" id="{2B5A7A59-939B-576E-2DA2-71E322A7423B}"/>
                </a:ext>
              </a:extLst>
            </p:cNvPr>
            <p:cNvSpPr/>
            <p:nvPr/>
          </p:nvSpPr>
          <p:spPr>
            <a:xfrm>
              <a:off x="815339" y="1671056"/>
              <a:ext cx="4580117" cy="373517"/>
            </a:xfrm>
            <a:prstGeom prst="roundRect">
              <a:avLst>
                <a:gd name="adj" fmla="val 16667"/>
              </a:avLst>
            </a:prstGeom>
            <a:solidFill>
              <a:srgbClr val="3B82F6"/>
            </a:solidFill>
            <a:ln>
              <a:solidFill>
                <a:srgbClr val="3B82F6"/>
              </a:solidFill>
              <a:round/>
            </a:ln>
            <a:effectLst>
              <a:outerShdw blurRad="39960" dist="2304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400" b="0" u="none" strike="noStrike" dirty="0">
                <a:solidFill>
                  <a:schemeClr val="lt1"/>
                </a:solidFill>
                <a:effectLst/>
                <a:uFillTx/>
              </a:endParaRPr>
            </a:p>
          </p:txBody>
        </p:sp>
        <p:sp>
          <p:nvSpPr>
            <p:cNvPr id="44" name="TextBox 20">
              <a:extLst>
                <a:ext uri="{FF2B5EF4-FFF2-40B4-BE49-F238E27FC236}">
                  <a16:creationId xmlns:a16="http://schemas.microsoft.com/office/drawing/2014/main" id="{DD6F2462-0943-CF64-5118-26BD6C889865}"/>
                </a:ext>
              </a:extLst>
            </p:cNvPr>
            <p:cNvSpPr/>
            <p:nvPr/>
          </p:nvSpPr>
          <p:spPr>
            <a:xfrm>
              <a:off x="870059" y="1671529"/>
              <a:ext cx="4427205" cy="400352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76320" tIns="76320" rIns="76320" bIns="76320" anchor="ctr">
              <a:spAutoFit/>
            </a:bodyPr>
            <a:lstStyle/>
            <a:p>
              <a:pPr defTabSz="457200">
                <a:lnSpc>
                  <a:spcPct val="100000"/>
                </a:lnSpc>
              </a:pPr>
              <a:r>
                <a:rPr lang="es-ES" sz="1600" b="1" u="none" strike="noStrike" dirty="0">
                  <a:solidFill>
                    <a:srgbClr val="FFFFFF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Persistencia</a:t>
              </a:r>
            </a:p>
          </p:txBody>
        </p:sp>
        <p:sp>
          <p:nvSpPr>
            <p:cNvPr id="6" name="Rounded Rectangle 15">
              <a:extLst>
                <a:ext uri="{FF2B5EF4-FFF2-40B4-BE49-F238E27FC236}">
                  <a16:creationId xmlns:a16="http://schemas.microsoft.com/office/drawing/2014/main" id="{996B0053-84E4-3C5E-0FA4-836882A26FA5}"/>
                </a:ext>
              </a:extLst>
            </p:cNvPr>
            <p:cNvSpPr/>
            <p:nvPr/>
          </p:nvSpPr>
          <p:spPr>
            <a:xfrm>
              <a:off x="6096000" y="1666996"/>
              <a:ext cx="4800808" cy="3333312"/>
            </a:xfrm>
            <a:prstGeom prst="roundRect">
              <a:avLst/>
            </a:prstGeom>
            <a:solidFill>
              <a:srgbClr val="E8F6F0"/>
            </a:solidFill>
            <a:ln w="12700">
              <a:solidFill>
                <a:srgbClr val="AFD2C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09728" tIns="448056" bIns="73152" rtlCol="0" anchor="t"/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200">
                  <a:solidFill>
                    <a:srgbClr val="313A44"/>
                  </a:solidFill>
                  <a:latin typeface="Arial"/>
                </a:defRPr>
              </a:pPr>
              <a:r>
                <a:rPr lang="es-ES" sz="1600" dirty="0"/>
                <a:t>Publicar un puerto → permite acceder desde el anfitrión.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200">
                  <a:solidFill>
                    <a:srgbClr val="313A44"/>
                  </a:solidFill>
                  <a:latin typeface="Arial"/>
                </a:defRPr>
              </a:pPr>
              <a:r>
                <a:rPr lang="es-ES" sz="1600" dirty="0"/>
                <a:t>Red de Docker → permite comunicar contenedores entre sí.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defRPr sz="1200">
                  <a:solidFill>
                    <a:srgbClr val="313A44"/>
                  </a:solidFill>
                  <a:latin typeface="Arial"/>
                </a:defRPr>
              </a:pPr>
              <a:r>
                <a:rPr lang="es-ES" sz="1600" dirty="0"/>
                <a:t>En redes bridge creadas por el usuario, los servicios pueden descubrirse por nombre.</a:t>
              </a:r>
            </a:p>
          </p:txBody>
        </p:sp>
        <p:sp>
          <p:nvSpPr>
            <p:cNvPr id="8" name="Rectangle 16">
              <a:extLst>
                <a:ext uri="{FF2B5EF4-FFF2-40B4-BE49-F238E27FC236}">
                  <a16:creationId xmlns:a16="http://schemas.microsoft.com/office/drawing/2014/main" id="{D0628D9D-7904-BB05-116F-9FA1BE1AD2B6}"/>
                </a:ext>
              </a:extLst>
            </p:cNvPr>
            <p:cNvSpPr/>
            <p:nvPr/>
          </p:nvSpPr>
          <p:spPr>
            <a:xfrm>
              <a:off x="6096000" y="1666997"/>
              <a:ext cx="4800808" cy="373517"/>
            </a:xfrm>
            <a:prstGeom prst="rect">
              <a:avLst/>
            </a:prstGeom>
            <a:solidFill>
              <a:srgbClr val="055640"/>
            </a:solidFill>
            <a:ln>
              <a:solidFill>
                <a:srgbClr val="05564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17">
              <a:extLst>
                <a:ext uri="{FF2B5EF4-FFF2-40B4-BE49-F238E27FC236}">
                  <a16:creationId xmlns:a16="http://schemas.microsoft.com/office/drawing/2014/main" id="{34F61F3A-70E9-FDFC-7D90-D012B696ECC9}"/>
                </a:ext>
              </a:extLst>
            </p:cNvPr>
            <p:cNvSpPr txBox="1"/>
            <p:nvPr/>
          </p:nvSpPr>
          <p:spPr>
            <a:xfrm>
              <a:off x="6160008" y="1721408"/>
              <a:ext cx="4542303" cy="323165"/>
            </a:xfrm>
            <a:prstGeom prst="rect">
              <a:avLst/>
            </a:prstGeom>
            <a:noFill/>
          </p:spPr>
          <p:txBody>
            <a:bodyPr wrap="square" lIns="38100" tIns="38100" rIns="38100" bIns="38100" anchor="ctr">
              <a:spAutoFit/>
            </a:bodyPr>
            <a:lstStyle/>
            <a:p>
              <a:pPr algn="l"/>
              <a:r>
                <a:rPr lang="es-ES" sz="1600" b="1" dirty="0">
                  <a:solidFill>
                    <a:srgbClr val="FFFFFF"/>
                  </a:solidFill>
                  <a:latin typeface="Arial"/>
                </a:rPr>
                <a:t>Redes</a:t>
              </a:r>
              <a:endParaRPr sz="1600" b="1" i="0" dirty="0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" name="TextBox 4">
            <a:extLst>
              <a:ext uri="{FF2B5EF4-FFF2-40B4-BE49-F238E27FC236}">
                <a16:creationId xmlns:a16="http://schemas.microsoft.com/office/drawing/2014/main" id="{E2237A7D-74A8-331B-B8BD-B61D6D1EDBE7}"/>
              </a:ext>
            </a:extLst>
          </p:cNvPr>
          <p:cNvSpPr txBox="1"/>
          <p:nvPr/>
        </p:nvSpPr>
        <p:spPr>
          <a:xfrm>
            <a:off x="914400" y="868680"/>
            <a:ext cx="10305288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lang="es-ES" sz="2200" b="1" dirty="0">
                <a:solidFill>
                  <a:srgbClr val="004D40"/>
                </a:solidFill>
                <a:latin typeface="+mj-lt"/>
              </a:rPr>
              <a:t>Persistencia y comunicación entre contenedores resuelven problemas diferentes.</a:t>
            </a:r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A9A6C121-428E-7213-B7AA-C05679CDE2D0}"/>
              </a:ext>
            </a:extLst>
          </p:cNvPr>
          <p:cNvSpPr/>
          <p:nvPr/>
        </p:nvSpPr>
        <p:spPr>
          <a:xfrm>
            <a:off x="7589555" y="4000499"/>
            <a:ext cx="22860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800">
                <a:solidFill>
                  <a:srgbClr val="2D3A4C"/>
                </a:solidFill>
                <a:latin typeface="Consolas"/>
              </a:defRPr>
            </a:pPr>
            <a:r>
              <a:t>app  →  bd</a:t>
            </a:r>
          </a:p>
        </p:txBody>
      </p:sp>
    </p:spTree>
    <p:extLst>
      <p:ext uri="{BB962C8B-B14F-4D97-AF65-F5344CB8AC3E}">
        <p14:creationId xmlns:p14="http://schemas.microsoft.com/office/powerpoint/2010/main" val="989083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69697-6EC1-BAC8-B730-F86534DD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223F2AD4-DBC8-05D1-92BB-4541634C1788}"/>
              </a:ext>
            </a:extLst>
          </p:cNvPr>
          <p:cNvSpPr/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A91E6D64-DDE4-5DE6-134A-5C545418070F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4AB541D8-2FE5-8DE4-FF87-124DE424A4CF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2AFF91A8-DD1C-6132-2784-30837A7881CE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ABBCE09A-6072-FCB9-5D61-54E76F88B5E0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4911AF0E-AE5C-E538-F56A-BA1A38C92250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9C02580F-8DE6-B7EA-8C90-B0B82D40BE85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6F52F3B-7D77-3AA8-CFA4-40323200B08D}"/>
              </a:ext>
            </a:extLst>
          </p:cNvPr>
          <p:cNvSpPr txBox="1"/>
          <p:nvPr/>
        </p:nvSpPr>
        <p:spPr>
          <a:xfrm>
            <a:off x="937260" y="5578670"/>
            <a:ext cx="10564088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sz="1400" dirty="0" err="1">
                <a:solidFill>
                  <a:srgbClr val="18365F"/>
                </a:solidFill>
                <a:latin typeface="Arial"/>
              </a:rPr>
              <a:t>Dockerfile</a:t>
            </a:r>
            <a:r>
              <a:rPr lang="es-ES" sz="1400" dirty="0">
                <a:solidFill>
                  <a:srgbClr val="18365F"/>
                </a:solidFill>
                <a:latin typeface="Arial"/>
              </a:rPr>
              <a:t> describe cómo construir una imagen; </a:t>
            </a:r>
            <a:r>
              <a:rPr lang="es-ES" sz="1400" dirty="0" err="1">
                <a:solidFill>
                  <a:srgbClr val="18365F"/>
                </a:solidFill>
                <a:latin typeface="Arial"/>
              </a:rPr>
              <a:t>docker</a:t>
            </a:r>
            <a:r>
              <a:rPr lang="es-ES" sz="1400" dirty="0">
                <a:solidFill>
                  <a:srgbClr val="18365F"/>
                </a:solidFill>
                <a:latin typeface="Arial"/>
              </a:rPr>
              <a:t> run crea un contenedor a partir de esa imagen.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879881-1A1D-24C8-3DA6-AD80253C34D2}"/>
              </a:ext>
            </a:extLst>
          </p:cNvPr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B6633712-DE74-B2DD-ED36-7F30D94AB334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497DA87B-4E2F-E6BC-F3EF-F1891908B1A6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097F62A4-A404-C391-78AE-70DFE603D75F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Construir una imagen: </a:t>
            </a:r>
            <a:r>
              <a:rPr lang="es-ES" sz="2500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Dockerfile</a:t>
            </a:r>
            <a:endParaRPr lang="es-ES" sz="2500" b="1" u="none" strike="noStrike" dirty="0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B8933ABE-094C-D2B2-669F-8078529DE4B2}"/>
              </a:ext>
            </a:extLst>
          </p:cNvPr>
          <p:cNvSpPr txBox="1"/>
          <p:nvPr/>
        </p:nvSpPr>
        <p:spPr>
          <a:xfrm>
            <a:off x="914400" y="868680"/>
            <a:ext cx="10305288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lang="es-ES" sz="2200" b="1" dirty="0">
                <a:solidFill>
                  <a:srgbClr val="004D40"/>
                </a:solidFill>
                <a:latin typeface="+mj-lt"/>
              </a:rPr>
              <a:t>Hasta ahora ejecutábamos imágenes de otros; ahora construiremos una propia.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5646CFBA-8A76-8736-EEC6-8CF2AF8E46FB}"/>
              </a:ext>
            </a:extLst>
          </p:cNvPr>
          <p:cNvSpPr/>
          <p:nvPr/>
        </p:nvSpPr>
        <p:spPr>
          <a:xfrm>
            <a:off x="914400" y="1526377"/>
            <a:ext cx="3566160" cy="1778341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13A44"/>
                </a:solidFill>
                <a:latin typeface="Arial"/>
              </a:defRPr>
            </a:pPr>
            <a:r>
              <a:rPr sz="1600" dirty="0"/>
              <a:t>Indica la imagen de </a:t>
            </a:r>
            <a:r>
              <a:rPr sz="1600" dirty="0" err="1"/>
              <a:t>partida</a:t>
            </a:r>
            <a:r>
              <a:rPr sz="16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13A44"/>
                </a:solidFill>
                <a:latin typeface="Arial"/>
              </a:defRPr>
            </a:pPr>
            <a:r>
              <a:rPr sz="1600" dirty="0"/>
              <a:t>Define el </a:t>
            </a:r>
            <a:r>
              <a:rPr sz="1600" dirty="0" err="1"/>
              <a:t>entorno</a:t>
            </a:r>
            <a:r>
              <a:rPr sz="1600" dirty="0"/>
              <a:t> base </a:t>
            </a:r>
            <a:r>
              <a:rPr sz="1600" dirty="0" err="1"/>
              <a:t>sobre</a:t>
            </a:r>
            <a:r>
              <a:rPr sz="1600" dirty="0"/>
              <a:t> el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construiremos</a:t>
            </a:r>
            <a:r>
              <a:rPr sz="1600" dirty="0"/>
              <a:t>.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BABCD2A-6E55-1960-32A8-6ED4E05FE34C}"/>
              </a:ext>
            </a:extLst>
          </p:cNvPr>
          <p:cNvSpPr/>
          <p:nvPr/>
        </p:nvSpPr>
        <p:spPr>
          <a:xfrm>
            <a:off x="914400" y="1526377"/>
            <a:ext cx="3566160" cy="347472"/>
          </a:xfrm>
          <a:prstGeom prst="rect">
            <a:avLst/>
          </a:prstGeom>
          <a:solidFill>
            <a:srgbClr val="4184D7"/>
          </a:solidFill>
          <a:ln>
            <a:solidFill>
              <a:srgbClr val="418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CC001059-E452-BE4F-0C0E-763B61780564}"/>
              </a:ext>
            </a:extLst>
          </p:cNvPr>
          <p:cNvSpPr txBox="1"/>
          <p:nvPr/>
        </p:nvSpPr>
        <p:spPr>
          <a:xfrm>
            <a:off x="978408" y="1529387"/>
            <a:ext cx="343814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Arial"/>
              </a:rPr>
              <a:t>FROM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5A4CBB96-DEA7-6386-5C65-0C5EAE0C1927}"/>
              </a:ext>
            </a:extLst>
          </p:cNvPr>
          <p:cNvSpPr/>
          <p:nvPr/>
        </p:nvSpPr>
        <p:spPr>
          <a:xfrm>
            <a:off x="914400" y="3766657"/>
            <a:ext cx="3566160" cy="1252922"/>
          </a:xfrm>
          <a:prstGeom prst="roundRect">
            <a:avLst/>
          </a:prstGeom>
          <a:solidFill>
            <a:srgbClr val="F3EEFA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13A44"/>
                </a:solidFill>
                <a:latin typeface="Arial"/>
              </a:defRPr>
            </a:pPr>
            <a:r>
              <a:rPr sz="1600"/>
              <a:t>Incorpora ficheros desde el contexto de construcción.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216A3B19-FC1C-575F-8548-A394317E4C54}"/>
              </a:ext>
            </a:extLst>
          </p:cNvPr>
          <p:cNvSpPr/>
          <p:nvPr/>
        </p:nvSpPr>
        <p:spPr>
          <a:xfrm>
            <a:off x="914400" y="3766657"/>
            <a:ext cx="3566160" cy="347472"/>
          </a:xfrm>
          <a:prstGeom prst="rect">
            <a:avLst/>
          </a:prstGeom>
          <a:solidFill>
            <a:srgbClr val="8E5BC2"/>
          </a:solidFill>
          <a:ln>
            <a:solidFill>
              <a:srgbClr val="8E5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8D6C45A3-14C3-904C-3382-17F1260B0C3F}"/>
              </a:ext>
            </a:extLst>
          </p:cNvPr>
          <p:cNvSpPr txBox="1"/>
          <p:nvPr/>
        </p:nvSpPr>
        <p:spPr>
          <a:xfrm>
            <a:off x="978408" y="3769667"/>
            <a:ext cx="343814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COPY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B224615E-8CF4-40C3-D73C-64D391885C9F}"/>
              </a:ext>
            </a:extLst>
          </p:cNvPr>
          <p:cNvSpPr/>
          <p:nvPr/>
        </p:nvSpPr>
        <p:spPr>
          <a:xfrm>
            <a:off x="4983480" y="1526377"/>
            <a:ext cx="5394960" cy="201168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800">
                <a:solidFill>
                  <a:srgbClr val="2D3A4C"/>
                </a:solidFill>
                <a:latin typeface="Consolas"/>
              </a:defRPr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FROM alpine:3.24</a:t>
            </a:r>
            <a:b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COPY material/ /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datos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  <p:sp>
        <p:nvSpPr>
          <p:cNvPr id="28" name="Rounded Rectangle 12">
            <a:extLst>
              <a:ext uri="{FF2B5EF4-FFF2-40B4-BE49-F238E27FC236}">
                <a16:creationId xmlns:a16="http://schemas.microsoft.com/office/drawing/2014/main" id="{5098CBF1-40CE-CC9C-73EF-B6E4CE98D2FB}"/>
              </a:ext>
            </a:extLst>
          </p:cNvPr>
          <p:cNvSpPr/>
          <p:nvPr/>
        </p:nvSpPr>
        <p:spPr>
          <a:xfrm>
            <a:off x="4663440" y="4040977"/>
            <a:ext cx="114848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18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90A3FA21-0E14-B8A0-0C3B-FECC98378DC6}"/>
              </a:ext>
            </a:extLst>
          </p:cNvPr>
          <p:cNvSpPr txBox="1"/>
          <p:nvPr/>
        </p:nvSpPr>
        <p:spPr>
          <a:xfrm>
            <a:off x="4681728" y="4239356"/>
            <a:ext cx="1111910" cy="26161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200" b="1" i="0" dirty="0" err="1">
                <a:solidFill>
                  <a:srgbClr val="18365F"/>
                </a:solidFill>
                <a:latin typeface="Arial"/>
              </a:rPr>
              <a:t>Dockerfile</a:t>
            </a:r>
            <a:endParaRPr sz="1200" b="1" i="0" dirty="0">
              <a:solidFill>
                <a:srgbClr val="18365F"/>
              </a:solidFill>
              <a:latin typeface="Arial"/>
            </a:endParaRPr>
          </a:p>
        </p:txBody>
      </p:sp>
      <p:sp>
        <p:nvSpPr>
          <p:cNvPr id="34" name="Rounded Rectangle 15">
            <a:extLst>
              <a:ext uri="{FF2B5EF4-FFF2-40B4-BE49-F238E27FC236}">
                <a16:creationId xmlns:a16="http://schemas.microsoft.com/office/drawing/2014/main" id="{722C2061-E62A-5F0E-B761-AC52507D9CB3}"/>
              </a:ext>
            </a:extLst>
          </p:cNvPr>
          <p:cNvSpPr/>
          <p:nvPr/>
        </p:nvSpPr>
        <p:spPr>
          <a:xfrm>
            <a:off x="5885078" y="4040977"/>
            <a:ext cx="114848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2802A6C8-BB8A-AAC8-72C7-B4657D2DE627}"/>
              </a:ext>
            </a:extLst>
          </p:cNvPr>
          <p:cNvSpPr txBox="1"/>
          <p:nvPr/>
        </p:nvSpPr>
        <p:spPr>
          <a:xfrm>
            <a:off x="5903366" y="4239356"/>
            <a:ext cx="1111910" cy="26161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200" b="1" i="0">
                <a:solidFill>
                  <a:srgbClr val="18365F"/>
                </a:solidFill>
                <a:latin typeface="Arial"/>
              </a:rPr>
              <a:t>docker build</a:t>
            </a: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40E9D84F-F2B5-6A00-6277-148E16A6CEAD}"/>
              </a:ext>
            </a:extLst>
          </p:cNvPr>
          <p:cNvSpPr/>
          <p:nvPr/>
        </p:nvSpPr>
        <p:spPr>
          <a:xfrm>
            <a:off x="7106716" y="4040977"/>
            <a:ext cx="114848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5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19">
            <a:extLst>
              <a:ext uri="{FF2B5EF4-FFF2-40B4-BE49-F238E27FC236}">
                <a16:creationId xmlns:a16="http://schemas.microsoft.com/office/drawing/2014/main" id="{B7E1B00B-EDA7-10FE-B62C-FCE2C6096C26}"/>
              </a:ext>
            </a:extLst>
          </p:cNvPr>
          <p:cNvSpPr txBox="1"/>
          <p:nvPr/>
        </p:nvSpPr>
        <p:spPr>
          <a:xfrm>
            <a:off x="7125004" y="4239356"/>
            <a:ext cx="1111910" cy="26161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200" b="1" i="0">
                <a:solidFill>
                  <a:srgbClr val="18365F"/>
                </a:solidFill>
                <a:latin typeface="Arial"/>
              </a:rPr>
              <a:t>Imagen</a:t>
            </a: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4617442F-D2C9-F482-897A-B724C6153B02}"/>
              </a:ext>
            </a:extLst>
          </p:cNvPr>
          <p:cNvSpPr/>
          <p:nvPr/>
        </p:nvSpPr>
        <p:spPr>
          <a:xfrm>
            <a:off x="8328355" y="4040977"/>
            <a:ext cx="114848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22">
            <a:extLst>
              <a:ext uri="{FF2B5EF4-FFF2-40B4-BE49-F238E27FC236}">
                <a16:creationId xmlns:a16="http://schemas.microsoft.com/office/drawing/2014/main" id="{A2F6A300-7320-63A3-7176-024F5DC2BA7B}"/>
              </a:ext>
            </a:extLst>
          </p:cNvPr>
          <p:cNvSpPr txBox="1"/>
          <p:nvPr/>
        </p:nvSpPr>
        <p:spPr>
          <a:xfrm>
            <a:off x="8346643" y="4239356"/>
            <a:ext cx="1111910" cy="26161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200" b="1" i="0">
                <a:solidFill>
                  <a:srgbClr val="18365F"/>
                </a:solidFill>
                <a:latin typeface="Arial"/>
              </a:rPr>
              <a:t>docker run</a:t>
            </a:r>
          </a:p>
        </p:txBody>
      </p:sp>
      <p:sp>
        <p:nvSpPr>
          <p:cNvPr id="54" name="Rounded Rectangle 24">
            <a:extLst>
              <a:ext uri="{FF2B5EF4-FFF2-40B4-BE49-F238E27FC236}">
                <a16:creationId xmlns:a16="http://schemas.microsoft.com/office/drawing/2014/main" id="{65248B0A-63E0-701C-6C04-DCC7B77DA3D0}"/>
              </a:ext>
            </a:extLst>
          </p:cNvPr>
          <p:cNvSpPr/>
          <p:nvPr/>
        </p:nvSpPr>
        <p:spPr>
          <a:xfrm>
            <a:off x="9549993" y="4040977"/>
            <a:ext cx="114848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25">
            <a:extLst>
              <a:ext uri="{FF2B5EF4-FFF2-40B4-BE49-F238E27FC236}">
                <a16:creationId xmlns:a16="http://schemas.microsoft.com/office/drawing/2014/main" id="{9DDC2581-8AF8-8D91-F81B-64C72F47716F}"/>
              </a:ext>
            </a:extLst>
          </p:cNvPr>
          <p:cNvSpPr txBox="1"/>
          <p:nvPr/>
        </p:nvSpPr>
        <p:spPr>
          <a:xfrm>
            <a:off x="9568281" y="4239356"/>
            <a:ext cx="1111910" cy="26161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200" b="1" i="0">
                <a:solidFill>
                  <a:srgbClr val="18365F"/>
                </a:solidFill>
                <a:latin typeface="Arial"/>
              </a:rPr>
              <a:t>Contenedor</a:t>
            </a:r>
          </a:p>
        </p:txBody>
      </p:sp>
    </p:spTree>
    <p:extLst>
      <p:ext uri="{BB962C8B-B14F-4D97-AF65-F5344CB8AC3E}">
        <p14:creationId xmlns:p14="http://schemas.microsoft.com/office/powerpoint/2010/main" val="2097810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428FA-E9B8-9917-AB5C-0861DCA3E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568E389-FFB1-3EC3-848F-8770ACC908D4}"/>
              </a:ext>
            </a:extLst>
          </p:cNvPr>
          <p:cNvSpPr/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9FD63E79-3B3D-DE30-2DC4-6B407641D4B0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32E148A0-BF69-BC0A-265A-472C3B8EE86C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0D5EE626-822B-21D5-AF8F-BF65239BA9D0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E1B69E03-236E-039E-7C73-56AA27BCF465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688D229E-F05A-5DE5-0FAC-395660998735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0B54D5A4-5E40-00C3-7D91-C0F07182ED5F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E464227-F507-0271-9F8E-FB8A2DB04F28}"/>
              </a:ext>
            </a:extLst>
          </p:cNvPr>
          <p:cNvSpPr txBox="1"/>
          <p:nvPr/>
        </p:nvSpPr>
        <p:spPr>
          <a:xfrm>
            <a:off x="937260" y="5578670"/>
            <a:ext cx="10564088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sz="1400" dirty="0">
                <a:solidFill>
                  <a:srgbClr val="18365F"/>
                </a:solidFill>
                <a:latin typeface="Arial"/>
              </a:rPr>
              <a:t>El </a:t>
            </a:r>
            <a:r>
              <a:rPr lang="es-ES" sz="1400" dirty="0" err="1">
                <a:solidFill>
                  <a:srgbClr val="18365F"/>
                </a:solidFill>
                <a:latin typeface="Arial"/>
              </a:rPr>
              <a:t>Dockerfile</a:t>
            </a:r>
            <a:r>
              <a:rPr lang="es-ES" sz="1400" dirty="0">
                <a:solidFill>
                  <a:srgbClr val="18365F"/>
                </a:solidFill>
                <a:latin typeface="Arial"/>
              </a:rPr>
              <a:t> puede estar en una carpeta y el contexto ser otra. COPY solo puede leer dentro del contexto elegido.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A79A00-97AD-F6A2-57DF-EFEC2B5B8F1F}"/>
              </a:ext>
            </a:extLst>
          </p:cNvPr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D07F86F9-F965-C811-03DC-2D23E15FCE58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16C17C66-B41B-4014-5E37-8EDE6070FCCD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C8B6A8FB-2270-8B85-C1FB-AADA2C4D6E4B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 err="1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Dockerfile</a:t>
            </a: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y contexto no son lo mismo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CB273A-A0F0-C7B7-1323-A1EA4472990A}"/>
              </a:ext>
            </a:extLst>
          </p:cNvPr>
          <p:cNvSpPr txBox="1"/>
          <p:nvPr/>
        </p:nvSpPr>
        <p:spPr>
          <a:xfrm>
            <a:off x="1097280" y="960120"/>
            <a:ext cx="3383280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2200" b="1" dirty="0" err="1">
                <a:solidFill>
                  <a:srgbClr val="004D40"/>
                </a:solidFill>
                <a:latin typeface="+mj-lt"/>
              </a:rPr>
              <a:t>Estructura</a:t>
            </a:r>
            <a:r>
              <a:rPr sz="2200" b="1" dirty="0">
                <a:solidFill>
                  <a:srgbClr val="004D40"/>
                </a:solidFill>
                <a:latin typeface="+mj-lt"/>
              </a:rPr>
              <a:t> de </a:t>
            </a:r>
            <a:r>
              <a:rPr sz="2200" b="1" dirty="0" err="1">
                <a:solidFill>
                  <a:srgbClr val="004D40"/>
                </a:solidFill>
                <a:latin typeface="+mj-lt"/>
              </a:rPr>
              <a:t>ejemplo</a:t>
            </a:r>
            <a:endParaRPr sz="2200" b="1" dirty="0">
              <a:solidFill>
                <a:srgbClr val="004D40"/>
              </a:solidFill>
              <a:latin typeface="+mj-lt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4EDF5D77-1470-4519-13CB-CD19754FD863}"/>
              </a:ext>
            </a:extLst>
          </p:cNvPr>
          <p:cNvSpPr/>
          <p:nvPr/>
        </p:nvSpPr>
        <p:spPr>
          <a:xfrm>
            <a:off x="860282" y="1490748"/>
            <a:ext cx="40233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>
              <a:defRPr sz="1400">
                <a:solidFill>
                  <a:srgbClr val="2D3A4C"/>
                </a:solidFill>
                <a:latin typeface="Consolas"/>
              </a:defRPr>
            </a:pPr>
            <a:r>
              <a:rPr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repositorio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├── material/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│   └── ejemplo.txt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└── </a:t>
            </a:r>
            <a:r>
              <a:rPr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practicas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└── docker/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└── demo/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└── </a:t>
            </a:r>
            <a:r>
              <a:rPr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Dockerfile</a:t>
            </a:r>
            <a:endParaRPr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AEDEFBC-BE21-DA7B-0ED9-661C2D8E5B1C}"/>
              </a:ext>
            </a:extLst>
          </p:cNvPr>
          <p:cNvSpPr txBox="1"/>
          <p:nvPr/>
        </p:nvSpPr>
        <p:spPr>
          <a:xfrm>
            <a:off x="5509260" y="960120"/>
            <a:ext cx="5257800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sz="2200" b="1" dirty="0" err="1">
                <a:solidFill>
                  <a:srgbClr val="004D40"/>
                </a:solidFill>
                <a:latin typeface="+mj-lt"/>
              </a:rPr>
              <a:t>Construcción</a:t>
            </a:r>
            <a:r>
              <a:rPr sz="2200" b="1" dirty="0">
                <a:solidFill>
                  <a:srgbClr val="004D40"/>
                </a:solidFill>
                <a:latin typeface="+mj-lt"/>
              </a:rPr>
              <a:t> </a:t>
            </a:r>
            <a:r>
              <a:rPr sz="2200" b="1" dirty="0" err="1">
                <a:solidFill>
                  <a:srgbClr val="004D40"/>
                </a:solidFill>
                <a:latin typeface="+mj-lt"/>
              </a:rPr>
              <a:t>desde</a:t>
            </a:r>
            <a:r>
              <a:rPr sz="2200" b="1" dirty="0">
                <a:solidFill>
                  <a:srgbClr val="004D40"/>
                </a:solidFill>
                <a:latin typeface="+mj-lt"/>
              </a:rPr>
              <a:t> la </a:t>
            </a:r>
            <a:r>
              <a:rPr sz="2200" b="1" dirty="0" err="1">
                <a:solidFill>
                  <a:srgbClr val="004D40"/>
                </a:solidFill>
                <a:latin typeface="+mj-lt"/>
              </a:rPr>
              <a:t>raíz</a:t>
            </a:r>
            <a:r>
              <a:rPr sz="2200" b="1" dirty="0">
                <a:solidFill>
                  <a:srgbClr val="004D40"/>
                </a:solidFill>
                <a:latin typeface="+mj-lt"/>
              </a:rPr>
              <a:t> del </a:t>
            </a:r>
            <a:r>
              <a:rPr sz="2200" b="1" dirty="0" err="1">
                <a:solidFill>
                  <a:srgbClr val="004D40"/>
                </a:solidFill>
                <a:latin typeface="+mj-lt"/>
              </a:rPr>
              <a:t>repositorio</a:t>
            </a:r>
            <a:endParaRPr sz="2200" b="1" dirty="0">
              <a:solidFill>
                <a:srgbClr val="004D40"/>
              </a:solidFill>
              <a:latin typeface="+mj-lt"/>
            </a:endParaRP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167CDE43-2389-ECE6-DBC6-FB210E13DE5A}"/>
              </a:ext>
            </a:extLst>
          </p:cNvPr>
          <p:cNvSpPr/>
          <p:nvPr/>
        </p:nvSpPr>
        <p:spPr>
          <a:xfrm>
            <a:off x="5340842" y="1490748"/>
            <a:ext cx="5669280" cy="141732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300">
                <a:solidFill>
                  <a:srgbClr val="2D3A4C"/>
                </a:solidFill>
                <a:latin typeface="Consolas"/>
              </a:defRPr>
            </a:pP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docker build \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-f </a:t>
            </a:r>
            <a:r>
              <a:rPr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practicas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/docker/demo/</a:t>
            </a:r>
            <a:r>
              <a:rPr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Dockerfile</a:t>
            </a: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-t ejemplo:1.0.0 \</a:t>
            </a:r>
            <a:b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.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9C5C02DE-38D9-381B-0DE3-90B0731B0599}"/>
              </a:ext>
            </a:extLst>
          </p:cNvPr>
          <p:cNvSpPr/>
          <p:nvPr/>
        </p:nvSpPr>
        <p:spPr>
          <a:xfrm>
            <a:off x="5340842" y="3273828"/>
            <a:ext cx="1828800" cy="1234440"/>
          </a:xfrm>
          <a:prstGeom prst="roundRect">
            <a:avLst/>
          </a:prstGeom>
          <a:solidFill>
            <a:srgbClr val="EAF3FB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ctr"/>
          <a:lstStyle/>
          <a:p>
            <a:pPr algn="ctr">
              <a:defRPr sz="1100">
                <a:solidFill>
                  <a:srgbClr val="313A44"/>
                </a:solidFill>
                <a:latin typeface="Arial"/>
              </a:defRPr>
            </a:pPr>
            <a:r>
              <a:rPr sz="1400" dirty="0" err="1"/>
              <a:t>Dónde</a:t>
            </a:r>
            <a:r>
              <a:rPr sz="1400" dirty="0"/>
              <a:t> </a:t>
            </a:r>
            <a:r>
              <a:rPr sz="1400" dirty="0" err="1"/>
              <a:t>está</a:t>
            </a:r>
            <a:r>
              <a:rPr sz="1400" dirty="0"/>
              <a:t> el </a:t>
            </a:r>
            <a:r>
              <a:rPr sz="1400" dirty="0" err="1"/>
              <a:t>Dockerfile</a:t>
            </a:r>
            <a:endParaRPr sz="1400" dirty="0"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E89ABA2B-6254-CA0D-2B27-AF4F4ADCF717}"/>
              </a:ext>
            </a:extLst>
          </p:cNvPr>
          <p:cNvSpPr/>
          <p:nvPr/>
        </p:nvSpPr>
        <p:spPr>
          <a:xfrm>
            <a:off x="5340842" y="3273828"/>
            <a:ext cx="1828800" cy="347472"/>
          </a:xfrm>
          <a:prstGeom prst="rect">
            <a:avLst/>
          </a:prstGeom>
          <a:solidFill>
            <a:srgbClr val="4184D7"/>
          </a:solidFill>
          <a:ln>
            <a:solidFill>
              <a:srgbClr val="418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B2D73332-21B6-BBBA-FC0B-7EFE57A4163E}"/>
              </a:ext>
            </a:extLst>
          </p:cNvPr>
          <p:cNvSpPr txBox="1"/>
          <p:nvPr/>
        </p:nvSpPr>
        <p:spPr>
          <a:xfrm>
            <a:off x="5404850" y="3276838"/>
            <a:ext cx="170078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-f</a:t>
            </a:r>
          </a:p>
        </p:txBody>
      </p:sp>
      <p:sp>
        <p:nvSpPr>
          <p:cNvPr id="36" name="Rounded Rectangle 11">
            <a:extLst>
              <a:ext uri="{FF2B5EF4-FFF2-40B4-BE49-F238E27FC236}">
                <a16:creationId xmlns:a16="http://schemas.microsoft.com/office/drawing/2014/main" id="{CB4AF382-727D-CDD9-D2E3-DE7C9948DA15}"/>
              </a:ext>
            </a:extLst>
          </p:cNvPr>
          <p:cNvSpPr/>
          <p:nvPr/>
        </p:nvSpPr>
        <p:spPr>
          <a:xfrm>
            <a:off x="7352522" y="3273828"/>
            <a:ext cx="1828800" cy="1234440"/>
          </a:xfrm>
          <a:prstGeom prst="roundRect">
            <a:avLst/>
          </a:prstGeom>
          <a:solidFill>
            <a:srgbClr val="F3EEFA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ctr"/>
          <a:lstStyle/>
          <a:p>
            <a:pPr algn="ctr">
              <a:defRPr sz="1100">
                <a:solidFill>
                  <a:srgbClr val="313A44"/>
                </a:solidFill>
                <a:latin typeface="Arial"/>
              </a:defRPr>
            </a:pPr>
            <a:r>
              <a:rPr sz="1400"/>
              <a:t>Nombre y etiqueta</a:t>
            </a:r>
          </a:p>
        </p:txBody>
      </p:sp>
      <p:sp>
        <p:nvSpPr>
          <p:cNvPr id="39" name="Rectangle 12">
            <a:extLst>
              <a:ext uri="{FF2B5EF4-FFF2-40B4-BE49-F238E27FC236}">
                <a16:creationId xmlns:a16="http://schemas.microsoft.com/office/drawing/2014/main" id="{3B383E31-D699-FC69-7270-BB2A4348C733}"/>
              </a:ext>
            </a:extLst>
          </p:cNvPr>
          <p:cNvSpPr/>
          <p:nvPr/>
        </p:nvSpPr>
        <p:spPr>
          <a:xfrm>
            <a:off x="7352522" y="3273828"/>
            <a:ext cx="1828800" cy="347472"/>
          </a:xfrm>
          <a:prstGeom prst="rect">
            <a:avLst/>
          </a:prstGeom>
          <a:solidFill>
            <a:srgbClr val="8E5BC2"/>
          </a:solidFill>
          <a:ln>
            <a:solidFill>
              <a:srgbClr val="8E5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13">
            <a:extLst>
              <a:ext uri="{FF2B5EF4-FFF2-40B4-BE49-F238E27FC236}">
                <a16:creationId xmlns:a16="http://schemas.microsoft.com/office/drawing/2014/main" id="{199F6292-39FC-B1B6-C44C-F8F85678617A}"/>
              </a:ext>
            </a:extLst>
          </p:cNvPr>
          <p:cNvSpPr txBox="1"/>
          <p:nvPr/>
        </p:nvSpPr>
        <p:spPr>
          <a:xfrm>
            <a:off x="7416530" y="3276838"/>
            <a:ext cx="170078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-t</a:t>
            </a:r>
          </a:p>
        </p:txBody>
      </p:sp>
      <p:sp>
        <p:nvSpPr>
          <p:cNvPr id="49" name="Rounded Rectangle 14">
            <a:extLst>
              <a:ext uri="{FF2B5EF4-FFF2-40B4-BE49-F238E27FC236}">
                <a16:creationId xmlns:a16="http://schemas.microsoft.com/office/drawing/2014/main" id="{8A00858D-6E09-9E24-C384-98CBAAD373AC}"/>
              </a:ext>
            </a:extLst>
          </p:cNvPr>
          <p:cNvSpPr/>
          <p:nvPr/>
        </p:nvSpPr>
        <p:spPr>
          <a:xfrm>
            <a:off x="9364202" y="3273828"/>
            <a:ext cx="1828800" cy="123444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ctr"/>
          <a:lstStyle/>
          <a:p>
            <a:pPr algn="ctr">
              <a:defRPr sz="1100">
                <a:solidFill>
                  <a:srgbClr val="313A44"/>
                </a:solidFill>
                <a:latin typeface="Arial"/>
              </a:defRPr>
            </a:pPr>
            <a:r>
              <a:rPr sz="1400"/>
              <a:t>Contexto que COPY puede leer</a:t>
            </a:r>
          </a:p>
        </p:txBody>
      </p:sp>
      <p:sp>
        <p:nvSpPr>
          <p:cNvPr id="53" name="Rectangle 15">
            <a:extLst>
              <a:ext uri="{FF2B5EF4-FFF2-40B4-BE49-F238E27FC236}">
                <a16:creationId xmlns:a16="http://schemas.microsoft.com/office/drawing/2014/main" id="{680F58A0-1934-654B-8BC3-ED1F13A7DE8C}"/>
              </a:ext>
            </a:extLst>
          </p:cNvPr>
          <p:cNvSpPr/>
          <p:nvPr/>
        </p:nvSpPr>
        <p:spPr>
          <a:xfrm>
            <a:off x="9364202" y="3273828"/>
            <a:ext cx="1828800" cy="347472"/>
          </a:xfrm>
          <a:prstGeom prst="rect">
            <a:avLst/>
          </a:prstGeom>
          <a:solidFill>
            <a:srgbClr val="055640"/>
          </a:solidFill>
          <a:ln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16">
            <a:extLst>
              <a:ext uri="{FF2B5EF4-FFF2-40B4-BE49-F238E27FC236}">
                <a16:creationId xmlns:a16="http://schemas.microsoft.com/office/drawing/2014/main" id="{29289D1B-814E-DA53-3418-F9787B28B5FC}"/>
              </a:ext>
            </a:extLst>
          </p:cNvPr>
          <p:cNvSpPr txBox="1"/>
          <p:nvPr/>
        </p:nvSpPr>
        <p:spPr>
          <a:xfrm>
            <a:off x="9428210" y="3276838"/>
            <a:ext cx="170078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0709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CFA0E-7C7C-5400-7633-EDA2DEAE6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4F85A8E6-2555-96ED-6A1D-C1501B73FC02}"/>
              </a:ext>
            </a:extLst>
          </p:cNvPr>
          <p:cNvSpPr/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B02F03DF-3642-4825-5D12-799BB8C99A44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C7BE926D-9576-BD1D-3735-318BD1602386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2D8BB969-403D-8B0C-6FF6-41BE6342F650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E19E2A94-D989-42AB-841E-FD9AE2609792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E4FE3086-D22C-8496-522B-C99B7681CE10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1E1370D8-C208-904D-7550-D3CFEFC80572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2758A0A-642B-9E05-E712-7B1CE107D6AC}"/>
              </a:ext>
            </a:extLst>
          </p:cNvPr>
          <p:cNvSpPr txBox="1"/>
          <p:nvPr/>
        </p:nvSpPr>
        <p:spPr>
          <a:xfrm>
            <a:off x="937260" y="5578670"/>
            <a:ext cx="10564088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sz="1400" dirty="0">
                <a:solidFill>
                  <a:srgbClr val="18365F"/>
                </a:solidFill>
                <a:latin typeface="Arial"/>
              </a:rPr>
              <a:t>Publicar separa construcción y ejecución: la máquina destino no necesita tu código fuente ni repetir el </a:t>
            </a:r>
            <a:r>
              <a:rPr lang="es-ES" sz="1400" dirty="0" err="1">
                <a:solidFill>
                  <a:srgbClr val="18365F"/>
                </a:solidFill>
                <a:latin typeface="Arial"/>
              </a:rPr>
              <a:t>build</a:t>
            </a:r>
            <a:r>
              <a:rPr lang="es-ES" sz="1400" dirty="0">
                <a:solidFill>
                  <a:srgbClr val="18365F"/>
                </a:solidFill>
                <a:latin typeface="Arial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06BFB4-2F2E-EA3C-2EFE-65F270EB1AE6}"/>
              </a:ext>
            </a:extLst>
          </p:cNvPr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04046CBB-9DCB-0926-D206-E06A3DDD5989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BD08B1BC-218E-E4D1-16A5-92B83BB06499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78F3FB4C-0F76-4575-DF3F-BFF3D51AC050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Publicar una imagen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DCF8B55E-3BE5-88CE-B5B7-4D7EA7BD2867}"/>
              </a:ext>
            </a:extLst>
          </p:cNvPr>
          <p:cNvSpPr txBox="1"/>
          <p:nvPr/>
        </p:nvSpPr>
        <p:spPr>
          <a:xfrm>
            <a:off x="914400" y="868680"/>
            <a:ext cx="10305288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lang="es-ES" sz="2200" b="1" dirty="0">
                <a:solidFill>
                  <a:srgbClr val="004D40"/>
                </a:solidFill>
                <a:latin typeface="+mj-lt"/>
              </a:rPr>
              <a:t>Construir en un lugar y ejecutar en otro.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722AED3F-A988-9D29-74FD-40EA0D5C6A13}"/>
              </a:ext>
            </a:extLst>
          </p:cNvPr>
          <p:cNvSpPr/>
          <p:nvPr/>
        </p:nvSpPr>
        <p:spPr>
          <a:xfrm>
            <a:off x="731520" y="1508760"/>
            <a:ext cx="1737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18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CF0AC5B5-1E56-6A2D-0955-5F766A2BF448}"/>
              </a:ext>
            </a:extLst>
          </p:cNvPr>
          <p:cNvSpPr txBox="1"/>
          <p:nvPr/>
        </p:nvSpPr>
        <p:spPr>
          <a:xfrm>
            <a:off x="749808" y="1611460"/>
            <a:ext cx="1700784" cy="507831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 dirty="0">
                <a:solidFill>
                  <a:srgbClr val="18365F"/>
                </a:solidFill>
                <a:latin typeface="Arial"/>
              </a:rPr>
              <a:t>Imagen local
mi-app:1.0.0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FA1058CE-FFF8-D0A5-F2B5-25AC2A175125}"/>
              </a:ext>
            </a:extLst>
          </p:cNvPr>
          <p:cNvSpPr/>
          <p:nvPr/>
        </p:nvSpPr>
        <p:spPr>
          <a:xfrm>
            <a:off x="2542032" y="1508760"/>
            <a:ext cx="1737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294FDB14-5692-8D87-63ED-A1F6687DF179}"/>
              </a:ext>
            </a:extLst>
          </p:cNvPr>
          <p:cNvSpPr txBox="1"/>
          <p:nvPr/>
        </p:nvSpPr>
        <p:spPr>
          <a:xfrm>
            <a:off x="2560320" y="1611460"/>
            <a:ext cx="1700784" cy="507831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Etiquetar
para GHCR</a:t>
            </a:r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4C5A611B-A88B-21D4-93C9-FD50CC1F1C7C}"/>
              </a:ext>
            </a:extLst>
          </p:cNvPr>
          <p:cNvSpPr/>
          <p:nvPr/>
        </p:nvSpPr>
        <p:spPr>
          <a:xfrm>
            <a:off x="4352544" y="1508760"/>
            <a:ext cx="1737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5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6FB6D433-44AE-D0BE-5CAE-DC1AF8D30E61}"/>
              </a:ext>
            </a:extLst>
          </p:cNvPr>
          <p:cNvSpPr txBox="1"/>
          <p:nvPr/>
        </p:nvSpPr>
        <p:spPr>
          <a:xfrm>
            <a:off x="4370832" y="1611460"/>
            <a:ext cx="1700784" cy="507831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Autenticar
docker login</a:t>
            </a:r>
          </a:p>
        </p:txBody>
      </p: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9F83CE34-3935-2D57-AABC-6C0BF3005B8C}"/>
              </a:ext>
            </a:extLst>
          </p:cNvPr>
          <p:cNvSpPr/>
          <p:nvPr/>
        </p:nvSpPr>
        <p:spPr>
          <a:xfrm>
            <a:off x="6163056" y="1508760"/>
            <a:ext cx="1737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7A175EAD-DF06-49EF-FDE5-2EF050E26AE2}"/>
              </a:ext>
            </a:extLst>
          </p:cNvPr>
          <p:cNvSpPr txBox="1"/>
          <p:nvPr/>
        </p:nvSpPr>
        <p:spPr>
          <a:xfrm>
            <a:off x="6181344" y="1611460"/>
            <a:ext cx="1700784" cy="507831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Publicar
docker push</a:t>
            </a: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7C792E2B-3A19-3808-77D2-C3514BBAD638}"/>
              </a:ext>
            </a:extLst>
          </p:cNvPr>
          <p:cNvSpPr/>
          <p:nvPr/>
        </p:nvSpPr>
        <p:spPr>
          <a:xfrm>
            <a:off x="7973568" y="1508760"/>
            <a:ext cx="1737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9A91E005-7261-6372-17CA-4CBD245BB520}"/>
              </a:ext>
            </a:extLst>
          </p:cNvPr>
          <p:cNvSpPr txBox="1"/>
          <p:nvPr/>
        </p:nvSpPr>
        <p:spPr>
          <a:xfrm>
            <a:off x="7991856" y="1611460"/>
            <a:ext cx="1700784" cy="507831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Otra máquina
docker pull</a:t>
            </a:r>
          </a:p>
        </p:txBody>
      </p:sp>
      <p:sp>
        <p:nvSpPr>
          <p:cNvPr id="38" name="Rounded Rectangle 20">
            <a:extLst>
              <a:ext uri="{FF2B5EF4-FFF2-40B4-BE49-F238E27FC236}">
                <a16:creationId xmlns:a16="http://schemas.microsoft.com/office/drawing/2014/main" id="{CEFACC03-23C7-D3D3-7A92-B2CFE49D2D9A}"/>
              </a:ext>
            </a:extLst>
          </p:cNvPr>
          <p:cNvSpPr/>
          <p:nvPr/>
        </p:nvSpPr>
        <p:spPr>
          <a:xfrm>
            <a:off x="9784080" y="1508760"/>
            <a:ext cx="1737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6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2" name="TextBox 21">
            <a:extLst>
              <a:ext uri="{FF2B5EF4-FFF2-40B4-BE49-F238E27FC236}">
                <a16:creationId xmlns:a16="http://schemas.microsoft.com/office/drawing/2014/main" id="{47C49471-C044-D824-C5F6-2C116E777DDD}"/>
              </a:ext>
            </a:extLst>
          </p:cNvPr>
          <p:cNvSpPr txBox="1"/>
          <p:nvPr/>
        </p:nvSpPr>
        <p:spPr>
          <a:xfrm>
            <a:off x="9802368" y="1611460"/>
            <a:ext cx="1700784" cy="507831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Ejecutar
docker run</a:t>
            </a:r>
          </a:p>
        </p:txBody>
      </p:sp>
      <p:sp>
        <p:nvSpPr>
          <p:cNvPr id="48" name="Rounded Rectangle 22">
            <a:extLst>
              <a:ext uri="{FF2B5EF4-FFF2-40B4-BE49-F238E27FC236}">
                <a16:creationId xmlns:a16="http://schemas.microsoft.com/office/drawing/2014/main" id="{DC295965-F521-FBA9-00A6-D71199A34EB2}"/>
              </a:ext>
            </a:extLst>
          </p:cNvPr>
          <p:cNvSpPr/>
          <p:nvPr/>
        </p:nvSpPr>
        <p:spPr>
          <a:xfrm>
            <a:off x="914400" y="2788920"/>
            <a:ext cx="4892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100">
                <a:solidFill>
                  <a:srgbClr val="2D3A4C"/>
                </a:solidFill>
                <a:latin typeface="Consolas"/>
              </a:defRPr>
            </a:pPr>
            <a: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  <a:t>docker tag mi-app:1.0.0 \</a:t>
            </a:r>
            <a:b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  <a:t>  ghcr.io/&lt;usuario&gt;/mi-app:1.0.0</a:t>
            </a:r>
            <a:b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  <a:t>docker login ghcr.io -u &lt;usuario&gt;</a:t>
            </a:r>
            <a:b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  <a:t>docker push ghcr.io/&lt;usuario&gt;/mi-app:1.0.0</a:t>
            </a:r>
          </a:p>
        </p:txBody>
      </p:sp>
      <p:sp>
        <p:nvSpPr>
          <p:cNvPr id="50" name="Rounded Rectangle 23">
            <a:extLst>
              <a:ext uri="{FF2B5EF4-FFF2-40B4-BE49-F238E27FC236}">
                <a16:creationId xmlns:a16="http://schemas.microsoft.com/office/drawing/2014/main" id="{AE9B4591-6B4B-A75F-5C48-7A59EA0BB10D}"/>
              </a:ext>
            </a:extLst>
          </p:cNvPr>
          <p:cNvSpPr/>
          <p:nvPr/>
        </p:nvSpPr>
        <p:spPr>
          <a:xfrm>
            <a:off x="6355080" y="2788920"/>
            <a:ext cx="4892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rIns="109728" bIns="91440" rtlCol="0" anchor="ctr"/>
          <a:lstStyle/>
          <a:p>
            <a:pPr algn="ctr">
              <a:defRPr sz="1200">
                <a:solidFill>
                  <a:srgbClr val="2D3A4C"/>
                </a:solidFill>
                <a:latin typeface="Consolas"/>
              </a:defRPr>
            </a:pPr>
            <a: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  <a:t>docker pull ghcr.io/&lt;usuario&gt;/mi-app:1.0.0</a:t>
            </a:r>
            <a:b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sz="1400">
                <a:latin typeface="Courier New" panose="02070309020205020404" pitchFamily="49" charset="0"/>
                <a:cs typeface="Courier New" panose="02070309020205020404" pitchFamily="49" charset="0"/>
              </a:rPr>
              <a:t>docker run ghcr.io/&lt;usuario&gt;/mi-app:1.0.0</a:t>
            </a:r>
          </a:p>
        </p:txBody>
      </p:sp>
    </p:spTree>
    <p:extLst>
      <p:ext uri="{BB962C8B-B14F-4D97-AF65-F5344CB8AC3E}">
        <p14:creationId xmlns:p14="http://schemas.microsoft.com/office/powerpoint/2010/main" val="1860093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B9D0E-5973-1AA2-324E-D8DD96755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AF78B0DD-C514-D15C-1F4D-51C2B3C2714A}"/>
              </a:ext>
            </a:extLst>
          </p:cNvPr>
          <p:cNvSpPr/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38A24382-BE59-5BDD-03E9-F5FDBABD2DEC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FD5A396B-1613-FCB1-74F7-8A78C1CB7CA8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C2D3C75E-D798-8098-B8BA-729A3368F35F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22CF319F-6576-E0FF-F138-3ED3DF43FDBF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9D83BAB3-7C02-1F2A-EA1A-39C19DBEEA5F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276C05BD-FB02-48E3-2C43-AB86514D4E56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80157BA-C7CE-EA49-99C9-5731C29586B7}"/>
              </a:ext>
            </a:extLst>
          </p:cNvPr>
          <p:cNvSpPr txBox="1"/>
          <p:nvPr/>
        </p:nvSpPr>
        <p:spPr>
          <a:xfrm>
            <a:off x="937260" y="5578670"/>
            <a:ext cx="10564088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sz="1400" dirty="0">
                <a:solidFill>
                  <a:srgbClr val="18365F"/>
                </a:solidFill>
                <a:latin typeface="Arial"/>
              </a:rPr>
              <a:t>La teoría usa ejemplos genéricos; la actividad te obliga a trasladar esas decisiones al proyecto real.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49CA5D-4443-66DE-FB2B-37AFF578B53C}"/>
              </a:ext>
            </a:extLst>
          </p:cNvPr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CD738B00-98E4-9F6A-33A1-9F5BF1F2D68D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720CDC30-68CF-D044-F5AA-2C0C892EE8A4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4D4A8B11-4860-8F72-B47D-161D539384AB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Actividad 2.1: primeros contenedores y primera imagen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CBBF5C81-AE5B-2694-A68C-90166CECFFF3}"/>
              </a:ext>
            </a:extLst>
          </p:cNvPr>
          <p:cNvSpPr txBox="1"/>
          <p:nvPr/>
        </p:nvSpPr>
        <p:spPr>
          <a:xfrm>
            <a:off x="914400" y="868680"/>
            <a:ext cx="10305288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lang="es-ES" sz="2200" b="1" dirty="0">
                <a:solidFill>
                  <a:srgbClr val="004D40"/>
                </a:solidFill>
                <a:latin typeface="+mj-lt"/>
              </a:rPr>
              <a:t>Aplicarás las ideas de la sesión sobre </a:t>
            </a:r>
            <a:r>
              <a:rPr lang="es-ES" sz="2200" b="1" dirty="0" err="1">
                <a:solidFill>
                  <a:srgbClr val="004D40"/>
                </a:solidFill>
                <a:latin typeface="+mj-lt"/>
              </a:rPr>
              <a:t>Nginx</a:t>
            </a:r>
            <a:r>
              <a:rPr lang="es-ES" sz="2200" b="1" dirty="0">
                <a:solidFill>
                  <a:srgbClr val="004D40"/>
                </a:solidFill>
                <a:latin typeface="+mj-lt"/>
              </a:rPr>
              <a:t>, PostgreSQL y el proyecto Escaparate.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7FD0A97C-1EC9-9CBE-F2B1-90F4DFD7DF6B}"/>
              </a:ext>
            </a:extLst>
          </p:cNvPr>
          <p:cNvSpPr/>
          <p:nvPr/>
        </p:nvSpPr>
        <p:spPr>
          <a:xfrm>
            <a:off x="822960" y="164592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18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80860-AF44-2CFD-B1FE-E1D27412CDB2}"/>
              </a:ext>
            </a:extLst>
          </p:cNvPr>
          <p:cNvSpPr txBox="1"/>
          <p:nvPr/>
        </p:nvSpPr>
        <p:spPr>
          <a:xfrm>
            <a:off x="841248" y="1888346"/>
            <a:ext cx="1655064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Ejecutar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C173F3FB-91E8-B10B-F8E7-FEB30F90F426}"/>
              </a:ext>
            </a:extLst>
          </p:cNvPr>
          <p:cNvSpPr/>
          <p:nvPr/>
        </p:nvSpPr>
        <p:spPr>
          <a:xfrm>
            <a:off x="2587752" y="164592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713510E1-46EF-E319-E904-C2A4EBBFA3F1}"/>
              </a:ext>
            </a:extLst>
          </p:cNvPr>
          <p:cNvSpPr txBox="1"/>
          <p:nvPr/>
        </p:nvSpPr>
        <p:spPr>
          <a:xfrm>
            <a:off x="2606040" y="1888346"/>
            <a:ext cx="1655064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Observar</a:t>
            </a:r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3E13C16B-4DF9-B8EE-126F-50D6D75A7DE3}"/>
              </a:ext>
            </a:extLst>
          </p:cNvPr>
          <p:cNvSpPr/>
          <p:nvPr/>
        </p:nvSpPr>
        <p:spPr>
          <a:xfrm>
            <a:off x="4352544" y="164592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5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E4D01689-4237-3412-7A30-2609B429EF2E}"/>
              </a:ext>
            </a:extLst>
          </p:cNvPr>
          <p:cNvSpPr txBox="1"/>
          <p:nvPr/>
        </p:nvSpPr>
        <p:spPr>
          <a:xfrm>
            <a:off x="4370832" y="1888346"/>
            <a:ext cx="1655064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Modificar</a:t>
            </a:r>
          </a:p>
        </p:txBody>
      </p:sp>
      <p:sp>
        <p:nvSpPr>
          <p:cNvPr id="30" name="Rounded Rectangle 14">
            <a:extLst>
              <a:ext uri="{FF2B5EF4-FFF2-40B4-BE49-F238E27FC236}">
                <a16:creationId xmlns:a16="http://schemas.microsoft.com/office/drawing/2014/main" id="{6AC95BBB-55A6-1DAE-0C09-C9FA5A0AB9A3}"/>
              </a:ext>
            </a:extLst>
          </p:cNvPr>
          <p:cNvSpPr/>
          <p:nvPr/>
        </p:nvSpPr>
        <p:spPr>
          <a:xfrm>
            <a:off x="6117336" y="164592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9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831FA87E-15B9-A2C5-4D57-4AD44262EA87}"/>
              </a:ext>
            </a:extLst>
          </p:cNvPr>
          <p:cNvSpPr txBox="1"/>
          <p:nvPr/>
        </p:nvSpPr>
        <p:spPr>
          <a:xfrm>
            <a:off x="6135624" y="1780625"/>
            <a:ext cx="1655064" cy="507831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Eliminar y
recrear</a:t>
            </a:r>
          </a:p>
        </p:txBody>
      </p:sp>
      <p:sp>
        <p:nvSpPr>
          <p:cNvPr id="39" name="Rounded Rectangle 17">
            <a:extLst>
              <a:ext uri="{FF2B5EF4-FFF2-40B4-BE49-F238E27FC236}">
                <a16:creationId xmlns:a16="http://schemas.microsoft.com/office/drawing/2014/main" id="{0153542F-1388-7B6F-FB60-95F87E5E5D3F}"/>
              </a:ext>
            </a:extLst>
          </p:cNvPr>
          <p:cNvSpPr/>
          <p:nvPr/>
        </p:nvSpPr>
        <p:spPr>
          <a:xfrm>
            <a:off x="7882128" y="164592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4" name="TextBox 18">
            <a:extLst>
              <a:ext uri="{FF2B5EF4-FFF2-40B4-BE49-F238E27FC236}">
                <a16:creationId xmlns:a16="http://schemas.microsoft.com/office/drawing/2014/main" id="{95708EC6-0501-1CC3-04FD-258E4D24A32F}"/>
              </a:ext>
            </a:extLst>
          </p:cNvPr>
          <p:cNvSpPr txBox="1"/>
          <p:nvPr/>
        </p:nvSpPr>
        <p:spPr>
          <a:xfrm>
            <a:off x="7900416" y="1780625"/>
            <a:ext cx="1655064" cy="507831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Construir
imagen mínima</a:t>
            </a:r>
          </a:p>
        </p:txBody>
      </p:sp>
      <p:sp>
        <p:nvSpPr>
          <p:cNvPr id="49" name="Rounded Rectangle 20">
            <a:extLst>
              <a:ext uri="{FF2B5EF4-FFF2-40B4-BE49-F238E27FC236}">
                <a16:creationId xmlns:a16="http://schemas.microsoft.com/office/drawing/2014/main" id="{4E7E3FEA-6298-B326-3DD9-2411944CC279}"/>
              </a:ext>
            </a:extLst>
          </p:cNvPr>
          <p:cNvSpPr/>
          <p:nvPr/>
        </p:nvSpPr>
        <p:spPr>
          <a:xfrm>
            <a:off x="9646920" y="1645920"/>
            <a:ext cx="16916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8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2" name="TextBox 21">
            <a:extLst>
              <a:ext uri="{FF2B5EF4-FFF2-40B4-BE49-F238E27FC236}">
                <a16:creationId xmlns:a16="http://schemas.microsoft.com/office/drawing/2014/main" id="{011FD7DD-B91F-23C1-0B9E-C6EC641F8E96}"/>
              </a:ext>
            </a:extLst>
          </p:cNvPr>
          <p:cNvSpPr txBox="1"/>
          <p:nvPr/>
        </p:nvSpPr>
        <p:spPr>
          <a:xfrm>
            <a:off x="9665208" y="1780625"/>
            <a:ext cx="1655064" cy="507831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sz="1400" b="1" i="0">
                <a:solidFill>
                  <a:srgbClr val="18365F"/>
                </a:solidFill>
                <a:latin typeface="Arial"/>
              </a:rPr>
              <a:t>Publicar
en GHCR</a:t>
            </a:r>
          </a:p>
        </p:txBody>
      </p:sp>
      <p:sp>
        <p:nvSpPr>
          <p:cNvPr id="54" name="Rounded Rectangle 22">
            <a:extLst>
              <a:ext uri="{FF2B5EF4-FFF2-40B4-BE49-F238E27FC236}">
                <a16:creationId xmlns:a16="http://schemas.microsoft.com/office/drawing/2014/main" id="{F17F900B-B84C-D746-9C3E-7B8E3BC5A78B}"/>
              </a:ext>
            </a:extLst>
          </p:cNvPr>
          <p:cNvSpPr/>
          <p:nvPr/>
        </p:nvSpPr>
        <p:spPr>
          <a:xfrm>
            <a:off x="1133856" y="2720146"/>
            <a:ext cx="9966960" cy="2305258"/>
          </a:xfrm>
          <a:prstGeom prst="roundRect">
            <a:avLst/>
          </a:prstGeom>
          <a:solidFill>
            <a:srgbClr val="F7F9FA"/>
          </a:solidFill>
          <a:ln w="12700">
            <a:solidFill>
              <a:srgbClr val="AFD2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448056" bIns="73152" rtlCol="0" anchor="ctr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50">
                <a:solidFill>
                  <a:srgbClr val="313A44"/>
                </a:solidFill>
                <a:latin typeface="Arial"/>
              </a:defRPr>
            </a:pPr>
            <a:r>
              <a:rPr sz="1600" dirty="0" err="1"/>
              <a:t>Distinguir</a:t>
            </a:r>
            <a:r>
              <a:rPr sz="1600" dirty="0"/>
              <a:t> imagen, </a:t>
            </a:r>
            <a:r>
              <a:rPr sz="1600" dirty="0" err="1"/>
              <a:t>contenedor</a:t>
            </a:r>
            <a:r>
              <a:rPr sz="1600" dirty="0"/>
              <a:t>, </a:t>
            </a:r>
            <a:r>
              <a:rPr sz="1600" dirty="0" err="1"/>
              <a:t>registro</a:t>
            </a:r>
            <a:r>
              <a:rPr sz="1600" dirty="0"/>
              <a:t> y </a:t>
            </a:r>
            <a:r>
              <a:rPr sz="1600" dirty="0" err="1"/>
              <a:t>etiqueta</a:t>
            </a:r>
            <a:r>
              <a:rPr sz="16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50">
                <a:solidFill>
                  <a:srgbClr val="313A44"/>
                </a:solidFill>
                <a:latin typeface="Arial"/>
              </a:defRPr>
            </a:pPr>
            <a:r>
              <a:rPr sz="1600" dirty="0" err="1"/>
              <a:t>Diagnosticar</a:t>
            </a:r>
            <a:r>
              <a:rPr sz="1600" dirty="0"/>
              <a:t> con </a:t>
            </a:r>
            <a:r>
              <a:rPr sz="1600" dirty="0" err="1"/>
              <a:t>estado</a:t>
            </a:r>
            <a:r>
              <a:rPr sz="1600" dirty="0"/>
              <a:t> → logs → interior.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50">
                <a:solidFill>
                  <a:srgbClr val="313A44"/>
                </a:solidFill>
                <a:latin typeface="Arial"/>
              </a:defRPr>
            </a:pPr>
            <a:r>
              <a:rPr sz="1600" dirty="0" err="1"/>
              <a:t>Explicar</a:t>
            </a:r>
            <a:r>
              <a:rPr sz="1600" dirty="0"/>
              <a:t> </a:t>
            </a:r>
            <a:r>
              <a:rPr sz="1600" dirty="0" err="1"/>
              <a:t>qué</a:t>
            </a:r>
            <a:r>
              <a:rPr sz="1600" dirty="0"/>
              <a:t> </a:t>
            </a:r>
            <a:r>
              <a:rPr sz="1600" dirty="0" err="1"/>
              <a:t>cambios</a:t>
            </a:r>
            <a:r>
              <a:rPr sz="1600" dirty="0"/>
              <a:t> </a:t>
            </a:r>
            <a:r>
              <a:rPr sz="1600" dirty="0" err="1"/>
              <a:t>desaparecen</a:t>
            </a:r>
            <a:r>
              <a:rPr sz="1600" dirty="0"/>
              <a:t> al </a:t>
            </a:r>
            <a:r>
              <a:rPr sz="1600" dirty="0" err="1"/>
              <a:t>eliminar</a:t>
            </a:r>
            <a:r>
              <a:rPr sz="1600" dirty="0"/>
              <a:t> un </a:t>
            </a:r>
            <a:r>
              <a:rPr sz="1600" dirty="0" err="1"/>
              <a:t>contenedor</a:t>
            </a:r>
            <a:r>
              <a:rPr sz="16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50">
                <a:solidFill>
                  <a:srgbClr val="313A44"/>
                </a:solidFill>
                <a:latin typeface="Arial"/>
              </a:defRPr>
            </a:pPr>
            <a:r>
              <a:rPr sz="1600" dirty="0" err="1"/>
              <a:t>Construir</a:t>
            </a:r>
            <a:r>
              <a:rPr sz="1600" dirty="0"/>
              <a:t> </a:t>
            </a:r>
            <a:r>
              <a:rPr sz="1600" dirty="0" err="1"/>
              <a:t>una</a:t>
            </a:r>
            <a:r>
              <a:rPr sz="1600" dirty="0"/>
              <a:t> imagen </a:t>
            </a:r>
            <a:r>
              <a:rPr sz="1600" dirty="0" err="1"/>
              <a:t>mínima</a:t>
            </a:r>
            <a:r>
              <a:rPr sz="1600" dirty="0"/>
              <a:t> </a:t>
            </a:r>
            <a:r>
              <a:rPr sz="1600" dirty="0" err="1"/>
              <a:t>eligiendo</a:t>
            </a:r>
            <a:r>
              <a:rPr sz="1600" dirty="0"/>
              <a:t> </a:t>
            </a:r>
            <a:r>
              <a:rPr sz="1600" dirty="0" err="1"/>
              <a:t>correctamente</a:t>
            </a:r>
            <a:r>
              <a:rPr sz="1600" dirty="0"/>
              <a:t> el </a:t>
            </a:r>
            <a:r>
              <a:rPr sz="1600" dirty="0" err="1"/>
              <a:t>contexto</a:t>
            </a:r>
            <a:r>
              <a:rPr sz="1600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250">
                <a:solidFill>
                  <a:srgbClr val="313A44"/>
                </a:solidFill>
                <a:latin typeface="Arial"/>
              </a:defRPr>
            </a:pPr>
            <a:r>
              <a:rPr sz="1600" dirty="0" err="1"/>
              <a:t>Publicar</a:t>
            </a:r>
            <a:r>
              <a:rPr sz="1600" dirty="0"/>
              <a:t> y </a:t>
            </a:r>
            <a:r>
              <a:rPr sz="1600" dirty="0" err="1"/>
              <a:t>volver</a:t>
            </a:r>
            <a:r>
              <a:rPr sz="1600" dirty="0"/>
              <a:t> a </a:t>
            </a:r>
            <a:r>
              <a:rPr sz="1600" dirty="0" err="1"/>
              <a:t>descargar</a:t>
            </a:r>
            <a:r>
              <a:rPr sz="1600" dirty="0"/>
              <a:t> </a:t>
            </a:r>
            <a:r>
              <a:rPr sz="1600" dirty="0" err="1"/>
              <a:t>una</a:t>
            </a:r>
            <a:r>
              <a:rPr sz="1600" dirty="0"/>
              <a:t> imagen </a:t>
            </a:r>
            <a:r>
              <a:rPr sz="1600" dirty="0" err="1"/>
              <a:t>desde</a:t>
            </a:r>
            <a:r>
              <a:rPr sz="1600" dirty="0"/>
              <a:t> GHCR.</a:t>
            </a:r>
          </a:p>
        </p:txBody>
      </p:sp>
      <p:sp>
        <p:nvSpPr>
          <p:cNvPr id="56" name="Rectangle 23">
            <a:extLst>
              <a:ext uri="{FF2B5EF4-FFF2-40B4-BE49-F238E27FC236}">
                <a16:creationId xmlns:a16="http://schemas.microsoft.com/office/drawing/2014/main" id="{8474CA6B-1831-645C-DAA2-EEFC6A146895}"/>
              </a:ext>
            </a:extLst>
          </p:cNvPr>
          <p:cNvSpPr/>
          <p:nvPr/>
        </p:nvSpPr>
        <p:spPr>
          <a:xfrm>
            <a:off x="1133856" y="2720146"/>
            <a:ext cx="9966960" cy="347472"/>
          </a:xfrm>
          <a:prstGeom prst="rect">
            <a:avLst/>
          </a:prstGeom>
          <a:solidFill>
            <a:srgbClr val="055640"/>
          </a:solidFill>
          <a:ln>
            <a:solidFill>
              <a:srgbClr val="055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24">
            <a:extLst>
              <a:ext uri="{FF2B5EF4-FFF2-40B4-BE49-F238E27FC236}">
                <a16:creationId xmlns:a16="http://schemas.microsoft.com/office/drawing/2014/main" id="{6F5D97CD-05C1-63DB-88F5-731E909616AC}"/>
              </a:ext>
            </a:extLst>
          </p:cNvPr>
          <p:cNvSpPr txBox="1"/>
          <p:nvPr/>
        </p:nvSpPr>
        <p:spPr>
          <a:xfrm>
            <a:off x="1197864" y="2723156"/>
            <a:ext cx="9838944" cy="323165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Arial"/>
              </a:rPr>
              <a:t>Al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salir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de la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actividad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deberías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600" b="1" i="0" dirty="0" err="1">
                <a:solidFill>
                  <a:srgbClr val="FFFFFF"/>
                </a:solidFill>
                <a:latin typeface="Arial"/>
              </a:rPr>
              <a:t>poder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694464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DF587-AD3B-6F52-FE07-17ED14A5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18">
            <a:extLst>
              <a:ext uri="{FF2B5EF4-FFF2-40B4-BE49-F238E27FC236}">
                <a16:creationId xmlns:a16="http://schemas.microsoft.com/office/drawing/2014/main" id="{07A6D5F9-D670-9589-C40B-654BCB9DDC3C}"/>
              </a:ext>
            </a:extLst>
          </p:cNvPr>
          <p:cNvSpPr/>
          <p:nvPr/>
        </p:nvSpPr>
        <p:spPr>
          <a:xfrm>
            <a:off x="860282" y="5463540"/>
            <a:ext cx="10718044" cy="594000"/>
          </a:xfrm>
          <a:prstGeom prst="roundRect">
            <a:avLst>
              <a:gd name="adj" fmla="val 12308"/>
            </a:avLst>
          </a:prstGeom>
          <a:solidFill>
            <a:srgbClr val="FFFDE7"/>
          </a:solidFill>
          <a:ln w="16510">
            <a:solidFill>
              <a:srgbClr val="00AC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CE73D7FF-25A9-E24B-4BD4-79EA4A63223F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DC8802B8-2271-A44C-BDD8-D2F2CD9C0133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E45066D0-3C26-112A-88A9-72467391ACA0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D8F6640E-A687-D174-7A8C-6C7501CA03FA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>
            <a:extLst>
              <a:ext uri="{FF2B5EF4-FFF2-40B4-BE49-F238E27FC236}">
                <a16:creationId xmlns:a16="http://schemas.microsoft.com/office/drawing/2014/main" id="{02EA5015-D8D7-2837-6845-E7E24B0EAA96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AF062BB0-5046-6BF0-FA26-5EA9008A8643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7D96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CF7B928-04E0-A285-D4C7-305747A032B8}"/>
              </a:ext>
            </a:extLst>
          </p:cNvPr>
          <p:cNvSpPr txBox="1"/>
          <p:nvPr/>
        </p:nvSpPr>
        <p:spPr>
          <a:xfrm>
            <a:off x="937260" y="5578670"/>
            <a:ext cx="10564088" cy="292388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ctr"/>
            <a:r>
              <a:rPr lang="es-ES" sz="1400" dirty="0">
                <a:solidFill>
                  <a:srgbClr val="18365F"/>
                </a:solidFill>
                <a:latin typeface="Arial"/>
              </a:rPr>
              <a:t>Próxima sesión: construiremos imágenes más eficientes y separaremos claramente </a:t>
            </a:r>
            <a:r>
              <a:rPr lang="es-ES" sz="1400" dirty="0" err="1">
                <a:solidFill>
                  <a:srgbClr val="18365F"/>
                </a:solidFill>
                <a:latin typeface="Arial"/>
              </a:rPr>
              <a:t>build</a:t>
            </a:r>
            <a:r>
              <a:rPr lang="es-ES" sz="1400" dirty="0">
                <a:solidFill>
                  <a:srgbClr val="18365F"/>
                </a:solidFill>
                <a:latin typeface="Arial"/>
              </a:rPr>
              <a:t> y </a:t>
            </a:r>
            <a:r>
              <a:rPr lang="es-ES" sz="1400" dirty="0" err="1">
                <a:solidFill>
                  <a:srgbClr val="18365F"/>
                </a:solidFill>
                <a:latin typeface="Arial"/>
              </a:rPr>
              <a:t>runtime</a:t>
            </a:r>
            <a:r>
              <a:rPr lang="es-ES" sz="1400" dirty="0">
                <a:solidFill>
                  <a:srgbClr val="18365F"/>
                </a:solidFill>
                <a:latin typeface="Arial"/>
              </a:rPr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776C4C-83BA-42FC-59FC-4292152AEBEE}"/>
              </a:ext>
            </a:extLst>
          </p:cNvPr>
          <p:cNvSpPr txBox="1"/>
          <p:nvPr/>
        </p:nvSpPr>
        <p:spPr>
          <a:xfrm>
            <a:off x="11734495" y="6601968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 i="0">
                <a:solidFill>
                  <a:srgbClr val="737C84"/>
                </a:solidFill>
                <a:latin typeface="Arial"/>
              </a:rPr>
              <a:t>2</a:t>
            </a: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9B14C5EA-E375-7AE9-F844-E0B3870B1576}"/>
              </a:ext>
            </a:extLst>
          </p:cNvPr>
          <p:cNvSpPr/>
          <p:nvPr/>
        </p:nvSpPr>
        <p:spPr>
          <a:xfrm>
            <a:off x="548640" y="6492240"/>
            <a:ext cx="1109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Despliegue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de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Aplicaciones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Web — Tema 2: </a:t>
            </a:r>
            <a:r>
              <a:rPr lang="en-US" sz="1050" b="0" u="none" strike="noStrike" dirty="0" err="1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Sesión</a:t>
            </a:r>
            <a:r>
              <a:rPr lang="en-US" sz="1050" b="0" u="none" strike="noStrike" dirty="0">
                <a:solidFill>
                  <a:srgbClr val="757575"/>
                </a:solidFill>
                <a:effectLst/>
                <a:uFillTx/>
                <a:latin typeface="Arial"/>
                <a:ea typeface="Arial"/>
              </a:rPr>
              <a:t> 3</a:t>
            </a:r>
            <a:r>
              <a:rPr lang="en-US" sz="1050" dirty="0">
                <a:solidFill>
                  <a:srgbClr val="757575"/>
                </a:solidFill>
                <a:ea typeface="Arial"/>
              </a:rPr>
              <a:t> —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Fundamentos</a:t>
            </a:r>
            <a:r>
              <a:rPr lang="en-US" sz="1050" dirty="0">
                <a:solidFill>
                  <a:srgbClr val="757575"/>
                </a:solidFill>
                <a:latin typeface="Arial"/>
                <a:ea typeface="Arial"/>
              </a:rPr>
              <a:t> de </a:t>
            </a:r>
            <a:r>
              <a:rPr lang="en-US" sz="1050" dirty="0" err="1">
                <a:solidFill>
                  <a:srgbClr val="757575"/>
                </a:solidFill>
                <a:latin typeface="Arial"/>
                <a:ea typeface="Arial"/>
              </a:rPr>
              <a:t>contenedores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0">
            <a:extLst>
              <a:ext uri="{FF2B5EF4-FFF2-40B4-BE49-F238E27FC236}">
                <a16:creationId xmlns:a16="http://schemas.microsoft.com/office/drawing/2014/main" id="{0F373531-D7DD-7879-7208-66CA8D5DB6D6}"/>
              </a:ext>
            </a:extLst>
          </p:cNvPr>
          <p:cNvSpPr/>
          <p:nvPr/>
        </p:nvSpPr>
        <p:spPr>
          <a:xfrm>
            <a:off x="0" y="0"/>
            <a:ext cx="12188520" cy="77688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4464D2E3-1D0F-171A-257D-7BD8D05D2E2B}"/>
              </a:ext>
            </a:extLst>
          </p:cNvPr>
          <p:cNvSpPr/>
          <p:nvPr/>
        </p:nvSpPr>
        <p:spPr>
          <a:xfrm>
            <a:off x="384120" y="18360"/>
            <a:ext cx="1142064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25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Cierre de la sesión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481C6D7-0481-7756-1530-5D5094130F3B}"/>
              </a:ext>
            </a:extLst>
          </p:cNvPr>
          <p:cNvSpPr txBox="1"/>
          <p:nvPr/>
        </p:nvSpPr>
        <p:spPr>
          <a:xfrm>
            <a:off x="914400" y="868680"/>
            <a:ext cx="10305288" cy="415498"/>
          </a:xfrm>
          <a:prstGeom prst="rect">
            <a:avLst/>
          </a:prstGeom>
          <a:noFill/>
        </p:spPr>
        <p:txBody>
          <a:bodyPr wrap="square" lIns="38100" tIns="38100" rIns="38100" bIns="38100" anchor="t">
            <a:spAutoFit/>
          </a:bodyPr>
          <a:lstStyle/>
          <a:p>
            <a:pPr algn="ctr"/>
            <a:r>
              <a:rPr lang="es-ES" sz="2200" b="1" dirty="0">
                <a:solidFill>
                  <a:srgbClr val="004D40"/>
                </a:solidFill>
                <a:latin typeface="+mj-lt"/>
              </a:rPr>
              <a:t>Lo mínimo que debe quedar claro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1EAC0FDB-71D6-7DD6-0D10-888BD6B7B396}"/>
              </a:ext>
            </a:extLst>
          </p:cNvPr>
          <p:cNvSpPr/>
          <p:nvPr/>
        </p:nvSpPr>
        <p:spPr>
          <a:xfrm>
            <a:off x="1258054" y="1535638"/>
            <a:ext cx="9922499" cy="349320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>
              <a:spcAft>
                <a:spcPts val="1300"/>
              </a:spcAft>
              <a:defRPr sz="1600">
                <a:solidFill>
                  <a:srgbClr val="313A44"/>
                </a:solidFill>
                <a:latin typeface="Arial"/>
              </a:defRPr>
            </a:pPr>
            <a:r>
              <a:rPr dirty="0"/>
              <a:t>✓  Una imagen </a:t>
            </a:r>
            <a:r>
              <a:rPr dirty="0" err="1"/>
              <a:t>empaqueta</a:t>
            </a:r>
            <a:r>
              <a:rPr dirty="0"/>
              <a:t> un punto de </a:t>
            </a:r>
            <a:r>
              <a:rPr dirty="0" err="1"/>
              <a:t>partida</a:t>
            </a:r>
            <a:r>
              <a:rPr dirty="0"/>
              <a:t> reproducible; un </a:t>
            </a:r>
            <a:r>
              <a:rPr dirty="0" err="1"/>
              <a:t>contenedor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instancia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600">
                <a:solidFill>
                  <a:srgbClr val="313A44"/>
                </a:solidFill>
                <a:latin typeface="Arial"/>
              </a:defRPr>
            </a:pPr>
            <a:r>
              <a:rPr dirty="0"/>
              <a:t>✓  </a:t>
            </a:r>
            <a:r>
              <a:rPr dirty="0" err="1"/>
              <a:t>Detener</a:t>
            </a:r>
            <a:r>
              <a:rPr dirty="0"/>
              <a:t> </a:t>
            </a:r>
            <a:r>
              <a:rPr dirty="0" err="1"/>
              <a:t>conserva</a:t>
            </a:r>
            <a:r>
              <a:rPr dirty="0"/>
              <a:t> el </a:t>
            </a:r>
            <a:r>
              <a:rPr dirty="0" err="1"/>
              <a:t>contenedor</a:t>
            </a:r>
            <a:r>
              <a:rPr dirty="0"/>
              <a:t>; </a:t>
            </a:r>
            <a:r>
              <a:rPr dirty="0" err="1"/>
              <a:t>eliminarlo</a:t>
            </a:r>
            <a:r>
              <a:rPr dirty="0"/>
              <a:t> </a:t>
            </a:r>
            <a:r>
              <a:rPr dirty="0" err="1"/>
              <a:t>destruye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capa</a:t>
            </a:r>
            <a:r>
              <a:rPr dirty="0"/>
              <a:t> de </a:t>
            </a:r>
            <a:r>
              <a:rPr dirty="0" err="1"/>
              <a:t>escritura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600">
                <a:solidFill>
                  <a:srgbClr val="313A44"/>
                </a:solidFill>
                <a:latin typeface="Arial"/>
              </a:defRPr>
            </a:pPr>
            <a:r>
              <a:rPr dirty="0"/>
              <a:t>✓  Los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persistentes</a:t>
            </a:r>
            <a:r>
              <a:rPr dirty="0"/>
              <a:t> </a:t>
            </a:r>
            <a:r>
              <a:rPr dirty="0" err="1"/>
              <a:t>necesitan</a:t>
            </a:r>
            <a:r>
              <a:rPr dirty="0"/>
              <a:t> un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vida</a:t>
            </a:r>
            <a:r>
              <a:rPr dirty="0"/>
              <a:t> </a:t>
            </a:r>
            <a:r>
              <a:rPr dirty="0" err="1"/>
              <a:t>independiente</a:t>
            </a:r>
            <a:r>
              <a:rPr dirty="0"/>
              <a:t> del </a:t>
            </a:r>
            <a:r>
              <a:rPr dirty="0" err="1"/>
              <a:t>contenedor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600">
                <a:solidFill>
                  <a:srgbClr val="313A44"/>
                </a:solidFill>
                <a:latin typeface="Arial"/>
              </a:defRPr>
            </a:pPr>
            <a:r>
              <a:rPr dirty="0"/>
              <a:t>✓  </a:t>
            </a:r>
            <a:r>
              <a:rPr dirty="0" err="1"/>
              <a:t>Publicar</a:t>
            </a:r>
            <a:r>
              <a:rPr dirty="0"/>
              <a:t> un </a:t>
            </a:r>
            <a:r>
              <a:rPr dirty="0" err="1"/>
              <a:t>puerto</a:t>
            </a:r>
            <a:r>
              <a:rPr dirty="0"/>
              <a:t> y </a:t>
            </a:r>
            <a:r>
              <a:rPr dirty="0" err="1"/>
              <a:t>configurar</a:t>
            </a:r>
            <a:r>
              <a:rPr dirty="0"/>
              <a:t> el </a:t>
            </a:r>
            <a:r>
              <a:rPr dirty="0" err="1"/>
              <a:t>contenedor</a:t>
            </a:r>
            <a:r>
              <a:rPr dirty="0"/>
              <a:t> son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explícitas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600">
                <a:solidFill>
                  <a:srgbClr val="313A44"/>
                </a:solidFill>
                <a:latin typeface="Arial"/>
              </a:defRPr>
            </a:pPr>
            <a:r>
              <a:rPr dirty="0"/>
              <a:t>✓  El </a:t>
            </a:r>
            <a:r>
              <a:rPr dirty="0" err="1"/>
              <a:t>Dockerfile</a:t>
            </a:r>
            <a:r>
              <a:rPr dirty="0"/>
              <a:t> describe la </a:t>
            </a:r>
            <a:r>
              <a:rPr dirty="0" err="1"/>
              <a:t>construcción</a:t>
            </a:r>
            <a:r>
              <a:rPr dirty="0"/>
              <a:t> y el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determina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leer COPY.</a:t>
            </a:r>
          </a:p>
          <a:p>
            <a:pPr>
              <a:spcAft>
                <a:spcPts val="1300"/>
              </a:spcAft>
              <a:defRPr sz="1600">
                <a:solidFill>
                  <a:srgbClr val="313A44"/>
                </a:solidFill>
                <a:latin typeface="Arial"/>
              </a:defRPr>
            </a:pPr>
            <a:r>
              <a:rPr dirty="0"/>
              <a:t>✓  Un </a:t>
            </a:r>
            <a:r>
              <a:rPr dirty="0" err="1"/>
              <a:t>registro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imagen </a:t>
            </a:r>
            <a:r>
              <a:rPr dirty="0" err="1"/>
              <a:t>en</a:t>
            </a:r>
            <a:r>
              <a:rPr dirty="0"/>
              <a:t> un </a:t>
            </a:r>
            <a:r>
              <a:rPr dirty="0" err="1"/>
              <a:t>lugar</a:t>
            </a:r>
            <a:r>
              <a:rPr dirty="0"/>
              <a:t> y </a:t>
            </a:r>
            <a:r>
              <a:rPr dirty="0" err="1"/>
              <a:t>ejecutarla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otro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588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1475</Words>
  <Application>Microsoft Office PowerPoint</Application>
  <PresentationFormat>Panorámica</PresentationFormat>
  <Paragraphs>203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contenedores</dc:title>
  <dc:subject>Despliegue de Aplicaciones Web — Tema 2 — Sesión 3</dc:subject>
  <dc:creator>Material docente</dc:creator>
  <cp:keywords/>
  <dc:description>generated using python-pptx</dc:description>
  <cp:lastModifiedBy>ROIG AGUILAR, ALEJANDRO</cp:lastModifiedBy>
  <cp:revision>2</cp:revision>
  <dcterms:created xsi:type="dcterms:W3CDTF">2013-01-27T09:14:16Z</dcterms:created>
  <dcterms:modified xsi:type="dcterms:W3CDTF">2026-09-24T22:56:35Z</dcterms:modified>
  <cp:category/>
</cp:coreProperties>
</file>