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4b3b7834104bf5" /><Relationship Type="http://schemas.openxmlformats.org/officeDocument/2006/relationships/extended-properties" Target="/docProps/app.xml" Id="R752e19b16351490a" /><Relationship Type="http://schemas.openxmlformats.org/officeDocument/2006/relationships/officeDocument" Target="/ppt/presentation.xml" Id="R81ce5f6c81e94a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8760570f8a494b"/>
  </p:sldMasterIdLst>
  <p:notesMasterIdLst>
    <p:notesMasterId xmlns:r="http://schemas.openxmlformats.org/officeDocument/2006/relationships" r:id="R9b5b448843f344bb"/>
  </p:notesMasterIdLst>
  <p:sldIdLst>
    <p:sldId xmlns:r="http://schemas.openxmlformats.org/officeDocument/2006/relationships" id="256" r:id="R87784e996c88407d"/>
    <p:sldId xmlns:r="http://schemas.openxmlformats.org/officeDocument/2006/relationships" id="257" r:id="Rda8d98b421024c33"/>
    <p:sldId xmlns:r="http://schemas.openxmlformats.org/officeDocument/2006/relationships" id="258" r:id="R5aad2a8db9d6457f"/>
    <p:sldId xmlns:r="http://schemas.openxmlformats.org/officeDocument/2006/relationships" id="259" r:id="R02f2c5c6a38447e9"/>
    <p:sldId xmlns:r="http://schemas.openxmlformats.org/officeDocument/2006/relationships" id="260" r:id="Rc14a0f27e15244c7"/>
    <p:sldId xmlns:r="http://schemas.openxmlformats.org/officeDocument/2006/relationships" id="261" r:id="Rc79c5006505641ed"/>
    <p:sldId xmlns:r="http://schemas.openxmlformats.org/officeDocument/2006/relationships" id="262" r:id="Rabb666e6e00a4bd1"/>
    <p:sldId xmlns:r="http://schemas.openxmlformats.org/officeDocument/2006/relationships" id="263" r:id="Rb59376601f1d44ca"/>
    <p:sldId xmlns:r="http://schemas.openxmlformats.org/officeDocument/2006/relationships" id="264" r:id="R966711ddda884bc5"/>
    <p:sldId xmlns:r="http://schemas.openxmlformats.org/officeDocument/2006/relationships" id="265" r:id="Rcb7e0f3ac76c4f14"/>
    <p:sldId xmlns:r="http://schemas.openxmlformats.org/officeDocument/2006/relationships" id="266" r:id="Raa0380ca55184553"/>
    <p:sldId xmlns:r="http://schemas.openxmlformats.org/officeDocument/2006/relationships" id="267" r:id="R5eef2c9f3ccf4425"/>
    <p:sldId xmlns:r="http://schemas.openxmlformats.org/officeDocument/2006/relationships" id="268" r:id="R709bfa3a874e43e3"/>
    <p:sldId xmlns:r="http://schemas.openxmlformats.org/officeDocument/2006/relationships" id="269" r:id="Rdd80b5a0b3214919"/>
    <p:sldId xmlns:r="http://schemas.openxmlformats.org/officeDocument/2006/relationships" id="270" r:id="R970809d5224a4591"/>
    <p:sldId xmlns:r="http://schemas.openxmlformats.org/officeDocument/2006/relationships" id="271" r:id="R2e479b5b73a14202"/>
    <p:sldId xmlns:r="http://schemas.openxmlformats.org/officeDocument/2006/relationships" id="272" r:id="Rbfdf86f9845b4425"/>
    <p:sldId xmlns:r="http://schemas.openxmlformats.org/officeDocument/2006/relationships" id="273" r:id="R55d155e125d84cdf"/>
    <p:sldId xmlns:r="http://schemas.openxmlformats.org/officeDocument/2006/relationships" id="274" r:id="R54cb9626d6a649c2"/>
    <p:sldId xmlns:r="http://schemas.openxmlformats.org/officeDocument/2006/relationships" id="275" r:id="Rd8f94b2de19c47a9"/>
    <p:sldId xmlns:r="http://schemas.openxmlformats.org/officeDocument/2006/relationships" id="276" r:id="R3236b302464f4fd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ce496666354836" /><Relationship Type="http://schemas.openxmlformats.org/officeDocument/2006/relationships/slideMaster" Target="/ppt/slideMasters/slideMaster1.xml" Id="R168760570f8a494b" /><Relationship Type="http://schemas.openxmlformats.org/officeDocument/2006/relationships/notesMaster" Target="/ppt/notesMasters/notesMaster1.xml" Id="R9b5b448843f344bb" /><Relationship Type="http://schemas.openxmlformats.org/officeDocument/2006/relationships/presProps" Target="/ppt/presProps.xml" Id="R4d2a78d0e2c04333" /><Relationship Type="http://schemas.openxmlformats.org/officeDocument/2006/relationships/viewProps" Target="/ppt/viewProps.xml" Id="Rd723f8bcd9d54899" /><Relationship Type="http://schemas.openxmlformats.org/officeDocument/2006/relationships/tableStyles" Target="/ppt/tableStyles.xml" Id="R804395ad4d9e42dd" /><Relationship Type="http://schemas.openxmlformats.org/officeDocument/2006/relationships/slide" Target="/ppt/slides/slide1.xml" Id="R87784e996c88407d" /><Relationship Type="http://schemas.openxmlformats.org/officeDocument/2006/relationships/slide" Target="/ppt/slides/slide2.xml" Id="Rda8d98b421024c33" /><Relationship Type="http://schemas.openxmlformats.org/officeDocument/2006/relationships/slide" Target="/ppt/slides/slide3.xml" Id="R5aad2a8db9d6457f" /><Relationship Type="http://schemas.openxmlformats.org/officeDocument/2006/relationships/slide" Target="/ppt/slides/slide4.xml" Id="R02f2c5c6a38447e9" /><Relationship Type="http://schemas.openxmlformats.org/officeDocument/2006/relationships/slide" Target="/ppt/slides/slide5.xml" Id="Rc14a0f27e15244c7" /><Relationship Type="http://schemas.openxmlformats.org/officeDocument/2006/relationships/slide" Target="/ppt/slides/slide6.xml" Id="Rc79c5006505641ed" /><Relationship Type="http://schemas.openxmlformats.org/officeDocument/2006/relationships/slide" Target="/ppt/slides/slide7.xml" Id="Rabb666e6e00a4bd1" /><Relationship Type="http://schemas.openxmlformats.org/officeDocument/2006/relationships/slide" Target="/ppt/slides/slide8.xml" Id="Rb59376601f1d44ca" /><Relationship Type="http://schemas.openxmlformats.org/officeDocument/2006/relationships/slide" Target="/ppt/slides/slide9.xml" Id="R966711ddda884bc5" /><Relationship Type="http://schemas.openxmlformats.org/officeDocument/2006/relationships/slide" Target="/ppt/slides/slide10.xml" Id="Rcb7e0f3ac76c4f14" /><Relationship Type="http://schemas.openxmlformats.org/officeDocument/2006/relationships/slide" Target="/ppt/slides/slide11.xml" Id="Raa0380ca55184553" /><Relationship Type="http://schemas.openxmlformats.org/officeDocument/2006/relationships/slide" Target="/ppt/slides/slide12.xml" Id="R5eef2c9f3ccf4425" /><Relationship Type="http://schemas.openxmlformats.org/officeDocument/2006/relationships/slide" Target="/ppt/slides/slide13.xml" Id="R709bfa3a874e43e3" /><Relationship Type="http://schemas.openxmlformats.org/officeDocument/2006/relationships/slide" Target="/ppt/slides/slide14.xml" Id="Rdd80b5a0b3214919" /><Relationship Type="http://schemas.openxmlformats.org/officeDocument/2006/relationships/slide" Target="/ppt/slides/slide15.xml" Id="R970809d5224a4591" /><Relationship Type="http://schemas.openxmlformats.org/officeDocument/2006/relationships/slide" Target="/ppt/slides/slide16.xml" Id="R2e479b5b73a14202" /><Relationship Type="http://schemas.openxmlformats.org/officeDocument/2006/relationships/slide" Target="/ppt/slides/slide17.xml" Id="Rbfdf86f9845b4425" /><Relationship Type="http://schemas.openxmlformats.org/officeDocument/2006/relationships/slide" Target="/ppt/slides/slide18.xml" Id="R55d155e125d84cdf" /><Relationship Type="http://schemas.openxmlformats.org/officeDocument/2006/relationships/slide" Target="/ppt/slides/slide19.xml" Id="R54cb9626d6a649c2" /><Relationship Type="http://schemas.openxmlformats.org/officeDocument/2006/relationships/slide" Target="/ppt/slides/slide20.xml" Id="Rd8f94b2de19c47a9" /><Relationship Type="http://schemas.openxmlformats.org/officeDocument/2006/relationships/slide" Target="/ppt/slides/slide21.xml" Id="R3236b302464f4f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dece8505474e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c2fde5a4e46ab" /><Relationship Type="http://schemas.openxmlformats.org/officeDocument/2006/relationships/notesMaster" Target="/ppt/notesMasters/notesMaster1.xml" Id="R634ce0a293774c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68b98779784b80" /><Relationship Type="http://schemas.openxmlformats.org/officeDocument/2006/relationships/notesMaster" Target="/ppt/notesMasters/notesMaster1.xml" Id="R404dd5fca2e143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64bdc2a84848c4" /><Relationship Type="http://schemas.openxmlformats.org/officeDocument/2006/relationships/notesMaster" Target="/ppt/notesMasters/notesMaster1.xml" Id="R239dae3ed42844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526e867677466d" /><Relationship Type="http://schemas.openxmlformats.org/officeDocument/2006/relationships/notesMaster" Target="/ppt/notesMasters/notesMaster1.xml" Id="R05b9c41d31fe4a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862d82f44f4ec8" /><Relationship Type="http://schemas.openxmlformats.org/officeDocument/2006/relationships/notesMaster" Target="/ppt/notesMasters/notesMaster1.xml" Id="R0ddee02577ce4d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763800c18446bb" /><Relationship Type="http://schemas.openxmlformats.org/officeDocument/2006/relationships/notesMaster" Target="/ppt/notesMasters/notesMaster1.xml" Id="R5637e74a730243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435a0152fe425a" /><Relationship Type="http://schemas.openxmlformats.org/officeDocument/2006/relationships/notesMaster" Target="/ppt/notesMasters/notesMaster1.xml" Id="Rc22317aef37649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c661775f754ad2" /><Relationship Type="http://schemas.openxmlformats.org/officeDocument/2006/relationships/notesMaster" Target="/ppt/notesMasters/notesMaster1.xml" Id="R3f69e7be5ad543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cbef9c14d949c2" /><Relationship Type="http://schemas.openxmlformats.org/officeDocument/2006/relationships/notesMaster" Target="/ppt/notesMasters/notesMaster1.xml" Id="R9e05cf2d0b7545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1e840b3905409d" /><Relationship Type="http://schemas.openxmlformats.org/officeDocument/2006/relationships/notesMaster" Target="/ppt/notesMasters/notesMaster1.xml" Id="R2b20a65540fb41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ff049bc94d4b5a" /><Relationship Type="http://schemas.openxmlformats.org/officeDocument/2006/relationships/notesMaster" Target="/ppt/notesMasters/notesMaster1.xml" Id="R20ee4047a69c4a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22b4a367b14d55" /><Relationship Type="http://schemas.openxmlformats.org/officeDocument/2006/relationships/notesMaster" Target="/ppt/notesMasters/notesMaster1.xml" Id="Rf1fb5575343b4c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a57e6fc7ae4ed6" /><Relationship Type="http://schemas.openxmlformats.org/officeDocument/2006/relationships/notesMaster" Target="/ppt/notesMasters/notesMaster1.xml" Id="R4aa3a965bf4a42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3794fa8d25409a" /><Relationship Type="http://schemas.openxmlformats.org/officeDocument/2006/relationships/notesMaster" Target="/ppt/notesMasters/notesMaster1.xml" Id="R91588b04091c49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5cbbc42f5d48d8" /><Relationship Type="http://schemas.openxmlformats.org/officeDocument/2006/relationships/notesMaster" Target="/ppt/notesMasters/notesMaster1.xml" Id="R022de75ec59e4e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ca3103db894610" /><Relationship Type="http://schemas.openxmlformats.org/officeDocument/2006/relationships/notesMaster" Target="/ppt/notesMasters/notesMaster1.xml" Id="R576897e052064f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66b5fb843243cf" /><Relationship Type="http://schemas.openxmlformats.org/officeDocument/2006/relationships/notesMaster" Target="/ppt/notesMasters/notesMaster1.xml" Id="R2079c8fc38004f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f1d0922dac4388" /><Relationship Type="http://schemas.openxmlformats.org/officeDocument/2006/relationships/notesMaster" Target="/ppt/notesMasters/notesMaster1.xml" Id="R69d0b40986504a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e361debdb84061" /><Relationship Type="http://schemas.openxmlformats.org/officeDocument/2006/relationships/notesMaster" Target="/ppt/notesMasters/notesMaster1.xml" Id="R27b2b79bb885456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57e7c0d025423f" /><Relationship Type="http://schemas.openxmlformats.org/officeDocument/2006/relationships/notesMaster" Target="/ppt/notesMasters/notesMaster1.xml" Id="R807f30186f6c4b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d89d794752c46fe" /><Relationship Type="http://schemas.openxmlformats.org/officeDocument/2006/relationships/notesMaster" Target="/ppt/notesMasters/notesMaster1.xml" Id="Rb135c3a98b4742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Sesión 3 del tema 2. Servicios, persistencia, configuración, secretos y disponibilidad. Ejemplo: aplicación web y PostgreSQL.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El repositorio describe cómo ejecutar el conjunto y cómo preparar sus archivos locales.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docker compose up -d crea o actualiza los recursos descritos.</a:t>
            </a:r>
          </a:p>
          <a:p xmlns:a="http://schemas.openxmlformats.org/drawingml/2006/main">
            <a:r>
              <a:t>No se necesita la clave superior version. Utilizamos docker compose, no docker-compose. Sustituir &lt;usuario&gt; por el propietario de las imágenes. No se compila la aplicación en esta sesión.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Compose». Infografía elaborada para esta sesión.</a:t>
            </a:r>
          </a:p>
          <a:p xmlns:a="http://schemas.openxmlformats.org/drawingml/2006/main">
            <a:r>
              <a:t>Solo app publica 8080. app conecta a bd:5432 por nombre de servicio. datos-bd conserva la base de datos. Red interna significa comunicación en la red del proyecto, no la opción internal: true.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EXPOSE documenta un puerto. ports lo publica hacia el anfitrión.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Compose». Infografía elaborada para esta sesión.</a:t>
            </a:r>
          </a:p>
          <a:p xmlns:a="http://schemas.openxmlformats.org/drawingml/2006/main">
            <a:r>
              <a:t>Caso de recursos administrados por Compose: stop conserva contenedores detenidos; down elimina contenedores y red, conservando el volumen; down -v elimina además el volumen. El producto añadido se pierde, aunque puedan reaparecer los datos iniciales.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El servicio monta el volumen. La sección superior volumes lo declara.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Compose». Infografía elaborada para esta sesión.</a:t>
            </a:r>
          </a:p>
          <a:p xmlns:a="http://schemas.openxmlformats.org/drawingml/2006/main">
            <a:r>
              <a:t>El volumen tiene almacenamiento administrado por Docker. El bind mount utiliza una ruta del anfitrión. El ejemplo supone una imagen personalizada con scripts de inicialización. Montar solo 00-delay.sql conserva visibles esos scripts; montar todo el directorio puede ocultarlos.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Compose». Infografía elaborada para esta sesión.</a:t>
            </a:r>
          </a:p>
          <a:p xmlns:a="http://schemas.openxmlformats.org/drawingml/2006/main">
            <a:r>
              <a:t>El .env interpola configuración no sensible, que environment entrega al contenedor. El archivo de secreto se autoriza por servicio y se monta. PostgreSQL y Spring Boot utilizan mecanismos distintos para leerlo.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Los ejemplos contienen valores ficticios. Los archivos locales quedan fuera de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La imagen de PostgreSQL implementa POSTGRES_PASSWORD_FILE.</a:t>
            </a:r>
          </a:p>
          <a:p xmlns:a="http://schemas.openxmlformats.org/drawingml/2006/main">
            <a:r>
              <a:t>Fragmento que se combina con la imagen y la configuración no sensible. No declarar POSTGRES_PASSWORD al mismo tiempo. La contraseña inicial se utiliza al preparar una base de datos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Spring Boot importa el archivo como la propiedad spring.datasource.password.</a:t>
            </a:r>
          </a:p>
          <a:p xmlns:a="http://schemas.openxmlformats.org/drawingml/2006/main">
            <a:r>
              <a:t>No añadir DB_PASSWORD_FILE: no es una capacidad automática de Docker. Tampoco suministrar DB_PASSWORD ni SPRING_DATASOURCE_PASSWORD en environment. Mantener la barra final de configtree. Comprobar lectura con el usuario normal de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Cambiar el archivo no modifica la contraseña ya guardada en PostgreSQL.</a:t>
            </a:r>
          </a:p>
          <a:p xmlns:a="http://schemas.openxmlformats.org/drawingml/2006/main">
            <a:r>
              <a:t>No protege frente a un administrador con acceso al motor Docker. El consumidor puede copiar el valor a su entorno interno, como el entrypoint de PostgreSQL. En Compose local los secretos basados en archivos son bind mounts: uid/gid/mode no resuelven necesariamente permisos del archivo de origen. Reinicializar un volumen solo tiene sentido en un laboratorio desechable; no es un método de rotación con conservación de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Compose». Infografía elaborada para esta sesión.</a:t>
            </a:r>
          </a:p>
          <a:p xmlns:a="http://schemas.openxmlformats.org/drawingml/2006/main">
            <a:r>
              <a:t>La dependencia básica ordena el arranque. condition: service_healthy espera el healthcheck de bd. No recupera app automáticamente cuando bd falla después.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pg_isready comprueba si PostgreSQL acepta conexiones.</a:t>
            </a:r>
          </a:p>
          <a:p xmlns:a="http://schemas.openxmlformats.org/drawingml/2006/main">
            <a:r>
              <a:t>Este bloque va dentro de bd. La inicialización temporal de la imagen usa socket local; la comprobación TCP espera al servidor normal. pg_isready no demuestra las credenciales de app ni el esquema. app configura depends_on: bd: condition: service_healthy. start_period es un periodo de gracia para fallos, no una espera fija obligatoria.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Compose». Infografía elaborada para esta sesión.</a:t>
            </a:r>
          </a:p>
          <a:p xmlns:a="http://schemas.openxmlformats.org/drawingml/2006/main">
            <a:r>
              <a:t>Liveness responde a si la aplicación sigue viva; readiness incluye acceso a PostgreSQL. Las rutas /health/live y /health/ready son ilustrativas y requieren implementación o configuración en la aplicación. Consultarlas no activa automáticamente reinicios ni decisiones de tráfico.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Interpretar el YAML no demuestra que la aplicación pueda conectar.</a:t>
            </a:r>
          </a:p>
          <a:p xmlns:a="http://schemas.openxmlformats.org/drawingml/2006/main">
            <a:r>
              <a:t>Comprobación sin imprimir el secreto: docker compose exec -T app sh -c 'test -r /run/secrets/spring.datasource.password &amp;&amp; test -s /run/secrets/spring.datasource.password'. La contraseña ficticia distinta de la predeterminada ayuda a comprobar la aplicación efectiva de la configuración.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El estado y los logs orientan la investigación antes de editar el YAML.</a:t>
            </a:r>
          </a:p>
          <a:p xmlns:a="http://schemas.openxmlformats.org/drawingml/2006/main">
            <a:r>
              <a:t>Si se han interpolado credenciales en otro despliegue, config puede mostrarlas. Revisar capturas. down -v elimina también los volúmenes del proyecto; utilizarlo solo para reinicializar conscientemente el laboratorio.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Validar el YAML y probar la ejecución comprueban problemas diferentes.</a:t>
            </a:r>
          </a:p>
          <a:p xmlns:a="http://schemas.openxmlformats.org/drawingml/2006/main">
            <a:r>
              <a:t>Compose config --quiet valida la interpretación. No demuestra que la contraseña sea correcta ni que la aplicación pueda usar la base de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Aplicaremos el despliegue de dos servicios al proyecto Escaparate.</a:t>
            </a:r>
          </a:p>
          <a:p xmlns:a="http://schemas.openxmlformats.org/drawingml/2006/main">
            <a:r>
              <a:t>Compose Secrets es obligatorio en la actividad 2.3. Los endpoints, imágenes, rutas y evidencias concretos se consultan en su enunciado.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apuntes de la sesión «Docker Compose», revisión visual.</a:t>
            </a:r>
          </a:p>
          <a:p xmlns:a="http://schemas.openxmlformats.org/drawingml/2006/main">
            <a:r>
              <a:t>Siguiente tema: Nginx como punto de entrada delante de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55c66829945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9133cbed940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0b81392c242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1b29088704f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98374748040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a3c2efac542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4d92067ed4ef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913d489d548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40a3ca17741a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4b928ac824f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fd05fe3c64e9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673B2A-6A43-492D-B193-7C7FE5971B3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485E2ED-8193-4E77-912B-2D1EB19BD1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89ECB1-D8B1-4EA8-9213-3CDB1A250C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960888-8CD1-442B-8366-4E91CDFE9A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2F000F-69E3-4EF4-B3F3-4ACA6DF73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9561C6-1174-40C1-8376-7DE5512ED2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88ADAB-8D1E-4B8D-8E70-C36D2B1372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6B6486-6CA4-4ACF-962D-995D4D80EF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D34AED-BE29-4E19-90B7-FF4EE96C1B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C76B84-97FA-449F-BD81-A50BA28266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D61EC7-4F2E-40B2-B1AF-1065D56C1E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1593EF-6772-48EF-B2FB-53CB21BE3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89DC7D-FBA7-41B7-B6C5-68CFB71A5B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93CBA6-495B-44C6-8E13-4A4ACA30B8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968EE8-4FED-4E20-83CE-5A6D060E8D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E1EFC9-2B6F-4FB2-BA42-767FC64AE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BBCAB5-C17B-4D4A-A2F7-0078B95474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CD7AEDF-A0A2-4902-BFE5-856CB1812FC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D9F2966-7756-4628-80A3-03BDEE9F95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C49D47-0A34-4502-809C-56933A7C0A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1C933E-119E-41FC-B8A6-FD9196F67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E9908-E65F-4055-95C2-7D36CEC8D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BD241C-B85C-4AC0-ABC9-8CB774FBF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0263244-471F-4188-880B-996571D61A4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97729CD-4707-412F-A390-8F5900FA114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BBB416A-B71A-49D5-A0C5-85F720881F3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D719882-5B31-4819-88F6-1723A868E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2F38812-FE4E-4698-A340-68C13976A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4C0910B-DA42-4CCF-80BF-CE8B20736D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B58413-97DD-4817-AA97-04209C855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EA6B86A-0815-4228-B7E6-F27D04B416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C17EEBC-E95F-44EC-B355-C7F3EE4167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EBBB7BA-6B95-437A-B806-9714B071C7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90ECD64-F73C-44DD-8A70-BF725EB34F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A571649-02A0-4D8B-860F-A98B025CD0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759F39-4E5F-485E-A1CF-C9520FBC9E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D8E2CE-B42E-47A7-BEE6-416565B82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5AD424-33F1-4DB5-8EED-54FD14DE23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AE1742-D7F6-4C75-8F9B-1D93DCF276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3D0B9D1-8013-474C-963F-8659BD58CC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A06496-66EF-46D4-A512-D7869712A2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BFE2FF-DBBF-4556-9C78-930C6D85A6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4205E5-3ABC-47F5-A36B-9810349E5C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411A1FD-EC4E-451C-9FBE-DD0CAE7F6D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E592EE-79A7-4883-BFAE-47E508F358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CB5AE9E-CCE8-4C18-AEE2-80BC0653B2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9BF79DB-CB5E-4213-9253-743355711C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D3CA73-4022-4240-8282-6FB81395B6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39D52D-BEB2-4C04-B84F-23F54C6B3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B39E10-F0FC-4C4B-A8B1-00A0E5C8E5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BB477A-7AD7-4491-B097-A27D0715D8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B52F1F-7253-440E-AEF2-7ED369A737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DB5DD5-6503-4082-A6AF-2CEFB7D34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3391A77-FFB2-42D4-9757-A250E17AE3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59B665-A2D0-4AA7-A687-F3BE96055E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3678FD-4EEB-4ACA-A2FD-4B03CF9D7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7385C1-5210-4FBB-B288-53341996B2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F900D2-E8C4-418B-A4FB-D7B20AE500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1d3629e9064242" /><Relationship Type="http://schemas.openxmlformats.org/officeDocument/2006/relationships/slideLayout" Target="/ppt/slideLayouts/slideLayout1.xml" Id="Re820937d2cc74633" /><Relationship Type="http://schemas.openxmlformats.org/officeDocument/2006/relationships/slideLayout" Target="/ppt/slideLayouts/slideLayout2.xml" Id="R63e9273e19924bbf" /><Relationship Type="http://schemas.openxmlformats.org/officeDocument/2006/relationships/slideLayout" Target="/ppt/slideLayouts/slideLayout3.xml" Id="Rce98588ebb4e458f" /><Relationship Type="http://schemas.openxmlformats.org/officeDocument/2006/relationships/slideLayout" Target="/ppt/slideLayouts/slideLayout4.xml" Id="Rb82fd1caff814410" /><Relationship Type="http://schemas.openxmlformats.org/officeDocument/2006/relationships/slideLayout" Target="/ppt/slideLayouts/slideLayout5.xml" Id="R35e5085aac764be2" /><Relationship Type="http://schemas.openxmlformats.org/officeDocument/2006/relationships/slideLayout" Target="/ppt/slideLayouts/slideLayout6.xml" Id="R9668b08a289b4382" /><Relationship Type="http://schemas.openxmlformats.org/officeDocument/2006/relationships/slideLayout" Target="/ppt/slideLayouts/slideLayout7.xml" Id="Race9a7ae50d54ed4" /><Relationship Type="http://schemas.openxmlformats.org/officeDocument/2006/relationships/slideLayout" Target="/ppt/slideLayouts/slideLayout8.xml" Id="Rcec21af1c2384ed6" /><Relationship Type="http://schemas.openxmlformats.org/officeDocument/2006/relationships/slideLayout" Target="/ppt/slideLayouts/slideLayout9.xml" Id="R33effc4d1fd2466a" /><Relationship Type="http://schemas.openxmlformats.org/officeDocument/2006/relationships/slideLayout" Target="/ppt/slideLayouts/slideLayout10.xml" Id="R98b126dd872142b7" /><Relationship Type="http://schemas.openxmlformats.org/officeDocument/2006/relationships/slideLayout" Target="/ppt/slideLayouts/slideLayout11.xml" Id="Re4de3566ae744f4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58F4276-63AE-43B5-ACA3-D4F40E5588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C76ED4-A401-4A3D-BDA2-9860EF7E4C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6DD8C7-F38F-425F-AD9E-B0FC5F0D0BD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A310DC-0C81-4815-ABDF-3799DAC5B0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19A918-4020-4F6A-8A25-2A1FFA2834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20937d2cc74633"/>
    <p:sldLayoutId xmlns:r="http://schemas.openxmlformats.org/officeDocument/2006/relationships" id="2147483650" r:id="R63e9273e19924bbf"/>
    <p:sldLayoutId xmlns:r="http://schemas.openxmlformats.org/officeDocument/2006/relationships" id="2147483651" r:id="Rce98588ebb4e458f"/>
    <p:sldLayoutId xmlns:r="http://schemas.openxmlformats.org/officeDocument/2006/relationships" id="2147483652" r:id="Rb82fd1caff814410"/>
    <p:sldLayoutId xmlns:r="http://schemas.openxmlformats.org/officeDocument/2006/relationships" id="2147483653" r:id="R35e5085aac764be2"/>
    <p:sldLayoutId xmlns:r="http://schemas.openxmlformats.org/officeDocument/2006/relationships" id="2147483654" r:id="R9668b08a289b4382"/>
    <p:sldLayoutId xmlns:r="http://schemas.openxmlformats.org/officeDocument/2006/relationships" id="2147483655" r:id="Race9a7ae50d54ed4"/>
    <p:sldLayoutId xmlns:r="http://schemas.openxmlformats.org/officeDocument/2006/relationships" id="2147483656" r:id="Rcec21af1c2384ed6"/>
    <p:sldLayoutId xmlns:r="http://schemas.openxmlformats.org/officeDocument/2006/relationships" id="2147483657" r:id="R33effc4d1fd2466a"/>
    <p:sldLayoutId xmlns:r="http://schemas.openxmlformats.org/officeDocument/2006/relationships" id="2147483658" r:id="R98b126dd872142b7"/>
    <p:sldLayoutId xmlns:r="http://schemas.openxmlformats.org/officeDocument/2006/relationships" id="2147483659" r:id="Re4de3566ae744f4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c4086360be4b45" /><Relationship Type="http://schemas.openxmlformats.org/officeDocument/2006/relationships/image" Target="/ppt/media/image.png" Id="R06a808e7e46c45a5" /><Relationship Type="http://schemas.openxmlformats.org/officeDocument/2006/relationships/notesSlide" Target="/ppt/notesSlides/notesSlide1.xml" Id="R4d3523e5439141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ebd8a072804be5" /><Relationship Type="http://schemas.openxmlformats.org/officeDocument/2006/relationships/notesSlide" Target="/ppt/notesSlides/notesSlide2.xml" Id="R1a95c29d430a46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59806c456d41dc" /><Relationship Type="http://schemas.openxmlformats.org/officeDocument/2006/relationships/notesSlide" Target="/ppt/notesSlides/notesSlide3.xml" Id="R9c720d83f8574c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85a0be679f4ca6" /><Relationship Type="http://schemas.openxmlformats.org/officeDocument/2006/relationships/image" Target="/ppt/media/image2.png" Id="R5875c7102f5c4d41" /><Relationship Type="http://schemas.openxmlformats.org/officeDocument/2006/relationships/notesSlide" Target="/ppt/notesSlides/notesSlide4.xml" Id="Ra211ebb7894c4a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c98877db24472d" /><Relationship Type="http://schemas.openxmlformats.org/officeDocument/2006/relationships/notesSlide" Target="/ppt/notesSlides/notesSlide5.xml" Id="R8d0aa83334bf4f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71ee3fd49b458b" /><Relationship Type="http://schemas.openxmlformats.org/officeDocument/2006/relationships/image" Target="/ppt/media/image3.png" Id="R8647fbc5464b4845" /><Relationship Type="http://schemas.openxmlformats.org/officeDocument/2006/relationships/notesSlide" Target="/ppt/notesSlides/notesSlide6.xml" Id="Rfd33448a0ebb46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7f22bfda4e4eb6" /><Relationship Type="http://schemas.openxmlformats.org/officeDocument/2006/relationships/notesSlide" Target="/ppt/notesSlides/notesSlide7.xml" Id="Rb2dcd8f3292345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2d4ee135564c80" /><Relationship Type="http://schemas.openxmlformats.org/officeDocument/2006/relationships/image" Target="/ppt/media/image4.png" Id="R701a59f7c2904f03" /><Relationship Type="http://schemas.openxmlformats.org/officeDocument/2006/relationships/notesSlide" Target="/ppt/notesSlides/notesSlide8.xml" Id="Rd966637f803545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46315ff6974610" /><Relationship Type="http://schemas.openxmlformats.org/officeDocument/2006/relationships/image" Target="/ppt/media/image5.png" Id="R623d094a61764144" /><Relationship Type="http://schemas.openxmlformats.org/officeDocument/2006/relationships/notesSlide" Target="/ppt/notesSlides/notesSlide9.xml" Id="R53eb548c48eb49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15756301d94f2d" /><Relationship Type="http://schemas.openxmlformats.org/officeDocument/2006/relationships/notesSlide" Target="/ppt/notesSlides/notesSlide10.xml" Id="Rd8b5ffaad42241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fff69e7f384668" /><Relationship Type="http://schemas.openxmlformats.org/officeDocument/2006/relationships/notesSlide" Target="/ppt/notesSlides/notesSlide11.xml" Id="R5b804e159d9b42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4913f7b2c041cc" /><Relationship Type="http://schemas.openxmlformats.org/officeDocument/2006/relationships/notesSlide" Target="/ppt/notesSlides/notesSlide12.xml" Id="R86d66a01786c44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e88f0a7fae43d6" /><Relationship Type="http://schemas.openxmlformats.org/officeDocument/2006/relationships/notesSlide" Target="/ppt/notesSlides/notesSlide13.xml" Id="Rc82ba28cb1bc47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210f0a8b3d4605" /><Relationship Type="http://schemas.openxmlformats.org/officeDocument/2006/relationships/image" Target="/ppt/media/image6.png" Id="Re6ceeb8451824986" /><Relationship Type="http://schemas.openxmlformats.org/officeDocument/2006/relationships/notesSlide" Target="/ppt/notesSlides/notesSlide14.xml" Id="Rb6fd96abf06643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12c48c221a4ab3" /><Relationship Type="http://schemas.openxmlformats.org/officeDocument/2006/relationships/notesSlide" Target="/ppt/notesSlides/notesSlide15.xml" Id="Rc9ee3acc9d6e4e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6a4bab689c45b2" /><Relationship Type="http://schemas.openxmlformats.org/officeDocument/2006/relationships/image" Target="/ppt/media/image7.png" Id="R0cc03db476414b5c" /><Relationship Type="http://schemas.openxmlformats.org/officeDocument/2006/relationships/notesSlide" Target="/ppt/notesSlides/notesSlide16.xml" Id="R37e8e1c276174a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ba6c71d39d4c08" /><Relationship Type="http://schemas.openxmlformats.org/officeDocument/2006/relationships/notesSlide" Target="/ppt/notesSlides/notesSlide17.xml" Id="Rce5a4de5126c41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2cdd89dc974ca9" /><Relationship Type="http://schemas.openxmlformats.org/officeDocument/2006/relationships/notesSlide" Target="/ppt/notesSlides/notesSlide18.xml" Id="Rd2091ac137ad48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dbe4d7ff1e4543" /><Relationship Type="http://schemas.openxmlformats.org/officeDocument/2006/relationships/notesSlide" Target="/ppt/notesSlides/notesSlide19.xml" Id="R5430b93baedb41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57c57e70db4517" /><Relationship Type="http://schemas.openxmlformats.org/officeDocument/2006/relationships/notesSlide" Target="/ppt/notesSlides/notesSlide20.xml" Id="Rcbefdeb2dc7b48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d746492fae454b" /><Relationship Type="http://schemas.openxmlformats.org/officeDocument/2006/relationships/notesSlide" Target="/ppt/notesSlides/notesSlide21.xml" Id="R0b6380d2c22747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B756EE9-682E-4607-870F-E38C5652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09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640"/>
          </a:solidFill>
          <a:ln xmlns:a="http://schemas.openxmlformats.org/drawingml/2006/main">
            <a:solidFill>
              <a:srgbClr val="05564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C5C83A0D-CDE3-498D-883E-8406809F35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808e7e46c45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812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8D2392-0237-48D4-B45E-A06F1168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852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38100" rIns="38100" bIns="381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Compose</a:t>
            </a:r>
            <a:endParaRPr sz="4000" b="1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 0">
            <a:extLst xmlns:a="http://schemas.openxmlformats.org/drawingml/2006/main">
              <a:ext uri="{FF2B5EF4-FFF2-40B4-BE49-F238E27FC236}">
                <a16:creationId xmlns:a16="http://schemas.microsoft.com/office/drawing/2014/main" id="{29CB873E-685B-674F-42EF-2BCBE16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10912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strike="noStrike">
                <a:solidFill>
                  <a:srgbClr val="B2DFDB"/>
                </a:solidFill>
                <a:latin typeface="Arial"/>
                <a:ea typeface="Arial"/>
                <a:cs typeface="Arial"/>
              </a:rPr>
              <a:t>DESPLIEGUE DE APLICACIONES WEB  —  CURSO 2026/2027</a:t>
            </a:r>
            <a:endParaRPr sz="1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2">
            <a:extLst xmlns:a="http://schemas.openxmlformats.org/drawingml/2006/main">
              <a:ext uri="{FF2B5EF4-FFF2-40B4-BE49-F238E27FC236}">
                <a16:creationId xmlns:a16="http://schemas.microsoft.com/office/drawing/2014/main" id="{8D19E44C-8D7D-DC4C-F500-8F8435DC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0640"/>
            <a:ext cx="79549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CC1"/>
          </a:solidFill>
          <a:ln xmlns:a="http://schemas.openxmlformats.org/drawingml/2006/main" w="1270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6E3D37BB-2692-A6BF-8485-3C8D15DF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6857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i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Tema 2 — Virtualización y contenedores</a:t>
            </a:r>
          </a:p>
        </p:txBody>
      </p:sp>
    </p:spTree>
    <p:extLst>
      <p:ext uri="{BB962C8B-B14F-4D97-AF65-F5344CB8AC3E}">
        <p14:creationId xmlns:p14="http://schemas.microsoft.com/office/powerpoint/2010/main" val="3207423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El repositorio describe cómo ejecutar el conjunto y cómo preparar sus archivos locales.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 de la sesión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472745-FA54-4875-A7A6-F6908B1A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48958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09AE27-9246-4DA9-928D-ABC78FFC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0" name="Punto de partida">
            <a:extLst xmlns:a="http://schemas.openxmlformats.org/drawingml/2006/main">
              <a:ext uri="{FF2B5EF4-FFF2-40B4-BE49-F238E27FC236}">
                <a16:creationId xmlns:a16="http://schemas.microsoft.com/office/drawing/2014/main" id="{EE695125-5961-489D-9C26-A538D719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144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Punto de partida</a:t>
            </a:r>
          </a:p>
        </p:txBody>
      </p:sp>
      <p:sp>
        <p:nvSpPr>
          <p:cNvPr id="51" name="Las imágenes de app y bd ya están public">
            <a:extLst xmlns:a="http://schemas.openxmlformats.org/drawingml/2006/main">
              <a:ext uri="{FF2B5EF4-FFF2-40B4-BE49-F238E27FC236}">
                <a16:creationId xmlns:a16="http://schemas.microsoft.com/office/drawing/2014/main" id="{1990712F-D630-4F7A-8E8F-6F161456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44767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Las imágenes de app y bd ya están publicadas.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despliegue requiere recordar varias órdenes y sus parámetros.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49B889-B198-4FC3-B861-06F411E2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8958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388FAD-E142-44BD-A6A0-9707ADEB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4" name="Resultado">
            <a:extLst xmlns:a="http://schemas.openxmlformats.org/drawingml/2006/main">
              <a:ext uri="{FF2B5EF4-FFF2-40B4-BE49-F238E27FC236}">
                <a16:creationId xmlns:a16="http://schemas.microsoft.com/office/drawing/2014/main" id="{C5F6297F-ED08-4FF3-905A-D6B98B41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144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55" name="Un compose.yaml con servicios, red y per">
            <a:extLst xmlns:a="http://schemas.openxmlformats.org/drawingml/2006/main">
              <a:ext uri="{FF2B5EF4-FFF2-40B4-BE49-F238E27FC236}">
                <a16:creationId xmlns:a16="http://schemas.microsoft.com/office/drawing/2014/main" id="{F884B0C6-D54E-45EB-ACF0-2F58A08D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19300"/>
            <a:ext cx="44767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Un compose.yaml con servicios, red y persistencia.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Configuración y secretos separados.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Arranque condicionado por la disponibilidad de PostgreSQL.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docker compose up -d crea o actualiza los recursos descritos.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De órdenes a una descripción declarativa</a:t>
            </a:r>
          </a:p>
        </p:txBody>
      </p:sp>
      <p:sp>
        <p:nvSpPr>
          <p:cNvPr id="48" name="compose.yaml">
            <a:extLst xmlns:a="http://schemas.openxmlformats.org/drawingml/2006/main">
              <a:ext uri="{FF2B5EF4-FFF2-40B4-BE49-F238E27FC236}">
                <a16:creationId xmlns:a16="http://schemas.microsoft.com/office/drawing/2014/main" id="{81A6E1C3-1C09-43AA-B800-C8B55ACE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144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4D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4D40"/>
                </a:solidFill>
                <a:latin typeface="Arial"/>
                <a:ea typeface="Arial"/>
                <a:cs typeface="Arial"/>
              </a:rPr>
              <a:t>compose.yaml</a:t>
            </a:r>
          </a:p>
        </p:txBody>
      </p:sp>
      <p:sp>
        <p:nvSpPr>
          <p:cNvPr id="49" name="services:&#10;  bd:&#10;    image: postgres:18-a">
            <a:extLst xmlns:a="http://schemas.openxmlformats.org/drawingml/2006/main">
              <a:ext uri="{FF2B5EF4-FFF2-40B4-BE49-F238E27FC236}">
                <a16:creationId xmlns:a16="http://schemas.microsoft.com/office/drawing/2014/main" id="{DB191164-C179-4A89-8898-B1610B1F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10382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services: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bd: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image: postgres:18-alpine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app: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image: mi-app:1.0.0</a:t>
            </a:r>
          </a:p>
        </p:txBody>
      </p:sp>
      <p:sp>
        <p:nvSpPr>
          <p:cNvPr id="50" name="Fragmento inicial: faltan configuración,">
            <a:extLst xmlns:a="http://schemas.openxmlformats.org/drawingml/2006/main">
              <a:ext uri="{FF2B5EF4-FFF2-40B4-BE49-F238E27FC236}">
                <a16:creationId xmlns:a16="http://schemas.microsoft.com/office/drawing/2014/main" id="{68AF1805-3F21-49B1-9085-3DBC4DD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Fragmento inicial: faltan configuración, almacenamiento y dependencias.</a:t>
            </a:r>
          </a:p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mi-app:1.0.0 representa una imagen propia, disponible localmente o publicada.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 del proyecto Compose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8F3D8A-F440-4BA2-81E1-96A920248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5c7102f5c4d41"/>
          <a:stretch xmlns:a="http://schemas.openxmlformats.org/drawingml/2006/main"/>
        </p:blipFill>
        <p:spPr>
          <a:xfrm xmlns:a="http://schemas.openxmlformats.org/drawingml/2006/main">
            <a:off x="2540000" y="942975"/>
            <a:ext cx="7112000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EXPOSE documenta un puerto. ports lo publica hacia el anfitrión.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Comunicación entre servicios y puertos publicados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81BA13-D11C-48D8-8639-66963EF9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489585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C85DAD-7649-4F6E-9395-CF2BD4A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0" name="Dentro del proyecto">
            <a:extLst xmlns:a="http://schemas.openxmlformats.org/drawingml/2006/main">
              <a:ext uri="{FF2B5EF4-FFF2-40B4-BE49-F238E27FC236}">
                <a16:creationId xmlns:a16="http://schemas.microsoft.com/office/drawing/2014/main" id="{5EF8105E-F408-485D-AB78-6F104522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573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Dentro del proyecto</a:t>
            </a:r>
          </a:p>
        </p:txBody>
      </p:sp>
      <p:sp>
        <p:nvSpPr>
          <p:cNvPr id="51" name="app utiliza bd:5432.&#10;&#10;El nombre de servi">
            <a:extLst xmlns:a="http://schemas.openxmlformats.org/drawingml/2006/main">
              <a:ext uri="{FF2B5EF4-FFF2-40B4-BE49-F238E27FC236}">
                <a16:creationId xmlns:a16="http://schemas.microsoft.com/office/drawing/2014/main" id="{E4020127-DB19-4E0D-9D4E-2EEEA6F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62150"/>
            <a:ext cx="4476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app utiliza bd:5432.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nombre de servicio permanece como referencia aunque cambie la 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PostgreSQL no necesita publicar su puerto.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0A4A5F-112C-418A-AF6C-79B88D10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71600"/>
            <a:ext cx="489585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146FF2-9AB1-49E9-B7EB-6354F5CD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7160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4" name="Desde el anfitrión">
            <a:extLst xmlns:a="http://schemas.openxmlformats.org/drawingml/2006/main">
              <a:ext uri="{FF2B5EF4-FFF2-40B4-BE49-F238E27FC236}">
                <a16:creationId xmlns:a16="http://schemas.microsoft.com/office/drawing/2014/main" id="{5CD61714-AC69-442D-87D7-7E0B3DBA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573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Desde el anfitrión</a:t>
            </a:r>
          </a:p>
        </p:txBody>
      </p:sp>
      <p:sp>
        <p:nvSpPr>
          <p:cNvPr id="55" name="El navegador accede por localhost:8080.&#10;">
            <a:extLst xmlns:a="http://schemas.openxmlformats.org/drawingml/2006/main">
              <a:ext uri="{FF2B5EF4-FFF2-40B4-BE49-F238E27FC236}">
                <a16:creationId xmlns:a16="http://schemas.microsoft.com/office/drawing/2014/main" id="{1EA315FD-4D7E-417E-8958-BA8AB594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4476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navegador accede por localhost:8080.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8080:8080 relaciona puerto del anfitrión y puerto del contenedor.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Publicamos únicamente app.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Persistencia al detener o recrear contenedores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17980D-0A9F-4D01-A276-9F11092835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7fbc5464b4845"/>
          <a:stretch xmlns:a="http://schemas.openxmlformats.org/drawingml/2006/main"/>
        </p:blipFill>
        <p:spPr>
          <a:xfrm xmlns:a="http://schemas.openxmlformats.org/drawingml/2006/main">
            <a:off x="2095500" y="942975"/>
            <a:ext cx="8001000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El servicio monta el volumen. La sección superior volumes lo declara.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Declaración del volumen de PostgreSQL</a:t>
            </a:r>
          </a:p>
        </p:txBody>
      </p:sp>
      <p:sp>
        <p:nvSpPr>
          <p:cNvPr id="48" name="services:&#10;  bd:&#10;    volumes:&#10;      - dat">
            <a:extLst xmlns:a="http://schemas.openxmlformats.org/drawingml/2006/main">
              <a:ext uri="{FF2B5EF4-FFF2-40B4-BE49-F238E27FC236}">
                <a16:creationId xmlns:a16="http://schemas.microsoft.com/office/drawing/2014/main" id="{DB13CC2C-4093-4B59-8546-AF7B6AC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95400"/>
            <a:ext cx="10382250" cy="2733675"/>
          </a:xfrm>
          <a:prstGeom xmlns:a="http://schemas.openxmlformats.org/drawingml/2006/main" prst="roundRect">
            <a:avLst>
              <a:gd name="adj" fmla="val 278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services:</a:t>
            </a:r>
          </a:p>
          <a:p xmlns:a="http://schemas.openxmlformats.org/drawingml/2006/main"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bd:</a:t>
            </a:r>
          </a:p>
          <a:p xmlns:a="http://schemas.openxmlformats.org/drawingml/2006/main"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volumes:</a:t>
            </a:r>
          </a:p>
          <a:p xmlns:a="http://schemas.openxmlformats.org/drawingml/2006/main"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- datos-bd:/var/lib/postgresql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volumes:</a:t>
            </a:r>
          </a:p>
          <a:p xmlns:a="http://schemas.openxmlformats.org/drawingml/2006/main">
            <a:pPr algn="l">
              <a:def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datos-bd:</a:t>
            </a:r>
          </a:p>
        </p:txBody>
      </p:sp>
      <p:sp>
        <p:nvSpPr>
          <p:cNvPr id="49" name="PostgreSQL 18 utiliza /var/lib/postgresq">
            <a:extLst xmlns:a="http://schemas.openxmlformats.org/drawingml/2006/main">
              <a:ext uri="{FF2B5EF4-FFF2-40B4-BE49-F238E27FC236}">
                <a16:creationId xmlns:a16="http://schemas.microsoft.com/office/drawing/2014/main" id="{2832AE40-7848-4675-A7ED-8D48E9AA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004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PostgreSQL 18 utiliza /var/lib/postgresql.</a:t>
            </a:r>
          </a:p>
          <a:p xmlns:a="http://schemas.openxmlformats.org/drawingml/2006/main">
            <a:pPr algn="l">
              <a:defRPr sz="180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 copies automáticamente la ruta habitual de versiones anteriores.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Volúmenes y archivos del anfitrión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6653C3-9CAD-4D33-BA57-EA8EDBBA90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a59f7c2904f03"/>
          <a:stretch xmlns:a="http://schemas.openxmlformats.org/drawingml/2006/main"/>
        </p:blipFill>
        <p:spPr>
          <a:xfrm xmlns:a="http://schemas.openxmlformats.org/drawingml/2006/main">
            <a:off x="2095500" y="942975"/>
            <a:ext cx="8001000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Configuración externa y Compose Secrets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302823-DE0D-4364-AD89-2C0ED6FD6E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d094a61764144"/>
          <a:stretch xmlns:a="http://schemas.openxmlformats.org/drawingml/2006/main"/>
        </p:blipFill>
        <p:spPr>
          <a:xfrm xmlns:a="http://schemas.openxmlformats.org/drawingml/2006/main">
            <a:off x="2095500" y="942975"/>
            <a:ext cx="8001000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Los ejemplos contienen valores ficticios. Los archivos locales quedan fuera de Git.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Archivos versionados y archivos locales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912E7C-45D4-46E6-A66C-8ACF2D2E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48958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6E33B5-0BA9-4851-BCEF-DAC4BEEE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0" name="Se versionan">
            <a:extLst xmlns:a="http://schemas.openxmlformats.org/drawingml/2006/main">
              <a:ext uri="{FF2B5EF4-FFF2-40B4-BE49-F238E27FC236}">
                <a16:creationId xmlns:a16="http://schemas.microsoft.com/office/drawing/2014/main" id="{4724C502-8B83-4147-B9E4-58EC9A16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382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 versionan</a:t>
            </a:r>
          </a:p>
        </p:txBody>
      </p:sp>
      <p:sp>
        <p:nvSpPr>
          <p:cNvPr id="51" name="compose.yaml&#10;&#10;.env.example&#10;&#10;secrets/bd_c">
            <a:extLst xmlns:a="http://schemas.openxmlformats.org/drawingml/2006/main">
              <a:ext uri="{FF2B5EF4-FFF2-40B4-BE49-F238E27FC236}">
                <a16:creationId xmlns:a16="http://schemas.microsoft.com/office/drawing/2014/main" id="{E0003813-E32E-4D4C-84D7-DABB0308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4476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compose.yaml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.env.example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secrets/bd_clave.example.txt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README y reglas de .gitignore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98D3B6-FBEA-4FC2-9ACE-D1C73937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48958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8AC461-B77B-4AA3-A355-0C2CE6F9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4" name="Se preparan en cada equipo">
            <a:extLst xmlns:a="http://schemas.openxmlformats.org/drawingml/2006/main">
              <a:ext uri="{FF2B5EF4-FFF2-40B4-BE49-F238E27FC236}">
                <a16:creationId xmlns:a16="http://schemas.microsoft.com/office/drawing/2014/main" id="{DB65D012-7E09-49B8-9E3E-B0598195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382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 preparan en cada equipo</a:t>
            </a:r>
          </a:p>
        </p:txBody>
      </p:sp>
      <p:sp>
        <p:nvSpPr>
          <p:cNvPr id="55" name=".env: valores locales no sensibles.&#10;&#10;sec">
            <a:extLst xmlns:a="http://schemas.openxmlformats.org/drawingml/2006/main">
              <a:ext uri="{FF2B5EF4-FFF2-40B4-BE49-F238E27FC236}">
                <a16:creationId xmlns:a16="http://schemas.microsoft.com/office/drawing/2014/main" id="{9DD975D7-FE9D-4FEF-9748-DEEE4690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43100"/>
            <a:ext cx="4476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.env: valores locales no sensibles.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secrets/bd_clave.txt: solo la contraseña, sin nombre de variable.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.gitignore no retira archivos que ya estaban registrados.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La imagen de PostgreSQL implementa POSTGRES_PASSWORD_FILE.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Lectura del secreto en PostgreSQL</a:t>
            </a:r>
          </a:p>
        </p:txBody>
      </p:sp>
      <p:sp>
        <p:nvSpPr>
          <p:cNvPr id="48" name="services:&#10;  bd:&#10;    environment:&#10;      P">
            <a:extLst xmlns:a="http://schemas.openxmlformats.org/drawingml/2006/main">
              <a:ext uri="{FF2B5EF4-FFF2-40B4-BE49-F238E27FC236}">
                <a16:creationId xmlns:a16="http://schemas.microsoft.com/office/drawing/2014/main" id="{44EDB975-D834-4858-8160-C88B903C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9675"/>
            <a:ext cx="10382250" cy="3457575"/>
          </a:xfrm>
          <a:prstGeom xmlns:a="http://schemas.openxmlformats.org/drawingml/2006/main" prst="roundRect">
            <a:avLst>
              <a:gd name="adj" fmla="val 2204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services: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bd: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environment: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POSTGRES_PASSWORD_FILE: /run/secrets/bd_clave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secrets: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- bd_clave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secrets: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bd_clave: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file: ./secrets/bd_clave.txt</a:t>
            </a:r>
          </a:p>
        </p:txBody>
      </p:sp>
      <p:sp>
        <p:nvSpPr>
          <p:cNvPr id="49" name="El archivo local se monta solo en los se">
            <a:extLst xmlns:a="http://schemas.openxmlformats.org/drawingml/2006/main">
              <a:ext uri="{FF2B5EF4-FFF2-40B4-BE49-F238E27FC236}">
                <a16:creationId xmlns:a16="http://schemas.microsoft.com/office/drawing/2014/main" id="{52DD854A-57F6-4A77-8848-0DE3158D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El archivo local se monta solo en los servicios autorizados.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Spring Boot importa el archivo como la propiedad spring.datasource.password.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Ejemplo: secreto en Spring Boot</a:t>
            </a:r>
          </a:p>
        </p:txBody>
      </p:sp>
      <p:sp>
        <p:nvSpPr>
          <p:cNvPr id="48" name="services:&#10;  app:&#10;    environment:&#10;      ">
            <a:extLst xmlns:a="http://schemas.openxmlformats.org/drawingml/2006/main">
              <a:ext uri="{FF2B5EF4-FFF2-40B4-BE49-F238E27FC236}">
                <a16:creationId xmlns:a16="http://schemas.microsoft.com/office/drawing/2014/main" id="{BA55431A-567A-4FD1-8462-F8BF0CA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76350"/>
            <a:ext cx="10382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services: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app: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environment: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SPRING_CONFIG_IMPORT: "configtree:/run/secrets/"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secrets: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- source: bd_clave</a:t>
            </a:r>
          </a:p>
          <a:p xmlns:a="http://schemas.openxmlformats.org/drawingml/2006/main">
            <a:pPr algn="l">
              <a:def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    target: spring.datasource.password</a:t>
            </a:r>
          </a:p>
        </p:txBody>
      </p:sp>
      <p:sp>
        <p:nvSpPr>
          <p:cNvPr id="49" name="source identifica el secreto. target def">
            <a:extLst xmlns:a="http://schemas.openxmlformats.org/drawingml/2006/main">
              <a:ext uri="{FF2B5EF4-FFF2-40B4-BE49-F238E27FC236}">
                <a16:creationId xmlns:a16="http://schemas.microsoft.com/office/drawing/2014/main" id="{F744F59F-B32C-455C-9428-6430485D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0096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source identifica el secreto. target define el nombre del archivo.</a:t>
            </a:r>
          </a:p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ruta resultante es /run/secrets/spring.datasource.password.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Cambiar el archivo no modifica la contraseña ya guardada en PostgreSQL.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Alcance y límites de Compose Secrets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3E7DDB-A49B-4E8E-8F39-91999FB1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48958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7AE25E-5FD5-4CAA-B915-F15A094D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0" name="Qué aporta">
            <a:extLst xmlns:a="http://schemas.openxmlformats.org/drawingml/2006/main">
              <a:ext uri="{FF2B5EF4-FFF2-40B4-BE49-F238E27FC236}">
                <a16:creationId xmlns:a16="http://schemas.microsoft.com/office/drawing/2014/main" id="{D1A6F4D6-52F9-4C5C-BB2C-00858D7F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573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aporta</a:t>
            </a:r>
          </a:p>
        </p:txBody>
      </p:sp>
      <p:sp>
        <p:nvSpPr>
          <p:cNvPr id="51" name="Entrega la contraseña como archivo.&#10;&#10;Aut">
            <a:extLst xmlns:a="http://schemas.openxmlformats.org/drawingml/2006/main">
              <a:ext uri="{FF2B5EF4-FFF2-40B4-BE49-F238E27FC236}">
                <a16:creationId xmlns:a16="http://schemas.microsoft.com/office/drawing/2014/main" id="{F068FDEF-D4C9-438F-908A-51CBB018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62150"/>
            <a:ext cx="447675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Entrega la contraseña como archivo.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Autoriza el acceso por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Evita declarar el valor de la contraseña en environment.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7B41FA-044E-4E0B-9373-14C816E9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71600"/>
            <a:ext cx="48958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2CD831-63D3-4C0F-A355-C07DE411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7160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4" name="Qué debemos comprobar">
            <a:extLst xmlns:a="http://schemas.openxmlformats.org/drawingml/2006/main">
              <a:ext uri="{FF2B5EF4-FFF2-40B4-BE49-F238E27FC236}">
                <a16:creationId xmlns:a16="http://schemas.microsoft.com/office/drawing/2014/main" id="{C65C2AED-AF09-43BF-B8DB-A61C6D31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573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debemos comprobar</a:t>
            </a:r>
          </a:p>
        </p:txBody>
      </p:sp>
      <p:sp>
        <p:nvSpPr>
          <p:cNvPr id="55" name="Permisos de lectura del usuario de app.&#10;">
            <a:extLst xmlns:a="http://schemas.openxmlformats.org/drawingml/2006/main">
              <a:ext uri="{FF2B5EF4-FFF2-40B4-BE49-F238E27FC236}">
                <a16:creationId xmlns:a16="http://schemas.microsoft.com/office/drawing/2014/main" id="{9FBAED6B-0312-4F04-BF2C-A774A3C2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447675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Permisos de lectura del usuario de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Protección del archivo local: Compose no lo cifra.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Coordinación de cambios de contraseña con PostgreSQL.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Dependencias de arranque y disponibilidad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0186D1-656D-404D-9C23-31C7C02147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eeb8451824986"/>
          <a:stretch xmlns:a="http://schemas.openxmlformats.org/drawingml/2006/main"/>
        </p:blipFill>
        <p:spPr>
          <a:xfrm xmlns:a="http://schemas.openxmlformats.org/drawingml/2006/main">
            <a:off x="2095500" y="942975"/>
            <a:ext cx="8001000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pg_isready comprueba si PostgreSQL acepta conexiones.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Healthcheck de PostgreSQL</a:t>
            </a:r>
          </a:p>
        </p:txBody>
      </p:sp>
      <p:sp>
        <p:nvSpPr>
          <p:cNvPr id="48" name="healthcheck:&#10;  test:&#10;    - CMD-SHELL&#10;   ">
            <a:extLst xmlns:a="http://schemas.openxmlformats.org/drawingml/2006/main">
              <a:ext uri="{FF2B5EF4-FFF2-40B4-BE49-F238E27FC236}">
                <a16:creationId xmlns:a16="http://schemas.microsoft.com/office/drawing/2014/main" id="{83AFEC5F-A5B9-4C28-8702-F6965C12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28725"/>
            <a:ext cx="103822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healthcheck:</a:t>
            </a:r>
          </a:p>
          <a:p xmlns:a="http://schemas.openxmlformats.org/drawingml/2006/main"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test:</a:t>
            </a:r>
          </a:p>
          <a:p xmlns:a="http://schemas.openxmlformats.org/drawingml/2006/main"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- CMD-SHELL</a:t>
            </a:r>
          </a:p>
          <a:p xmlns:a="http://schemas.openxmlformats.org/drawingml/2006/main"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  - pg_isready -h 127.0.0.1 -U "$${POSTGRES_USER}" -d "$${POSTGRES_DB}"</a:t>
            </a:r>
          </a:p>
          <a:p xmlns:a="http://schemas.openxmlformats.org/drawingml/2006/main"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interval: 2s</a:t>
            </a:r>
          </a:p>
          <a:p xmlns:a="http://schemas.openxmlformats.org/drawingml/2006/main"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timeout: 2s</a:t>
            </a:r>
          </a:p>
          <a:p xmlns:a="http://schemas.openxmlformats.org/drawingml/2006/main"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retries: 30</a:t>
            </a:r>
          </a:p>
          <a:p xmlns:a="http://schemas.openxmlformats.org/drawingml/2006/main">
            <a:pPr algn="l">
              <a:def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  start_period: 10s</a:t>
            </a:r>
          </a:p>
        </p:txBody>
      </p:sp>
      <p:sp>
        <p:nvSpPr>
          <p:cNvPr id="49" name="127.0.0.1 exige conexión TCP.&#10;$$ conserv">
            <a:extLst xmlns:a="http://schemas.openxmlformats.org/drawingml/2006/main">
              <a:ext uri="{FF2B5EF4-FFF2-40B4-BE49-F238E27FC236}">
                <a16:creationId xmlns:a16="http://schemas.microsoft.com/office/drawing/2014/main" id="{41F8DAF1-B209-4E4C-B4E4-777D8B63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127.0.0.1 exige conexión TCP.</a:t>
            </a:r>
          </a:p>
          <a:p xmlns:a="http://schemas.openxmlformats.org/drawingml/2006/main">
            <a:pPr algn="l">
              <a:defRPr sz="1725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$$ conserva el signo $ para la evaluación dentro del contenedor.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Liveness y readiness de la aplicación</a:t>
            </a:r>
          </a:p>
        </p:txBody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181E69-061D-4DB2-86E2-A5653836A2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03db476414b5c"/>
          <a:stretch xmlns:a="http://schemas.openxmlformats.org/drawingml/2006/main"/>
        </p:blipFill>
        <p:spPr>
          <a:xfrm xmlns:a="http://schemas.openxmlformats.org/drawingml/2006/main">
            <a:off x="2095500" y="942975"/>
            <a:ext cx="8001000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Interpretar el YAML no demuestra que la aplicación pueda conectar.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 de la configuración y de la ejecución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F95582-3B5B-49B5-80E8-C6995E3D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48958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12D4A7-034D-40BF-8E89-16114F13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0" name="Antes de arrancar">
            <a:extLst xmlns:a="http://schemas.openxmlformats.org/drawingml/2006/main">
              <a:ext uri="{FF2B5EF4-FFF2-40B4-BE49-F238E27FC236}">
                <a16:creationId xmlns:a16="http://schemas.microsoft.com/office/drawing/2014/main" id="{CB6F5EE0-8591-4357-A555-4072E024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192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Antes de arrancar</a:t>
            </a:r>
          </a:p>
        </p:txBody>
      </p:sp>
      <p:sp>
        <p:nvSpPr>
          <p:cNvPr id="51" name="docker compose config --quiet&#10;&#10;Comprueba">
            <a:extLst xmlns:a="http://schemas.openxmlformats.org/drawingml/2006/main">
              <a:ext uri="{FF2B5EF4-FFF2-40B4-BE49-F238E27FC236}">
                <a16:creationId xmlns:a16="http://schemas.microsoft.com/office/drawing/2014/main" id="{D9BFB951-6A0F-441F-8356-D860B718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4767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docker compose config --quiet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Comprueba que Compose puede interpretar la configuración.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Los ejemplos permiten preparar un clon limpio.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73D5C0-FDFA-4D42-A144-2C2A77CD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33500"/>
            <a:ext cx="48958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042747-C275-4C54-AF47-AB46313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3350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4" name="Con el sistema arrancado">
            <a:extLst xmlns:a="http://schemas.openxmlformats.org/drawingml/2006/main">
              <a:ext uri="{FF2B5EF4-FFF2-40B4-BE49-F238E27FC236}">
                <a16:creationId xmlns:a16="http://schemas.microsoft.com/office/drawing/2014/main" id="{364DD15E-CC58-444C-97C1-C8DF2175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1922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 el sistema arrancado</a:t>
            </a:r>
          </a:p>
        </p:txBody>
      </p:sp>
      <p:sp>
        <p:nvSpPr>
          <p:cNvPr id="55" name="Comprobar lectura del secreto.&#10;&#10;Consulta">
            <a:extLst xmlns:a="http://schemas.openxmlformats.org/drawingml/2006/main">
              <a:ext uri="{FF2B5EF4-FFF2-40B4-BE49-F238E27FC236}">
                <a16:creationId xmlns:a16="http://schemas.microsoft.com/office/drawing/2014/main" id="{A5504964-7E55-4B57-80B3-D6C3B6E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44767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Comprobar lectura del secreto.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Consultar su endpoint de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Probar una función de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Recrear contenedores y comprobar los datos.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El estado y los logs orientan la investigación antes de editar el YAML.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Operación y diagnóstico del conjunto</a:t>
            </a:r>
          </a:p>
        </p:txBody>
      </p:sp>
      <p:sp>
        <p:nvSpPr>
          <p:cNvPr id="48" name="docker compose up -d          Crear o ac">
            <a:extLst xmlns:a="http://schemas.openxmlformats.org/drawingml/2006/main">
              <a:ext uri="{FF2B5EF4-FFF2-40B4-BE49-F238E27FC236}">
                <a16:creationId xmlns:a16="http://schemas.microsoft.com/office/drawing/2014/main" id="{AD033834-414D-4832-B09F-4861144E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103822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up -d          Crear o actualizar</a:t>
            </a:r>
          </a:p>
          <a:p xmlns:a="http://schemas.openxmlformats.org/drawingml/2006/main"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ps -a          Consultar el estado</a:t>
            </a:r>
          </a:p>
          <a:p xmlns:a="http://schemas.openxmlformats.org/drawingml/2006/main"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logs app       Investigar app</a:t>
            </a:r>
          </a:p>
          <a:p xmlns:a="http://schemas.openxmlformats.org/drawingml/2006/main"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logs bd        Investigar PostgreSQL</a:t>
            </a:r>
          </a:p>
          <a:p xmlns:a="http://schemas.openxmlformats.org/drawingml/2006/main"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config         Ver configuración</a:t>
            </a:r>
          </a:p>
          <a:p xmlns:a="http://schemas.openxmlformats.org/drawingml/2006/main"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exec app ...   Comprobar dentro</a:t>
            </a:r>
          </a:p>
          <a:p xmlns:a="http://schemas.openxmlformats.org/drawingml/2006/main"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stop           Detener</a:t>
            </a:r>
          </a:p>
          <a:p xmlns:a="http://schemas.openxmlformats.org/drawingml/2006/main"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start          Volver a arrancar</a:t>
            </a:r>
          </a:p>
          <a:p xmlns:a="http://schemas.openxmlformats.org/drawingml/2006/main">
            <a:pPr algn="l">
              <a:def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8365F"/>
                </a:solidFill>
                <a:latin typeface="Courier New"/>
                <a:ea typeface="Courier New"/>
                <a:cs typeface="Courier New"/>
              </a:rPr>
              <a:t>docker compose down           Eliminar contenedores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Validar el YAML y probar la ejecución comprueban problemas diferentes.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 automatizada del despliegue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31FED5-F7C4-4436-A71A-350D4F0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43025"/>
            <a:ext cx="48958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63356B-AFAA-4B6A-BC71-EBDD30D4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4302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0" name="Validación de configuración">
            <a:extLst xmlns:a="http://schemas.openxmlformats.org/drawingml/2006/main">
              <a:ext uri="{FF2B5EF4-FFF2-40B4-BE49-F238E27FC236}">
                <a16:creationId xmlns:a16="http://schemas.microsoft.com/office/drawing/2014/main" id="{93332032-DCD2-4196-B924-FAA7D400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 de configuración</a:t>
            </a:r>
          </a:p>
        </p:txBody>
      </p:sp>
      <p:sp>
        <p:nvSpPr>
          <p:cNvPr id="51" name="Preparar archivos desde ejemplos.&#10;&#10;Compr">
            <a:extLst xmlns:a="http://schemas.openxmlformats.org/drawingml/2006/main">
              <a:ext uri="{FF2B5EF4-FFF2-40B4-BE49-F238E27FC236}">
                <a16:creationId xmlns:a16="http://schemas.microsoft.com/office/drawing/2014/main" id="{2DD64893-7434-4651-92BB-95C6404C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4476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Preparar archivos desde ejemplos.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Comprobar que existen los archivos necesarios.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Interpretar el Compose en CI.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57C342-932A-441C-AEE6-BDAF91B5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43025"/>
            <a:ext cx="48958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FB97AB-3364-4921-B88F-DAA66CBC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4302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4" name="Prueba de ejecución">
            <a:extLst xmlns:a="http://schemas.openxmlformats.org/drawingml/2006/main">
              <a:ext uri="{FF2B5EF4-FFF2-40B4-BE49-F238E27FC236}">
                <a16:creationId xmlns:a16="http://schemas.microsoft.com/office/drawing/2014/main" id="{14CA459D-7536-475F-A18B-37A57FB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287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 de ejecución</a:t>
            </a:r>
          </a:p>
        </p:txBody>
      </p:sp>
      <p:sp>
        <p:nvSpPr>
          <p:cNvPr id="55" name="Arrancar los servicios.&#10;&#10;Verificar lectu">
            <a:extLst xmlns:a="http://schemas.openxmlformats.org/drawingml/2006/main">
              <a:ext uri="{FF2B5EF4-FFF2-40B4-BE49-F238E27FC236}">
                <a16:creationId xmlns:a16="http://schemas.microsoft.com/office/drawing/2014/main" id="{9A87FEE5-67AA-4DF9-8EB2-5B2390AD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33575"/>
            <a:ext cx="4476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Arrancar los servicios.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Verificar lectura del secreto y conexión.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Probar disponibilidad y persistencia.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Aplicaremos el despliegue de dos servicios al proyecto Escaparate.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Conexión con la actividad 2.3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DB91EE-8250-4980-82C6-C80E43A2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43025"/>
            <a:ext cx="48958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FD6668-58E9-4EF9-A336-255893E6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4302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0" name="Configuración del conjunto">
            <a:extLst xmlns:a="http://schemas.openxmlformats.org/drawingml/2006/main">
              <a:ext uri="{FF2B5EF4-FFF2-40B4-BE49-F238E27FC236}">
                <a16:creationId xmlns:a16="http://schemas.microsoft.com/office/drawing/2014/main" id="{F5DBAA81-096E-4A39-B46C-C662549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Configuración del conjunto</a:t>
            </a:r>
          </a:p>
        </p:txBody>
      </p:sp>
      <p:sp>
        <p:nvSpPr>
          <p:cNvPr id="51" name="Diagnosticar la comunicación.&#10;&#10;Comprobar">
            <a:extLst xmlns:a="http://schemas.openxmlformats.org/drawingml/2006/main">
              <a:ext uri="{FF2B5EF4-FFF2-40B4-BE49-F238E27FC236}">
                <a16:creationId xmlns:a16="http://schemas.microsoft.com/office/drawing/2014/main" id="{ADED7893-DEE5-4A76-8FA8-952C7731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4476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Diagnosticar la comunicación.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Comprobar persistencia y puertos.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Separar configuración y secretos.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5A1BC5-6549-47CD-B9EB-2E6B366D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43025"/>
            <a:ext cx="48958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A4418E-3592-482E-8CA4-4DFA42B7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43025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4" name="Disponibilidad y entrega">
            <a:extLst xmlns:a="http://schemas.openxmlformats.org/drawingml/2006/main">
              <a:ext uri="{FF2B5EF4-FFF2-40B4-BE49-F238E27FC236}">
                <a16:creationId xmlns:a16="http://schemas.microsoft.com/office/drawing/2014/main" id="{90DA1417-BB0F-4C26-8AE5-680A5545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287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Disponibilidad y entrega</a:t>
            </a:r>
          </a:p>
        </p:txBody>
      </p:sp>
      <p:sp>
        <p:nvSpPr>
          <p:cNvPr id="55" name="Observar el tiempo de inicialización.&#10;&#10;C">
            <a:extLst xmlns:a="http://schemas.openxmlformats.org/drawingml/2006/main">
              <a:ext uri="{FF2B5EF4-FFF2-40B4-BE49-F238E27FC236}">
                <a16:creationId xmlns:a16="http://schemas.microsoft.com/office/drawing/2014/main" id="{1D6F3DE8-7596-4391-A4E7-2E72C297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33575"/>
            <a:ext cx="447675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Observar el tiempo de inicialización.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Configurar healthcheck y dependencia.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Documentar y validar el despliegue.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 18">
            <a:extLst xmlns:a="http://schemas.openxmlformats.org/drawingml/2006/main"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2" y="5463540"/>
            <a:ext cx="10718044" cy="59400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6510">
            <a:solidFill>
              <a:srgbClr val="00ACC1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" y="5578670"/>
            <a:ext cx="10564088" cy="21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>
            <a:defPPr algn="ctr"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1400">
                <a:solidFill>
                  <a:srgbClr val="18365F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8365F"/>
                </a:solidFill>
                <a:latin typeface="Arial"/>
                <a:ea typeface="Arial"/>
                <a:cs typeface="Arial"/>
              </a:rPr>
              <a:t>Siguiente tema: Nginx como punto de entrada delante de app.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495" y="6601968"/>
            <a:ext cx="256032" cy="114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defRPr sz="75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737C8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1109124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buNone/>
              <a:tabLst>
                <a:tab pos="0" algn="l"/>
              </a:tabLst>
              <a:defRPr sz="1050">
                <a:solidFill>
                  <a:srgbClr val="757575"/>
                </a:solidFill>
                <a:latin typeface="Arial"/>
                <a:ea typeface="Arial"/>
                <a:cs typeface="Arial"/>
              </a:defRPr>
            </a:pPr>
            <a:r>
              <a:rPr sz="1050" b="0" u="none" strike="noStrike">
                <a:solidFill>
                  <a:srgbClr val="757575"/>
                </a:solidFill>
                <a:latin typeface="Arial"/>
                <a:ea typeface="Arial"/>
                <a:cs typeface="Arial"/>
              </a:rPr>
              <a:t>DAW — Tema 2: Virtualización y contenedores — Docker Compose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0">
            <a:extLst xmlns:a="http://schemas.openxmlformats.org/drawingml/2006/main"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520" cy="77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12700">
            <a:solidFill>
              <a:srgbClr val="004D40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20" y="18360"/>
            <a:ext cx="11420640" cy="7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Alcance de Compose y cierre del tema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EFFFFB-FB5B-4B30-9B89-94B676D5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4895850" cy="3495675"/>
          </a:xfrm>
          <a:prstGeom xmlns:a="http://schemas.openxmlformats.org/drawingml/2006/main" prst="roundRect">
            <a:avLst>
              <a:gd name="adj" fmla="val 218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635788-83C2-474E-B2D0-E22146BC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525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0">
            <a:noFill/>
          </a:ln>
        </p:spPr>
      </p:sp>
      <p:sp>
        <p:nvSpPr>
          <p:cNvPr id="50" name="Qué queda descrito">
            <a:extLst xmlns:a="http://schemas.openxmlformats.org/drawingml/2006/main">
              <a:ext uri="{FF2B5EF4-FFF2-40B4-BE49-F238E27FC236}">
                <a16:creationId xmlns:a16="http://schemas.microsoft.com/office/drawing/2014/main" id="{B0DBC434-8440-4137-A8AA-F3A295A0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382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queda descrito</a:t>
            </a:r>
          </a:p>
        </p:txBody>
      </p:sp>
      <p:sp>
        <p:nvSpPr>
          <p:cNvPr id="51" name="Servicios e imágenes publicadas.&#10;&#10;Comuni">
            <a:extLst xmlns:a="http://schemas.openxmlformats.org/drawingml/2006/main">
              <a:ext uri="{FF2B5EF4-FFF2-40B4-BE49-F238E27FC236}">
                <a16:creationId xmlns:a16="http://schemas.microsoft.com/office/drawing/2014/main" id="{FA2934A1-2AE7-456C-8CD2-F8818B86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447675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Servicios e imágenes publicadas.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Comunicación y puertos.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Persistencia y secretos.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Dependencias de arranque.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935B15-5513-420E-82F5-A0679181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4895850" cy="3495675"/>
          </a:xfrm>
          <a:prstGeom xmlns:a="http://schemas.openxmlformats.org/drawingml/2006/main" prst="roundRect">
            <a:avLst>
              <a:gd name="adj" fmla="val 2180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AFD2C9"/>
            </a:solidFill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B637A4-73CB-4DFC-9723-7F6C2197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489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54" name="Dónde termina">
            <a:extLst xmlns:a="http://schemas.openxmlformats.org/drawingml/2006/main">
              <a:ext uri="{FF2B5EF4-FFF2-40B4-BE49-F238E27FC236}">
                <a16:creationId xmlns:a16="http://schemas.microsoft.com/office/drawing/2014/main" id="{115A91C8-0979-4EDF-91F0-3CBD43BB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38275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Dónde termina</a:t>
            </a:r>
          </a:p>
        </p:txBody>
      </p:sp>
      <p:sp>
        <p:nvSpPr>
          <p:cNvPr id="55" name="Despliegue sobre un motor Docker.&#10;&#10;No di">
            <a:extLst xmlns:a="http://schemas.openxmlformats.org/drawingml/2006/main">
              <a:ext uri="{FF2B5EF4-FFF2-40B4-BE49-F238E27FC236}">
                <a16:creationId xmlns:a16="http://schemas.microsoft.com/office/drawing/2014/main" id="{0C1D6FAF-6E5A-43DA-8F45-B45568A9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43100"/>
            <a:ext cx="447675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Despliegue sobre un motor Docker.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No distribuye por sí solo la carga entre nodos ni reemplaza un nodo caído.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13A4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3A44"/>
                </a:solidFill>
                <a:latin typeface="Arial"/>
                <a:ea typeface="Arial"/>
                <a:cs typeface="Arial"/>
              </a:rPr>
              <a:t>La operación requiere diagnóstico y comprobaciones.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2026-10-14T05:44:47.2420000Z</dcterms:created>
  <dcterms:modified xsi:type="dcterms:W3CDTF">2026-10-14T05:44:47.2420000Z</dcterms:modified>
</coreProperties>
</file>