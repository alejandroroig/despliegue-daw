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c7f38487e24627" /><Relationship Type="http://schemas.openxmlformats.org/officeDocument/2006/relationships/extended-properties" Target="/docProps/app.xml" Id="Rf0dfadbb4d6e4892" /><Relationship Type="http://schemas.openxmlformats.org/officeDocument/2006/relationships/officeDocument" Target="/ppt/presentation.xml" Id="Re7414ca692634e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743aebf3454f74"/>
  </p:sldMasterIdLst>
  <p:notesMasterIdLst>
    <p:notesMasterId xmlns:r="http://schemas.openxmlformats.org/officeDocument/2006/relationships" r:id="Rd9ad06c89491474d"/>
  </p:notesMasterIdLst>
  <p:sldIdLst>
    <p:sldId xmlns:r="http://schemas.openxmlformats.org/officeDocument/2006/relationships" id="256" r:id="Rb912090b7fe64622"/>
    <p:sldId xmlns:r="http://schemas.openxmlformats.org/officeDocument/2006/relationships" id="257" r:id="R8e0b3666cca44b59"/>
    <p:sldId xmlns:r="http://schemas.openxmlformats.org/officeDocument/2006/relationships" id="258" r:id="R6d1af2fb2f4344bf"/>
    <p:sldId xmlns:r="http://schemas.openxmlformats.org/officeDocument/2006/relationships" id="259" r:id="R57d74f2bb3bc41c1"/>
    <p:sldId xmlns:r="http://schemas.openxmlformats.org/officeDocument/2006/relationships" id="260" r:id="R97526704ee0a4c6d"/>
    <p:sldId xmlns:r="http://schemas.openxmlformats.org/officeDocument/2006/relationships" id="261" r:id="Rf6b5d3f8cad94a99"/>
    <p:sldId xmlns:r="http://schemas.openxmlformats.org/officeDocument/2006/relationships" id="262" r:id="Radf75a47d0294bcd"/>
    <p:sldId xmlns:r="http://schemas.openxmlformats.org/officeDocument/2006/relationships" id="263" r:id="Rc0b9892a27044424"/>
    <p:sldId xmlns:r="http://schemas.openxmlformats.org/officeDocument/2006/relationships" id="264" r:id="Re628495a33f146b5"/>
    <p:sldId xmlns:r="http://schemas.openxmlformats.org/officeDocument/2006/relationships" id="265" r:id="R1c30c957f3d6460a"/>
    <p:sldId xmlns:r="http://schemas.openxmlformats.org/officeDocument/2006/relationships" id="266" r:id="R4e4ac353c8e84fdb"/>
    <p:sldId xmlns:r="http://schemas.openxmlformats.org/officeDocument/2006/relationships" id="267" r:id="R28181f3b4762422a"/>
    <p:sldId xmlns:r="http://schemas.openxmlformats.org/officeDocument/2006/relationships" id="268" r:id="R1094ac9fb59c4a38"/>
    <p:sldId xmlns:r="http://schemas.openxmlformats.org/officeDocument/2006/relationships" id="269" r:id="R083412f15eff42d0"/>
    <p:sldId xmlns:r="http://schemas.openxmlformats.org/officeDocument/2006/relationships" id="270" r:id="Rcdd251cb09664f05"/>
    <p:sldId xmlns:r="http://schemas.openxmlformats.org/officeDocument/2006/relationships" id="271" r:id="Ra7aec3d1423f4e37"/>
    <p:sldId xmlns:r="http://schemas.openxmlformats.org/officeDocument/2006/relationships" id="272" r:id="R7a07ab4688324d09"/>
    <p:sldId xmlns:r="http://schemas.openxmlformats.org/officeDocument/2006/relationships" id="273" r:id="R29cca97bc5eb405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ec7995320f4a9b" /><Relationship Type="http://schemas.openxmlformats.org/officeDocument/2006/relationships/slideMaster" Target="/ppt/slideMasters/slideMaster1.xml" Id="Rc2743aebf3454f74" /><Relationship Type="http://schemas.openxmlformats.org/officeDocument/2006/relationships/notesMaster" Target="/ppt/notesMasters/notesMaster1.xml" Id="Rd9ad06c89491474d" /><Relationship Type="http://schemas.openxmlformats.org/officeDocument/2006/relationships/presProps" Target="/ppt/presProps.xml" Id="R6469b599fa4240de" /><Relationship Type="http://schemas.openxmlformats.org/officeDocument/2006/relationships/viewProps" Target="/ppt/viewProps.xml" Id="R9ca517e38dbc42b4" /><Relationship Type="http://schemas.openxmlformats.org/officeDocument/2006/relationships/tableStyles" Target="/ppt/tableStyles.xml" Id="R6d46c295ad9a4fd4" /><Relationship Type="http://schemas.openxmlformats.org/officeDocument/2006/relationships/slide" Target="/ppt/slides/slide1.xml" Id="Rb912090b7fe64622" /><Relationship Type="http://schemas.openxmlformats.org/officeDocument/2006/relationships/slide" Target="/ppt/slides/slide2.xml" Id="R8e0b3666cca44b59" /><Relationship Type="http://schemas.openxmlformats.org/officeDocument/2006/relationships/slide" Target="/ppt/slides/slide3.xml" Id="R6d1af2fb2f4344bf" /><Relationship Type="http://schemas.openxmlformats.org/officeDocument/2006/relationships/slide" Target="/ppt/slides/slide4.xml" Id="R57d74f2bb3bc41c1" /><Relationship Type="http://schemas.openxmlformats.org/officeDocument/2006/relationships/slide" Target="/ppt/slides/slide5.xml" Id="R97526704ee0a4c6d" /><Relationship Type="http://schemas.openxmlformats.org/officeDocument/2006/relationships/slide" Target="/ppt/slides/slide6.xml" Id="Rf6b5d3f8cad94a99" /><Relationship Type="http://schemas.openxmlformats.org/officeDocument/2006/relationships/slide" Target="/ppt/slides/slide7.xml" Id="Radf75a47d0294bcd" /><Relationship Type="http://schemas.openxmlformats.org/officeDocument/2006/relationships/slide" Target="/ppt/slides/slide8.xml" Id="Rc0b9892a27044424" /><Relationship Type="http://schemas.openxmlformats.org/officeDocument/2006/relationships/slide" Target="/ppt/slides/slide9.xml" Id="Re628495a33f146b5" /><Relationship Type="http://schemas.openxmlformats.org/officeDocument/2006/relationships/slide" Target="/ppt/slides/slide10.xml" Id="R1c30c957f3d6460a" /><Relationship Type="http://schemas.openxmlformats.org/officeDocument/2006/relationships/slide" Target="/ppt/slides/slide11.xml" Id="R4e4ac353c8e84fdb" /><Relationship Type="http://schemas.openxmlformats.org/officeDocument/2006/relationships/slide" Target="/ppt/slides/slide12.xml" Id="R28181f3b4762422a" /><Relationship Type="http://schemas.openxmlformats.org/officeDocument/2006/relationships/slide" Target="/ppt/slides/slide13.xml" Id="R1094ac9fb59c4a38" /><Relationship Type="http://schemas.openxmlformats.org/officeDocument/2006/relationships/slide" Target="/ppt/slides/slide14.xml" Id="R083412f15eff42d0" /><Relationship Type="http://schemas.openxmlformats.org/officeDocument/2006/relationships/slide" Target="/ppt/slides/slide15.xml" Id="Rcdd251cb09664f05" /><Relationship Type="http://schemas.openxmlformats.org/officeDocument/2006/relationships/slide" Target="/ppt/slides/slide16.xml" Id="Ra7aec3d1423f4e37" /><Relationship Type="http://schemas.openxmlformats.org/officeDocument/2006/relationships/slide" Target="/ppt/slides/slide17.xml" Id="R7a07ab4688324d09" /><Relationship Type="http://schemas.openxmlformats.org/officeDocument/2006/relationships/slide" Target="/ppt/slides/slide18.xml" Id="R29cca97bc5eb40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44c922a69a4c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f9053d3ad140df" /><Relationship Type="http://schemas.openxmlformats.org/officeDocument/2006/relationships/notesMaster" Target="/ppt/notesMasters/notesMaster1.xml" Id="Rf82d6621c62b47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c97b325e9c4812" /><Relationship Type="http://schemas.openxmlformats.org/officeDocument/2006/relationships/notesMaster" Target="/ppt/notesMasters/notesMaster1.xml" Id="R62b4539e140941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efe514763643ba" /><Relationship Type="http://schemas.openxmlformats.org/officeDocument/2006/relationships/notesMaster" Target="/ppt/notesMasters/notesMaster1.xml" Id="R214ee1771a2a48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7fc0ec25b649d3" /><Relationship Type="http://schemas.openxmlformats.org/officeDocument/2006/relationships/notesMaster" Target="/ppt/notesMasters/notesMaster1.xml" Id="R340b725c4ffd4b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7cfc39152c4683" /><Relationship Type="http://schemas.openxmlformats.org/officeDocument/2006/relationships/notesMaster" Target="/ppt/notesMasters/notesMaster1.xml" Id="Ra37fe11b770240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22a8b302b54b36" /><Relationship Type="http://schemas.openxmlformats.org/officeDocument/2006/relationships/notesMaster" Target="/ppt/notesMasters/notesMaster1.xml" Id="Ra03be0b02d754f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c671f6df924179" /><Relationship Type="http://schemas.openxmlformats.org/officeDocument/2006/relationships/notesMaster" Target="/ppt/notesMasters/notesMaster1.xml" Id="R361898f716f841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3de15178314081" /><Relationship Type="http://schemas.openxmlformats.org/officeDocument/2006/relationships/notesMaster" Target="/ppt/notesMasters/notesMaster1.xml" Id="R11e578ea3fbc4c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a77d4afb65487c" /><Relationship Type="http://schemas.openxmlformats.org/officeDocument/2006/relationships/notesMaster" Target="/ppt/notesMasters/notesMaster1.xml" Id="Re766370746de46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749130cca74230" /><Relationship Type="http://schemas.openxmlformats.org/officeDocument/2006/relationships/notesMaster" Target="/ppt/notesMasters/notesMaster1.xml" Id="Rf324828d37234c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142203d6884dbb" /><Relationship Type="http://schemas.openxmlformats.org/officeDocument/2006/relationships/notesMaster" Target="/ppt/notesMasters/notesMaster1.xml" Id="R6bbe3e4d667640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20a2c4e1ec4288" /><Relationship Type="http://schemas.openxmlformats.org/officeDocument/2006/relationships/notesMaster" Target="/ppt/notesMasters/notesMaster1.xml" Id="R8e55bd0341a048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f54ff8dfcd440a" /><Relationship Type="http://schemas.openxmlformats.org/officeDocument/2006/relationships/notesMaster" Target="/ppt/notesMasters/notesMaster1.xml" Id="Ra39b9fe044e341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a6de7ec2d94cc9" /><Relationship Type="http://schemas.openxmlformats.org/officeDocument/2006/relationships/notesMaster" Target="/ppt/notesMasters/notesMaster1.xml" Id="R52c7fda97f314d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79ca1bc2564e31" /><Relationship Type="http://schemas.openxmlformats.org/officeDocument/2006/relationships/notesMaster" Target="/ppt/notesMasters/notesMaster1.xml" Id="Ra09f60387dc848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11683f4e554f5b" /><Relationship Type="http://schemas.openxmlformats.org/officeDocument/2006/relationships/notesMaster" Target="/ppt/notesMasters/notesMaster1.xml" Id="R2ab04a74b8284f8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fdf7b78be84cbc" /><Relationship Type="http://schemas.openxmlformats.org/officeDocument/2006/relationships/notesMaster" Target="/ppt/notesMasters/notesMaster1.xml" Id="R0d111359032242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5582a655fcb42b4" /><Relationship Type="http://schemas.openxmlformats.org/officeDocument/2006/relationships/notesMaster" Target="/ppt/notesMasters/notesMaster1.xml" Id="R6ef5944818fc4c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Sesión 2 del tema 2. Construcción, optimización y publicación de imágenes. Ejemplo: aplicación Java/Maven con WAR ejecutable de Spring Boot.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contenedores», revisión visual.</a:t>
            </a:r>
          </a:p>
          <a:p xmlns:a="http://schemas.openxmlformats.org/drawingml/2006/main">
            <a:r>
              <a:t>Cada mejora debe responder a un problema concreto de construcción o ejecución.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contenedores», revisión visual.</a:t>
            </a:r>
          </a:p>
          <a:p xmlns:a="http://schemas.openxmlformats.org/drawingml/2006/main">
            <a:r>
              <a:t>RUN actúa durante el build. ENTRYPOINT y CMD describen el arranque del contenedor.</a:t>
            </a:r>
          </a:p>
          <a:p xmlns:a="http://schemas.openxmlformats.org/drawingml/2006/main">
            <a:r>
              <a:t>USER también afecta a los RUN posteriores dentro de la etapa. EXPOSE no publica el puerto al anfitrión. Otras instrucciones habituales son ENV, ARG y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contenedores», revisión visual.</a:t>
            </a:r>
          </a:p>
          <a:p xmlns:a="http://schemas.openxmlformats.org/drawingml/2006/main">
            <a:r>
              <a:t>Ejemplo: WAR ejecutable de Spring Boot. No todos los WAR admiten java -jar.</a:t>
            </a:r>
          </a:p>
          <a:p xmlns:a="http://schemas.openxmlformats.org/drawingml/2006/main">
            <a:r>
              <a:t>En esta sesión -DskipTests permite aislar la construcción de la imagen. Las pruebas se incorporarán explícitamente al proceso de integración continua.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contenedores». Infografía elaborada para esta sesión.</a:t>
            </a:r>
          </a:p>
          <a:p xmlns:a="http://schemas.openxmlformats.org/drawingml/2006/main">
            <a:r>
              <a:t>El Dockerfile está en docker. El contexto es aplicacion y contiene su .dockerignore. COPY pom.xml busca el fichero en el contexto, no junto al Dockerfile.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contenedores», revisión visual.</a:t>
            </a:r>
          </a:p>
          <a:p xmlns:a="http://schemas.openxmlformats.org/drawingml/2006/main">
            <a:r>
              <a:t>El contexto define qué puede utilizar COPY, no qué entra automáticamente en la imagen.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contenedores». Infografía elaborada para esta sesión.</a:t>
            </a:r>
          </a:p>
          <a:p xmlns:a="http://schemas.openxmlformats.org/drawingml/2006/main">
            <a:r>
              <a:t>Con una caché previa utilizable y un cambio solo en src, la versión optimizada conserva la preparación de dependencias. Si pom.xml cambia y no hay caché coincidente, se repiten los pasos mostrados.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contenedores», revisión visual.</a:t>
            </a:r>
          </a:p>
          <a:p xmlns:a="http://schemas.openxmlformats.org/drawingml/2006/main">
            <a:r>
              <a:t>La caché mejora reconstrucciones. No elimina Maven ni el código de la imagen final.</a:t>
            </a:r>
          </a:p>
          <a:p xmlns:a="http://schemas.openxmlformats.org/drawingml/2006/main">
            <a:r>
              <a:t>Una comparación útil incluye build inicial, build tras modificar código y SIZE para las dos imágenes. No se comparan tiempos absolutos entre equipos. Conservar la caché para observar la reconstrucción.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contenedores». Infografía elaborada para esta sesión.</a:t>
            </a:r>
          </a:p>
          <a:p xmlns:a="http://schemas.openxmlformats.org/drawingml/2006/main">
            <a:r>
              <a:t>Build usa Maven y JDK. La etapa final parte de JRE y solo recibe el WAR, que conserva las bibliotecas de la aplicación. El WAR ejecutable arranca Spring Boot y Tomcat embebido en 8080.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contenedores», revisión visual.</a:t>
            </a:r>
          </a:p>
          <a:p xmlns:a="http://schemas.openxmlformats.org/drawingml/2006/main">
            <a:r>
              <a:t>Las dependencias se preparan antes de copiar src para aprovechar la caché.</a:t>
            </a:r>
          </a:p>
          <a:p xmlns:a="http://schemas.openxmlformats.org/drawingml/2006/main">
            <a:r>
              <a:t>dependency:go-offline anticipa muchas descargas, aunque algún plugin o dependencia adicional puede resolverse durante la compilación. El ejemplo presupone un único WAR coincidente.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contenedores», revisión visual.</a:t>
            </a:r>
          </a:p>
          <a:p xmlns:a="http://schemas.openxmlformats.org/drawingml/2006/main">
            <a:r>
              <a:t>La etapa final incorpora el WAR y conserva sus bibliotecas necesarias para ejecutar.</a:t>
            </a:r>
          </a:p>
          <a:p xmlns:a="http://schemas.openxmlformats.org/drawingml/2006/main">
            <a:r>
              <a:t>Este fragmento presenta la separación de etapas. En la siguiente diapositiva se añaden usuario, ruta escribible y configuración de almacenamiento. EXPOSE documenta 8080, no lo publica. WAR es el artefacto Java; la imagen es la unidad de despliegue con JRE y WAR.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contenedores». Infografía elaborada para esta sesión.</a:t>
            </a:r>
          </a:p>
          <a:p xmlns:a="http://schemas.openxmlformats.org/drawingml/2006/main">
            <a:r>
              <a:t>Preparar usuario y carpeta antes de USER app. La aplicación del ejemplo interpreta APP_STORAGE_PATH. Docker no añade esa capacidad ni crea carpetas o permisos por definir ENV. Escritura y persistencia son decisiones distintas.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contenedores», revisión visual.</a:t>
            </a:r>
          </a:p>
          <a:p xmlns:a="http://schemas.openxmlformats.org/drawingml/2006/main">
            <a:r>
              <a:t>Una imagen pequeña debe seguir siendo adecuada para la aplicación y su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contenedores». Infografía elaborada para esta sesión.</a:t>
            </a:r>
          </a:p>
          <a:p xmlns:a="http://schemas.openxmlformats.org/drawingml/2006/main">
            <a:r>
              <a:t>1.0.0 se conserva por convención y latest puede reasignarse. Ninguna etiqueta es técnicamente inmutable. El digest identifica el contenido exacto. Los digests ilustrados están abreviados.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contenedores», revisión visual.</a:t>
            </a:r>
          </a:p>
          <a:p xmlns:a="http://schemas.openxmlformats.org/drawingml/2006/main">
            <a:r>
              <a:t>Las dos etiquetas pueden apuntar al mismo digest sin duplicar el contenido.</a:t>
            </a:r>
          </a:p>
          <a:p xmlns:a="http://schemas.openxmlformats.org/drawingml/2006/main">
            <a:r>
              <a:t>Sustituir &lt;usuario&gt; por el propietario real del repositorio. La etiqueta 1.0.0 se conserva por acuerdo de publicación. latest no se actualiza automáticamente ni garantiza ser la versión más reciente.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contenedores», revisión visual.</a:t>
            </a:r>
          </a:p>
          <a:p xmlns:a="http://schemas.openxmlformats.org/drawingml/2006/main">
            <a:r>
              <a:t>Un entorno limpio permite detectar dependencias que solo existían en tu equipo.</a:t>
            </a:r>
          </a:p>
          <a:p xmlns:a="http://schemas.openxmlformats.org/drawingml/2006/main">
            <a:r>
              <a:t>Una construcción correcta no demuestra que el sistema funcione. Las pruebas de ejecución complementan la validación del Dockerfile.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contenedores», revisión visual.</a:t>
            </a:r>
          </a:p>
          <a:p xmlns:a="http://schemas.openxmlformats.org/drawingml/2006/main">
            <a:r>
              <a:t>Aplicaremos estas decisiones al proyecto Escaparate.</a:t>
            </a:r>
          </a:p>
          <a:p xmlns:a="http://schemas.openxmlformats.org/drawingml/2006/main">
            <a:r>
              <a:t>Los nombres de ramas, etiquetas, rutas y evidencias concretas están en el enunciado de la actividad 2.2. La teoría utiliza nombres genéricos.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«Imágenes de contenedores», revisión visual.</a:t>
            </a:r>
          </a:p>
          <a:p xmlns:a="http://schemas.openxmlformats.org/drawingml/2006/main">
            <a:r>
              <a:t>Próxima sesión: describiremos el sistema completo con Docker Compose.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e2031654843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b1e4af4384d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8f3fc37e74b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e1cda17cb49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24d97ae724b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030eaf9e142a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81fc294bd481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099ae515d4fd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8d875b82e426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d9061b94741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858cb4a16438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442692-017C-4EC8-AD9A-E60C8B022C2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F88B743-84D5-4B53-9736-9EE159CA3F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CE66494-E2C9-4731-B338-DDF6B0F8B9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AC9434-8080-4B3D-85E2-4363DA8B19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978D75-2694-4CFE-89B1-C2383FD928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35B28C-711E-4D1B-9B3F-383CED681A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9C9964-80F7-4181-A683-FF164933E7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FEF923-0957-45A0-8AE1-A43DEC2FAB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2F4F75-8835-4E61-B4B4-2F0ED083A2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4C5B40-7FB0-42F8-9DD5-ABD07099C7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7345B7-4B74-4DAF-95A2-275412860B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FF13F0-34F4-44AF-876D-A989BB95D2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942ECA-3523-40A8-8528-50A91402F2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EBBBFB-9D35-4DFE-A602-42621E4E84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5114BF-63C0-4089-8F9F-F3C1D14B41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66FF4B-E5D5-4A2A-8B7D-0FF8ADF22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2E1F049-179F-480D-88D0-D66C1115090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4D3BE00-B738-47AF-B29E-EEEE71F1E53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D97CDC9-B320-4988-9159-6C25647E66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BAD81D0-828E-4228-9D56-F7624CFEB5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717E5D2-E11E-4F01-B32D-4185C6DA6C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CAE23D-F71E-45DE-8500-194FE5EB96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32287F-3D35-46F9-9529-DF91E44C37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2FA5E6A-8AD0-4B45-9EB5-A8AC97435A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B76A5B9-56E6-45C1-BCA6-CF832B9A7A4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A2A455F-6242-4CDA-A2D7-C43523763B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3ABBAED-ED5B-4528-AB35-671752B50B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732F5C6-02C6-4876-B822-939CDF1F1E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BDBDBA1-1552-4C01-92C9-8BDD5CB28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5A984C-6B31-49C1-9CBB-82A6362912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F7F362B-FC15-47E5-93EB-3DA077144A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6F7AB22-C0D5-446E-A0C8-67190AAA0A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259B083-3AFF-4478-8225-AFB2A61E0F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405976F-FDEC-4335-96E3-09242FA0EE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36E5986-6CE9-477D-A3CC-9AA704FA0B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F14B09E-798C-4F86-B522-C712E88854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CF2519-77AD-4F4D-B2C5-044E9BA82D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814729-1A7C-4A3A-ADCE-E7FDD7BB65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7D21DCB-D627-4E09-A830-C5A6BD8E64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2FFCA1-6A1C-4F1E-A6E2-4B4F60A686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019F3F8-3F62-4925-995C-FE727769C7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0DEFF3D-2379-4CC9-BAFE-39B4375F11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C89E2B-36FC-4701-9E0A-45D9B90882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FAAAF05-1738-40CA-BBD2-FD9356C3F6B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058AB2-B878-436D-A98F-583F59E473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A397163-E569-42AB-BACC-67EB0BDCB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576BA61-2A01-4753-A2CD-E4E3EF34A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E9F65F-68AB-4B9F-9B1A-0558EE6C0C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2B0A92-FD16-4C79-8EC2-B6A68C5A3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0172B89-6E9E-4F3D-A9C7-6B1CA7503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2CF4AF-24F0-40CA-80EE-018F4F7401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71281E-F5AB-46A8-B17B-90BBB0A678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FFF1DF-5D8B-43B6-BAC0-516376EC9A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5F1842D-187E-4681-9848-7C65C33E8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49FBBA-D42B-438D-8B7D-91A8ACF879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4D4203-7992-4CB1-A73C-0A2DEA0367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2A3877-3526-4120-9133-A49A0C0BFD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BF6175-A90D-49ED-9D32-09CFFB3E5A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52e62f3ed24c8e" /><Relationship Type="http://schemas.openxmlformats.org/officeDocument/2006/relationships/slideLayout" Target="/ppt/slideLayouts/slideLayout1.xml" Id="R527f7b48a40445e3" /><Relationship Type="http://schemas.openxmlformats.org/officeDocument/2006/relationships/slideLayout" Target="/ppt/slideLayouts/slideLayout2.xml" Id="R34899de8c48c42db" /><Relationship Type="http://schemas.openxmlformats.org/officeDocument/2006/relationships/slideLayout" Target="/ppt/slideLayouts/slideLayout3.xml" Id="R20f5d5908b0b4ef0" /><Relationship Type="http://schemas.openxmlformats.org/officeDocument/2006/relationships/slideLayout" Target="/ppt/slideLayouts/slideLayout4.xml" Id="Rb486587215ee4502" /><Relationship Type="http://schemas.openxmlformats.org/officeDocument/2006/relationships/slideLayout" Target="/ppt/slideLayouts/slideLayout5.xml" Id="Rb7648063131748b7" /><Relationship Type="http://schemas.openxmlformats.org/officeDocument/2006/relationships/slideLayout" Target="/ppt/slideLayouts/slideLayout6.xml" Id="Rb0eeb561af09493c" /><Relationship Type="http://schemas.openxmlformats.org/officeDocument/2006/relationships/slideLayout" Target="/ppt/slideLayouts/slideLayout7.xml" Id="R52ed70264aee479f" /><Relationship Type="http://schemas.openxmlformats.org/officeDocument/2006/relationships/slideLayout" Target="/ppt/slideLayouts/slideLayout8.xml" Id="R5278df5ca5c14158" /><Relationship Type="http://schemas.openxmlformats.org/officeDocument/2006/relationships/slideLayout" Target="/ppt/slideLayouts/slideLayout9.xml" Id="R7b45ee8a4d9540fc" /><Relationship Type="http://schemas.openxmlformats.org/officeDocument/2006/relationships/slideLayout" Target="/ppt/slideLayouts/slideLayout10.xml" Id="R8d531e5d0a4f449b" /><Relationship Type="http://schemas.openxmlformats.org/officeDocument/2006/relationships/slideLayout" Target="/ppt/slideLayouts/slideLayout11.xml" Id="R0e8a52ca9c9444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D54EC47-DCCA-41B1-97C2-939FA64457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473D81-C291-48E0-BAB9-9908C80B2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6220F9-5E9F-4AA8-8A63-23B9DF4151C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4159C7-7E35-4045-BE49-8E6111AE40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BCEF28-B9B1-4C53-BBD6-BA383C1595A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7f7b48a40445e3"/>
    <p:sldLayoutId xmlns:r="http://schemas.openxmlformats.org/officeDocument/2006/relationships" id="2147483650" r:id="R34899de8c48c42db"/>
    <p:sldLayoutId xmlns:r="http://schemas.openxmlformats.org/officeDocument/2006/relationships" id="2147483651" r:id="R20f5d5908b0b4ef0"/>
    <p:sldLayoutId xmlns:r="http://schemas.openxmlformats.org/officeDocument/2006/relationships" id="2147483652" r:id="Rb486587215ee4502"/>
    <p:sldLayoutId xmlns:r="http://schemas.openxmlformats.org/officeDocument/2006/relationships" id="2147483653" r:id="Rb7648063131748b7"/>
    <p:sldLayoutId xmlns:r="http://schemas.openxmlformats.org/officeDocument/2006/relationships" id="2147483654" r:id="Rb0eeb561af09493c"/>
    <p:sldLayoutId xmlns:r="http://schemas.openxmlformats.org/officeDocument/2006/relationships" id="2147483655" r:id="R52ed70264aee479f"/>
    <p:sldLayoutId xmlns:r="http://schemas.openxmlformats.org/officeDocument/2006/relationships" id="2147483656" r:id="R5278df5ca5c14158"/>
    <p:sldLayoutId xmlns:r="http://schemas.openxmlformats.org/officeDocument/2006/relationships" id="2147483657" r:id="R7b45ee8a4d9540fc"/>
    <p:sldLayoutId xmlns:r="http://schemas.openxmlformats.org/officeDocument/2006/relationships" id="2147483658" r:id="R8d531e5d0a4f449b"/>
    <p:sldLayoutId xmlns:r="http://schemas.openxmlformats.org/officeDocument/2006/relationships" id="2147483659" r:id="R0e8a52ca9c94448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6797c002214c2b" /><Relationship Type="http://schemas.openxmlformats.org/officeDocument/2006/relationships/image" Target="/ppt/media/image.png" Id="Ra1172ad90b33467c" /><Relationship Type="http://schemas.openxmlformats.org/officeDocument/2006/relationships/notesSlide" Target="/ppt/notesSlides/notesSlide1.xml" Id="Rfe7d497a6a8443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c17b6f2f16412a" /><Relationship Type="http://schemas.openxmlformats.org/officeDocument/2006/relationships/notesSlide" Target="/ppt/notesSlides/notesSlide2.xml" Id="R7f2f47723da046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4c2bef4c5d4792" /><Relationship Type="http://schemas.openxmlformats.org/officeDocument/2006/relationships/notesSlide" Target="/ppt/notesSlides/notesSlide3.xml" Id="R374752d33a7347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a92bd7f56848f7" /><Relationship Type="http://schemas.openxmlformats.org/officeDocument/2006/relationships/notesSlide" Target="/ppt/notesSlides/notesSlide4.xml" Id="R5694cbed71604c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76701632e94d6a" /><Relationship Type="http://schemas.openxmlformats.org/officeDocument/2006/relationships/image" Target="/ppt/media/image2.png" Id="Rdc0a8c35528e40f1" /><Relationship Type="http://schemas.openxmlformats.org/officeDocument/2006/relationships/notesSlide" Target="/ppt/notesSlides/notesSlide5.xml" Id="Ra4e7c1bad9e342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3d428957114102" /><Relationship Type="http://schemas.openxmlformats.org/officeDocument/2006/relationships/notesSlide" Target="/ppt/notesSlides/notesSlide6.xml" Id="R489d2ce80c8a42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736f388ec14196" /><Relationship Type="http://schemas.openxmlformats.org/officeDocument/2006/relationships/image" Target="/ppt/media/image3.png" Id="Rc43d2bc1f70049f1" /><Relationship Type="http://schemas.openxmlformats.org/officeDocument/2006/relationships/notesSlide" Target="/ppt/notesSlides/notesSlide7.xml" Id="Rc0b0d92728de42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67c075c6e443e4" /><Relationship Type="http://schemas.openxmlformats.org/officeDocument/2006/relationships/notesSlide" Target="/ppt/notesSlides/notesSlide8.xml" Id="R2d344e2dec3644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fed20db81a4224" /><Relationship Type="http://schemas.openxmlformats.org/officeDocument/2006/relationships/image" Target="/ppt/media/image4.png" Id="R487c35a593724ccf" /><Relationship Type="http://schemas.openxmlformats.org/officeDocument/2006/relationships/notesSlide" Target="/ppt/notesSlides/notesSlide9.xml" Id="Rff1cd6b7fa664d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fb197f6e544079" /><Relationship Type="http://schemas.openxmlformats.org/officeDocument/2006/relationships/notesSlide" Target="/ppt/notesSlides/notesSlide10.xml" Id="R88809489965f4a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eca6a830154a4d" /><Relationship Type="http://schemas.openxmlformats.org/officeDocument/2006/relationships/notesSlide" Target="/ppt/notesSlides/notesSlide11.xml" Id="R216efa5d680549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96679b72cc41c0" /><Relationship Type="http://schemas.openxmlformats.org/officeDocument/2006/relationships/image" Target="/ppt/media/image5.png" Id="Rdff0ea3773104fde" /><Relationship Type="http://schemas.openxmlformats.org/officeDocument/2006/relationships/notesSlide" Target="/ppt/notesSlides/notesSlide12.xml" Id="Red72d40b0ec749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12ad4ba93643a7" /><Relationship Type="http://schemas.openxmlformats.org/officeDocument/2006/relationships/notesSlide" Target="/ppt/notesSlides/notesSlide13.xml" Id="R590aaaaf89c84a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4e57e2eb434e30" /><Relationship Type="http://schemas.openxmlformats.org/officeDocument/2006/relationships/image" Target="/ppt/media/image6.png" Id="R0d22f1e3d8f44fea" /><Relationship Type="http://schemas.openxmlformats.org/officeDocument/2006/relationships/notesSlide" Target="/ppt/notesSlides/notesSlide14.xml" Id="Rcb8bda562d9e4a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f8e1239a494947" /><Relationship Type="http://schemas.openxmlformats.org/officeDocument/2006/relationships/notesSlide" Target="/ppt/notesSlides/notesSlide15.xml" Id="Rbb4635c9a6944b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2fd960fb72497c" /><Relationship Type="http://schemas.openxmlformats.org/officeDocument/2006/relationships/notesSlide" Target="/ppt/notesSlides/notesSlide16.xml" Id="R607307da40394e4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5ed36a3f224fd0" /><Relationship Type="http://schemas.openxmlformats.org/officeDocument/2006/relationships/notesSlide" Target="/ppt/notesSlides/notesSlide17.xml" Id="Rd834d07311634aa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dab8eeff8548a5" /><Relationship Type="http://schemas.openxmlformats.org/officeDocument/2006/relationships/notesSlide" Target="/ppt/notesSlides/notesSlide18.xml" Id="Rff2ec238fd9447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36DD9B-818B-4A28-B9F9-F12FFB82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096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640"/>
          </a:solidFill>
          <a:ln xmlns:a="http://schemas.openxmlformats.org/drawingml/2006/main">
            <a:solidFill>
              <a:srgbClr val="05564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EA385B99-779B-401A-8E50-9C8884E000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72ad90b3346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812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6AB7532-B892-46FB-AEF1-16BEFD8D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852160" cy="1295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38100" rIns="38100" bIns="381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Imágenes de</a:t>
            </a:r>
            <a:endParaRPr sz="4000" b="1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contenedores</a:t>
            </a:r>
            <a:endParaRPr sz="4000" b="1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 0">
            <a:extLst xmlns:a="http://schemas.openxmlformats.org/drawingml/2006/main">
              <a:ext uri="{FF2B5EF4-FFF2-40B4-BE49-F238E27FC236}">
                <a16:creationId xmlns:a16="http://schemas.microsoft.com/office/drawing/2014/main" id="{29CB873E-685B-674F-42EF-2BCBE16E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10912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strike="noStrike">
                <a:solidFill>
                  <a:srgbClr val="B2DFDB"/>
                </a:solidFill>
                <a:latin typeface="Arial"/>
                <a:ea typeface="Arial"/>
                <a:cs typeface="Arial"/>
              </a:rPr>
              <a:t>DESPLIEGUE DE APLICACIONES WEB  —  CURSO 2026/2027</a:t>
            </a: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2">
            <a:extLst xmlns:a="http://schemas.openxmlformats.org/drawingml/2006/main">
              <a:ext uri="{FF2B5EF4-FFF2-40B4-BE49-F238E27FC236}">
                <a16:creationId xmlns:a16="http://schemas.microsoft.com/office/drawing/2014/main" id="{8D19E44C-8D7D-DC4C-F500-8F8435DC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0640"/>
            <a:ext cx="79549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CC1"/>
          </a:solidFill>
          <a:ln xmlns:a="http://schemas.openxmlformats.org/drawingml/2006/main" w="1270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6E3D37BB-2692-A6BF-8485-3C8D15DF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68576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i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Tema 2 — Virtualización y contenedores</a:t>
            </a:r>
          </a:p>
        </p:txBody>
      </p:sp>
    </p:spTree>
    <p:extLst>
      <p:ext uri="{BB962C8B-B14F-4D97-AF65-F5344CB8AC3E}">
        <p14:creationId xmlns:p14="http://schemas.microsoft.com/office/powerpoint/2010/main" val="1648296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Cada mejora debe responder a un problema concreto de construcción o ejecución.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 de la sesión</a:t>
            </a:r>
          </a:p>
        </p:txBody>
      </p:sp>
      <p:sp>
        <p:nvSpPr>
          <p:cNvPr id="48" name="Una imagen funcional que podemos mejorar">
            <a:extLst xmlns:a="http://schemas.openxmlformats.org/drawingml/2006/main">
              <a:ext uri="{FF2B5EF4-FFF2-40B4-BE49-F238E27FC236}">
                <a16:creationId xmlns:a16="http://schemas.microsoft.com/office/drawing/2014/main" id="{232CD7D8-66D7-4DBD-85F8-9A861C8B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Una imagen funcional que podemos mejorar y comparar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A83944-1040-429B-B154-4287A2E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895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73CB79-5E3F-46E5-943C-8E70883A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1" name="Punto de partida">
            <a:extLst xmlns:a="http://schemas.openxmlformats.org/drawingml/2006/main">
              <a:ext uri="{FF2B5EF4-FFF2-40B4-BE49-F238E27FC236}">
                <a16:creationId xmlns:a16="http://schemas.microsoft.com/office/drawing/2014/main" id="{45DFA58E-D005-4053-9362-11FDE2AC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9547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Punto de partida</a:t>
            </a:r>
          </a:p>
        </p:txBody>
      </p:sp>
      <p:sp>
        <p:nvSpPr>
          <p:cNvPr id="52" name="Una aplicación Java que necesita compila">
            <a:extLst xmlns:a="http://schemas.openxmlformats.org/drawingml/2006/main">
              <a:ext uri="{FF2B5EF4-FFF2-40B4-BE49-F238E27FC236}">
                <a16:creationId xmlns:a16="http://schemas.microsoft.com/office/drawing/2014/main" id="{B7641C8F-EFC6-4B28-8CA7-E5FF99BC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44767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Una aplicación Java que necesita compilarse.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Una imagen sencilla con Maven, JDK y todo el proyecto.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F31B02-85F7-422F-A833-F52B545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895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81D2EC-3DCF-436B-AC64-CD8F8C94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5" name="Resultado de la sesión">
            <a:extLst xmlns:a="http://schemas.openxmlformats.org/drawingml/2006/main">
              <a:ext uri="{FF2B5EF4-FFF2-40B4-BE49-F238E27FC236}">
                <a16:creationId xmlns:a16="http://schemas.microsoft.com/office/drawing/2014/main" id="{91D498FD-374C-455A-93A7-AC13E97E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9547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 de la sesión</a:t>
            </a:r>
          </a:p>
        </p:txBody>
      </p:sp>
      <p:sp>
        <p:nvSpPr>
          <p:cNvPr id="56" name="Menos trabajo repetido al construir.&#10;&#10;So">
            <a:extLst xmlns:a="http://schemas.openxmlformats.org/drawingml/2006/main">
              <a:ext uri="{FF2B5EF4-FFF2-40B4-BE49-F238E27FC236}">
                <a16:creationId xmlns:a16="http://schemas.microsoft.com/office/drawing/2014/main" id="{56851A4D-55C1-4EA8-98B9-2360F3A7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44767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Menos trabajo repetido al construir.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Solo lo necesario para ejecutar.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Usuario y almacenamiento preparados.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RUN actúa durante el build. ENTRYPOINT y CMD describen el arranque del contenedor.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Construcción y arranque del contenedor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263472-CA7D-467E-AE7F-7B78F501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4895850" cy="3400425"/>
          </a:xfrm>
          <a:prstGeom xmlns:a="http://schemas.openxmlformats.org/drawingml/2006/main" prst="roundRect">
            <a:avLst>
              <a:gd name="adj" fmla="val 2241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F4E77D-78B2-4E30-9A49-6BD21E50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0" name="Durante la construcción">
            <a:extLst xmlns:a="http://schemas.openxmlformats.org/drawingml/2006/main">
              <a:ext uri="{FF2B5EF4-FFF2-40B4-BE49-F238E27FC236}">
                <a16:creationId xmlns:a16="http://schemas.microsoft.com/office/drawing/2014/main" id="{AD780962-C720-449C-9783-A53150DD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1922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Durante la construcción</a:t>
            </a:r>
          </a:p>
        </p:txBody>
      </p:sp>
      <p:sp>
        <p:nvSpPr>
          <p:cNvPr id="51" name="FROM: elige la base.&#10;&#10;WORKDIR: fija el d">
            <a:extLst xmlns:a="http://schemas.openxmlformats.org/drawingml/2006/main">
              <a:ext uri="{FF2B5EF4-FFF2-40B4-BE49-F238E27FC236}">
                <a16:creationId xmlns:a16="http://schemas.microsoft.com/office/drawing/2014/main" id="{4E264955-60B0-485C-AFB2-79A72D19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4476750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FROM: elige la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WORKDIR: fija el directorio.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COPY: incorpora ficheros.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RUN: ejecuta órdenes de build.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8A1BD6-6FFD-4B4A-BA62-453F8665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33500"/>
            <a:ext cx="4895850" cy="3400425"/>
          </a:xfrm>
          <a:prstGeom xmlns:a="http://schemas.openxmlformats.org/drawingml/2006/main" prst="roundRect">
            <a:avLst>
              <a:gd name="adj" fmla="val 2241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863307-3757-499F-9352-CBBD5049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3350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4" name="Configuración de ejecución">
            <a:extLst xmlns:a="http://schemas.openxmlformats.org/drawingml/2006/main">
              <a:ext uri="{FF2B5EF4-FFF2-40B4-BE49-F238E27FC236}">
                <a16:creationId xmlns:a16="http://schemas.microsoft.com/office/drawing/2014/main" id="{6E022BE6-9E22-49CD-B19B-1DEC38F8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1922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Configuración de ejecución</a:t>
            </a:r>
          </a:p>
        </p:txBody>
      </p:sp>
      <p:sp>
        <p:nvSpPr>
          <p:cNvPr id="55" name="USER: selecciona el usuario.&#10;&#10;EXPOSE: do">
            <a:extLst xmlns:a="http://schemas.openxmlformats.org/drawingml/2006/main">
              <a:ext uri="{FF2B5EF4-FFF2-40B4-BE49-F238E27FC236}">
                <a16:creationId xmlns:a16="http://schemas.microsoft.com/office/drawing/2014/main" id="{D4AA9226-F43F-4EF5-A237-7652AC0F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4050"/>
            <a:ext cx="4476750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USER: selecciona el usuario.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EXPOSE: documenta el puerto.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ENTRYPOINT y CMD: definen el comando de arranque.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Ejemplo: WAR ejecutable de Spring Boot. No todos los WAR admiten java -jar.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Ejemplo: aplicación Java con Maven</a:t>
            </a:r>
          </a:p>
        </p:txBody>
      </p:sp>
      <p:sp>
        <p:nvSpPr>
          <p:cNvPr id="48" name="FROM maven:3.9.16-eclipse-temurin-21-alp">
            <a:extLst xmlns:a="http://schemas.openxmlformats.org/drawingml/2006/main">
              <a:ext uri="{FF2B5EF4-FFF2-40B4-BE49-F238E27FC236}">
                <a16:creationId xmlns:a16="http://schemas.microsoft.com/office/drawing/2014/main" id="{15B17B8D-7620-4041-BD37-F5661851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76350"/>
            <a:ext cx="10420350" cy="2752725"/>
          </a:xfrm>
          <a:prstGeom xmlns:a="http://schemas.openxmlformats.org/drawingml/2006/main" prst="roundRect">
            <a:avLst>
              <a:gd name="adj" fmla="val 2768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FROM maven:3.9.16-eclipse-temurin-21-alpine</a:t>
            </a:r>
          </a:p>
          <a:p xmlns:a="http://schemas.openxmlformats.org/drawingml/2006/main"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WORKDIR /app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COPY . .</a:t>
            </a:r>
          </a:p>
          <a:p xmlns:a="http://schemas.openxmlformats.org/drawingml/2006/main"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RUN mvn -B package -DskipTests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ENTRYPOINT ["java", "-jar", "target/&lt;artefacto&gt;.war"]</a:t>
            </a:r>
          </a:p>
        </p:txBody>
      </p:sp>
      <p:sp>
        <p:nvSpPr>
          <p:cNvPr id="49" name="Maven, el JDK y el código fuente permane">
            <a:extLst xmlns:a="http://schemas.openxmlformats.org/drawingml/2006/main">
              <a:ext uri="{FF2B5EF4-FFF2-40B4-BE49-F238E27FC236}">
                <a16:creationId xmlns:a16="http://schemas.microsoft.com/office/drawing/2014/main" id="{9D6E36AA-8F67-4436-AFAD-0FD7A2FC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91025"/>
            <a:ext cx="1004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Maven, el JDK y el código fuente permanecen en la imagen.</a:t>
            </a:r>
          </a:p>
          <a:p xmlns:a="http://schemas.openxmlformats.org/drawingml/2006/main"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&lt;artefacto&gt; debe sustituirse por el nombre real del WAR generado.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Dockerfile y contexto de construcción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F1F47C-30BE-4B0A-A8A5-8273284999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a8c35528e40f1"/>
          <a:stretch xmlns:a="http://schemas.openxmlformats.org/drawingml/2006/main"/>
        </p:blipFill>
        <p:spPr>
          <a:xfrm xmlns:a="http://schemas.openxmlformats.org/drawingml/2006/main">
            <a:off x="1357186" y="942975"/>
            <a:ext cx="9477628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El contexto define qué puede utilizar COPY, no qué entra automáticamente en la imagen.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Exclusiones del contexto con .dockerignore</a:t>
            </a:r>
          </a:p>
        </p:txBody>
      </p:sp>
      <p:sp>
        <p:nvSpPr>
          <p:cNvPr id="48" name="aplicacion/.dockerignore">
            <a:extLst xmlns:a="http://schemas.openxmlformats.org/drawingml/2006/main">
              <a:ext uri="{FF2B5EF4-FFF2-40B4-BE49-F238E27FC236}">
                <a16:creationId xmlns:a16="http://schemas.microsoft.com/office/drawing/2014/main" id="{C99AE4CF-88DB-4881-B064-3F267CDB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aplicacion/.dockerignore</a:t>
            </a:r>
          </a:p>
        </p:txBody>
      </p:sp>
      <p:sp>
        <p:nvSpPr>
          <p:cNvPr id="49" name="target/&#10;.idea/&#10;.vscode/&#10;*.iml&#10;&#10;.env&#10;.env">
            <a:extLst xmlns:a="http://schemas.openxmlformats.org/drawingml/2006/main">
              <a:ext uri="{FF2B5EF4-FFF2-40B4-BE49-F238E27FC236}">
                <a16:creationId xmlns:a16="http://schemas.microsoft.com/office/drawing/2014/main" id="{8F79561E-C100-4FD2-8320-92A60C8C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04975"/>
            <a:ext cx="45529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target/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.idea/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.vscode/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*.iml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.env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.env.*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uploads/</a:t>
            </a:r>
          </a:p>
        </p:txBody>
      </p:sp>
      <p:sp>
        <p:nvSpPr>
          <p:cNvPr id="50" name="Menos ficheros irrelevantes para constru">
            <a:extLst xmlns:a="http://schemas.openxmlformats.org/drawingml/2006/main">
              <a:ext uri="{FF2B5EF4-FFF2-40B4-BE49-F238E27FC236}">
                <a16:creationId xmlns:a16="http://schemas.microsoft.com/office/drawing/2014/main" id="{3A238276-DFD3-465E-87AC-38C256C2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505777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Menos ficheros irrelevantes para construir.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Menos cambios ajenos al código que afectan al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Menor riesgo de incorporar datos locales o sensibles.</a:t>
            </a:r>
          </a:p>
        </p:txBody>
      </p:sp>
      <p:sp>
        <p:nvSpPr>
          <p:cNvPr id="51" name=".gitignore actúa sobre nuevas incorporac">
            <a:extLst xmlns:a="http://schemas.openxmlformats.org/drawingml/2006/main">
              <a:ext uri="{FF2B5EF4-FFF2-40B4-BE49-F238E27FC236}">
                <a16:creationId xmlns:a16="http://schemas.microsoft.com/office/drawing/2014/main" id="{898330E3-5401-435E-950A-48AFFA50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38625"/>
            <a:ext cx="50577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.gitignore actúa sobre nuevas incorporaciones a Git.</a:t>
            </a:r>
          </a:p>
          <a:p xmlns:a="http://schemas.openxmlformats.org/drawingml/2006/main">
            <a:pPr algn="l">
              <a:defRPr sz="165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.dockerignore filtra el contexto de Docker.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Reutilización de pasos de construcción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06FF4F-4AEF-48F8-89CD-92D9DACE3A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d2bc1f70049f1"/>
          <a:stretch xmlns:a="http://schemas.openxmlformats.org/drawingml/2006/main"/>
        </p:blipFill>
        <p:spPr>
          <a:xfrm xmlns:a="http://schemas.openxmlformats.org/drawingml/2006/main">
            <a:off x="1357186" y="942975"/>
            <a:ext cx="9477628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caché mejora reconstrucciones. No elimina Maven ni el código de la imagen final.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Medición del tiempo y del tamaño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7E52A8-6A72-4E1C-B663-615C0D30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4895850" cy="2390775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16EEBE-CD43-46A1-8AF3-42F5AC12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0" name="Tiempo de construcción">
            <a:extLst xmlns:a="http://schemas.openxmlformats.org/drawingml/2006/main">
              <a:ext uri="{FF2B5EF4-FFF2-40B4-BE49-F238E27FC236}">
                <a16:creationId xmlns:a16="http://schemas.microsoft.com/office/drawing/2014/main" id="{D8926136-F204-4EF8-B751-6CA51EE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3827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Tiempo de construcción</a:t>
            </a:r>
          </a:p>
        </p:txBody>
      </p:sp>
      <p:sp>
        <p:nvSpPr>
          <p:cNvPr id="51" name="Comparar el build inicial y la reconstru">
            <a:extLst xmlns:a="http://schemas.openxmlformats.org/drawingml/2006/main">
              <a:ext uri="{FF2B5EF4-FFF2-40B4-BE49-F238E27FC236}">
                <a16:creationId xmlns:a16="http://schemas.microsoft.com/office/drawing/2014/main" id="{7B2F162D-FE41-42EE-AD82-98D5AC75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4476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Comparar el build inicial y la reconstrucción tras cambiar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Anotar si había imágenes base descargadas y caché previa.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60CFF1-E57C-4C4C-A20D-182076FE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4895850" cy="2390775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8A6BF3-2AF4-4F7E-AC98-1356E69F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4" name="Tamaño de imagen">
            <a:extLst xmlns:a="http://schemas.openxmlformats.org/drawingml/2006/main">
              <a:ext uri="{FF2B5EF4-FFF2-40B4-BE49-F238E27FC236}">
                <a16:creationId xmlns:a16="http://schemas.microsoft.com/office/drawing/2014/main" id="{B495140C-E69B-4D04-82A5-75F25977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3827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Tamaño de imagen</a:t>
            </a:r>
          </a:p>
        </p:txBody>
      </p:sp>
      <p:sp>
        <p:nvSpPr>
          <p:cNvPr id="55" name="Comparar la columna SIZE con la misma he">
            <a:extLst xmlns:a="http://schemas.openxmlformats.org/drawingml/2006/main">
              <a:ext uri="{FF2B5EF4-FFF2-40B4-BE49-F238E27FC236}">
                <a16:creationId xmlns:a16="http://schemas.microsoft.com/office/drawing/2014/main" id="{927AB3EC-D623-4B08-A7B6-00231A47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43100"/>
            <a:ext cx="4476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Comparar la columna SIZE con la misma herramienta.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docker system df mide el uso global, incluidas cachés y capas compartidas.</a:t>
            </a:r>
          </a:p>
        </p:txBody>
      </p:sp>
      <p:sp>
        <p:nvSpPr>
          <p:cNvPr id="56" name="time docker build ...">
            <a:extLst xmlns:a="http://schemas.openxmlformats.org/drawingml/2006/main">
              <a:ext uri="{FF2B5EF4-FFF2-40B4-BE49-F238E27FC236}">
                <a16:creationId xmlns:a16="http://schemas.microsoft.com/office/drawing/2014/main" id="{0C5D6FE7-ACE5-477E-877B-8EBD08BB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48958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725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313A44"/>
                </a:solidFill>
                <a:latin typeface="Courier New"/>
                <a:ea typeface="Courier New"/>
                <a:cs typeface="Courier New"/>
              </a:rPr>
              <a:t>time docker build ...</a:t>
            </a:r>
          </a:p>
        </p:txBody>
      </p:sp>
      <p:sp>
        <p:nvSpPr>
          <p:cNvPr id="57" name="docker image ls aplicacion:ingenua&#10;docke">
            <a:extLst xmlns:a="http://schemas.openxmlformats.org/drawingml/2006/main">
              <a:ext uri="{FF2B5EF4-FFF2-40B4-BE49-F238E27FC236}">
                <a16:creationId xmlns:a16="http://schemas.microsoft.com/office/drawing/2014/main" id="{7EC77E7D-638F-4EF4-8325-9EE21FCB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48958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500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313A44"/>
                </a:solidFill>
                <a:latin typeface="Courier New"/>
                <a:ea typeface="Courier New"/>
                <a:cs typeface="Courier New"/>
              </a:rPr>
              <a:t>docker image ls aplicacion:ingenua</a:t>
            </a:r>
          </a:p>
          <a:p xmlns:a="http://schemas.openxmlformats.org/drawingml/2006/main">
            <a:pPr algn="l">
              <a:defRPr sz="1500" b="0">
                <a:solidFill>
                  <a:srgbClr val="313A44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313A44"/>
                </a:solidFill>
                <a:latin typeface="Courier New"/>
                <a:ea typeface="Courier New"/>
                <a:cs typeface="Courier New"/>
              </a:rPr>
              <a:t>docker image ls aplicacion:optimizada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Construcción multietapa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8D997C-4DCD-464E-9E5A-232FBDF636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c35a593724ccf"/>
          <a:stretch xmlns:a="http://schemas.openxmlformats.org/drawingml/2006/main"/>
        </p:blipFill>
        <p:spPr>
          <a:xfrm xmlns:a="http://schemas.openxmlformats.org/drawingml/2006/main">
            <a:off x="1357186" y="942975"/>
            <a:ext cx="9477628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Las dependencias se preparan antes de copiar src para aprovechar la caché.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Dockerfile multietapa: construcción</a:t>
            </a:r>
          </a:p>
        </p:txBody>
      </p:sp>
      <p:sp>
        <p:nvSpPr>
          <p:cNvPr id="48" name="FROM maven:3.9.16-eclipse-temurin-21-alp">
            <a:extLst xmlns:a="http://schemas.openxmlformats.org/drawingml/2006/main">
              <a:ext uri="{FF2B5EF4-FFF2-40B4-BE49-F238E27FC236}">
                <a16:creationId xmlns:a16="http://schemas.microsoft.com/office/drawing/2014/main" id="{739DCF11-2BFC-41AC-8D1E-938CD7A4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47775"/>
            <a:ext cx="10420350" cy="3324225"/>
          </a:xfrm>
          <a:prstGeom xmlns:a="http://schemas.openxmlformats.org/drawingml/2006/main" prst="roundRect">
            <a:avLst>
              <a:gd name="adj" fmla="val 229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FROM maven:3.9.16-eclipse-temurin-21-alpine AS build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WORKDIR /app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COPY pom.xml .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RUN mvn -B dependency:go-offline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COPY src ./src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RUN mvn -B package -DskipTests \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&amp;&amp; cp target/*.war /tmp/app.war</a:t>
            </a:r>
          </a:p>
        </p:txBody>
      </p:sp>
      <p:sp>
        <p:nvSpPr>
          <p:cNvPr id="49" name="El artefacto queda disponible como /tmp/">
            <a:extLst xmlns:a="http://schemas.openxmlformats.org/drawingml/2006/main">
              <a:ext uri="{FF2B5EF4-FFF2-40B4-BE49-F238E27FC236}">
                <a16:creationId xmlns:a16="http://schemas.microsoft.com/office/drawing/2014/main" id="{C45F43F8-DCE7-4C01-83A0-9B230A88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867275"/>
            <a:ext cx="1002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El artefacto queda disponible como /tmp/app.war.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etapa final incorpora el WAR y conserva sus bibliotecas necesarias para ejecutar.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Dockerfile multietapa: ejecución</a:t>
            </a:r>
          </a:p>
        </p:txBody>
      </p:sp>
      <p:sp>
        <p:nvSpPr>
          <p:cNvPr id="48" name="FROM eclipse-temurin:21.0.12_8-jre-alpin">
            <a:extLst xmlns:a="http://schemas.openxmlformats.org/drawingml/2006/main">
              <a:ext uri="{FF2B5EF4-FFF2-40B4-BE49-F238E27FC236}">
                <a16:creationId xmlns:a16="http://schemas.microsoft.com/office/drawing/2014/main" id="{019B852C-BCFB-41C4-A9BC-F91EFEC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5875"/>
            <a:ext cx="104203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FROM eclipse-temurin:21.0.12_8-jre-alpine-3.24</a:t>
            </a:r>
          </a:p>
          <a:p xmlns:a="http://schemas.openxmlformats.org/drawingml/2006/main"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WORKDIR /app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COPY --from=build /tmp/app.war /app/app.war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EXPOSE 8080</a:t>
            </a:r>
          </a:p>
          <a:p xmlns:a="http://schemas.openxmlformats.org/drawingml/2006/main">
            <a:pPr algn="l">
              <a:def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ENTRYPOINT ["java", "-jar", "/app/app.war"]</a:t>
            </a:r>
          </a:p>
        </p:txBody>
      </p:sp>
      <p:sp>
        <p:nvSpPr>
          <p:cNvPr id="49" name="El segundo FROM inicia una etapa con otr">
            <a:extLst xmlns:a="http://schemas.openxmlformats.org/drawingml/2006/main">
              <a:ext uri="{FF2B5EF4-FFF2-40B4-BE49-F238E27FC236}">
                <a16:creationId xmlns:a16="http://schemas.microsoft.com/office/drawing/2014/main" id="{255FE6CB-8D4A-43FE-8482-C8CCE236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591050"/>
            <a:ext cx="10048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segundo FROM inicia una etapa con otra base.</a:t>
            </a:r>
          </a:p>
          <a:p xmlns:a="http://schemas.openxmlformats.org/drawingml/2006/main"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COPY --from=build selecciona qué recibe de la etapa anterior.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Usuario y almacenamiento de la aplicación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80CD62-7E4C-4F40-8C7C-A171DAF593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0ea3773104fde"/>
          <a:stretch xmlns:a="http://schemas.openxmlformats.org/drawingml/2006/main"/>
        </p:blipFill>
        <p:spPr>
          <a:xfrm xmlns:a="http://schemas.openxmlformats.org/drawingml/2006/main">
            <a:off x="1357186" y="942975"/>
            <a:ext cx="9477628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Una imagen pequeña debe seguir siendo adecuada para la aplicación y su diagnóstico.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Elección y mantenimiento del runtime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A0FA6B-79FE-436B-887A-4897772F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4895850" cy="3514725"/>
          </a:xfrm>
          <a:prstGeom xmlns:a="http://schemas.openxmlformats.org/drawingml/2006/main" prst="roundRect">
            <a:avLst>
              <a:gd name="adj" fmla="val 2168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6E0F2E-D8A9-4DDA-AEF7-96F6260C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0" name="Opciones de imagen base">
            <a:extLst xmlns:a="http://schemas.openxmlformats.org/drawingml/2006/main">
              <a:ext uri="{FF2B5EF4-FFF2-40B4-BE49-F238E27FC236}">
                <a16:creationId xmlns:a16="http://schemas.microsoft.com/office/drawing/2014/main" id="{457B2ABB-98FD-4D3B-9F27-441132BB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859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Opciones de imagen base</a:t>
            </a:r>
          </a:p>
        </p:txBody>
      </p:sp>
      <p:sp>
        <p:nvSpPr>
          <p:cNvPr id="51" name="Completa: más herramientas y más softwar">
            <a:extLst xmlns:a="http://schemas.openxmlformats.org/drawingml/2006/main">
              <a:ext uri="{FF2B5EF4-FFF2-40B4-BE49-F238E27FC236}">
                <a16:creationId xmlns:a16="http://schemas.microsoft.com/office/drawing/2014/main" id="{A7D9BB34-2E55-4006-8237-67133B01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90725"/>
            <a:ext cx="4476750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Completa: más herramientas y más software.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Alpine o slim: menor tamaño habitual, con posibles ausencias.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Distroless: diagnóstico interactivo más difícil.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FA8A85-2A53-4948-9F23-4E7E547D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00175"/>
            <a:ext cx="4895850" cy="3514725"/>
          </a:xfrm>
          <a:prstGeom xmlns:a="http://schemas.openxmlformats.org/drawingml/2006/main" prst="roundRect">
            <a:avLst>
              <a:gd name="adj" fmla="val 2168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BDE2DA-7F0A-4628-91B2-49AA47D1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00175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4" name="Decisiones del módulo">
            <a:extLst xmlns:a="http://schemas.openxmlformats.org/drawingml/2006/main">
              <a:ext uri="{FF2B5EF4-FFF2-40B4-BE49-F238E27FC236}">
                <a16:creationId xmlns:a16="http://schemas.microsoft.com/office/drawing/2014/main" id="{95B44FD5-A51E-45F2-A489-FDB0C3CF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859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Decisiones del módulo</a:t>
            </a:r>
          </a:p>
        </p:txBody>
      </p:sp>
      <p:sp>
        <p:nvSpPr>
          <p:cNvPr id="55" name="Usaremos variantes mínimas que permitan ">
            <a:extLst xmlns:a="http://schemas.openxmlformats.org/drawingml/2006/main">
              <a:ext uri="{FF2B5EF4-FFF2-40B4-BE49-F238E27FC236}">
                <a16:creationId xmlns:a16="http://schemas.microsoft.com/office/drawing/2014/main" id="{BA46C272-02FD-406F-A336-083C0FB4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90725"/>
            <a:ext cx="4476750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Usaremos variantes mínimas que permitan inspeccionar el contenedor.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Las imágenes base también reciben correcciones.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mantenimiento exige reconstruir y actualizar periódicamente.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Identificación mediante etiquetas y digest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308401-2C83-4F8F-A956-FD583F1B9A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2f1e3d8f44fea"/>
          <a:stretch xmlns:a="http://schemas.openxmlformats.org/drawingml/2006/main"/>
        </p:blipFill>
        <p:spPr>
          <a:xfrm xmlns:a="http://schemas.openxmlformats.org/drawingml/2006/main">
            <a:off x="1357186" y="942975"/>
            <a:ext cx="9477628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Las dos etiquetas pueden apuntar al mismo digest sin duplicar el contenido.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Publicación de la imagen en GHCR</a:t>
            </a:r>
          </a:p>
        </p:txBody>
      </p:sp>
      <p:sp>
        <p:nvSpPr>
          <p:cNvPr id="48" name="docker login ghcr.io -u &lt;usuario&gt;&#10;&#10;docke">
            <a:extLst xmlns:a="http://schemas.openxmlformats.org/drawingml/2006/main">
              <a:ext uri="{FF2B5EF4-FFF2-40B4-BE49-F238E27FC236}">
                <a16:creationId xmlns:a16="http://schemas.microsoft.com/office/drawing/2014/main" id="{DF371A51-2AAB-4B7D-8EB2-C565C507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04925"/>
            <a:ext cx="10420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login ghcr.io -u &lt;usuario&gt;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tag aplicacion:optimizada \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ghcr.io/&lt;usuario&gt;/mi-app:1.0.0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push ghcr.io/&lt;usuario&gt;/mi-app:1.0.0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tag aplicacion:optimizada \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ghcr.io/&lt;usuario&gt;/mi-app:latest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push ghcr.io/&lt;usuario&gt;/mi-app:latest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Un entorno limpio permite detectar dependencias que solo existían en tu equipo.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Validación automática de la construcción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C69214-E3CA-4190-9B7F-FC4E39A5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4895850" cy="3495675"/>
          </a:xfrm>
          <a:prstGeom xmlns:a="http://schemas.openxmlformats.org/drawingml/2006/main" prst="roundRect">
            <a:avLst>
              <a:gd name="adj" fmla="val 2180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BE8A41-73FC-4DC7-81DD-CA45E8C2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0" name="Antes de publicar">
            <a:extLst xmlns:a="http://schemas.openxmlformats.org/drawingml/2006/main">
              <a:ext uri="{FF2B5EF4-FFF2-40B4-BE49-F238E27FC236}">
                <a16:creationId xmlns:a16="http://schemas.microsoft.com/office/drawing/2014/main" id="{3F0E150B-9C6D-4EFB-832E-DEC64F16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859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Antes de publicar</a:t>
            </a:r>
          </a:p>
        </p:txBody>
      </p:sp>
      <p:sp>
        <p:nvSpPr>
          <p:cNvPr id="51" name="Comprobar la estructura del proyecto.&#10;&#10;C">
            <a:extLst xmlns:a="http://schemas.openxmlformats.org/drawingml/2006/main">
              <a:ext uri="{FF2B5EF4-FFF2-40B4-BE49-F238E27FC236}">
                <a16:creationId xmlns:a16="http://schemas.microsoft.com/office/drawing/2014/main" id="{D6A43004-D32F-4E4B-9448-AB1B957F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90725"/>
            <a:ext cx="447675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Comprobar la estructura del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Construir la imagen desde el repositorio.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Ejecutar las pruebas adecuadas.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A6F34F-2966-4A2E-9346-8E393BC9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00175"/>
            <a:ext cx="4895850" cy="3495675"/>
          </a:xfrm>
          <a:prstGeom xmlns:a="http://schemas.openxmlformats.org/drawingml/2006/main" prst="roundRect">
            <a:avLst>
              <a:gd name="adj" fmla="val 218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F5C833-54A7-46F7-984F-0AFF7C57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00175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4" name="Qué verificar">
            <a:extLst xmlns:a="http://schemas.openxmlformats.org/drawingml/2006/main">
              <a:ext uri="{FF2B5EF4-FFF2-40B4-BE49-F238E27FC236}">
                <a16:creationId xmlns:a16="http://schemas.microsoft.com/office/drawing/2014/main" id="{0BA49C77-139C-432D-B6A4-DF78DB76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859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verificar</a:t>
            </a:r>
          </a:p>
        </p:txBody>
      </p:sp>
      <p:sp>
        <p:nvSpPr>
          <p:cNvPr id="55" name="Contexto y rutas correctos.&#10;&#10;Ausencia de">
            <a:extLst xmlns:a="http://schemas.openxmlformats.org/drawingml/2006/main">
              <a:ext uri="{FF2B5EF4-FFF2-40B4-BE49-F238E27FC236}">
                <a16:creationId xmlns:a16="http://schemas.microsoft.com/office/drawing/2014/main" id="{44729A34-22D3-4A39-8FB6-1C70B893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90725"/>
            <a:ext cx="447675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Contexto y rutas correctos.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Ausencia de archivos locales imprescindibles.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Arranque y permisos de la aplicación.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Aplicaremos estas decisiones al proyecto Escaparate.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Conexión con la actividad 2.2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E2BC28-09B5-4A7A-B4B7-B6C3EBE4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4895850" cy="3495675"/>
          </a:xfrm>
          <a:prstGeom xmlns:a="http://schemas.openxmlformats.org/drawingml/2006/main" prst="roundRect">
            <a:avLst>
              <a:gd name="adj" fmla="val 218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959B2C-BC15-4CC6-A222-572D6375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0175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0" name="Construcción y comparación">
            <a:extLst xmlns:a="http://schemas.openxmlformats.org/drawingml/2006/main">
              <a:ext uri="{FF2B5EF4-FFF2-40B4-BE49-F238E27FC236}">
                <a16:creationId xmlns:a16="http://schemas.microsoft.com/office/drawing/2014/main" id="{D04164F9-0840-48FE-86E6-E031C7E5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859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Construcción y comparación</a:t>
            </a:r>
          </a:p>
        </p:txBody>
      </p:sp>
      <p:sp>
        <p:nvSpPr>
          <p:cNvPr id="51" name="Identificar qué necesita la aplicación.&#10;">
            <a:extLst xmlns:a="http://schemas.openxmlformats.org/drawingml/2006/main">
              <a:ext uri="{FF2B5EF4-FFF2-40B4-BE49-F238E27FC236}">
                <a16:creationId xmlns:a16="http://schemas.microsoft.com/office/drawing/2014/main" id="{1640B69F-624E-4F41-9377-468DBF68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90725"/>
            <a:ext cx="447675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Identificar qué necesita la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Construir una imagen inicial.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Optimizar y comparar tiempo y tamaño.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07A0B2D-0BD8-4D32-8604-22355CC9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00175"/>
            <a:ext cx="4895850" cy="3495675"/>
          </a:xfrm>
          <a:prstGeom xmlns:a="http://schemas.openxmlformats.org/drawingml/2006/main" prst="roundRect">
            <a:avLst>
              <a:gd name="adj" fmla="val 2180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1543AE-C0C6-43B1-A097-B2405F5D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00175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4" name="Verificación y publicación">
            <a:extLst xmlns:a="http://schemas.openxmlformats.org/drawingml/2006/main">
              <a:ext uri="{FF2B5EF4-FFF2-40B4-BE49-F238E27FC236}">
                <a16:creationId xmlns:a16="http://schemas.microsoft.com/office/drawing/2014/main" id="{5EFF04D0-5BB1-4EC1-8B6F-7E1F4443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859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Verificación y publicación</a:t>
            </a:r>
          </a:p>
        </p:txBody>
      </p:sp>
      <p:sp>
        <p:nvSpPr>
          <p:cNvPr id="55" name="Comprobar usuario y escritura.&#10;&#10;Publicar">
            <a:extLst xmlns:a="http://schemas.openxmlformats.org/drawingml/2006/main">
              <a:ext uri="{FF2B5EF4-FFF2-40B4-BE49-F238E27FC236}">
                <a16:creationId xmlns:a16="http://schemas.microsoft.com/office/drawing/2014/main" id="{848B4C5E-A84B-4855-ACC9-5D36CBDE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90725"/>
            <a:ext cx="447675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Comprobar usuario y escritura.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Publicar las etiquetas de la actividad.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Documentar resultados y validar la construcción en CI.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Próxima sesión: describiremos el sistema completo con Docker Compose.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Imágenes de contenedores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Cierre de la sesión</a:t>
            </a:r>
          </a:p>
        </p:txBody>
      </p:sp>
      <p:sp>
        <p:nvSpPr>
          <p:cNvPr id="48" name="Cada decisión resuelve un problema difer">
            <a:extLst xmlns:a="http://schemas.openxmlformats.org/drawingml/2006/main">
              <a:ext uri="{FF2B5EF4-FFF2-40B4-BE49-F238E27FC236}">
                <a16:creationId xmlns:a16="http://schemas.microsoft.com/office/drawing/2014/main" id="{1537838F-BC9A-4C02-989B-D71AD337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Cada decisión resuelve un problema diferente</a:t>
            </a:r>
          </a:p>
        </p:txBody>
      </p:sp>
      <p:sp>
        <p:nvSpPr>
          <p:cNvPr id="49" name=".dockerignore reduce contenido innecesar">
            <a:extLst xmlns:a="http://schemas.openxmlformats.org/drawingml/2006/main">
              <a:ext uri="{FF2B5EF4-FFF2-40B4-BE49-F238E27FC236}">
                <a16:creationId xmlns:a16="http://schemas.microsoft.com/office/drawing/2014/main" id="{0A86E0CA-F356-4438-B6D2-F620E45C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24025"/>
            <a:ext cx="10220325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6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.dockerignore reduce contenido innecesario del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caché permite reutilizar trabajo de construcción.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Multietapa deja las herramientas de build fuera de la imagen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usuario y los permisos controlan la escritura durante la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Las etiquetas nombran imágenes y el digest identifica contenido exacto.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Las mediciones permiten justificar qué ha mejorado.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2026-10-14T05:44:46.2130000Z</dcterms:created>
  <dcterms:modified xsi:type="dcterms:W3CDTF">2026-10-14T05:44:46.2140000Z</dcterms:modified>
</coreProperties>
</file>