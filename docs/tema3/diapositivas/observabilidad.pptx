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Observabilidad. Fuente: observabilidad.md revisado. Ejemplos genéricos.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La observabilidad permite comprender el sistema a partir de sus señales.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«Observabilidad». Infografía elaborada para esta sesión.</a:t>
            </a:r>
          </a:p>
          <a:p>
            <a:r>
              <a:t>Un evento, una tendencia y el recorrido temporal de una petición aportan perspectivas complementarias.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La práctica se centra en logs y agregaciones obtenidas a partir de ellos.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«Observabilidad». Infografía elaborada para esta sesión.</a:t>
            </a:r>
          </a:p>
          <a:p>
            <a:r>
              <a:t>Ejemplo sin otro backend disponible: Nginx no conecta y devuelve 502. El mensaje de error es una explicación simplificada.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Los campos del access log dependen del formato configurado.</a:t>
            </a:r>
          </a:p>
          <a:p>
            <a:r>
              <a:t>https://nginx.org/en/docs/http/ngx_http_log_module.html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La duración del proxy no equivale exclusivamente a ejecución del backend.</a:t>
            </a:r>
          </a:p>
          <a:p>
            <a:r>
              <a:t>https://nginx.org/en/docs/http/ngx_http_log_module.html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La herramienta de consulta debe interpretar correctamente los tipos numéricos.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Una dirección registrada puede corresponder a un intento fallido.</a:t>
            </a:r>
          </a:p>
          <a:p>
            <a:r>
              <a:t>https://nginx.org/en/docs/http/ngx_http_upstream_module.html#variables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log_format se declara en el contexto http de Nginx.</a:t>
            </a:r>
          </a:p>
          <a:p>
            <a:r>
              <a:t>https://nginx.org/en/docs/http/ngx_http_log_module.html#log_format</a:t>
            </a:r>
          </a:p>
          <a:p>
            <a:r>
              <a:t>escape=json escapa valores, pero requiere un JSON bien construido. uri omite argumentos y puede estar normalizada o modificada.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Los registros también necesitan permisos y acceso controlado.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«Observabilidad». Infografía elaborada para esta sesión.</a:t>
            </a:r>
          </a:p>
          <a:p>
            <a:r>
              <a:t>Fuentes, recolector, almacén y consulta. Las flechas representan logs, no peticiones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Compose puede reunir la salida de varios servicios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«Observabilidad». Infografía elaborada para esta sesión.</a:t>
            </a:r>
          </a:p>
          <a:p>
            <a:r>
              <a:t>Rate, Errors y Duration organizan la observación de peticiones. La saturación requiere normalmente señales de recursos.</a:t>
            </a:r>
          </a:p>
          <a:p>
            <a:r>
              <a:t>https://sre.google/sre-book/monitoring-distributed-systems/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El indicador describe el conjunto que se ha recogido y seleccionado.</a:t>
            </a:r>
          </a:p>
          <a:p>
            <a:r>
              <a:t>USE: Utilization, Saturation, Errors. Se reconoce sin instrumentarlo en esta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«Observabilidad». Infografía elaborada para esta sesión.</a:t>
            </a:r>
          </a:p>
          <a:p>
            <a:r>
              <a:t>Ejemplo comprobado: 90 peticiones de 50 ms, 5 de 400 ms y 5 de 800 ms. Media 105 ms y p95 por rango más próximo 400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No se obtiene el p95 global haciendo la media de los p95 de las réplicas.</a:t>
            </a:r>
          </a:p>
          <a:p>
            <a:r>
              <a:t>La suma de duraciones no indica la duración de una prueba concurrente. Un fallo rápido puede bajar la media aunque empeore el servicio.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Desde un gráfico debemos poder volver a los registros relevantes.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«Observabilidad». Infografía elaborada para esta sesión.</a:t>
            </a:r>
          </a:p>
          <a:p>
            <a:r>
              <a:t>La ventana móvil selecciona datos. La persistencia opcional retrasa el aviso hasta que la condición se mantenga.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Cada evaluación utiliza una nueva ventana móvil de datos.</a:t>
            </a:r>
          </a:p>
          <a:p>
            <a:r>
              <a:t>https://prometheus.io/docs/prometheus/latest/configuration/alerting_rules/</a:t>
            </a:r>
          </a:p>
          <a:p>
            <a:r>
              <a:t>No requiere que sean los mismos errores ni significa esperar siempre cuatro minutos desde el inicio de la incidencia. La periodicidad de evaluación condiciona el momento del aviso.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Una ausencia de datos puede ser un fallo de recogida.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La observación consume recursos y necesita mantenimiento.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«Observabilidad», revisión visual.</a:t>
            </a:r>
          </a:p>
          <a:p>
            <a:r>
              <a:t>La siguiente sesión mirará dentro del backend y abordará su estado y rendimiento.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8D55-3D93-4052-927B-2BB61E8DB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451C9C-7AC2-46FC-BD0C-375C87D8B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3CFF0-627B-43C8-B118-21AE700691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D33D3-7332-4DC6-8E93-2146CB0F7D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B3830-FBB4-440E-9C2E-518A859E2E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0F1F-5F52-4CB7-AA6B-636441755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211BF-BD31-4536-8011-85941F8C2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0E569-0F9D-40DC-97C1-5CA1D3BA67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BCC40-2B84-46A7-8250-BE033055B8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922A6-E110-429B-A09E-5AE98F5B48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33CA-1854-4B6C-9C57-DF67B3E3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5F115-9A1F-4E2E-902A-86C8F5E76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F1AE-7BF5-49D6-8A5F-E7581DAD6C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A6E83-5508-4DC7-AA86-1F4C5B9266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ACD87-4628-4334-B3BF-312F87E3D5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A222-FA59-479E-B145-DA4003A62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DC276-F894-4905-8EC3-87B35EC1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B8FD5-8509-45A6-BC97-84A404E196F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2C0A8-D372-4543-81A3-E7ABDE5386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78588-9E39-4907-BDA9-17E9163369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FB70B-850D-454A-BBD9-99450D6036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2CFB1-4395-414B-8DF4-66675BA3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951FA-C721-4887-974A-00E742921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D121A-36F3-4E6D-AAEF-689684BC953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EC55CC-BCAB-46B9-A685-E523688C10E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15EFD-2734-4AB0-A8DF-B5B2536D4AF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D231E6-939D-4724-B8E3-E3E39B65BD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BB8A3E-A562-4E07-A872-20276218E8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699FE3-B089-40A5-B792-E0D43350EA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9428-96B4-4B38-B1B8-F14215C07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70193-956B-4D37-A105-B09E306223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52D44-586B-4411-9B85-857890F79A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64F6B4-8540-42BD-B063-2F6F3BA231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AC0AE6-024D-4D76-A922-7530ECA4AB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AD3CB-B97D-457F-83E1-BABD45FF40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B70DF-EE03-415A-8F42-7CD21F09DD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CCF5A-1FCA-480F-A7CD-0D6A39C94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6BCBC-FD5F-4A2D-88A0-771F7B0E2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20A0F-6451-45BC-9669-466DF6CE239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2485D-763C-4F94-A09B-AD2FCDEC02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205FF-8158-4785-BA86-243B700ECE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593E0-0373-4687-8253-5E38938E05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1105-303D-4432-A41C-61A9148B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588C16-41A8-4CC4-9331-18DA7C7D7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B534A-E1BF-480A-A7EB-D41E35F377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D19C1-966E-4DDE-9DDD-1E17F0663D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8E80E-0B6A-4FA3-87EA-C829345121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AD85E-F6D5-42E5-B97B-1FE11FFE94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C1297-7E34-48AF-993C-E2FAA8A3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5E22F-657D-4583-A0D7-EA3DDFF48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1AFA3-95FE-4BF8-8AC2-46A16F4FCB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459CD-1CB8-476F-8514-FF9ACF5151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53795-3E4F-4D8D-9DAE-F82C688335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924F95-F08E-451E-9C23-36C35083C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9A9A6-525E-438C-9783-ABC993043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FDEA6-E8E3-4D6E-8C64-FADCABB1EA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53DBF-1971-4053-BE8D-6BAAFFBB44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6DB9C-4504-485D-85A1-2782FD72EE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6CC451-C1BB-4B58-BF1B-5E0EF84F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AC9E0-ED00-4A98-8D7C-98FF4A21A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92D7F-BF7C-4C44-AEFB-E1833A9CFBD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D7C17-76E0-40A8-A726-19E9CD86AF0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C94C1-93E6-49BA-854F-46A1D4DB3D5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35086C-EB46-4D47-83C2-0A3DE24BC0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055640"/>
          </a:solidFill>
          <a:ln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598D9-AEED-4D23-862D-C7EB658B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0"/>
            <a:ext cx="51435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15D0C1-27CD-41AC-95BD-3B9550AFE8C5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5852160" cy="19050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Observabilidad</a:t>
            </a:r>
          </a:p>
          <a:p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Logs, métricas y alertas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9CB873E-685B-674F-42EF-2BCBE16E595D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strike="noStrike">
                <a:solidFill>
                  <a:srgbClr val="B2DFDB"/>
                </a:solidFill>
                <a:latin typeface="Arial"/>
                <a:ea typeface="Arial"/>
                <a:cs typeface="Arial"/>
              </a:rPr>
              <a:t>DESPLIEGUE DE APLICACIONES WEB  —  CURSO 2026/2027</a:t>
            </a: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8D19E44C-8D7D-DC4C-F500-8F8435DC93E3}"/>
              </a:ext>
            </a:extLst>
          </p:cNvPr>
          <p:cNvSpPr>
            <a:spLocks noGrp="1"/>
          </p:cNvSpPr>
          <p:nvPr/>
        </p:nvSpPr>
        <p:spPr>
          <a:xfrm>
            <a:off x="0" y="5120640"/>
            <a:ext cx="7954920" cy="9140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E3D37BB-2692-A6BF-8485-3C8D15DF0F71}"/>
              </a:ext>
            </a:extLst>
          </p:cNvPr>
          <p:cNvSpPr>
            <a:spLocks noGrp="1"/>
          </p:cNvSpPr>
          <p:nvPr/>
        </p:nvSpPr>
        <p:spPr>
          <a:xfrm>
            <a:off x="548640" y="51206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i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Tema 3 — Publicación y ejecución de aplicaciones web</a:t>
            </a:r>
          </a:p>
        </p:txBody>
      </p:sp>
    </p:spTree>
    <p:extLst>
      <p:ext uri="{BB962C8B-B14F-4D97-AF65-F5344CB8AC3E}">
        <p14:creationId xmlns:p14="http://schemas.microsoft.com/office/powerpoint/2010/main" val="1816825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observabilidad permite comprender el sistema a partir de sus señales.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 de la sesión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39E42040-931B-4F1C-8B89-5BD25B13E731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855E8769-D34F-43E7-98F5-CDF38E4DD9C3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Punto de partida">
            <a:extLst>
              <a:ext uri="{FF2B5EF4-FFF2-40B4-BE49-F238E27FC236}">
                <a16:creationId xmlns:a16="http://schemas.microsoft.com/office/drawing/2014/main" id="{A60AC15D-BA06-4827-AFC1-958D71F954B6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Punto de partida</a:t>
            </a:r>
          </a:p>
        </p:txBody>
      </p:sp>
      <p:sp>
        <p:nvSpPr>
          <p:cNvPr id="51" name="Un servicio puede responder y seguir sie">
            <a:extLst>
              <a:ext uri="{FF2B5EF4-FFF2-40B4-BE49-F238E27FC236}">
                <a16:creationId xmlns:a16="http://schemas.microsoft.com/office/drawing/2014/main" id="{1AC3D0EA-3E91-440C-BA02-767402AD589B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 servicio puede responder y seguir siendo difícil de administrar.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Necesitamos describir qué falla, cuándo y a quién afecta.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63F913E6-3939-4B8E-B6EC-D4672220A988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D3189087-4929-4ABC-8A91-45E942823712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Qué trabajaremos">
            <a:extLst>
              <a:ext uri="{FF2B5EF4-FFF2-40B4-BE49-F238E27FC236}">
                <a16:creationId xmlns:a16="http://schemas.microsoft.com/office/drawing/2014/main" id="{4877AC32-16D7-4320-8A0C-FDAB5CABEAFE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trabajaremos</a:t>
            </a:r>
          </a:p>
        </p:txBody>
      </p:sp>
      <p:sp>
        <p:nvSpPr>
          <p:cNvPr id="55" name="Logs estructurados y centralizados.&#10;&#10;Trá">
            <a:extLst>
              <a:ext uri="{FF2B5EF4-FFF2-40B4-BE49-F238E27FC236}">
                <a16:creationId xmlns:a16="http://schemas.microsoft.com/office/drawing/2014/main" id="{61E7AB34-CC61-4C46-B370-B76ABC32E3D4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Logs estructurados y centralizados.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Tráfico, errores y latencia.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Paneles y alertas que ayudan a actuar.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Logs, métricas y trazas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429AE912-79A6-4AC4-9DA1-266ABD17C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práctica se centra en logs y agregaciones obtenidas a partir de ellos.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Alcance de la observación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21B52EAC-9063-4D38-BA92-CD3872CE58C1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75704B5-4080-4916-831F-9E939D17F311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Datos de peticiones">
            <a:extLst>
              <a:ext uri="{FF2B5EF4-FFF2-40B4-BE49-F238E27FC236}">
                <a16:creationId xmlns:a16="http://schemas.microsoft.com/office/drawing/2014/main" id="{3A018624-409C-4502-AE75-B238B7A81571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 de peticiones</a:t>
            </a:r>
          </a:p>
        </p:txBody>
      </p:sp>
      <p:sp>
        <p:nvSpPr>
          <p:cNvPr id="51" name="Podemos contar respuestas y calcular lat">
            <a:extLst>
              <a:ext uri="{FF2B5EF4-FFF2-40B4-BE49-F238E27FC236}">
                <a16:creationId xmlns:a16="http://schemas.microsoft.com/office/drawing/2014/main" id="{8469E5EB-C891-4837-8256-4C716AD27FC3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Podemos contar respuestas y calcular latencias.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 200 también puede ser lento.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Una petición aislada no describe todo el servicio.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0E2B82F4-9217-4865-B617-CE04668D3677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26D4058-2AFE-47F3-991C-0B44FBE2C4AE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Otras señales">
            <a:extLst>
              <a:ext uri="{FF2B5EF4-FFF2-40B4-BE49-F238E27FC236}">
                <a16:creationId xmlns:a16="http://schemas.microsoft.com/office/drawing/2014/main" id="{743495A1-53E2-4D7F-9D35-11004B634426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Otras señales</a:t>
            </a:r>
          </a:p>
        </p:txBody>
      </p:sp>
      <p:sp>
        <p:nvSpPr>
          <p:cNvPr id="55" name="CPU, memoria y colas requieren medicione">
            <a:extLst>
              <a:ext uri="{FF2B5EF4-FFF2-40B4-BE49-F238E27FC236}">
                <a16:creationId xmlns:a16="http://schemas.microsoft.com/office/drawing/2014/main" id="{D8043B57-567F-49DA-8EA2-6B56B394FF6C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CPU, memoria y colas requieren mediciones específicas.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Las trazas necesitan instrumentación y contexto.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Los spans anidados no se suman sin más.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 log y error log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A754B2F7-8DCE-4102-8E75-7D221229B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Los campos del access log dependen del formato configurado.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registra Nginx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4ED284C9-3778-4C87-BEBA-A86737139E8C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0B075DB0-12D3-4449-9769-02B1C9719727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Access log">
            <a:extLst>
              <a:ext uri="{FF2B5EF4-FFF2-40B4-BE49-F238E27FC236}">
                <a16:creationId xmlns:a16="http://schemas.microsoft.com/office/drawing/2014/main" id="{9C2C834C-B75F-4572-9B89-7C5CFA83BCD4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 log</a:t>
            </a:r>
          </a:p>
        </p:txBody>
      </p:sp>
      <p:sp>
        <p:nvSpPr>
          <p:cNvPr id="51" name="Normalmente registra al finalizar la pet">
            <a:extLst>
              <a:ext uri="{FF2B5EF4-FFF2-40B4-BE49-F238E27FC236}">
                <a16:creationId xmlns:a16="http://schemas.microsoft.com/office/drawing/2014/main" id="{88F6D8FD-D3CF-4186-AE8C-0210AC5454C7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Normalmente registra al finalizar la petición.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Permite consultar ruta, estado y otros campos elegidos.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Puede haber filtros o registro desactivado.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A6143996-EDE1-4F80-BE14-13BCD1B44290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6018A16B-EDC4-4BAB-839E-CA132052E606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Error log">
            <a:extLst>
              <a:ext uri="{FF2B5EF4-FFF2-40B4-BE49-F238E27FC236}">
                <a16:creationId xmlns:a16="http://schemas.microsoft.com/office/drawing/2014/main" id="{46180B85-5B1D-435C-A487-31187BE62201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 log</a:t>
            </a:r>
          </a:p>
        </p:txBody>
      </p:sp>
      <p:sp>
        <p:nvSpPr>
          <p:cNvPr id="55" name="Recoge problemas detectados por Nginx.&#10;&#10;">
            <a:extLst>
              <a:ext uri="{FF2B5EF4-FFF2-40B4-BE49-F238E27FC236}">
                <a16:creationId xmlns:a16="http://schemas.microsoft.com/office/drawing/2014/main" id="{4E62ED00-88C5-4AF7-A05C-2DC60F04BFF8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Recoge problemas detectados por Nginx.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 hay una entrada obligatoria por cada respuesta de error.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detalle de un 500 puede estar en el log de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duración del proxy no equivale exclusivamente a ejecución del backend.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Duración observada por el proxy</a:t>
            </a:r>
          </a:p>
        </p:txBody>
      </p:sp>
      <p:sp>
        <p:nvSpPr>
          <p:cNvPr id="48" name="$request_time = 0.042 s = 42 ms">
            <a:extLst>
              <a:ext uri="{FF2B5EF4-FFF2-40B4-BE49-F238E27FC236}">
                <a16:creationId xmlns:a16="http://schemas.microsoft.com/office/drawing/2014/main" id="{63DCD81D-3906-459A-98AB-B17A44A7B4E4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$request_time = 0.042 s = 42 ms</a:t>
            </a:r>
          </a:p>
        </p:txBody>
      </p:sp>
      <p:sp>
        <p:nvSpPr>
          <p:cNvPr id="49" name="Nginx mide desde los primeros bytes leíd">
            <a:extLst>
              <a:ext uri="{FF2B5EF4-FFF2-40B4-BE49-F238E27FC236}">
                <a16:creationId xmlns:a16="http://schemas.microsoft.com/office/drawing/2014/main" id="{E660C38B-37AF-43F5-A83F-B28D358001BB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Nginx mide desde los primeros bytes leídos del cliente hasta el registro tras enviar la respuesta.</a:t>
            </a:r>
          </a:p>
        </p:txBody>
      </p:sp>
      <p:sp>
        <p:nvSpPr>
          <p:cNvPr id="50" name="También influyen la recepción de la peti">
            <a:extLst>
              <a:ext uri="{FF2B5EF4-FFF2-40B4-BE49-F238E27FC236}">
                <a16:creationId xmlns:a16="http://schemas.microsoft.com/office/drawing/2014/main" id="{BDD57F15-8E98-4C95-90CF-982FBCD7E2A3}"/>
              </a:ext>
            </a:extLst>
          </p:cNvPr>
          <p:cNvSpPr>
            <a:spLocks noGrp="1"/>
          </p:cNvSpPr>
          <p:nvPr/>
        </p:nvSpPr>
        <p:spPr>
          <a:xfrm>
            <a:off x="1095375" y="2857500"/>
            <a:ext cx="9906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También influyen la recepción de la petición y el envío al cliente.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 representa toda la experiencia del navegador.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herramienta de consulta debe interpretar correctamente los tipos numéricos.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Campos con nombre y unidades</a:t>
            </a:r>
          </a:p>
        </p:txBody>
      </p:sp>
      <p:sp>
        <p:nvSpPr>
          <p:cNvPr id="48" name="{&#10;  &quot;fecha&quot;: &quot;2026-10-15T10:00:00+00:00&quot;">
            <a:extLst>
              <a:ext uri="{FF2B5EF4-FFF2-40B4-BE49-F238E27FC236}">
                <a16:creationId xmlns:a16="http://schemas.microsoft.com/office/drawing/2014/main" id="{A42AA2F1-53AA-49C3-87D6-0815D42D6616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{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"fecha": "2026-10-15T10:00:00+00:00",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"metodo": "GET",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"ruta": "/api/productos",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"estado": 200,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"duracion_s": 0.042,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"destino": "172.20.0.5:8080"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9" name="Unidades explícitas y contexto permiten ">
            <a:extLst>
              <a:ext uri="{FF2B5EF4-FFF2-40B4-BE49-F238E27FC236}">
                <a16:creationId xmlns:a16="http://schemas.microsoft.com/office/drawing/2014/main" id="{538119A9-3C29-409D-A87D-FA750EA72CE1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Unidades explícitas y contexto permiten filtrar, agrupar y comparar.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Una dirección registrada puede corresponder a un intento fallido.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Destinos, reintentos y contexto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2A5B3969-DE79-45A3-A166-609D879A9F2B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8CCFE25E-21FF-4FCF-8046-C07B6DE2A8B9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Destinos del proxy">
            <a:extLst>
              <a:ext uri="{FF2B5EF4-FFF2-40B4-BE49-F238E27FC236}">
                <a16:creationId xmlns:a16="http://schemas.microsoft.com/office/drawing/2014/main" id="{B24ED05D-F60B-4B4A-BBB9-487A2C9D76A3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Destinos del proxy</a:t>
            </a:r>
          </a:p>
        </p:txBody>
      </p:sp>
      <p:sp>
        <p:nvSpPr>
          <p:cNvPr id="51" name="$upstream_addr registra los backends con">
            <a:extLst>
              <a:ext uri="{FF2B5EF4-FFF2-40B4-BE49-F238E27FC236}">
                <a16:creationId xmlns:a16="http://schemas.microsoft.com/office/drawing/2014/main" id="{64EF1D70-3B09-4673-BB6A-48F344233B98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$upstream_addr registra los backends contactados.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Puede contener varias direcciones si hubo reintentos.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$upstream_status ayuda a interpretar los resultados.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00BE80C2-1C5D-4A7B-8E4B-DD2C9266DE33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050556DD-18C3-4B2A-BA20-562A3AA7CAA5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Contexto de la petición">
            <a:extLst>
              <a:ext uri="{FF2B5EF4-FFF2-40B4-BE49-F238E27FC236}">
                <a16:creationId xmlns:a16="http://schemas.microsoft.com/office/drawing/2014/main" id="{4D77E168-1B13-404E-840C-4C347A93A18B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Contexto de la petición</a:t>
            </a:r>
          </a:p>
        </p:txBody>
      </p:sp>
      <p:sp>
        <p:nvSpPr>
          <p:cNvPr id="55" name="Fecha con zona horaria.&#10;&#10;Servicio e inst">
            <a:extLst>
              <a:ext uri="{FF2B5EF4-FFF2-40B4-BE49-F238E27FC236}">
                <a16:creationId xmlns:a16="http://schemas.microsoft.com/office/drawing/2014/main" id="{DC9AC182-F6B8-4DCA-8B44-6BB8EF354633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Fecha con zona horaria.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Servicio e instancia.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Identificador de petición cuando se propaga y registra.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Las IP de contenedores pueden cambiar.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log_format se declara en el contexto http de Nginx.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Un formato JSON para el access log</a:t>
            </a:r>
          </a:p>
        </p:txBody>
      </p:sp>
      <p:sp>
        <p:nvSpPr>
          <p:cNvPr id="48" name="log_format observabilidad escape=json&#10;  ">
            <a:extLst>
              <a:ext uri="{FF2B5EF4-FFF2-40B4-BE49-F238E27FC236}">
                <a16:creationId xmlns:a16="http://schemas.microsoft.com/office/drawing/2014/main" id="{E0A094D0-8272-442C-A2A9-5D5EE11EFE98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log_format observabilidad escape=json</a:t>
            </a:r>
          </a:p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'{"fecha":"$time_iso8601",'</a:t>
            </a:r>
          </a:p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'"metodo":"$request_method",'</a:t>
            </a:r>
          </a:p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'"ruta":"$uri",'</a:t>
            </a:r>
          </a:p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'"estado":$status,'</a:t>
            </a:r>
          </a:p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'"duracion_s":$request_time,'</a:t>
            </a:r>
          </a:p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'"destino":"$upstream_addr"}';</a:t>
            </a:r>
          </a:p>
          <a:p>
            <a:endParaRPr sz="1650" b="0">
              <a:solidFill>
                <a:srgbClr val="18365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access_log /dev/stdout observabilidad;</a:t>
            </a:r>
          </a:p>
        </p:txBody>
      </p:sp>
      <p:sp>
        <p:nvSpPr>
          <p:cNvPr id="49" name="Cada evento ocupa una línea. El error lo">
            <a:extLst>
              <a:ext uri="{FF2B5EF4-FFF2-40B4-BE49-F238E27FC236}">
                <a16:creationId xmlns:a16="http://schemas.microsoft.com/office/drawing/2014/main" id="{DC412F0C-9C29-40E0-9C9C-96DADA09EAFF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Cada evento ocupa una línea. El error log conserva su configuración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Los registros también necesitan permisos y acceso controlado.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 útiles y datos sensibles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46B8F459-FB0B-44F2-A41B-66A55F11CFD4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A281A0E8-0754-4423-8A63-05D2E70B7D6F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Para poder consultar">
            <a:extLst>
              <a:ext uri="{FF2B5EF4-FFF2-40B4-BE49-F238E27FC236}">
                <a16:creationId xmlns:a16="http://schemas.microsoft.com/office/drawing/2014/main" id="{C10E56E4-2CEE-4CE4-BBF5-129001016D42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poder consultar</a:t>
            </a:r>
          </a:p>
        </p:txBody>
      </p:sp>
      <p:sp>
        <p:nvSpPr>
          <p:cNvPr id="51" name="Conservar unidades y tipos.&#10;&#10;Escapar los">
            <a:extLst>
              <a:ext uri="{FF2B5EF4-FFF2-40B4-BE49-F238E27FC236}">
                <a16:creationId xmlns:a16="http://schemas.microsoft.com/office/drawing/2014/main" id="{5DE3E952-84FF-4B80-A183-055F667196F5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Conservar unidades y tipos.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Escapar los caracteres especiales.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Tratar valores ausentes y destinos múltiples.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C41FEECA-7D60-487B-A64E-100F892BFF35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12076700-F7DE-4E23-B345-037932134FF4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Para reducir exposición">
            <a:extLst>
              <a:ext uri="{FF2B5EF4-FFF2-40B4-BE49-F238E27FC236}">
                <a16:creationId xmlns:a16="http://schemas.microsoft.com/office/drawing/2014/main" id="{EEBED57A-5E17-4FB4-A4AD-17806159BDDC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reducir exposición</a:t>
            </a:r>
          </a:p>
        </p:txBody>
      </p:sp>
      <p:sp>
        <p:nvSpPr>
          <p:cNvPr id="55" name="Excluir contraseñas y tokens.&#10;&#10;Evitar co">
            <a:extLst>
              <a:ext uri="{FF2B5EF4-FFF2-40B4-BE49-F238E27FC236}">
                <a16:creationId xmlns:a16="http://schemas.microsoft.com/office/drawing/2014/main" id="{CEC04645-1771-4AB9-AFDA-528C8A7E5BDE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Excluir contraseñas y tokens.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Evitar cookies de sesión y datos personales innecesarios.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Revisar rutas y parámetros de URL.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Centralización de registros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82AA5BF5-4364-4E74-9FE6-BDD61850F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Compose puede reunir la salida de varios servicios del proyecto.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Primera consulta desde Compose</a:t>
            </a:r>
          </a:p>
        </p:txBody>
      </p:sp>
      <p:sp>
        <p:nvSpPr>
          <p:cNvPr id="48" name="docker compose logs --tail=100 -f">
            <a:extLst>
              <a:ext uri="{FF2B5EF4-FFF2-40B4-BE49-F238E27FC236}">
                <a16:creationId xmlns:a16="http://schemas.microsoft.com/office/drawing/2014/main" id="{8623B5D9-7DFC-444F-8B79-46964A25F438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compose logs --tail=100 -f</a:t>
            </a:r>
          </a:p>
        </p:txBody>
      </p:sp>
      <p:sp>
        <p:nvSpPr>
          <p:cNvPr id="49" name="Un fichero dentro del contenedor no apar">
            <a:extLst>
              <a:ext uri="{FF2B5EF4-FFF2-40B4-BE49-F238E27FC236}">
                <a16:creationId xmlns:a16="http://schemas.microsoft.com/office/drawing/2014/main" id="{E75010C2-CEA3-48BA-A40F-12C3F4FBF8B6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 fichero dentro del contenedor no aparece automáticamente en stdout o stderr.</a:t>
            </a:r>
          </a:p>
        </p:txBody>
      </p:sp>
      <p:sp>
        <p:nvSpPr>
          <p:cNvPr id="50" name="La centralización añade búsqueda, conser">
            <a:extLst>
              <a:ext uri="{FF2B5EF4-FFF2-40B4-BE49-F238E27FC236}">
                <a16:creationId xmlns:a16="http://schemas.microsoft.com/office/drawing/2014/main" id="{686A7341-DA51-42B9-BAB0-F4754FD6D24C}"/>
              </a:ext>
            </a:extLst>
          </p:cNvPr>
          <p:cNvSpPr>
            <a:spLocks noGrp="1"/>
          </p:cNvSpPr>
          <p:nvPr/>
        </p:nvSpPr>
        <p:spPr>
          <a:xfrm>
            <a:off x="1095375" y="2857500"/>
            <a:ext cx="9906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centralización añade búsqueda, conservación y agregaciones.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recogida depende de la configuración de la plataforma.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Las cuatro señales de oro y RED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5AC964AB-BCD3-4103-A0C2-1FD4F92CC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El indicador describe el conjunto que se ha recogido y seleccionado.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Interpretación de los indicadores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ABA9449C-516E-4D15-BDF0-4FAA66F7DED3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62F63F37-7A19-4E91-B762-073500464BBD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Peticiones y fallos">
            <a:extLst>
              <a:ext uri="{FF2B5EF4-FFF2-40B4-BE49-F238E27FC236}">
                <a16:creationId xmlns:a16="http://schemas.microsoft.com/office/drawing/2014/main" id="{BD603A7F-CC27-498F-BC18-CB7C823E8CC9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Peticiones y fallos</a:t>
            </a:r>
          </a:p>
        </p:txBody>
      </p:sp>
      <p:sp>
        <p:nvSpPr>
          <p:cNvPr id="51" name="Rate: peticiones por unidad de tiempo.&#10;&#10;">
            <a:extLst>
              <a:ext uri="{FF2B5EF4-FFF2-40B4-BE49-F238E27FC236}">
                <a16:creationId xmlns:a16="http://schemas.microsoft.com/office/drawing/2014/main" id="{92F623ED-94BA-4847-8324-3FD4D368D809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Rate: peticiones por unidad de tiempo.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Errores: recuento y porcentaje.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Hay que definir qué es un fallo. Un 200 puede ocultar un fallo de negocio.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7F2CC84A-AAE8-46B2-B059-A23A64E86FB1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A0A3EE0A-1944-4499-97CA-1E95DC154CC1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Recursos y cobertura">
            <a:extLst>
              <a:ext uri="{FF2B5EF4-FFF2-40B4-BE49-F238E27FC236}">
                <a16:creationId xmlns:a16="http://schemas.microsoft.com/office/drawing/2014/main" id="{D5DAEDFD-491F-4D91-B0BA-B9FA9D2B2ECE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Recursos y cobertura</a:t>
            </a:r>
          </a:p>
        </p:txBody>
      </p:sp>
      <p:sp>
        <p:nvSpPr>
          <p:cNvPr id="55" name="Una cola puede indicar falta de capacida">
            <a:extLst>
              <a:ext uri="{FF2B5EF4-FFF2-40B4-BE49-F238E27FC236}">
                <a16:creationId xmlns:a16="http://schemas.microsoft.com/office/drawing/2014/main" id="{3059B219-5E61-4E25-BAB9-B07F8D555D5E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Una cola puede indicar falta de capacidad.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Utilización y saturación son distintas.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Filtros o pérdidas de logs limitan lo que podemos concluir.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Media y percentil 95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08004DA2-F527-46A1-B917-5A5806A7A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No se obtiene el p95 global haciendo la media de los p95 de las réplicas.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Cómo comparar latencias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A177D12B-E6F4-4ADC-9C99-5A8BA096E0AA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DBBB187C-E5E2-4738-84E1-AA6D6E0EC1AE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Mismo conjunto de comparación">
            <a:extLst>
              <a:ext uri="{FF2B5EF4-FFF2-40B4-BE49-F238E27FC236}">
                <a16:creationId xmlns:a16="http://schemas.microsoft.com/office/drawing/2014/main" id="{36020E68-1299-41C3-A1B4-16DDC54E4A7B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Mismo conjunto de comparación</a:t>
            </a:r>
          </a:p>
        </p:txBody>
      </p:sp>
      <p:sp>
        <p:nvSpPr>
          <p:cNvPr id="51" name="Ruta o servicio definidos.&#10;&#10;Mismo interv">
            <a:extLst>
              <a:ext uri="{FF2B5EF4-FFF2-40B4-BE49-F238E27FC236}">
                <a16:creationId xmlns:a16="http://schemas.microsoft.com/office/drawing/2014/main" id="{AB537A67-A1FD-4644-AFA6-BDB21D51B355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Ruta o servicio definidos.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Mismo intervalo y unidades.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Número de peticiones suficiente.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Separar éxitos y fallos si ayuda.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56DD4DB7-8379-4ADA-99E9-74DB96D052DE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DEF9B9A2-BC84-446B-B41B-C8D8416E50F0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Interpretación del p95">
            <a:extLst>
              <a:ext uri="{FF2B5EF4-FFF2-40B4-BE49-F238E27FC236}">
                <a16:creationId xmlns:a16="http://schemas.microsoft.com/office/drawing/2014/main" id="{56A99305-9D52-49B9-BDB0-65492FF833AC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Interpretación del p95</a:t>
            </a:r>
          </a:p>
        </p:txBody>
      </p:sp>
      <p:sp>
        <p:nvSpPr>
          <p:cNvPr id="55" name="Aproximadamente el 95 % no supera ese ti">
            <a:extLst>
              <a:ext uri="{FF2B5EF4-FFF2-40B4-BE49-F238E27FC236}">
                <a16:creationId xmlns:a16="http://schemas.microsoft.com/office/drawing/2014/main" id="{31E8703C-9B4C-4382-BCCB-5E38E20DEA15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Aproximadamente el 95 % no supera ese tiempo.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 es el máximo ni la media de las más lentas.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método puede interpolar o aproximar.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Desde un gráfico debemos poder volver a los registros relevantes.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Un panel para responder preguntas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88FB5327-8060-4D02-BBF7-D21AB25E9573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A46E1593-EEFA-4691-AC24-EDC7C7BC20F4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Estado del servicio">
            <a:extLst>
              <a:ext uri="{FF2B5EF4-FFF2-40B4-BE49-F238E27FC236}">
                <a16:creationId xmlns:a16="http://schemas.microsoft.com/office/drawing/2014/main" id="{9466BDF7-70D4-4F54-B144-44B0CABB32FE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Estado del servicio</a:t>
            </a:r>
          </a:p>
        </p:txBody>
      </p:sp>
      <p:sp>
        <p:nvSpPr>
          <p:cNvPr id="51" name="¿Cambió la demanda?&#10;Peticiones por segun">
            <a:extLst>
              <a:ext uri="{FF2B5EF4-FFF2-40B4-BE49-F238E27FC236}">
                <a16:creationId xmlns:a16="http://schemas.microsoft.com/office/drawing/2014/main" id="{21C43B9B-39A3-4E06-B3AB-99C654D71F15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¿Cambió la demanda?</a:t>
            </a: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Peticiones por segundo.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¿Dónde se concentra el fallo?</a:t>
            </a: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Recuento y porcentaje por ruta.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14F206D5-CA15-46AC-B178-18F30D61344B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9B951DB-ECB6-4D67-8D52-5C4A61392D17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Investigación">
            <a:extLst>
              <a:ext uri="{FF2B5EF4-FFF2-40B4-BE49-F238E27FC236}">
                <a16:creationId xmlns:a16="http://schemas.microsoft.com/office/drawing/2014/main" id="{8AF459C4-DDEC-4C16-8DCD-FBCC57625215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Investigación</a:t>
            </a:r>
          </a:p>
        </p:txBody>
      </p:sp>
      <p:sp>
        <p:nvSpPr>
          <p:cNvPr id="55" name="¿Qué rutas son lentas?&#10;Media y p95 con t">
            <a:extLst>
              <a:ext uri="{FF2B5EF4-FFF2-40B4-BE49-F238E27FC236}">
                <a16:creationId xmlns:a16="http://schemas.microsoft.com/office/drawing/2014/main" id="{1E6015FE-C9A6-409B-AC50-8AE8D2682D57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¿Qué rutas son lentas?</a:t>
            </a: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Media y p95 con tamaño de muestra.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¿Qué destinos reciben tráfico?</a:t>
            </a: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Peticiones o intentos por destino.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De un panel a una alerta accionable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AC80E0E9-0CC3-4025-A682-4CE06763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Cada evaluación utiliza una nueva ventana móvil de datos.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Ventana de datos y persistencia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D40BC18F-A773-4DA7-886D-6C3B698334B8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A17A9C7D-A592-42C5-B9D4-5C74929CEB15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Ventana de 2 minutos">
            <a:extLst>
              <a:ext uri="{FF2B5EF4-FFF2-40B4-BE49-F238E27FC236}">
                <a16:creationId xmlns:a16="http://schemas.microsoft.com/office/drawing/2014/main" id="{06313CED-ED07-4076-8898-18D33AEBC62C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Ventana de 2 minutos</a:t>
            </a:r>
          </a:p>
        </p:txBody>
      </p:sp>
      <p:sp>
        <p:nvSpPr>
          <p:cNvPr id="51" name="A las 10:04 se cuentan los 5xx de los úl">
            <a:extLst>
              <a:ext uri="{FF2B5EF4-FFF2-40B4-BE49-F238E27FC236}">
                <a16:creationId xmlns:a16="http://schemas.microsoft.com/office/drawing/2014/main" id="{94DC9D86-20B0-4E31-9705-DB74AD455D9E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 las 10:04 se cuentan los 5xx de los últimos 2 minutos.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Si hay más de 10, la condición se cumple y comienza la espera.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77385746-1044-4637-B9D7-C655A30B2DF4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3721725-220B-41C3-83F6-A502C9A5C73C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Persistencia de 2 minutos">
            <a:extLst>
              <a:ext uri="{FF2B5EF4-FFF2-40B4-BE49-F238E27FC236}">
                <a16:creationId xmlns:a16="http://schemas.microsoft.com/office/drawing/2014/main" id="{20573214-13AA-402C-81B4-DE47690A605C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Persistencia de 2 minutos</a:t>
            </a:r>
          </a:p>
        </p:txBody>
      </p:sp>
      <p:sp>
        <p:nvSpPr>
          <p:cNvPr id="55" name="Para avisar a partir de las 10:06, debe ">
            <a:extLst>
              <a:ext uri="{FF2B5EF4-FFF2-40B4-BE49-F238E27FC236}">
                <a16:creationId xmlns:a16="http://schemas.microsoft.com/office/drawing/2014/main" id="{FC8B399D-6EAE-4196-AE58-09FC9EEF4DD5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Para avisar a partir de las 10:06, debe seguir cumpliéndose en las evaluaciones.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Si deja de cumplirse, no se envía este aviso.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Una ausencia de datos puede ser un fallo de recogida.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Alertas con contexto y actuación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FB546438-2816-4D4C-844C-BD7F487AD415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64A40C45-8EC3-4842-A537-63C603050363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Volumen y gravedad">
            <a:extLst>
              <a:ext uri="{FF2B5EF4-FFF2-40B4-BE49-F238E27FC236}">
                <a16:creationId xmlns:a16="http://schemas.microsoft.com/office/drawing/2014/main" id="{561DABE1-F6B3-45B6-8541-71FACD66A841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Volumen y gravedad</a:t>
            </a:r>
          </a:p>
        </p:txBody>
      </p:sp>
      <p:sp>
        <p:nvSpPr>
          <p:cNvPr id="51" name="10 fallos entre 20 peticiones no equival">
            <a:extLst>
              <a:ext uri="{FF2B5EF4-FFF2-40B4-BE49-F238E27FC236}">
                <a16:creationId xmlns:a16="http://schemas.microsoft.com/office/drawing/2014/main" id="{8A46CC68-1D40-4C3A-9718-118691C799E7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10 fallos entre 20 peticiones no equivalen a 10 entre 100 000.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 poco tráfico, el porcentaje también puede oscilar mucho.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umbral del ejemplo es didáctico.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B1998CCD-7296-4B0D-AFB9-E3DDABF98106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DC96E747-CCD9-4295-8516-32B02B7EF798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Respuesta al aviso">
            <a:extLst>
              <a:ext uri="{FF2B5EF4-FFF2-40B4-BE49-F238E27FC236}">
                <a16:creationId xmlns:a16="http://schemas.microsoft.com/office/drawing/2014/main" id="{822810B9-4C5D-428F-9E29-5EE4808D2640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Respuesta al aviso</a:t>
            </a:r>
          </a:p>
        </p:txBody>
      </p:sp>
      <p:sp>
        <p:nvSpPr>
          <p:cNvPr id="55" name="Asignar responsable y acción.&#10;&#10;Agrupar a">
            <a:extLst>
              <a:ext uri="{FF2B5EF4-FFF2-40B4-BE49-F238E27FC236}">
                <a16:creationId xmlns:a16="http://schemas.microsoft.com/office/drawing/2014/main" id="{14FF7187-246E-4358-8A29-A46AFFEE01A6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Asignar responsable y acción.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Agrupar avisos relacionados.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Definir cuándo se considera recuperado.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Evitar repeticiones sin actuación.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observación consume recursos y necesita mantenimiento.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Retención, acceso y coste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D202404F-C653-438E-B49F-1047B2C5F40A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1D96C1A-3720-4F1A-B714-DAA29B2F1650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Conservación">
            <a:extLst>
              <a:ext uri="{FF2B5EF4-FFF2-40B4-BE49-F238E27FC236}">
                <a16:creationId xmlns:a16="http://schemas.microsoft.com/office/drawing/2014/main" id="{3E553422-40B5-4B7C-A950-AE335D94D570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Conservación</a:t>
            </a:r>
          </a:p>
        </p:txBody>
      </p:sp>
      <p:sp>
        <p:nvSpPr>
          <p:cNvPr id="51" name="Decidir qué guardar y durante cuánto tie">
            <a:extLst>
              <a:ext uri="{FF2B5EF4-FFF2-40B4-BE49-F238E27FC236}">
                <a16:creationId xmlns:a16="http://schemas.microsoft.com/office/drawing/2014/main" id="{48B30AAF-96C3-4821-AAB2-8D374B261791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Decidir qué guardar y durante cuánto tiempo.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Distinguir rotación local y retención central.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Vigilar el espacio disponible.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C0715413-6F85-494D-B231-A4136437533D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F5466D15-FE92-44CA-81C4-F49AD8E86325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Coste y utilidad">
            <a:extLst>
              <a:ext uri="{FF2B5EF4-FFF2-40B4-BE49-F238E27FC236}">
                <a16:creationId xmlns:a16="http://schemas.microsoft.com/office/drawing/2014/main" id="{D43DDF01-7A89-43FC-B3EC-98FCB770D501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Coste y utilidad</a:t>
            </a:r>
          </a:p>
        </p:txBody>
      </p:sp>
      <p:sp>
        <p:nvSpPr>
          <p:cNvPr id="55" name="El detalle y los índices consumen recurs">
            <a:extLst>
              <a:ext uri="{FF2B5EF4-FFF2-40B4-BE49-F238E27FC236}">
                <a16:creationId xmlns:a16="http://schemas.microsoft.com/office/drawing/2014/main" id="{E1F95461-B018-4CF1-AAD1-2CA8CCFA8362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detalle y los índices consumen recursos.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Limitar el acceso a los registros.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Revisar qué aporta cada dato y qué se pierde al filtrarlo.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siguiente sesión mirará dentro del backend y abordará su estado y rendimiento.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Cierre de la sesión</a:t>
            </a:r>
          </a:p>
        </p:txBody>
      </p:sp>
      <p:sp>
        <p:nvSpPr>
          <p:cNvPr id="48" name="Qué debemos poder explicar y comprobar">
            <a:extLst>
              <a:ext uri="{FF2B5EF4-FFF2-40B4-BE49-F238E27FC236}">
                <a16:creationId xmlns:a16="http://schemas.microsoft.com/office/drawing/2014/main" id="{6C37DD48-89FB-4328-BD10-612B9BAE0FF8}"/>
              </a:ext>
            </a:extLst>
          </p:cNvPr>
          <p:cNvSpPr>
            <a:spLocks noGrp="1"/>
          </p:cNvSpPr>
          <p:nvPr/>
        </p:nvSpPr>
        <p:spPr>
          <a:xfrm>
            <a:off x="914400" y="1085850"/>
            <a:ext cx="10382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17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7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Qué debemos poder explicar y comprobar</a:t>
            </a:r>
          </a:p>
        </p:txBody>
      </p:sp>
      <p:sp>
        <p:nvSpPr>
          <p:cNvPr id="49" name="Qué señal aporta contexto para cada preg">
            <a:extLst>
              <a:ext uri="{FF2B5EF4-FFF2-40B4-BE49-F238E27FC236}">
                <a16:creationId xmlns:a16="http://schemas.microsoft.com/office/drawing/2014/main" id="{3379D6A0-F780-44B0-BA72-23BFD6252514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2E6"/>
            </a:solidFill>
          </a:ln>
        </p:spPr>
        <p:txBody>
          <a:bodyPr lIns="171450" tIns="171450" rIns="171450" bIns="171450" anchor="t"/>
          <a:lstStyle>
            <a:def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Qué señal aporta contexto para cada pregunta.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Cómo estructurar, recoger y consultar los logs.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Qué representan tráfico, errores, duración y saturación.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Cómo interpretar media y p95 sobre un mismo conjunto.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Qué condición merece un aviso y quién debe actuar.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2263</Words>
  <Application>Microsoft Macintosh PowerPoint</Application>
  <DocSecurity>0</DocSecurity>
  <PresentationFormat>Panorámica</PresentationFormat>
  <Paragraphs>312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ROIG AGUILAR, ALEJANDRO</cp:lastModifiedBy>
  <cp:revision>1</cp:revision>
  <dcterms:created xsi:type="dcterms:W3CDTF">2026-10-15T08:57:50Z</dcterms:created>
  <dcterms:modified xsi:type="dcterms:W3CDTF">2026-10-15T10:57:38Z</dcterms:modified>
</cp:coreProperties>
</file>