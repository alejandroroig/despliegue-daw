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Seguridad web y HTTPS. Fuente: seguridad-web-https.md revisado. Ejemplos genéricos.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Nginx concentra la entrada pública y la protección del transporte.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El host necesita un entorno compatible con las imágenes publicadas.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Nginx publica los puertos web. Las aplicaciones y la base de datos permanecen internas.</a:t>
            </a:r>
          </a:p>
          <a:p>
            <a:r>
              <a:t>https://docs.docker.com/engine/network/port-publishing/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Los nombres .test de los ejemplos se sustituyen por nombres públicos en la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Con credenciales aceptadas, la petición continúa hacia el contenido o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Estas directivas se añaden al location que ya sirve contenido o hace de proxy.</a:t>
            </a:r>
          </a:p>
          <a:p>
            <a:r>
              <a:t>https://nginx.org/en/docs/http/ngx_http_auth_basic_module.html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HTTPS». Infografía elaborada para esta sesión.</a:t>
            </a:r>
          </a:p>
          <a:p>
            <a:r>
              <a:t>Basic comprueba credenciales. HTTPS protege su transporte entre los extremos TLS. Base64 es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HTTPS protege la comunicación entre los extremos de la conexión TLS.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HTTPS». Infografía elaborada para esta sesión.</a:t>
            </a:r>
          </a:p>
          <a:p>
            <a:r>
              <a:t>Esquema conceptual de TLS: autenticar al servidor, derivar claves de sesión y proteger HTTP. Algunos pasos se solapan en el protocolo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HTTPS». Infografía elaborada para esta sesión.</a:t>
            </a:r>
          </a:p>
          <a:p>
            <a:r>
              <a:t>El certificado es público. La clave privada permanece protegida. El cliente valida una cadena hasta una raíz que ya reconoce.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La clave privada queda fuera de los repositorios y de las imágenes públicas.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HTTPS». Infografía elaborada para esta sesión.</a:t>
            </a:r>
          </a:p>
          <a:p>
            <a:r>
              <a:t>El cliente ACME publica una respuesta de validación. La CA consulta DNS y accede por el puerto 80. La carpeta webroot es configurable. En los ejemplos usamos /var/www/acme.</a:t>
            </a:r>
          </a:p>
          <a:p>
            <a:r>
              <a:t>https://letsencrypt.org/docs/challenge-types/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La CA valida el control del nombre, sin auditar la seguridad de la aplicación.</a:t>
            </a:r>
          </a:p>
          <a:p>
            <a:r>
              <a:t>https://letsencrypt.org/docs/challenge-types/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Tras renovar, Nginx debe recargarse para utilizar los nuevos ficheros.</a:t>
            </a:r>
          </a:p>
          <a:p>
            <a:r>
              <a:t>https://letsencrypt.org/docs/staging-environment/</a:t>
            </a:r>
          </a:p>
          <a:p>
            <a:r>
              <a:t>La automatización periódica es ampliación didáctica, pero debe planificarse y supervisarse en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HTTPS». Infografía elaborada para esta sesión.</a:t>
            </a:r>
          </a:p>
          <a:p>
            <a:r>
              <a:t>TLS exterior termina en Nginx. El tramo HTTP interno no está cifrado. Las aplicaciones solo confían en cabeceras de proxies autorizados.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Este fragmento presupone certificados emitidos y ficheros accesibles para Nginx.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La aplicación debe confiar únicamente en los proxies previstos.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HTTPS». Infografía elaborada para esta sesión.</a:t>
            </a:r>
          </a:p>
          <a:p>
            <a:r>
              <a:t>Sin política HSTS previa, puede ser necesaria una redirección. Con una política vigente, el navegador transforma la URL antes de conectarse. El ejemplo excluye precarga y otras actualizaciones automáticas.</a:t>
            </a:r>
          </a:p>
          <a:p>
            <a:r>
              <a:t>https://developer.mozilla.org/en-US/docs/Web/HTTP/Reference/Headers/Strict-Transport-Security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El ejemplo conserva la ruta ACME y redirige el resto a HTTPS.</a:t>
            </a:r>
          </a:p>
          <a:p>
            <a:r>
              <a:t>Una URL /.well-known/acme-challenge/abc se sirve desde /var/www/acme/.well-known/acme-challenge/abc. Si se necesita conservar estrictamente método y cuerpo al redirigir, valorar 308.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En el laboratorio usamos max-age=300, sin includeSubDomains ni preload.</a:t>
            </a:r>
          </a:p>
          <a:p>
            <a:r>
              <a:t>https://developer.mozilla.org/en-US/docs/Web/HTTP/Reference/Headers/Strict-Transport-Security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Conviene verificar las cabeceras reales que recibe el navegador.</a:t>
            </a:r>
          </a:p>
          <a:p>
            <a:r>
              <a:t>https://nginx.org/en/docs/http/ngx_http_headers_module.html</a:t>
            </a:r>
          </a:p>
          <a:p>
            <a:r>
              <a:t>Con herencia habitual, un add_header en location puede impedir heredar los del nivel server. strict-origin-when-cross-origin envía solo origen al cambiar de origen y omite Referer al bajar de HTTPS a HTTP. CSP queda fuera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Cada capa conserva responsabilidades propias.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«Seguridad web y HTTPS», revisión visual.</a:t>
            </a:r>
          </a:p>
          <a:p>
            <a:r>
              <a:t>En la actividad, Nginx será la entrada pública con HTTPS y control de acceso.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B835-8790-4387-99FA-FAE91C37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34583-239A-44B2-BAAD-5454F5CD4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6B0AA-FCFF-4BBD-9CAB-D69A8462C9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C9684-47BE-491F-A93B-54AE6FE50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C672D-83CB-418E-917B-9D4C99E4E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0024-2C46-450A-87AE-ED5C8172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9472E-BBE2-4ECE-93D0-B50A2BD63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F0E64-FF94-48E7-9C6F-F8E76ED2F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C5E60-7A30-4950-A817-46861110F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8597F-7813-47EE-86E3-BCF968EB8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711F1-EC1A-4B73-8230-3C0558BC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5144F-58D8-4FA5-95BE-67B8D9527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63ED7-A5CB-4B07-8216-AD7EEE45DF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13F27-2292-4E2C-999C-947C3D4EE6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8154-F073-4089-AA68-4927719F98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680C-91E0-4109-A19B-706B3F314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428B-755B-45BA-997C-E19518D5E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DD4D-474E-42B6-90A0-A48D8B665E8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6789C-C1ED-4CF2-817D-B97D66C90A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1D732-86FA-438A-A67C-B8E700F10D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A3ADB-C14E-4AF7-988D-AE0901D83B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A470-4E76-467E-8564-89484999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32A24-2A52-4C18-8C2F-56362A483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24543-0B70-481D-8B95-A570D9B14F9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143BC-86AA-4CC8-8919-390E46DB05C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06031-4D92-4A83-9637-3E4E31E2A91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0B3A0-85FE-4514-AAAC-08A28BF74D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10599-FEDB-45A1-B332-6AE46457FB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9A006-5629-4CE5-B8FE-5D86392C6C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4365-6E0A-42C2-86A4-23FE0BA6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F0FDD-F777-4F9F-8D5C-9AF420C075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2A392-801E-4638-9299-0414D4266E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A18D3-87DE-4EE3-8637-A58D6E9830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F7D95-64A4-4C7D-A308-58F56E08A7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8C380-5E72-4D6A-A002-9740A7FB92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B4807-773A-4A99-9DA8-565E0B8F05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DDC1-613F-467C-99E1-118151E9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CD01-2739-4BA2-989E-F1060F77F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90885-E7CD-4F3D-AC15-6EB9DC85C20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58502-4965-4AE7-BF79-37C7146E28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98B2C-E6F3-40AE-BFF9-9E6BE9BF44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F5772-E3FE-4F07-8674-01D7D3290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29E1-1062-4269-831F-F2611189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32BB3-F710-4F30-9E82-8E56F99E8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AA35B-CBF3-46DA-A1AA-D54940DDA77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3F9F-39D2-486E-AAB7-8B1F349CA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7CAC3-430B-4B4C-B18D-A445EE12B1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BCC03-88C5-4876-B8E8-8777F71ABC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F48D-3E6E-4BA9-B806-28D6E40F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043FC-8876-404C-BA5E-73A9B1472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2CCDA-BB0E-4D8A-ADA5-79C2D14E88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1659B-B760-4BFE-930F-273382193D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A0C12-5CF6-4E2A-A50C-F80CAA57D3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49AE8-0105-4D9F-B17D-EE4C73DE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BAF72-57FF-4F68-B852-A21D6582E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86E01-48A6-45C7-95E3-9B94A0A18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37A3D-0C61-4CF9-86A1-05DD42630F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21FBB-FF88-4FC9-9B55-7DE35F4585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49105-A8CE-44BB-AE9D-DE7DD50A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E4F80-6C42-4C73-A0C3-F094216A5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5674-B7B3-4172-A5DF-470F0FDB734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14/10/26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5FBC-6576-4A4E-8E68-279B9AEF73C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E90DF-481B-4F5C-845A-371BFCA9795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83BFC5-E7B0-446C-82B5-F4B34F4BC3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44E909-D1EC-4F29-8AB8-B73070B20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0"/>
            <a:ext cx="51435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AE01E7-8700-4D1F-9E9C-E1CE4C18F478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852160" cy="12954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web</a:t>
            </a:r>
          </a:p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 HTTPS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strike="noStrike">
                <a:solidFill>
                  <a:srgbClr val="B2DFDB"/>
                </a:solidFill>
                <a:latin typeface="Arial"/>
                <a:ea typeface="Arial"/>
                <a:cs typeface="Arial"/>
              </a:rPr>
              <a:t>DESPLIEGUE DE APLICACIONES WEB  —  CURSO 2026/2027</a:t>
            </a: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>
            <a:spLocks noGrp="1"/>
          </p:cNvSpPr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i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3 — Publicación y ejecución de aplicaciones web</a:t>
            </a:r>
          </a:p>
        </p:txBody>
      </p:sp>
    </p:spTree>
    <p:extLst>
      <p:ext uri="{BB962C8B-B14F-4D97-AF65-F5344CB8AC3E}">
        <p14:creationId xmlns:p14="http://schemas.microsoft.com/office/powerpoint/2010/main" val="106146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Nginx concentra la entrada pública y la protección del transporte.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45B88238-9BB9-4338-BF44-5E562B65763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BC6BD0C-5702-4863-B9F8-4932165734C4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unto de partida">
            <a:extLst>
              <a:ext uri="{FF2B5EF4-FFF2-40B4-BE49-F238E27FC236}">
                <a16:creationId xmlns:a16="http://schemas.microsoft.com/office/drawing/2014/main" id="{8FF0663C-72C0-41DB-AD8F-753490DCD33D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51" name="Aplicaciones HTTP detrás de un proxy.&#10;&#10;I">
            <a:extLst>
              <a:ext uri="{FF2B5EF4-FFF2-40B4-BE49-F238E27FC236}">
                <a16:creationId xmlns:a16="http://schemas.microsoft.com/office/drawing/2014/main" id="{99200E70-6920-46CF-8F0E-4CD668DCE139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Aplicaciones HTTP detrás de un proxy.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Imágenes ya construidas y configuración de despliegue.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08EC6BA6-DDCE-4621-99BC-94EB17C474A7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6EFBDBD-43BF-4F90-968B-5FE91B35B84A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Qué incorporamos">
            <a:extLst>
              <a:ext uri="{FF2B5EF4-FFF2-40B4-BE49-F238E27FC236}">
                <a16:creationId xmlns:a16="http://schemas.microsoft.com/office/drawing/2014/main" id="{70DA1BF9-BB54-4501-8C88-CCA930A51561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incorporamos</a:t>
            </a:r>
          </a:p>
        </p:txBody>
      </p:sp>
      <p:sp>
        <p:nvSpPr>
          <p:cNvPr id="55" name="Control de acceso con Basic.&#10;&#10;HTTPS, cer">
            <a:extLst>
              <a:ext uri="{FF2B5EF4-FFF2-40B4-BE49-F238E27FC236}">
                <a16:creationId xmlns:a16="http://schemas.microsoft.com/office/drawing/2014/main" id="{5B6EA582-CE0E-45AE-B3A8-5C727B23D0D5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Control de acceso con Basic.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HTTPS, certificados y confianza.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Emisión, renovación y cabeceras de seguridad.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host necesita un entorno compatible con las imágenes publicadas.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Del laboratorio al servidor remoto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9165F653-1E56-4636-9E79-0319BB983468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3C0B619-6183-4DCE-9569-56E7552BF56A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reparación de la imagen">
            <a:extLst>
              <a:ext uri="{FF2B5EF4-FFF2-40B4-BE49-F238E27FC236}">
                <a16:creationId xmlns:a16="http://schemas.microsoft.com/office/drawing/2014/main" id="{6BBDC0C3-D7C7-43D2-B17F-203DE070975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Preparación de la imagen</a:t>
            </a:r>
          </a:p>
        </p:txBody>
      </p:sp>
      <p:sp>
        <p:nvSpPr>
          <p:cNvPr id="51" name="Construcción y pruebas antes del desplie">
            <a:extLst>
              <a:ext uri="{FF2B5EF4-FFF2-40B4-BE49-F238E27FC236}">
                <a16:creationId xmlns:a16="http://schemas.microsoft.com/office/drawing/2014/main" id="{8C243097-B2EB-49DB-A086-827C4B5252F9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Construcción y pruebas antes del despliegue.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Publicación en un registro accesible.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imagen incorpora el entorno de ejecución.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4026A2A1-247B-4C56-A3BC-3CC322B30DEF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496CDB4-3A80-4DD6-A371-AD6A3EEF78CA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Ejecución en el host">
            <a:extLst>
              <a:ext uri="{FF2B5EF4-FFF2-40B4-BE49-F238E27FC236}">
                <a16:creationId xmlns:a16="http://schemas.microsoft.com/office/drawing/2014/main" id="{AE948CF9-66F3-4EE1-9C5E-F7A0EE8A3291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Ejecución en el host</a:t>
            </a:r>
          </a:p>
        </p:txBody>
      </p:sp>
      <p:sp>
        <p:nvSpPr>
          <p:cNvPr id="55" name="Motor de contenedores y Compose.&#10;&#10;Config">
            <a:extLst>
              <a:ext uri="{FF2B5EF4-FFF2-40B4-BE49-F238E27FC236}">
                <a16:creationId xmlns:a16="http://schemas.microsoft.com/office/drawing/2014/main" id="{EE6D5DBC-85A3-4E50-A371-0554621C2404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Motor de contenedores y Compose.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Configuración y secretos.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Descarga de imágenes y ejecución sin recompilar.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Nginx publica los puertos web. Las aplicaciones y la base de datos permanecen internas.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Publicación de puertos</a:t>
            </a:r>
          </a:p>
        </p:txBody>
      </p:sp>
      <p:sp>
        <p:nvSpPr>
          <p:cNvPr id="48" name="# Publicación en las interfaces del host">
            <a:extLst>
              <a:ext uri="{FF2B5EF4-FFF2-40B4-BE49-F238E27FC236}">
                <a16:creationId xmlns:a16="http://schemas.microsoft.com/office/drawing/2014/main" id="{5799A038-A330-4DAE-8D79-CB397D74315C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# Publicación en las interfaces del host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ports: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- "80:80"</a:t>
            </a:r>
          </a:p>
          <a:p>
            <a:endParaRPr sz="1875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# Prueba accesible solo desde el propio host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ports: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- "127.0.0.1:8080:80"</a:t>
            </a:r>
          </a:p>
        </p:txBody>
      </p:sp>
      <p:sp>
        <p:nvSpPr>
          <p:cNvPr id="49" name="La exposición depende también de las reg">
            <a:extLst>
              <a:ext uri="{FF2B5EF4-FFF2-40B4-BE49-F238E27FC236}">
                <a16:creationId xmlns:a16="http://schemas.microsoft.com/office/drawing/2014/main" id="{73A7ED3B-D913-4CFE-B3C7-B481BDC6F4AD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exposición depende también de las reglas de red y del cortafuegos.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Los nombres .test de los ejemplos se sustituyen por nombres públicos en la práctica.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Nombres públicos y selección del sitio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84482F59-9EB4-452C-A60E-93AB6452A308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B98B492-B218-4E30-9350-C69F0E38A44B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DNS">
            <a:extLst>
              <a:ext uri="{FF2B5EF4-FFF2-40B4-BE49-F238E27FC236}">
                <a16:creationId xmlns:a16="http://schemas.microsoft.com/office/drawing/2014/main" id="{E59B433B-A49C-4B60-AC9D-F38567BDFC2F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51" name="El nombre apunta a la IP pública correct">
            <a:extLst>
              <a:ext uri="{FF2B5EF4-FFF2-40B4-BE49-F238E27FC236}">
                <a16:creationId xmlns:a16="http://schemas.microsoft.com/office/drawing/2014/main" id="{D56703AD-AC06-49B8-9ECA-F5AE53902733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nombre apunta a la IP pública correcta.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cambio de IP puede exigir actualizar el DNS.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nombre debe resolver desde Internet.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EE200172-9645-4F57-86BA-0E4E8BE7D35D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58B21B6-051E-466D-84D6-81F3F9251468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Nginx">
            <a:extLst>
              <a:ext uri="{FF2B5EF4-FFF2-40B4-BE49-F238E27FC236}">
                <a16:creationId xmlns:a16="http://schemas.microsoft.com/office/drawing/2014/main" id="{ED84A6EC-63BE-465D-8864-912AD0919284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55" name="SNI permite elegir el certificado durant">
            <a:extLst>
              <a:ext uri="{FF2B5EF4-FFF2-40B4-BE49-F238E27FC236}">
                <a16:creationId xmlns:a16="http://schemas.microsoft.com/office/drawing/2014/main" id="{115D0096-5633-42D4-BE04-D42E94246E77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SNI permite elegir el certificado durante TLS.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Host permite seleccionar el sitio HTTP.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certificado debe cubrir el nombre solicitado.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Con credenciales aceptadas, la petición continúa hacia el contenido o la aplicación.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Authentication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676AAC6D-F6A9-4B31-84F2-625888AA0917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D7F7B97-438A-4A2E-AC25-EF70FD7D1118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Intercambio">
            <a:extLst>
              <a:ext uri="{FF2B5EF4-FFF2-40B4-BE49-F238E27FC236}">
                <a16:creationId xmlns:a16="http://schemas.microsoft.com/office/drawing/2014/main" id="{3C2459F0-A578-4FFC-88CE-E0FFB75C49DA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Intercambio</a:t>
            </a:r>
          </a:p>
        </p:txBody>
      </p:sp>
      <p:sp>
        <p:nvSpPr>
          <p:cNvPr id="51" name="Sin credenciales, Nginx responde 401.&#10;&#10;W">
            <a:extLst>
              <a:ext uri="{FF2B5EF4-FFF2-40B4-BE49-F238E27FC236}">
                <a16:creationId xmlns:a16="http://schemas.microsoft.com/office/drawing/2014/main" id="{57C890DD-8303-4D40-AA09-2A76D650AA7F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Sin credenciales, Nginx responde 401.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WWW-Authenticate solicita autenticación.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cliente reenvía con Authorization.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BEA6D23F-EFBC-470E-8F81-417F8D5EE40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E814E40-CE90-48A5-9524-56A2F16DD3D9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Credenciales">
            <a:extLst>
              <a:ext uri="{FF2B5EF4-FFF2-40B4-BE49-F238E27FC236}">
                <a16:creationId xmlns:a16="http://schemas.microsoft.com/office/drawing/2014/main" id="{6599CCAD-1800-4886-8497-ED82E274B1FD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Credenciales</a:t>
            </a:r>
          </a:p>
        </p:txBody>
      </p:sp>
      <p:sp>
        <p:nvSpPr>
          <p:cNvPr id="55" name="Authorization: Basic &lt;valor&gt;&#10;&#10;El valor c">
            <a:extLst>
              <a:ext uri="{FF2B5EF4-FFF2-40B4-BE49-F238E27FC236}">
                <a16:creationId xmlns:a16="http://schemas.microsoft.com/office/drawing/2014/main" id="{C0D9FB69-73A4-495D-88CB-F99FBD67D947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Authorization: Basic &lt;valor&gt;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valor codifica usuario:contraseña en Base64.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codificación es reversible.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Estas directivas se añaden al location que ya sirve contenido o hace de proxy.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Protección de una ruta</a:t>
            </a:r>
          </a:p>
        </p:txBody>
      </p:sp>
      <p:sp>
        <p:nvSpPr>
          <p:cNvPr id="48" name="location /privado/ {&#10;    auth_basic &quot;Zon">
            <a:extLst>
              <a:ext uri="{FF2B5EF4-FFF2-40B4-BE49-F238E27FC236}">
                <a16:creationId xmlns:a16="http://schemas.microsoft.com/office/drawing/2014/main" id="{C95E56C9-8943-4FAE-9CFC-7DB3EF142922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location /privado/ {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auth_basic "Zona restringida";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auth_basic_user_file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/etc/nginx/auth/usuarios.htpasswd;</a:t>
            </a:r>
          </a:p>
          <a:p>
            <a:endParaRPr sz="1800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# Aquí se configura el contenido o proxy.</a:t>
            </a:r>
          </a:p>
          <a:p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9" name="El fichero contiene hashes y sigue siend">
            <a:extLst>
              <a:ext uri="{FF2B5EF4-FFF2-40B4-BE49-F238E27FC236}">
                <a16:creationId xmlns:a16="http://schemas.microsoft.com/office/drawing/2014/main" id="{8F8F8E3A-14F0-4A63-BE46-6A4D03C835DC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fichero contiene hashes y sigue siendo sensible. Se mantiene fuera del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y protección del transporte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BD49214A-05D6-45D6-9BAE-E1FE1A240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HTTPS protege la comunicación entre los extremos de la conexión TLS.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aporta TLS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10DB7760-0042-4307-9F91-1AA29D12B8C7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C615E0A-4049-4800-9710-962E1C97E18D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Garantías">
            <a:extLst>
              <a:ext uri="{FF2B5EF4-FFF2-40B4-BE49-F238E27FC236}">
                <a16:creationId xmlns:a16="http://schemas.microsoft.com/office/drawing/2014/main" id="{64C40850-D01D-4313-A6A2-EFDAABF1978C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Garantías</a:t>
            </a:r>
          </a:p>
        </p:txBody>
      </p:sp>
      <p:sp>
        <p:nvSpPr>
          <p:cNvPr id="51" name="Confidencialidad del contenido.&#10;&#10;Detecci">
            <a:extLst>
              <a:ext uri="{FF2B5EF4-FFF2-40B4-BE49-F238E27FC236}">
                <a16:creationId xmlns:a16="http://schemas.microsoft.com/office/drawing/2014/main" id="{41A5CB29-25EF-4C69-8C07-AE152EDA4531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Confidencialidad del contenido.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Detección de modificaciones del tráfico.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Autenticación del servidor.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FCD86DA7-8DB3-47E7-B210-DC83821AFABA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18536CA-7B63-4C55-A874-DB71AC9301C1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Límites">
            <a:extLst>
              <a:ext uri="{FF2B5EF4-FFF2-40B4-BE49-F238E27FC236}">
                <a16:creationId xmlns:a16="http://schemas.microsoft.com/office/drawing/2014/main" id="{DAD3C713-87F8-414E-9C0B-76B99FA06156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Límites</a:t>
            </a:r>
          </a:p>
        </p:txBody>
      </p:sp>
      <p:sp>
        <p:nvSpPr>
          <p:cNvPr id="55" name="Persisten los errores de programación y ">
            <a:extLst>
              <a:ext uri="{FF2B5EF4-FFF2-40B4-BE49-F238E27FC236}">
                <a16:creationId xmlns:a16="http://schemas.microsoft.com/office/drawing/2014/main" id="{F01BB9D5-282D-4A04-9BB6-83C04DB8CCB2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Persisten los errores de programación y autorización.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servidor puede estar comprometido.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Algunos metadatos, como la IP de destino, siguen siendo visibles.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Establecimiento de HTTPS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8D7E9D7C-BDA1-435E-88AB-A482AC158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Certificados y cadena de confianza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2D11DF89-B557-44D1-9FA0-1F4D7B7F5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clave privada queda fuera de los repositorios y de las imágenes públicas.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Nombres válidos y confianza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409B46DA-E1BB-48B9-A8A3-0E8FFFA77DDB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E576C21-1D78-4B3A-9285-5596C93214DA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SAN y cadena">
            <a:extLst>
              <a:ext uri="{FF2B5EF4-FFF2-40B4-BE49-F238E27FC236}">
                <a16:creationId xmlns:a16="http://schemas.microsoft.com/office/drawing/2014/main" id="{0AEC1776-9840-4579-ADF6-7E65C3BB9E15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SAN y cadena</a:t>
            </a:r>
          </a:p>
        </p:txBody>
      </p:sp>
      <p:sp>
        <p:nvSpPr>
          <p:cNvPr id="51" name="SAN enumera los nombres cubiertos.&#10;&#10;El s">
            <a:extLst>
              <a:ext uri="{FF2B5EF4-FFF2-40B4-BE49-F238E27FC236}">
                <a16:creationId xmlns:a16="http://schemas.microsoft.com/office/drawing/2014/main" id="{A1247A90-09EF-425D-8895-C0709CCF928B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SAN enumera los nombres cubiertos.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servidor presenta el certificado y los intermedios necesarios.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raíz confiable está en el cliente.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382C9B35-251F-4A43-83EC-7766F920ACCF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29D5E9B-91D2-4D0D-A6C0-74AB32CEF28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Autofirmado y CA pública">
            <a:extLst>
              <a:ext uri="{FF2B5EF4-FFF2-40B4-BE49-F238E27FC236}">
                <a16:creationId xmlns:a16="http://schemas.microsoft.com/office/drawing/2014/main" id="{F1DE9097-2482-4776-8ECC-D18CAB79C889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Autofirmado y CA pública</a:t>
            </a:r>
          </a:p>
        </p:txBody>
      </p:sp>
      <p:sp>
        <p:nvSpPr>
          <p:cNvPr id="55" name="Un autofirmado requiere gestionar la con">
            <a:extLst>
              <a:ext uri="{FF2B5EF4-FFF2-40B4-BE49-F238E27FC236}">
                <a16:creationId xmlns:a16="http://schemas.microsoft.com/office/drawing/2014/main" id="{8CBB21F2-2DAD-4B09-88EE-F857AB765232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autofirmado requiere gestionar la confianza del cliente.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Una CA pública reconocida permite validar sin instalar confianza adicional.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Nombre y vigencia también deben ser correctos.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del nombre con HTTP-01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077BA70A-93AA-4B61-8390-6781E7CD4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CA valida el control del nombre, sin auditar la seguridad de la aplicación.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Condiciones para HTTP-01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EADB7E4B-BB7F-4FB9-99DD-C805A302542F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08A2AE6-FF5D-4027-A6A9-B46640D20908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cceso desde Internet">
            <a:extLst>
              <a:ext uri="{FF2B5EF4-FFF2-40B4-BE49-F238E27FC236}">
                <a16:creationId xmlns:a16="http://schemas.microsoft.com/office/drawing/2014/main" id="{FA459AC6-E45A-45ED-846D-5D82272A246A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desde Internet</a:t>
            </a:r>
          </a:p>
        </p:txBody>
      </p:sp>
      <p:sp>
        <p:nvSpPr>
          <p:cNvPr id="51" name="DNS público dirigido al servidor.&#10;&#10;Puert">
            <a:extLst>
              <a:ext uri="{FF2B5EF4-FFF2-40B4-BE49-F238E27FC236}">
                <a16:creationId xmlns:a16="http://schemas.microsoft.com/office/drawing/2014/main" id="{745EB7F0-0629-4C63-89F3-4761E0A6A5FF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DNS público dirigido al servidor.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Puerto 80 accesible.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Ruta del desafío sin autenticación Basic.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1D15ED14-8417-4D7B-BE71-876EE474CFB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2FDE988-3A46-4A9F-995D-A49BBEC2277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Fichero de validación">
            <a:extLst>
              <a:ext uri="{FF2B5EF4-FFF2-40B4-BE49-F238E27FC236}">
                <a16:creationId xmlns:a16="http://schemas.microsoft.com/office/drawing/2014/main" id="{D8934A38-B1B7-47AE-AFB9-67D3FDC1E90E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Fichero de validación</a:t>
            </a:r>
          </a:p>
        </p:txBody>
      </p:sp>
      <p:sp>
        <p:nvSpPr>
          <p:cNvPr id="55" name="El cliente ACME escribe donde Nginx lee.">
            <a:extLst>
              <a:ext uri="{FF2B5EF4-FFF2-40B4-BE49-F238E27FC236}">
                <a16:creationId xmlns:a16="http://schemas.microsoft.com/office/drawing/2014/main" id="{34365683-7118-42FA-9A14-1FA31EEE5597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cliente ACME escribe donde Nginx lee.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Webroot elegido: /var/www/acme.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HTTP-01 no permite certificados comodín.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Tras renovar, Nginx debe recargarse para utilizar los nuevos ficheros.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Pruebas, emisión y renovación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52F1900C-4EEF-44B6-9DB3-89008B29888C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E0171C9-5556-4AA1-8289-46A9B97D8A0E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ntes de emitir">
            <a:extLst>
              <a:ext uri="{FF2B5EF4-FFF2-40B4-BE49-F238E27FC236}">
                <a16:creationId xmlns:a16="http://schemas.microsoft.com/office/drawing/2014/main" id="{018E6277-E18A-4F2C-AC8D-5B28E19D6C3C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de emitir</a:t>
            </a:r>
          </a:p>
        </p:txBody>
      </p:sp>
      <p:sp>
        <p:nvSpPr>
          <p:cNvPr id="51" name="Probar el recorrido en staging.&#10;&#10;Sus cer">
            <a:extLst>
              <a:ext uri="{FF2B5EF4-FFF2-40B4-BE49-F238E27FC236}">
                <a16:creationId xmlns:a16="http://schemas.microsoft.com/office/drawing/2014/main" id="{37F8283D-BF76-4918-BB26-C51CB91EE792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Probar el recorrido en staging.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Sus certificados no tienen confianza pública habitual.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Solicitar producción cuando la validación funcione.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D03868B7-1531-41E9-9FAE-61BC2757AB72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8A7622E-2BA7-450C-9826-63ECDF7D40F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Durante el servicio">
            <a:extLst>
              <a:ext uri="{FF2B5EF4-FFF2-40B4-BE49-F238E27FC236}">
                <a16:creationId xmlns:a16="http://schemas.microsoft.com/office/drawing/2014/main" id="{8777A0BF-16F2-41ED-800F-D0A73F6DD793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Durante el servicio</a:t>
            </a:r>
          </a:p>
        </p:txBody>
      </p:sp>
      <p:sp>
        <p:nvSpPr>
          <p:cNvPr id="55" name="Renovar antes de caducar.&#10;&#10;Persistir cer">
            <a:extLst>
              <a:ext uri="{FF2B5EF4-FFF2-40B4-BE49-F238E27FC236}">
                <a16:creationId xmlns:a16="http://schemas.microsoft.com/office/drawing/2014/main" id="{FDB4034F-38C1-4ABE-9979-C65B29E7E513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Renovar antes de caducar.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Persistir certificados y claves.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configuración, recargar y verificar el certificado servido.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Terminación TLS en el proxy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EAF4F0D1-26D8-4BFA-92FA-B32A84346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Este fragmento presupone certificados emitidos y ficheros accesibles para Nginx.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Bloque HTTPS en Nginx</a:t>
            </a:r>
          </a:p>
        </p:txBody>
      </p:sp>
      <p:sp>
        <p:nvSpPr>
          <p:cNvPr id="48" name="server {&#10;    listen 443 ssl;&#10;    server_">
            <a:extLst>
              <a:ext uri="{FF2B5EF4-FFF2-40B4-BE49-F238E27FC236}">
                <a16:creationId xmlns:a16="http://schemas.microsoft.com/office/drawing/2014/main" id="{B5917DED-64B4-469A-83D0-557F1BD50306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server {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listen 443 ssl;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server_name web.ejemplo.test;</a:t>
            </a:r>
          </a:p>
          <a:p>
            <a:endParaRPr sz="1500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ssl_certificate     /etc/letsencrypt/live/mi-cert/fullchain.pem;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ssl_certificate_key /etc/letsencrypt/live/mi-cert/privkey.pem;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ssl_protocols       TLSv1.2 TLSv1.3;</a:t>
            </a:r>
          </a:p>
          <a:p>
            <a:endParaRPr sz="1500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# Aquí se configura el contenido o proxy.</a:t>
            </a:r>
          </a:p>
          <a:p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9" name="fullchain.pem incluye el certificado y l">
            <a:extLst>
              <a:ext uri="{FF2B5EF4-FFF2-40B4-BE49-F238E27FC236}">
                <a16:creationId xmlns:a16="http://schemas.microsoft.com/office/drawing/2014/main" id="{C1797235-0A20-44CD-8A81-ADDAA26935A2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fullchain.pem incluye el certificado y los intermedios. privkey.pem contiene la clave privada.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aplicación debe confiar únicamente en los proxies previstos.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Protocolo original y cabeceras</a:t>
            </a:r>
          </a:p>
        </p:txBody>
      </p:sp>
      <p:sp>
        <p:nvSpPr>
          <p:cNvPr id="48" name="proxy_set_header X-Forwarded-Proto $sche">
            <a:extLst>
              <a:ext uri="{FF2B5EF4-FFF2-40B4-BE49-F238E27FC236}">
                <a16:creationId xmlns:a16="http://schemas.microsoft.com/office/drawing/2014/main" id="{FDE0968B-D83F-4E7D-9C8C-0EDB2E22F9F4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proxy_set_header X-Forwarded-Proto $scheme;</a:t>
            </a:r>
          </a:p>
        </p:txBody>
      </p:sp>
      <p:sp>
        <p:nvSpPr>
          <p:cNvPr id="49" name="Si el cliente llega por HTTPS, el valor ">
            <a:extLst>
              <a:ext uri="{FF2B5EF4-FFF2-40B4-BE49-F238E27FC236}">
                <a16:creationId xmlns:a16="http://schemas.microsoft.com/office/drawing/2014/main" id="{4AD19A5F-36BD-4D43-A118-9E4AF62D957C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Si el cliente llega por HTTPS, el valor enviado es https, aunque el backend reciba HTTP.</a:t>
            </a:r>
          </a:p>
        </p:txBody>
      </p:sp>
      <p:sp>
        <p:nvSpPr>
          <p:cNvPr id="50" name="La directiva se integra con Host y las d">
            <a:extLst>
              <a:ext uri="{FF2B5EF4-FFF2-40B4-BE49-F238E27FC236}">
                <a16:creationId xmlns:a16="http://schemas.microsoft.com/office/drawing/2014/main" id="{EAA3296F-400A-4E52-BFFC-C48EF83BEBA9}"/>
              </a:ext>
            </a:extLst>
          </p:cNvPr>
          <p:cNvSpPr>
            <a:spLocks noGrp="1"/>
          </p:cNvSpPr>
          <p:nvPr/>
        </p:nvSpPr>
        <p:spPr>
          <a:xfrm>
            <a:off x="1095375" y="3190875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directiva se integra con Host y las demás cabeceras del proxy.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Redirección y política HSTS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6694F604-A0AE-418C-985B-C28A119E3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ejemplo conserva la ruta ACME y redirige el resto a HTTPS.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Puerto 80: desafío y redirección</a:t>
            </a:r>
          </a:p>
        </p:txBody>
      </p:sp>
      <p:sp>
        <p:nvSpPr>
          <p:cNvPr id="48" name="server {&#10;    listen 80;&#10;    server_name ">
            <a:extLst>
              <a:ext uri="{FF2B5EF4-FFF2-40B4-BE49-F238E27FC236}">
                <a16:creationId xmlns:a16="http://schemas.microsoft.com/office/drawing/2014/main" id="{0FE64514-3C3F-4BB7-B882-BFF48256B006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4048125"/>
          </a:xfrm>
          <a:prstGeom prst="roundRect">
            <a:avLst>
              <a:gd name="adj" fmla="val 1882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server {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listen 80;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server_name web.ejemplo.test;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location ^~ /.well-known/acme-challenge/ {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root /var/www/acme;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auth_basic off;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try_files $uri =404;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location / {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return 301 https://$host$request_uri;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 algn="l">
              <a:def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En el laboratorio usamos max-age=300, sin includeSubDomains ni preload.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aprende HSTS el navegador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6AA8944F-207F-4CC3-B4C8-5346866F4EEE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0101BC0-619D-48F3-8B86-AEA2EAE83D4F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prendizaje">
            <a:extLst>
              <a:ext uri="{FF2B5EF4-FFF2-40B4-BE49-F238E27FC236}">
                <a16:creationId xmlns:a16="http://schemas.microsoft.com/office/drawing/2014/main" id="{A7AAD0F9-EF7A-4B69-905A-29BE673DAAA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Aprendizaje</a:t>
            </a:r>
          </a:p>
        </p:txBody>
      </p:sp>
      <p:sp>
        <p:nvSpPr>
          <p:cNvPr id="51" name="Recibe la cabecera por HTTPS válido.&#10;&#10;Co">
            <a:extLst>
              <a:ext uri="{FF2B5EF4-FFF2-40B4-BE49-F238E27FC236}">
                <a16:creationId xmlns:a16="http://schemas.microsoft.com/office/drawing/2014/main" id="{D7838CB0-8164-44B4-BE85-D462153C747C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Recibe la cabecera por HTTPS válido.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Conserva la política durante el periodo indicado.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Otra respuesta con HSTS actualiza ese periodo.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14599F12-8A38-49DF-BB90-824CDCF7ABF0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F74FC96-BDC5-460D-9860-88C0D5477D94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Aplicación">
            <a:extLst>
              <a:ext uri="{FF2B5EF4-FFF2-40B4-BE49-F238E27FC236}">
                <a16:creationId xmlns:a16="http://schemas.microsoft.com/office/drawing/2014/main" id="{9F49328B-D7CC-445A-83ED-93B90ED44F00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55" name="Usa HTTPS antes de conectar mientras la ">
            <a:extLst>
              <a:ext uri="{FF2B5EF4-FFF2-40B4-BE49-F238E27FC236}">
                <a16:creationId xmlns:a16="http://schemas.microsoft.com/office/drawing/2014/main" id="{C074A41C-240F-4018-A1FE-1FE2960525F0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Usa HTTPS antes de conectar mientras la política siga vigente.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Ignora HSTS recibido por HTTP.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HSTS no hace válido un certificado incorrecto.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Conviene verificar las cabeceras reales que recibe el navegador.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Cabeceras del bloque HTTPS</a:t>
            </a:r>
          </a:p>
        </p:txBody>
      </p:sp>
      <p:sp>
        <p:nvSpPr>
          <p:cNvPr id="48" name="add_header Strict-Transport-Security &quot;ma">
            <a:extLst>
              <a:ext uri="{FF2B5EF4-FFF2-40B4-BE49-F238E27FC236}">
                <a16:creationId xmlns:a16="http://schemas.microsoft.com/office/drawing/2014/main" id="{CED10F63-DA97-4914-BF25-887B94BA069B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add_header Strict-Transport-Security "max-age=300" always;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add_header X-Content-Type-Options "nosniff" always;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add_header Referrer-Policy</a:t>
            </a:r>
          </a:p>
          <a:p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"strict-origin-when-cross-origin" always;</a:t>
            </a:r>
          </a:p>
        </p:txBody>
      </p:sp>
      <p:sp>
        <p:nvSpPr>
          <p:cNvPr id="49" name="always permite añadirlas también a respu">
            <a:extLst>
              <a:ext uri="{FF2B5EF4-FFF2-40B4-BE49-F238E27FC236}">
                <a16:creationId xmlns:a16="http://schemas.microsoft.com/office/drawing/2014/main" id="{B122FDA3-30C7-41D0-A8F7-08EBD0AB966D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always permite añadirlas también a respuestas de error.</a:t>
            </a:r>
          </a:p>
        </p:txBody>
      </p:sp>
      <p:sp>
        <p:nvSpPr>
          <p:cNvPr id="50" name="HSTS: uso de HTTPS.&#10;nosniff: respeto del">
            <a:extLst>
              <a:ext uri="{FF2B5EF4-FFF2-40B4-BE49-F238E27FC236}">
                <a16:creationId xmlns:a16="http://schemas.microsoft.com/office/drawing/2014/main" id="{62F343E4-E718-40F9-AE08-423AE97D1BFB}"/>
              </a:ext>
            </a:extLst>
          </p:cNvPr>
          <p:cNvSpPr>
            <a:spLocks noGrp="1"/>
          </p:cNvSpPr>
          <p:nvPr/>
        </p:nvSpPr>
        <p:spPr>
          <a:xfrm>
            <a:off x="1095375" y="3143250"/>
            <a:ext cx="99060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HSTS: uso de HTTPS.</a:t>
            </a: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nosniff: respeto del tipo MIME.</a:t>
            </a:r>
          </a:p>
          <a:p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Referrer-Policy: información enviada en Referer.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Cada capa conserva responsabilidades propias.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en varias capas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CBC4BEBC-12EC-428F-B2E7-35723834082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DB7E53B-53C1-43B7-BFDC-697F60B1793D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Transporte y acceso">
            <a:extLst>
              <a:ext uri="{FF2B5EF4-FFF2-40B4-BE49-F238E27FC236}">
                <a16:creationId xmlns:a16="http://schemas.microsoft.com/office/drawing/2014/main" id="{97F71050-C4F6-4CF7-A630-57E41615214D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Transporte y acceso</a:t>
            </a:r>
          </a:p>
        </p:txBody>
      </p:sp>
      <p:sp>
        <p:nvSpPr>
          <p:cNvPr id="51" name="TLS protege la comunicación.&#10;&#10;La autenti">
            <a:extLst>
              <a:ext uri="{FF2B5EF4-FFF2-40B4-BE49-F238E27FC236}">
                <a16:creationId xmlns:a16="http://schemas.microsoft.com/office/drawing/2014/main" id="{3320257B-CC78-43A4-9CCD-F144D9F58DF8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TLS protege la comunicación.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autenticación identifica al usuario.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autorización decide qué puede hacer.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775FC622-556B-479F-A75B-18C4DD45078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D386D75-6723-447D-B6BA-4221CFE0D20F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Aplicación e infraestructura">
            <a:extLst>
              <a:ext uri="{FF2B5EF4-FFF2-40B4-BE49-F238E27FC236}">
                <a16:creationId xmlns:a16="http://schemas.microsoft.com/office/drawing/2014/main" id="{1818B7C1-7CE1-420B-A029-292500F1F32D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Aplicación e infraestructura</a:t>
            </a:r>
          </a:p>
        </p:txBody>
      </p:sp>
      <p:sp>
        <p:nvSpPr>
          <p:cNvPr id="55" name="Validación y programación segura.&#10;&#10;Permi">
            <a:extLst>
              <a:ext uri="{FF2B5EF4-FFF2-40B4-BE49-F238E27FC236}">
                <a16:creationId xmlns:a16="http://schemas.microsoft.com/office/drawing/2014/main" id="{164E79CD-8E81-4E44-92EA-74F6764A1773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Validación y programación segura.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Permisos y protección de secretos.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Actualizaciones y control de puertos.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En la actividad, Nginx será la entrada pública con HTTPS y control de acceso.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 de la sesión</a:t>
            </a:r>
          </a:p>
        </p:txBody>
      </p:sp>
      <p:sp>
        <p:nvSpPr>
          <p:cNvPr id="48" name="Qué debemos poder explicar y comprobar">
            <a:extLst>
              <a:ext uri="{FF2B5EF4-FFF2-40B4-BE49-F238E27FC236}">
                <a16:creationId xmlns:a16="http://schemas.microsoft.com/office/drawing/2014/main" id="{78BB4343-F7A1-469A-AB62-D44DAE57C69C}"/>
              </a:ext>
            </a:extLst>
          </p:cNvPr>
          <p:cNvSpPr>
            <a:spLocks noGrp="1"/>
          </p:cNvSpPr>
          <p:nvPr/>
        </p:nvSpPr>
        <p:spPr>
          <a:xfrm>
            <a:off x="914400" y="1085850"/>
            <a:ext cx="10382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17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Qué debemos poder explicar y comprobar</a:t>
            </a:r>
          </a:p>
        </p:txBody>
      </p:sp>
      <p:sp>
        <p:nvSpPr>
          <p:cNvPr id="49" name="Qué expone el despliegue y qué permanece">
            <a:extLst>
              <a:ext uri="{FF2B5EF4-FFF2-40B4-BE49-F238E27FC236}">
                <a16:creationId xmlns:a16="http://schemas.microsoft.com/office/drawing/2014/main" id="{856290FE-5069-4BF5-AC0F-3B7788AC9EE8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2E6"/>
            </a:solidFill>
          </a:ln>
        </p:spPr>
        <p:txBody>
          <a:bodyPr lIns="171450" tIns="171450" rIns="171450" bIns="17145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expone el despliegue y qué permanece interno.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Cómo se complementan Basic Authentication y TLS.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valida el cliente al recibir un certificado.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necesita HTTP-01 para emitir y renovar.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Dónde termina TLS y cómo actúan redirección y HSTS.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2463</Words>
  <Application>Microsoft Macintosh PowerPoint</Application>
  <DocSecurity>0</DocSecurity>
  <PresentationFormat>Panorámica</PresentationFormat>
  <Paragraphs>326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1</cp:revision>
  <dcterms:created xsi:type="dcterms:W3CDTF">2026-10-14T19:25:07Z</dcterms:created>
  <dcterms:modified xsi:type="dcterms:W3CDTF">2026-10-14T19:32:25Z</dcterms:modified>
</cp:coreProperties>
</file>