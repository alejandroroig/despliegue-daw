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/>
    <p:restoredTop sz="94692"/>
  </p:normalViewPr>
  <p:slideViewPr>
    <p:cSldViewPr snapToGrid="0" snapToObjects="1">
      <p:cViewPr varScale="1">
        <p:scale>
          <a:sx n="117" d="100"/>
          <a:sy n="117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de teoría. Escaparate incorpora Nginx como entrada HTTP y publica dos sitios. El proxy inverso se desarrollará en la siguiente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Nginx recibe las conexiones públicas y entrega cada recurso desde el lugar adecuado.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En esta sesión, /api/ conecta con el backend. El proxy inverso se estudiará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DNS». Infografía elaborada para esta sesión.</a:t>
            </a:r>
          </a:p>
          <a:p>
            <a:r>
              <a:t>Solo web publica el puerto 80. Nginx sirve catálogo y documentación y reenvía /api/ a app. app y bd se comunican por la red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Los montajes :ro permiten leer la configuración y los ficheros desde el contenedor.</a:t>
            </a:r>
          </a:p>
          <a:p>
            <a:r>
              <a:t>La app deja de publicar 8080 al anfitrión. Su imagen aún contiene el frontend anterior, pero el navegador utiliza la distribución que sirve Nginx.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DNS». Infografía elaborada para esta sesión.</a:t>
            </a:r>
          </a:p>
          <a:p>
            <a:r>
              <a:t>root se interpreta dentro de web. El montaje hace visible el contenido del repositorio en /srv/www/escaparate sin copiarlo al contenedor.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La recarga aplica una configuración válida sin recrear el contenedor.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DNS». Infografía elaborada para esta sesión.</a:t>
            </a:r>
          </a:p>
          <a:p>
            <a:r>
              <a:t>DNS permite obtener una dirección. Una vez establecida la conexión, Host ayuda a seleccionar el sitio en Nginx. Ambos nombres pueden resolver a 127.0.0.1 y usar el puerto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dig consulta DNS directamente. No utiliza /etc/hosts para resolver el nombre solicitado.</a:t>
            </a:r>
          </a:p>
          <a:p>
            <a:r>
              <a:t>La caché DNS conserva respuestas de resolución de nombres. La caché HTTP del navegador conserva respuestas de recursos web. No son la misma caché.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Cada bloque server combina el nombre del sitio con su raíz de documentos.</a:t>
            </a:r>
          </a:p>
          <a:p>
            <a:r>
              <a:t>Ejemplo de petición: GET / HTTP/1.1 con Host: docs.127.0.0.1.nip.io. autoindex permite el listado cuando no hay índice; se habilita solo en las rutas donde se desee exponerlo.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default_server fija el bloque de reserva para ese puerto de escucha.</a:t>
            </a:r>
          </a:p>
          <a:p>
            <a:r>
              <a:t>El comportamiento por defecto lo establece default_server en listen. El guion bajo de server_name no es un comodín especial.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DNS». Infografía elaborada para esta sesión.</a:t>
            </a:r>
          </a:p>
          <a:p>
            <a:r>
              <a:t>Los síntomas orientan las comprobaciones, pero no determinan una causa única. Revisar estado, logs, ruta y cabeceras.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Un fichero puede existir y descargarse, pero no funcionar con un Content-Type inesperado.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DNS». Infografía elaborada para esta sesión.</a:t>
            </a:r>
          </a:p>
          <a:p>
            <a:r>
              <a:t>Nginx comprime la respuesta y el navegador la descomprime. El fichero original permanece sin cambios. HTML, CSS, JavaScript y JSON suelen beneficiarse de gzip.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Para comparar bytes transferidos se necesita una petición completa, no solo cabeceras.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DNS». Infografía elaborada para esta sesión.</a:t>
            </a:r>
          </a:p>
          <a:p>
            <a:r>
              <a:t>La primera visita descarga el recurso. Mientras la copia está vigente puede reutilizarse. Una URL versionada necesita también actualizar su referencia en el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Una API puede usar caché. La política depende del dato y de cuánto cambia.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La siguiente sesión desarrollará el proxy inverso que conecta /api/ con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«Servidores web y DNS», revisión visual.</a:t>
            </a:r>
          </a:p>
          <a:p>
            <a:r>
              <a:t>Nginx entrega los estáticos y Spring Boot continúa ejecutando la lógica de Escaparate.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EBF4-0BB8-4264-8737-A96D2F7DD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5D733-83B6-47CF-8C5E-EEE7C5F31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C495D-1937-4C01-83E0-D55CBFEED1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0DCB3-49D1-43C5-91E5-98725681A5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84E1F-7221-4675-921E-E43BAE3971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5488-F3E2-4687-BFE2-5CEFC826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5D410-8D19-41AA-9689-835078B7C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CCB58-262B-44E9-8250-A469AD8A80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6F343-3858-46B4-B8C7-DAC2CB46EF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9DBD-7F6A-4F14-B8C7-33CFFE441F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BC8B-4EA6-493B-B75C-D64F606E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912C5-ADF1-4651-A5B2-F1C06D42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6816-D812-448B-BF26-7326E4ABA6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64776-D61B-4C91-97FA-799F0D0D42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30558-D9D9-44EA-A5C2-D078CBE0C5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F109-811D-4A91-B7B8-6210628A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AD9F-407F-4370-A21A-F970EB51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6AF6D-31A2-4E17-89B4-56F37BA95DF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732AC-AD96-4242-B8F6-0224D74FD5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7114B-4628-4C22-BDB0-79325C20FC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6380D-9B95-42B8-92EF-E83A2E6DA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61DE-021E-41EC-8EE1-E1ACD4BC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D114C-84ED-4C6A-B49E-AB6EBE85A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50BD6-3E79-4DEA-B2F0-5D9640DD3F3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5F4F8-10C0-4C52-8BF5-30506BAAD7A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A5E5B-B62F-4F6F-96A7-F5B5417D67B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B6C22-44A9-40EC-B933-DE7FC61400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BB5AF-5363-4793-B117-E0D6B6D17C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4190F6-C930-4CEC-BC87-7AC424981D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80F8-4366-4355-B738-B90C63F0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FBD3A-E61F-4A09-83E0-CDDF94B662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7BBEA-5B8C-4065-8E82-EACAF3006A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BDD0E-C7B7-44B7-86DB-635E48CAE1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3B82B-8876-4C18-9BEC-44EF9AB271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4FF38-FBAF-48D0-BCA6-DA6EF310B3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53EC6-AD77-42C3-B6A5-D54D06D5B3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8E49-9B3F-437E-ACA2-3D2118F87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25ED0-FB2F-4583-8AD1-37EDFC001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0409E-E2FC-43AC-AE0E-FF1D9E1148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45EF1-EF98-47DB-A4DA-3186627132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7AD69-E1D6-4A5F-A3D4-948ED65242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E7378-3AA6-4F1C-ABCF-EBA2A052A1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F1AB-3C6C-4615-96DF-E832865E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9BA29-3465-418A-BAFA-5894D739B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E1241-2EAE-4929-B954-42F8105A53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C6E85-D61E-4E59-9507-4B85AA331D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4348D-1348-46CF-A2A3-8875B7ECDE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70672-0A95-4AF4-A2EF-B30DF7719A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5170-B0FC-4E1E-8AC7-87B63972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DCA61-218C-4AA8-B727-34FEFDA51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722AA-86DC-440B-A21A-AA3A18527C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699D2-7794-4316-8E75-BD35B7F32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7B798-6095-4098-90B6-18AE9F7DA0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03EB3E-3F2B-42F4-95F0-B8335E12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73F56-7B23-4DAD-8709-EC4B359C9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61F9A-4991-4572-AE34-9DA77427F8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A3DF-A66E-4E10-926C-15F7861B05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8450-3AD9-4058-85D1-52D511F1D9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DA33E-4F42-4213-8242-43AF1C10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B1B8-F350-429B-A6DD-22F685F75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7076-B5CC-4BF0-94CE-439F4950B6B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13/10/26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AE8E7-83DA-407B-801E-4D5EFA0811A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48607-F566-4717-9BA6-A74C62BCB29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BA1F66-2435-44F5-9159-6F87771826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2105A-350F-429F-8E1D-7F0B5752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0"/>
            <a:ext cx="51435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B478E0-6EB0-474E-903E-943E141EDA3E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852160" cy="12954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Servidores web</a:t>
            </a:r>
          </a:p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 DNS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strike="noStrike">
                <a:solidFill>
                  <a:srgbClr val="B2DFDB"/>
                </a:solidFill>
                <a:latin typeface="Arial"/>
                <a:ea typeface="Arial"/>
                <a:cs typeface="Arial"/>
              </a:rPr>
              <a:t>DESPLIEGUE DE APLICACIONES WEB  —  CURSO 2026/2027</a:t>
            </a: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>
            <a:spLocks noGrp="1"/>
          </p:cNvSpPr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i="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3 — </a:t>
            </a:r>
            <a:r>
              <a:rPr lang="es-ES" sz="2000" b="0" i="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Publicación y ejecución de aplicaciones web</a:t>
            </a:r>
            <a:endParaRPr sz="2000" b="0" i="1" u="none" strike="noStrik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419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Nginx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recibe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las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conexiones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públicas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y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entrega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cada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recurso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desde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el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lugar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adecuado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</a:t>
            </a:r>
            <a:r>
              <a:rPr sz="1050" b="0" u="none" strike="noStrike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 de </a:t>
            </a:r>
            <a:r>
              <a:rPr sz="1050" b="0" u="none" strike="noStrike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Aplicaciones</a:t>
            </a:r>
            <a:r>
              <a:rPr sz="1050" b="0" u="none" strike="noStrike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 Web — Tema 3:</a:t>
            </a:r>
            <a:r>
              <a:rPr lang="es-ES" sz="1050" b="0" u="none" strike="noStrike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 Publicación y ejecución de aplicaciones web</a:t>
            </a:r>
            <a:endParaRPr sz="1050" b="0" u="none" strike="noStrik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8" name="Publicar Escaparate y su documentación c">
            <a:extLst>
              <a:ext uri="{FF2B5EF4-FFF2-40B4-BE49-F238E27FC236}">
                <a16:creationId xmlns:a16="http://schemas.microsoft.com/office/drawing/2014/main" id="{A1F7F0A2-732F-4D62-9202-E2EABBF293FC}"/>
              </a:ext>
            </a:extLst>
          </p:cNvPr>
          <p:cNvSpPr>
            <a:spLocks noGrp="1"/>
          </p:cNvSpPr>
          <p:nvPr/>
        </p:nvSpPr>
        <p:spPr>
          <a:xfrm>
            <a:off x="914400" y="981075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Publicar Escaparate y su documentación con Nginx</a:t>
            </a:r>
          </a:p>
        </p:txBody>
      </p:sp>
      <p:sp>
        <p:nvSpPr>
          <p:cNvPr id="49" name="Rectángulo redondeado 48">
            <a:extLst>
              <a:ext uri="{FF2B5EF4-FFF2-40B4-BE49-F238E27FC236}">
                <a16:creationId xmlns:a16="http://schemas.microsoft.com/office/drawing/2014/main" id="{7DF48A24-4DEB-4B24-A8C6-41840BFCCB0A}"/>
              </a:ext>
            </a:extLst>
          </p:cNvPr>
          <p:cNvSpPr>
            <a:spLocks noGrp="1"/>
          </p:cNvSpPr>
          <p:nvPr/>
        </p:nvSpPr>
        <p:spPr>
          <a:xfrm>
            <a:off x="914400" y="1743075"/>
            <a:ext cx="4895850" cy="3048000"/>
          </a:xfrm>
          <a:prstGeom prst="roundRect">
            <a:avLst>
              <a:gd name="adj" fmla="val 250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A8E2B47-7B86-4B43-9920-2C6194A11594}"/>
              </a:ext>
            </a:extLst>
          </p:cNvPr>
          <p:cNvSpPr>
            <a:spLocks noGrp="1"/>
          </p:cNvSpPr>
          <p:nvPr/>
        </p:nvSpPr>
        <p:spPr>
          <a:xfrm>
            <a:off x="914400" y="174307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Qué cambia">
            <a:extLst>
              <a:ext uri="{FF2B5EF4-FFF2-40B4-BE49-F238E27FC236}">
                <a16:creationId xmlns:a16="http://schemas.microsoft.com/office/drawing/2014/main" id="{A3F625B1-97A8-4CD5-AB71-124054F8DEBE}"/>
              </a:ext>
            </a:extLst>
          </p:cNvPr>
          <p:cNvSpPr>
            <a:spLocks noGrp="1"/>
          </p:cNvSpPr>
          <p:nvPr/>
        </p:nvSpPr>
        <p:spPr>
          <a:xfrm>
            <a:off x="1066800" y="18288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cambia</a:t>
            </a:r>
          </a:p>
        </p:txBody>
      </p:sp>
      <p:sp>
        <p:nvSpPr>
          <p:cNvPr id="52" name="Nginx recibe las peticiones HTTP.&#10;&#10;El fr">
            <a:extLst>
              <a:ext uri="{FF2B5EF4-FFF2-40B4-BE49-F238E27FC236}">
                <a16:creationId xmlns:a16="http://schemas.microsoft.com/office/drawing/2014/main" id="{903D9918-44DB-4F78-8F78-8896441AFCFB}"/>
              </a:ext>
            </a:extLst>
          </p:cNvPr>
          <p:cNvSpPr>
            <a:spLocks noGrp="1"/>
          </p:cNvSpPr>
          <p:nvPr/>
        </p:nvSpPr>
        <p:spPr>
          <a:xfrm>
            <a:off x="1123950" y="2333625"/>
            <a:ext cx="4476750" cy="2305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Nginx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recibe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 las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peticiones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 HTTP.</a:t>
            </a:r>
          </a:p>
          <a:p>
            <a:endParaRPr sz="1650" b="0" dirty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frontend se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sirve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como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ficheros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650" b="0" dirty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Spring Boot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conserva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 la </a:t>
            </a:r>
            <a:r>
              <a:rPr sz="1650" b="0" dirty="0" err="1">
                <a:solidFill>
                  <a:srgbClr val="313A44"/>
                </a:solidFill>
                <a:latin typeface="Arial"/>
                <a:ea typeface="Arial"/>
                <a:cs typeface="Arial"/>
              </a:rPr>
              <a:t>lógica</a:t>
            </a:r>
            <a:r>
              <a:rPr sz="1650" b="0" dirty="0">
                <a:solidFill>
                  <a:srgbClr val="313A44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3" name="Rectángulo redondeado 52">
            <a:extLst>
              <a:ext uri="{FF2B5EF4-FFF2-40B4-BE49-F238E27FC236}">
                <a16:creationId xmlns:a16="http://schemas.microsoft.com/office/drawing/2014/main" id="{425087B1-1D83-457A-9574-0EE118B8EB60}"/>
              </a:ext>
            </a:extLst>
          </p:cNvPr>
          <p:cNvSpPr>
            <a:spLocks noGrp="1"/>
          </p:cNvSpPr>
          <p:nvPr/>
        </p:nvSpPr>
        <p:spPr>
          <a:xfrm>
            <a:off x="6381750" y="1743075"/>
            <a:ext cx="4895850" cy="3048000"/>
          </a:xfrm>
          <a:prstGeom prst="roundRect">
            <a:avLst>
              <a:gd name="adj" fmla="val 250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3D7D3315-A0AD-482B-8E45-CA967A53A2EE}"/>
              </a:ext>
            </a:extLst>
          </p:cNvPr>
          <p:cNvSpPr>
            <a:spLocks noGrp="1"/>
          </p:cNvSpPr>
          <p:nvPr/>
        </p:nvSpPr>
        <p:spPr>
          <a:xfrm>
            <a:off x="6381750" y="174307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Qué comprobaremos">
            <a:extLst>
              <a:ext uri="{FF2B5EF4-FFF2-40B4-BE49-F238E27FC236}">
                <a16:creationId xmlns:a16="http://schemas.microsoft.com/office/drawing/2014/main" id="{2A8AAA73-43E2-4208-8115-FBAF9AD8330B}"/>
              </a:ext>
            </a:extLst>
          </p:cNvPr>
          <p:cNvSpPr>
            <a:spLocks noGrp="1"/>
          </p:cNvSpPr>
          <p:nvPr/>
        </p:nvSpPr>
        <p:spPr>
          <a:xfrm>
            <a:off x="6534150" y="18288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comprobaremos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Dos nombres y dos sitios.&#10;&#10;Rutas, permis">
            <a:extLst>
              <a:ext uri="{FF2B5EF4-FFF2-40B4-BE49-F238E27FC236}">
                <a16:creationId xmlns:a16="http://schemas.microsoft.com/office/drawing/2014/main" id="{ACC03833-D32F-418C-A826-6D61B5B5F5F0}"/>
              </a:ext>
            </a:extLst>
          </p:cNvPr>
          <p:cNvSpPr>
            <a:spLocks noGrp="1"/>
          </p:cNvSpPr>
          <p:nvPr/>
        </p:nvSpPr>
        <p:spPr>
          <a:xfrm>
            <a:off x="6591300" y="2333625"/>
            <a:ext cx="4476750" cy="2305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Dos nombres y dos sitios.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Rutas, permisos y cabeceras.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Compresión y caché de recursos.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En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esta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sesión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, /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api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/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conecta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con el backend. El proxy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inverso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se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estudiará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dirty="0" err="1">
                <a:solidFill>
                  <a:srgbClr val="18365F"/>
                </a:solidFill>
                <a:latin typeface="Arial"/>
                <a:ea typeface="Arial"/>
                <a:cs typeface="Arial"/>
              </a:rPr>
              <a:t>después</a:t>
            </a:r>
            <a:r>
              <a:rPr sz="1400" dirty="0">
                <a:solidFill>
                  <a:srgbClr val="18365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Contenido estático y lógica de aplicación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B698E27D-B873-4BBD-B748-BB0A6CE95A92}"/>
              </a:ext>
            </a:extLst>
          </p:cNvPr>
          <p:cNvSpPr>
            <a:spLocks noGrp="1"/>
          </p:cNvSpPr>
          <p:nvPr/>
        </p:nvSpPr>
        <p:spPr>
          <a:xfrm>
            <a:off x="914400" y="1295400"/>
            <a:ext cx="4895850" cy="2705100"/>
          </a:xfrm>
          <a:prstGeom prst="roundRect">
            <a:avLst>
              <a:gd name="adj" fmla="val 2817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4DD1DBC-1612-4B94-A14D-8E06CD1EF913}"/>
              </a:ext>
            </a:extLst>
          </p:cNvPr>
          <p:cNvSpPr>
            <a:spLocks noGrp="1"/>
          </p:cNvSpPr>
          <p:nvPr/>
        </p:nvSpPr>
        <p:spPr>
          <a:xfrm>
            <a:off x="914400" y="1295400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Nginx sirve ficheros">
            <a:extLst>
              <a:ext uri="{FF2B5EF4-FFF2-40B4-BE49-F238E27FC236}">
                <a16:creationId xmlns:a16="http://schemas.microsoft.com/office/drawing/2014/main" id="{DEAF5A97-F3D9-4FFC-B0E1-05C9143206EF}"/>
              </a:ext>
            </a:extLst>
          </p:cNvPr>
          <p:cNvSpPr>
            <a:spLocks noGrp="1"/>
          </p:cNvSpPr>
          <p:nvPr/>
        </p:nvSpPr>
        <p:spPr>
          <a:xfrm>
            <a:off x="1066800" y="138112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 sirve ficheros</a:t>
            </a:r>
          </a:p>
        </p:txBody>
      </p:sp>
      <p:sp>
        <p:nvSpPr>
          <p:cNvPr id="51" name="HTML, CSS, JavaScript e imágenes.&#10;&#10;Local">
            <a:extLst>
              <a:ext uri="{FF2B5EF4-FFF2-40B4-BE49-F238E27FC236}">
                <a16:creationId xmlns:a16="http://schemas.microsoft.com/office/drawing/2014/main" id="{DBDDEB20-3372-41DE-873D-C54DECD524E2}"/>
              </a:ext>
            </a:extLst>
          </p:cNvPr>
          <p:cNvSpPr>
            <a:spLocks noGrp="1"/>
          </p:cNvSpPr>
          <p:nvPr/>
        </p:nvSpPr>
        <p:spPr>
          <a:xfrm>
            <a:off x="1123950" y="1885950"/>
            <a:ext cx="4476750" cy="1962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HTML, CSS, JavaScript e imágenes.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Localiza el recurso bajo la raíz del sitio y devuelve su contenido.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24A4E1E7-3C4C-49D3-B0D6-976473278DB6}"/>
              </a:ext>
            </a:extLst>
          </p:cNvPr>
          <p:cNvSpPr>
            <a:spLocks noGrp="1"/>
          </p:cNvSpPr>
          <p:nvPr/>
        </p:nvSpPr>
        <p:spPr>
          <a:xfrm>
            <a:off x="6381750" y="1295400"/>
            <a:ext cx="4895850" cy="2705100"/>
          </a:xfrm>
          <a:prstGeom prst="roundRect">
            <a:avLst>
              <a:gd name="adj" fmla="val 2817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8C5F87B-9F12-4F22-A01F-278A6C43EE6C}"/>
              </a:ext>
            </a:extLst>
          </p:cNvPr>
          <p:cNvSpPr>
            <a:spLocks noGrp="1"/>
          </p:cNvSpPr>
          <p:nvPr/>
        </p:nvSpPr>
        <p:spPr>
          <a:xfrm>
            <a:off x="6381750" y="1295400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Spring Boot genera respuestas">
            <a:extLst>
              <a:ext uri="{FF2B5EF4-FFF2-40B4-BE49-F238E27FC236}">
                <a16:creationId xmlns:a16="http://schemas.microsoft.com/office/drawing/2014/main" id="{A39547AE-89CE-4EA9-B398-63C3B777FCF9}"/>
              </a:ext>
            </a:extLst>
          </p:cNvPr>
          <p:cNvSpPr>
            <a:spLocks noGrp="1"/>
          </p:cNvSpPr>
          <p:nvPr/>
        </p:nvSpPr>
        <p:spPr>
          <a:xfrm>
            <a:off x="6534150" y="138112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genera respuestas</a:t>
            </a:r>
          </a:p>
        </p:txBody>
      </p:sp>
      <p:sp>
        <p:nvSpPr>
          <p:cNvPr id="55" name="Las peticiones a /api/... ejecutan lógic">
            <a:extLst>
              <a:ext uri="{FF2B5EF4-FFF2-40B4-BE49-F238E27FC236}">
                <a16:creationId xmlns:a16="http://schemas.microsoft.com/office/drawing/2014/main" id="{40B491FF-3442-490C-BC13-1C5327EB62FC}"/>
              </a:ext>
            </a:extLst>
          </p:cNvPr>
          <p:cNvSpPr>
            <a:spLocks noGrp="1"/>
          </p:cNvSpPr>
          <p:nvPr/>
        </p:nvSpPr>
        <p:spPr>
          <a:xfrm>
            <a:off x="6591300" y="1885950"/>
            <a:ext cx="4476750" cy="1962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peticiones a /api/... ejecutan lógica de aplicación.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aplicación consulta la base de datos cuando lo necesita.</a:t>
            </a:r>
          </a:p>
        </p:txBody>
      </p:sp>
      <p:sp>
        <p:nvSpPr>
          <p:cNvPr id="56" name="Apache y Nginx pueden servir estáticos y">
            <a:extLst>
              <a:ext uri="{FF2B5EF4-FFF2-40B4-BE49-F238E27FC236}">
                <a16:creationId xmlns:a16="http://schemas.microsoft.com/office/drawing/2014/main" id="{E32B9940-83CE-4DA1-A503-31499932FA84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0001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Apache y Nginx pueden servir estáticos y actuar como proxy. En el módulo utilizaremos Nginx también para los siguientes temas.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 como nueva puerta de entrada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63B71859-9E63-42ED-8535-B3CDB85B2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186" y="942975"/>
            <a:ext cx="947762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Los montajes :ro permiten leer la configuración y los ficheros desde el contenedor.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Servicio, configuración y contenido</a:t>
            </a:r>
          </a:p>
        </p:txBody>
      </p:sp>
      <p:sp>
        <p:nvSpPr>
          <p:cNvPr id="48" name="Servicio web en Compose">
            <a:extLst>
              <a:ext uri="{FF2B5EF4-FFF2-40B4-BE49-F238E27FC236}">
                <a16:creationId xmlns:a16="http://schemas.microsoft.com/office/drawing/2014/main" id="{E2291E46-C529-4143-AB87-31C85A91212C}"/>
              </a:ext>
            </a:extLst>
          </p:cNvPr>
          <p:cNvSpPr>
            <a:spLocks noGrp="1"/>
          </p:cNvSpPr>
          <p:nvPr/>
        </p:nvSpPr>
        <p:spPr>
          <a:xfrm>
            <a:off x="876300" y="1038225"/>
            <a:ext cx="609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Servicio web en Compose</a:t>
            </a:r>
          </a:p>
        </p:txBody>
      </p:sp>
      <p:sp>
        <p:nvSpPr>
          <p:cNvPr id="49" name="services:&#10;  web:&#10;    image: nginx:1.30.4">
            <a:extLst>
              <a:ext uri="{FF2B5EF4-FFF2-40B4-BE49-F238E27FC236}">
                <a16:creationId xmlns:a16="http://schemas.microsoft.com/office/drawing/2014/main" id="{24338B2D-F5F4-4629-B899-5FCC1DB9E67B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10420350" cy="2647950"/>
          </a:xfrm>
          <a:prstGeom prst="roundRect">
            <a:avLst>
              <a:gd name="adj" fmla="val 2878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web: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image: nginx:1.30.4-alpine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ports: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"80:80"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volumes: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../nginx/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conf.d</a:t>
            </a: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:/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etc</a:t>
            </a: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/nginx/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conf.d:ro</a:t>
            </a:r>
            <a:endParaRPr sz="1400" b="0" dirty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../nginx/sitio-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escaparate</a:t>
            </a: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escaparate</a:t>
            </a: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:/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srv</a:t>
            </a: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/www/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escaparate:ro</a:t>
            </a:r>
            <a:endParaRPr sz="1400" b="0" dirty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../nginx/sitio-docs:/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srv</a:t>
            </a:r>
            <a:r>
              <a:rPr sz="1400" b="0" dirty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/www/</a:t>
            </a:r>
            <a:r>
              <a:rPr sz="1400" b="0" dirty="0" err="1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docs:ro</a:t>
            </a:r>
            <a:endParaRPr sz="1400" b="0" dirty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0" name="Imagen oficial de Nginx">
            <a:extLst>
              <a:ext uri="{FF2B5EF4-FFF2-40B4-BE49-F238E27FC236}">
                <a16:creationId xmlns:a16="http://schemas.microsoft.com/office/drawing/2014/main" id="{7EFE3536-9F44-4819-AE1D-6234A8F0F53C}"/>
              </a:ext>
            </a:extLst>
          </p:cNvPr>
          <p:cNvSpPr>
            <a:spLocks noGrp="1"/>
          </p:cNvSpPr>
          <p:nvPr/>
        </p:nvSpPr>
        <p:spPr>
          <a:xfrm>
            <a:off x="1000125" y="4448175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Imagen oficial de Nginx</a:t>
            </a:r>
          </a:p>
        </p:txBody>
      </p:sp>
      <p:sp>
        <p:nvSpPr>
          <p:cNvPr id="51" name="Configuración versionada">
            <a:extLst>
              <a:ext uri="{FF2B5EF4-FFF2-40B4-BE49-F238E27FC236}">
                <a16:creationId xmlns:a16="http://schemas.microsoft.com/office/drawing/2014/main" id="{85B9E7FA-DBB4-4212-ADC8-565CC02186EC}"/>
              </a:ext>
            </a:extLst>
          </p:cNvPr>
          <p:cNvSpPr>
            <a:spLocks noGrp="1"/>
          </p:cNvSpPr>
          <p:nvPr/>
        </p:nvSpPr>
        <p:spPr>
          <a:xfrm>
            <a:off x="4429125" y="444817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Configuración versionada</a:t>
            </a:r>
          </a:p>
        </p:txBody>
      </p:sp>
      <p:sp>
        <p:nvSpPr>
          <p:cNvPr id="52" name="Contenido estático">
            <a:extLst>
              <a:ext uri="{FF2B5EF4-FFF2-40B4-BE49-F238E27FC236}">
                <a16:creationId xmlns:a16="http://schemas.microsoft.com/office/drawing/2014/main" id="{608F3E71-1D1C-4145-B0D1-4A9800B73D37}"/>
              </a:ext>
            </a:extLst>
          </p:cNvPr>
          <p:cNvSpPr>
            <a:spLocks noGrp="1"/>
          </p:cNvSpPr>
          <p:nvPr/>
        </p:nvSpPr>
        <p:spPr>
          <a:xfrm>
            <a:off x="8334375" y="44481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Contenido estático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Raíz de documentos y montajes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AD668CDE-48DC-41F3-B01C-A7F538B0A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186" y="942975"/>
            <a:ext cx="947762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recarga aplica una configuración válida sin recrear el contenedor.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y recarga de Nginx</a:t>
            </a:r>
          </a:p>
        </p:txBody>
      </p:sp>
      <p:sp>
        <p:nvSpPr>
          <p:cNvPr id="48" name="Editar, validar, recargar y comprobar">
            <a:extLst>
              <a:ext uri="{FF2B5EF4-FFF2-40B4-BE49-F238E27FC236}">
                <a16:creationId xmlns:a16="http://schemas.microsoft.com/office/drawing/2014/main" id="{46495674-AF38-44E4-B32B-5E538F2AE40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Editar, validar, recargar y comprobar</a:t>
            </a:r>
          </a:p>
        </p:txBody>
      </p:sp>
      <p:sp>
        <p:nvSpPr>
          <p:cNvPr id="49" name="Rectángulo redondeado 48">
            <a:extLst>
              <a:ext uri="{FF2B5EF4-FFF2-40B4-BE49-F238E27FC236}">
                <a16:creationId xmlns:a16="http://schemas.microsoft.com/office/drawing/2014/main" id="{4C35D0ED-1D8C-4509-85C7-EFA6900AF63D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4895850" cy="1714500"/>
          </a:xfrm>
          <a:prstGeom prst="roundRect">
            <a:avLst>
              <a:gd name="adj" fmla="val 4444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EF20051-3CCB-4033-A378-75C0A8DDA549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1. Validación">
            <a:extLst>
              <a:ext uri="{FF2B5EF4-FFF2-40B4-BE49-F238E27FC236}">
                <a16:creationId xmlns:a16="http://schemas.microsoft.com/office/drawing/2014/main" id="{F3F688E0-51C5-4D72-9963-2747B6F1C9A0}"/>
              </a:ext>
            </a:extLst>
          </p:cNvPr>
          <p:cNvSpPr>
            <a:spLocks noGrp="1"/>
          </p:cNvSpPr>
          <p:nvPr/>
        </p:nvSpPr>
        <p:spPr>
          <a:xfrm>
            <a:off x="1066800" y="189547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Validación</a:t>
            </a:r>
          </a:p>
        </p:txBody>
      </p:sp>
      <p:sp>
        <p:nvSpPr>
          <p:cNvPr id="52" name="Comprueba la sintaxis y atiende al mensa">
            <a:extLst>
              <a:ext uri="{FF2B5EF4-FFF2-40B4-BE49-F238E27FC236}">
                <a16:creationId xmlns:a16="http://schemas.microsoft.com/office/drawing/2014/main" id="{8C95BFD9-4E1E-41C9-8386-2CDD329326A8}"/>
              </a:ext>
            </a:extLst>
          </p:cNvPr>
          <p:cNvSpPr>
            <a:spLocks noGrp="1"/>
          </p:cNvSpPr>
          <p:nvPr/>
        </p:nvSpPr>
        <p:spPr>
          <a:xfrm>
            <a:off x="1123950" y="2400300"/>
            <a:ext cx="44767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Comprueba la sintaxis y atiende al mensaje de error antes de aplicar los cambios.</a:t>
            </a:r>
          </a:p>
        </p:txBody>
      </p:sp>
      <p:sp>
        <p:nvSpPr>
          <p:cNvPr id="53" name="Rectángulo redondeado 52">
            <a:extLst>
              <a:ext uri="{FF2B5EF4-FFF2-40B4-BE49-F238E27FC236}">
                <a16:creationId xmlns:a16="http://schemas.microsoft.com/office/drawing/2014/main" id="{A6BB3244-7F54-442F-AB6F-FED479E1BF28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4895850" cy="1714500"/>
          </a:xfrm>
          <a:prstGeom prst="roundRect">
            <a:avLst>
              <a:gd name="adj" fmla="val 4444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B19DEE4-F84F-4C33-AF44-C572730FC570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2. Recarga">
            <a:extLst>
              <a:ext uri="{FF2B5EF4-FFF2-40B4-BE49-F238E27FC236}">
                <a16:creationId xmlns:a16="http://schemas.microsoft.com/office/drawing/2014/main" id="{679DC41F-31D1-4BA5-AE43-48C617D0F7A4}"/>
              </a:ext>
            </a:extLst>
          </p:cNvPr>
          <p:cNvSpPr>
            <a:spLocks noGrp="1"/>
          </p:cNvSpPr>
          <p:nvPr/>
        </p:nvSpPr>
        <p:spPr>
          <a:xfrm>
            <a:off x="6534150" y="189547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Recarga</a:t>
            </a:r>
          </a:p>
        </p:txBody>
      </p:sp>
      <p:sp>
        <p:nvSpPr>
          <p:cNvPr id="56" name="Si la validación es correcta, recarga y ">
            <a:extLst>
              <a:ext uri="{FF2B5EF4-FFF2-40B4-BE49-F238E27FC236}">
                <a16:creationId xmlns:a16="http://schemas.microsoft.com/office/drawing/2014/main" id="{E9729E9B-4FE1-4EE0-B1D3-E17170828D11}"/>
              </a:ext>
            </a:extLst>
          </p:cNvPr>
          <p:cNvSpPr>
            <a:spLocks noGrp="1"/>
          </p:cNvSpPr>
          <p:nvPr/>
        </p:nvSpPr>
        <p:spPr>
          <a:xfrm>
            <a:off x="6591300" y="2400300"/>
            <a:ext cx="44767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Si la validación es correcta, recarga y comprueba la respuesta del sitio.</a:t>
            </a:r>
          </a:p>
        </p:txBody>
      </p:sp>
      <p:sp>
        <p:nvSpPr>
          <p:cNvPr id="57" name="docker compose exec web nginx -t">
            <a:extLst>
              <a:ext uri="{FF2B5EF4-FFF2-40B4-BE49-F238E27FC236}">
                <a16:creationId xmlns:a16="http://schemas.microsoft.com/office/drawing/2014/main" id="{0196273F-7163-4939-B5D0-703F38CADF9F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4895850" cy="895350"/>
          </a:xfrm>
          <a:prstGeom prst="roundRect">
            <a:avLst>
              <a:gd name="adj" fmla="val 8511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6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docker compose exec web nginx -t</a:t>
            </a:r>
          </a:p>
        </p:txBody>
      </p:sp>
      <p:sp>
        <p:nvSpPr>
          <p:cNvPr id="58" name="docker compose exec web nginx -s reload">
            <a:extLst>
              <a:ext uri="{FF2B5EF4-FFF2-40B4-BE49-F238E27FC236}">
                <a16:creationId xmlns:a16="http://schemas.microsoft.com/office/drawing/2014/main" id="{07A826E3-D60A-4CFD-A5A6-92928371B927}"/>
              </a:ext>
            </a:extLst>
          </p:cNvPr>
          <p:cNvSpPr>
            <a:spLocks noGrp="1"/>
          </p:cNvSpPr>
          <p:nvPr/>
        </p:nvSpPr>
        <p:spPr>
          <a:xfrm>
            <a:off x="6381750" y="3886200"/>
            <a:ext cx="4895850" cy="895350"/>
          </a:xfrm>
          <a:prstGeom prst="roundRect">
            <a:avLst>
              <a:gd name="adj" fmla="val 8511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docker compose exec web nginx -s reload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DNS y Host seleccionan el destino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2F9614ED-2F2E-49EA-A7CA-689C57A37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40000" y="942975"/>
            <a:ext cx="711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dig consulta DNS directamente. No utiliza /etc/hosts para resolver el nombre solicitado.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Resolución DNS en el laboratorio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EFDDEE76-7F85-42E1-A399-227DFFC65374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57750" cy="3305175"/>
          </a:xfrm>
          <a:prstGeom prst="roundRect">
            <a:avLst>
              <a:gd name="adj" fmla="val 2305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E4AD98C-BD8C-4906-A276-87E19DE87346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577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Registros y caché DNS">
            <a:extLst>
              <a:ext uri="{FF2B5EF4-FFF2-40B4-BE49-F238E27FC236}">
                <a16:creationId xmlns:a16="http://schemas.microsoft.com/office/drawing/2014/main" id="{6CCD9F99-2680-479F-87E6-CA8F8CB02E7E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529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Registros y caché DNS</a:t>
            </a:r>
          </a:p>
        </p:txBody>
      </p:sp>
      <p:sp>
        <p:nvSpPr>
          <p:cNvPr id="51" name="A: relaciona un nombre con una IPv4.&#10;&#10;CN">
            <a:extLst>
              <a:ext uri="{FF2B5EF4-FFF2-40B4-BE49-F238E27FC236}">
                <a16:creationId xmlns:a16="http://schemas.microsoft.com/office/drawing/2014/main" id="{5E6B01ED-5F5B-44C1-B778-D1CE43AC5460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38650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A: relaciona un nombre con una IPv4.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CNAME: define un alias de otro nombre.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TTL: tiempo de conservación de la respuesta en caché.</a:t>
            </a:r>
          </a:p>
        </p:txBody>
      </p:sp>
      <p:sp>
        <p:nvSpPr>
          <p:cNvPr id="52" name="nip.io en esta práctica">
            <a:extLst>
              <a:ext uri="{FF2B5EF4-FFF2-40B4-BE49-F238E27FC236}">
                <a16:creationId xmlns:a16="http://schemas.microsoft.com/office/drawing/2014/main" id="{6D00125B-C3E3-40F1-A2F2-D31AE931E898}"/>
              </a:ext>
            </a:extLst>
          </p:cNvPr>
          <p:cNvSpPr>
            <a:spLocks noGrp="1"/>
          </p:cNvSpPr>
          <p:nvPr/>
        </p:nvSpPr>
        <p:spPr>
          <a:xfrm>
            <a:off x="6305550" y="13811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nip.io en esta práctica</a:t>
            </a:r>
          </a:p>
        </p:txBody>
      </p:sp>
      <p:sp>
        <p:nvSpPr>
          <p:cNvPr id="53" name="docs.127.0.0.1.nip.io&#10;&#10;Resuelve a 127.0.">
            <a:extLst>
              <a:ext uri="{FF2B5EF4-FFF2-40B4-BE49-F238E27FC236}">
                <a16:creationId xmlns:a16="http://schemas.microsoft.com/office/drawing/2014/main" id="{416F6751-8157-441A-BAF7-77DF5B5FB23B}"/>
              </a:ext>
            </a:extLst>
          </p:cNvPr>
          <p:cNvSpPr>
            <a:spLocks noGrp="1"/>
          </p:cNvSpPr>
          <p:nvPr/>
        </p:nvSpPr>
        <p:spPr>
          <a:xfrm>
            <a:off x="6305550" y="1962150"/>
            <a:ext cx="495300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docs.127.0.0.1.nip.io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Resuelve a 127.0.0.1 sin registrar un dominio propio.</a:t>
            </a:r>
          </a:p>
        </p:txBody>
      </p:sp>
      <p:sp>
        <p:nvSpPr>
          <p:cNvPr id="54" name="dig web.127.0.0.1.nip.io&#10;dig +short web.">
            <a:extLst>
              <a:ext uri="{FF2B5EF4-FFF2-40B4-BE49-F238E27FC236}">
                <a16:creationId xmlns:a16="http://schemas.microsoft.com/office/drawing/2014/main" id="{869D202C-4452-45A0-8D42-E120645A47C0}"/>
              </a:ext>
            </a:extLst>
          </p:cNvPr>
          <p:cNvSpPr>
            <a:spLocks noGrp="1"/>
          </p:cNvSpPr>
          <p:nvPr/>
        </p:nvSpPr>
        <p:spPr>
          <a:xfrm>
            <a:off x="6191250" y="3609975"/>
            <a:ext cx="5105400" cy="9525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dig web.127.0.0.1.nip.io</a:t>
            </a:r>
          </a:p>
          <a:p>
            <a: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dig +short web.127.0.0.1.nip.io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Cada bloque server combina el nombre del sitio con su raíz de documentos.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Hosts virtuales en Nginx</a:t>
            </a:r>
          </a:p>
        </p:txBody>
      </p:sp>
      <p:sp>
        <p:nvSpPr>
          <p:cNvPr id="48" name="server {&#10;    listen 80;&#10;    server_name ">
            <a:extLst>
              <a:ext uri="{FF2B5EF4-FFF2-40B4-BE49-F238E27FC236}">
                <a16:creationId xmlns:a16="http://schemas.microsoft.com/office/drawing/2014/main" id="{48A631B2-021E-4077-892C-60121F9E6B7B}"/>
              </a:ext>
            </a:extLst>
          </p:cNvPr>
          <p:cNvSpPr>
            <a:spLocks noGrp="1"/>
          </p:cNvSpPr>
          <p:nvPr/>
        </p:nvSpPr>
        <p:spPr>
          <a:xfrm>
            <a:off x="809625" y="1257300"/>
            <a:ext cx="6486525" cy="3667125"/>
          </a:xfrm>
          <a:prstGeom prst="roundRect">
            <a:avLst>
              <a:gd name="adj" fmla="val 2078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server {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listen 80;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server_name docs.127.0.0.1.nip.io;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root /srv/www/docs;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index index.html;</a:t>
            </a:r>
          </a:p>
          <a:p>
            <a:endParaRPr sz="1600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location /informes/ {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autoindex on;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 algn="l">
              <a:def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9" name="listen: puerto de escucha&#10;&#10;server_name: ">
            <a:extLst>
              <a:ext uri="{FF2B5EF4-FFF2-40B4-BE49-F238E27FC236}">
                <a16:creationId xmlns:a16="http://schemas.microsoft.com/office/drawing/2014/main" id="{E6DCD610-5A14-412C-8A65-1454A200F1C7}"/>
              </a:ext>
            </a:extLst>
          </p:cNvPr>
          <p:cNvSpPr>
            <a:spLocks noGrp="1"/>
          </p:cNvSpPr>
          <p:nvPr/>
        </p:nvSpPr>
        <p:spPr>
          <a:xfrm>
            <a:off x="7629525" y="1352550"/>
            <a:ext cx="3800475" cy="3162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listen: puerto de escucha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server_name: nombre del sitio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root: raíz de documentos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index: fichero de entrada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location: reglas por ruta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default_server fija el bloque de reserva para ese puerto de escucha.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Nombres desconocidos y sitio por defecto</a:t>
            </a:r>
          </a:p>
        </p:txBody>
      </p:sp>
      <p:sp>
        <p:nvSpPr>
          <p:cNvPr id="48" name="Un nombre que no coincide necesita una r">
            <a:extLst>
              <a:ext uri="{FF2B5EF4-FFF2-40B4-BE49-F238E27FC236}">
                <a16:creationId xmlns:a16="http://schemas.microsoft.com/office/drawing/2014/main" id="{B4F8E508-5015-47A7-993A-ABE93B3BC6B9}"/>
              </a:ext>
            </a:extLst>
          </p:cNvPr>
          <p:cNvSpPr>
            <a:spLocks noGrp="1"/>
          </p:cNvSpPr>
          <p:nvPr/>
        </p:nvSpPr>
        <p:spPr>
          <a:xfrm>
            <a:off x="914400" y="1047750"/>
            <a:ext cx="10382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Un nombre que no coincide necesita una respuesta prevista</a:t>
            </a:r>
          </a:p>
        </p:txBody>
      </p:sp>
      <p:sp>
        <p:nvSpPr>
          <p:cNvPr id="49" name="server {&#10;    listen 80 default_server;&#10; ">
            <a:extLst>
              <a:ext uri="{FF2B5EF4-FFF2-40B4-BE49-F238E27FC236}">
                <a16:creationId xmlns:a16="http://schemas.microsoft.com/office/drawing/2014/main" id="{DD8652A2-8C93-412E-ADCD-F21554C8E497}"/>
              </a:ext>
            </a:extLst>
          </p:cNvPr>
          <p:cNvSpPr>
            <a:spLocks noGrp="1"/>
          </p:cNvSpPr>
          <p:nvPr/>
        </p:nvSpPr>
        <p:spPr>
          <a:xfrm>
            <a:off x="1009650" y="2019300"/>
            <a:ext cx="5514975" cy="2333625"/>
          </a:xfrm>
          <a:prstGeom prst="roundRect">
            <a:avLst>
              <a:gd name="adj" fmla="val 3265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server {</a:t>
            </a:r>
          </a:p>
          <a:p>
            <a:pPr algn="l">
              <a:def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listen 80 default_server;</a:t>
            </a:r>
          </a:p>
          <a:p>
            <a:pPr algn="l">
              <a:def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server_name _;</a:t>
            </a:r>
          </a:p>
          <a:p>
            <a:pPr algn="l">
              <a:def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return 404;</a:t>
            </a:r>
          </a:p>
          <a:p>
            <a:pPr algn="l">
              <a:def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9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0" name="Si ningún server_name coincide, este blo">
            <a:extLst>
              <a:ext uri="{FF2B5EF4-FFF2-40B4-BE49-F238E27FC236}">
                <a16:creationId xmlns:a16="http://schemas.microsoft.com/office/drawing/2014/main" id="{BAD5B5A4-5906-4005-B33A-B51315A696DE}"/>
              </a:ext>
            </a:extLst>
          </p:cNvPr>
          <p:cNvSpPr>
            <a:spLocks noGrp="1"/>
          </p:cNvSpPr>
          <p:nvPr/>
        </p:nvSpPr>
        <p:spPr>
          <a:xfrm>
            <a:off x="7038975" y="2181225"/>
            <a:ext cx="4191000" cy="2143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Si ningún server_name coincide, este bloque devuelve 404.</a:t>
            </a:r>
          </a:p>
          <a:p>
            <a:endParaRPr sz="190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9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Así evitamos mostrar accidentalmente otro sitio.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Diagnóstico del contenido estático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3C3EFA5A-3001-4C94-AC6D-21E38501A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186" y="942975"/>
            <a:ext cx="947762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 fichero puede existir y descargarse, pero no funcionar con un Content-Type inesperado.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Permisos y tipos MIME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8AF05ED9-33E4-40EF-A5BA-D31CACB48DA0}"/>
              </a:ext>
            </a:extLst>
          </p:cNvPr>
          <p:cNvSpPr>
            <a:spLocks noGrp="1"/>
          </p:cNvSpPr>
          <p:nvPr/>
        </p:nvSpPr>
        <p:spPr>
          <a:xfrm>
            <a:off x="914400" y="1400175"/>
            <a:ext cx="4895850" cy="3314700"/>
          </a:xfrm>
          <a:prstGeom prst="roundRect">
            <a:avLst>
              <a:gd name="adj" fmla="val 2299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36B7B7B-5F09-42EB-AB05-21172F3D5DB0}"/>
              </a:ext>
            </a:extLst>
          </p:cNvPr>
          <p:cNvSpPr>
            <a:spLocks noGrp="1"/>
          </p:cNvSpPr>
          <p:nvPr/>
        </p:nvSpPr>
        <p:spPr>
          <a:xfrm>
            <a:off x="914400" y="140017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cceso al fichero">
            <a:extLst>
              <a:ext uri="{FF2B5EF4-FFF2-40B4-BE49-F238E27FC236}">
                <a16:creationId xmlns:a16="http://schemas.microsoft.com/office/drawing/2014/main" id="{7E1599EE-EDF7-4CC0-B73A-159A4DDB1F42}"/>
              </a:ext>
            </a:extLst>
          </p:cNvPr>
          <p:cNvSpPr>
            <a:spLocks noGrp="1"/>
          </p:cNvSpPr>
          <p:nvPr/>
        </p:nvSpPr>
        <p:spPr>
          <a:xfrm>
            <a:off x="1066800" y="14859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al fichero</a:t>
            </a:r>
          </a:p>
        </p:txBody>
      </p:sp>
      <p:sp>
        <p:nvSpPr>
          <p:cNvPr id="51" name="Nginx necesita leer el fichero y atraves">
            <a:extLst>
              <a:ext uri="{FF2B5EF4-FFF2-40B4-BE49-F238E27FC236}">
                <a16:creationId xmlns:a16="http://schemas.microsoft.com/office/drawing/2014/main" id="{9ECABA48-CCDA-4613-AB60-1FAAE268DD5F}"/>
              </a:ext>
            </a:extLst>
          </p:cNvPr>
          <p:cNvSpPr>
            <a:spLocks noGrp="1"/>
          </p:cNvSpPr>
          <p:nvPr/>
        </p:nvSpPr>
        <p:spPr>
          <a:xfrm>
            <a:off x="1123950" y="1990725"/>
            <a:ext cx="4476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Nginx necesita leer el fichero y atravesar sus directorios.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root debe coincidir con la ruta dentro del contenedor.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En directorios, revisa index y autoindex.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19477B9E-BD7C-4CC2-B9F4-B00299FBB704}"/>
              </a:ext>
            </a:extLst>
          </p:cNvPr>
          <p:cNvSpPr>
            <a:spLocks noGrp="1"/>
          </p:cNvSpPr>
          <p:nvPr/>
        </p:nvSpPr>
        <p:spPr>
          <a:xfrm>
            <a:off x="6381750" y="1400175"/>
            <a:ext cx="4895850" cy="3314700"/>
          </a:xfrm>
          <a:prstGeom prst="roundRect">
            <a:avLst>
              <a:gd name="adj" fmla="val 2299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213D899-AF85-41CF-AAB9-F69CD36E4227}"/>
              </a:ext>
            </a:extLst>
          </p:cNvPr>
          <p:cNvSpPr>
            <a:spLocks noGrp="1"/>
          </p:cNvSpPr>
          <p:nvPr/>
        </p:nvSpPr>
        <p:spPr>
          <a:xfrm>
            <a:off x="6381750" y="140017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Interpretación en el navegador">
            <a:extLst>
              <a:ext uri="{FF2B5EF4-FFF2-40B4-BE49-F238E27FC236}">
                <a16:creationId xmlns:a16="http://schemas.microsoft.com/office/drawing/2014/main" id="{8D74C466-4F16-4C96-8ABB-85510ABF68CE}"/>
              </a:ext>
            </a:extLst>
          </p:cNvPr>
          <p:cNvSpPr>
            <a:spLocks noGrp="1"/>
          </p:cNvSpPr>
          <p:nvPr/>
        </p:nvSpPr>
        <p:spPr>
          <a:xfrm>
            <a:off x="6534150" y="14859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Interpretación en el navegador</a:t>
            </a:r>
          </a:p>
        </p:txBody>
      </p:sp>
      <p:sp>
        <p:nvSpPr>
          <p:cNvPr id="55" name="HTML: text/html&#10;&#10;CSS: text/css&#10;&#10;JavaScri">
            <a:extLst>
              <a:ext uri="{FF2B5EF4-FFF2-40B4-BE49-F238E27FC236}">
                <a16:creationId xmlns:a16="http://schemas.microsoft.com/office/drawing/2014/main" id="{5C9F772E-ABC7-4E4C-8670-C0984DBE93BC}"/>
              </a:ext>
            </a:extLst>
          </p:cNvPr>
          <p:cNvSpPr>
            <a:spLocks noGrp="1"/>
          </p:cNvSpPr>
          <p:nvPr/>
        </p:nvSpPr>
        <p:spPr>
          <a:xfrm>
            <a:off x="6591300" y="1990725"/>
            <a:ext cx="4476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HTML: text/html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CSS: text/css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JavaScript: application/javascript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PNG: image/png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Compresión gzip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B10E559F-137B-45F2-A351-ADBC9D40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186" y="942975"/>
            <a:ext cx="947762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Para comparar bytes transferidos se necesita una petición completa, no solo cabeceras.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Configuración y comprobación de gzip</a:t>
            </a:r>
          </a:p>
        </p:txBody>
      </p:sp>
      <p:sp>
        <p:nvSpPr>
          <p:cNvPr id="48" name="Configuración de Nginx">
            <a:extLst>
              <a:ext uri="{FF2B5EF4-FFF2-40B4-BE49-F238E27FC236}">
                <a16:creationId xmlns:a16="http://schemas.microsoft.com/office/drawing/2014/main" id="{AC3D8BAB-326E-4B18-BF16-04A0DCE1608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Configuración de Nginx</a:t>
            </a:r>
          </a:p>
        </p:txBody>
      </p:sp>
      <p:sp>
        <p:nvSpPr>
          <p:cNvPr id="49" name="gzip on;&#10;gzip_vary on;&#10;gzip_types text/c">
            <a:extLst>
              <a:ext uri="{FF2B5EF4-FFF2-40B4-BE49-F238E27FC236}">
                <a16:creationId xmlns:a16="http://schemas.microsoft.com/office/drawing/2014/main" id="{B41EEE05-56C0-4EE6-AED4-200BB72CE49F}"/>
              </a:ext>
            </a:extLst>
          </p:cNvPr>
          <p:cNvSpPr>
            <a:spLocks noGrp="1"/>
          </p:cNvSpPr>
          <p:nvPr/>
        </p:nvSpPr>
        <p:spPr>
          <a:xfrm>
            <a:off x="914400" y="1609725"/>
            <a:ext cx="4733925" cy="2143125"/>
          </a:xfrm>
          <a:prstGeom prst="roundRect">
            <a:avLst>
              <a:gd name="adj" fmla="val 3556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gzip on;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gzip_vary on;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gzip_types text/css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application/javascript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application/json;</a:t>
            </a:r>
          </a:p>
        </p:txBody>
      </p:sp>
      <p:sp>
        <p:nvSpPr>
          <p:cNvPr id="50" name="text/html ya está contemplado por el mód">
            <a:extLst>
              <a:ext uri="{FF2B5EF4-FFF2-40B4-BE49-F238E27FC236}">
                <a16:creationId xmlns:a16="http://schemas.microsoft.com/office/drawing/2014/main" id="{CB1B5750-B309-4276-A254-ABF89DA6F540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4381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text/html ya está contemplado por el módulo gzip.</a:t>
            </a:r>
          </a:p>
        </p:txBody>
      </p:sp>
      <p:sp>
        <p:nvSpPr>
          <p:cNvPr id="51" name="Comprobación de cabeceras">
            <a:extLst>
              <a:ext uri="{FF2B5EF4-FFF2-40B4-BE49-F238E27FC236}">
                <a16:creationId xmlns:a16="http://schemas.microsoft.com/office/drawing/2014/main" id="{75D308FD-3EEE-4833-9528-D115D4A46AD1}"/>
              </a:ext>
            </a:extLst>
          </p:cNvPr>
          <p:cNvSpPr>
            <a:spLocks noGrp="1"/>
          </p:cNvSpPr>
          <p:nvPr/>
        </p:nvSpPr>
        <p:spPr>
          <a:xfrm>
            <a:off x="6153150" y="1038225"/>
            <a:ext cx="52197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Comprobación de cabeceras</a:t>
            </a:r>
          </a:p>
        </p:txBody>
      </p:sp>
      <p:sp>
        <p:nvSpPr>
          <p:cNvPr id="52" name="curl -I -H &quot;Accept-Encoding: gzip&quot; \&#10;  h">
            <a:extLst>
              <a:ext uri="{FF2B5EF4-FFF2-40B4-BE49-F238E27FC236}">
                <a16:creationId xmlns:a16="http://schemas.microsoft.com/office/drawing/2014/main" id="{B1D8B608-2ACD-47CA-BB48-2D82FA818970}"/>
              </a:ext>
            </a:extLst>
          </p:cNvPr>
          <p:cNvSpPr>
            <a:spLocks noGrp="1"/>
          </p:cNvSpPr>
          <p:nvPr/>
        </p:nvSpPr>
        <p:spPr>
          <a:xfrm>
            <a:off x="6048375" y="1609725"/>
            <a:ext cx="5334000" cy="1343025"/>
          </a:xfrm>
          <a:prstGeom prst="roundRect">
            <a:avLst>
              <a:gd name="adj" fmla="val 5674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curl -I -H "Accept-Encoding: gzip" \</a:t>
            </a:r>
          </a:p>
          <a:p>
            <a:pPr algn="l">
              <a:def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http://escaparate.127.0.0.1.nip.io/css/app.css</a:t>
            </a:r>
          </a:p>
        </p:txBody>
      </p:sp>
      <p:sp>
        <p:nvSpPr>
          <p:cNvPr id="53" name="Content-Encoding: gzip&#10;&#10;Vary: Accept-Enc">
            <a:extLst>
              <a:ext uri="{FF2B5EF4-FFF2-40B4-BE49-F238E27FC236}">
                <a16:creationId xmlns:a16="http://schemas.microsoft.com/office/drawing/2014/main" id="{A2B4D9B0-B17E-49CC-A548-B0EF0B2CC844}"/>
              </a:ext>
            </a:extLst>
          </p:cNvPr>
          <p:cNvSpPr>
            <a:spLocks noGrp="1"/>
          </p:cNvSpPr>
          <p:nvPr/>
        </p:nvSpPr>
        <p:spPr>
          <a:xfrm>
            <a:off x="6248400" y="3267075"/>
            <a:ext cx="49053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Content-Encoding: gzip</a:t>
            </a:r>
          </a:p>
          <a:p>
            <a:endParaRPr sz="1650" b="0">
              <a:solidFill>
                <a:srgbClr val="313A44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Vary: Accept-Encoding</a:t>
            </a:r>
          </a:p>
        </p:txBody>
      </p:sp>
      <p:sp>
        <p:nvSpPr>
          <p:cNvPr id="54" name="Los apuntes incluyen los comandos para c">
            <a:extLst>
              <a:ext uri="{FF2B5EF4-FFF2-40B4-BE49-F238E27FC236}">
                <a16:creationId xmlns:a16="http://schemas.microsoft.com/office/drawing/2014/main" id="{F4D492AD-A3E0-492A-A3B5-7173F3FA8F1C}"/>
              </a:ext>
            </a:extLst>
          </p:cNvPr>
          <p:cNvSpPr>
            <a:spLocks noGrp="1"/>
          </p:cNvSpPr>
          <p:nvPr/>
        </p:nvSpPr>
        <p:spPr>
          <a:xfrm>
            <a:off x="6248400" y="4381500"/>
            <a:ext cx="49053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Los apuntes incluyen los comandos para comparar el tamaño de descarga.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Caché y versionado de recursos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92319988-F823-4B60-B447-F7FA6CAA0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186" y="942975"/>
            <a:ext cx="947762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Una API puede usar caché. La política depende del dato y de cuánto cambia.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Políticas de caché según el recurso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5889ADB1-8F64-4068-876D-8480183B5917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5067300" cy="3343275"/>
          </a:xfrm>
          <a:prstGeom prst="roundRect">
            <a:avLst>
              <a:gd name="adj" fmla="val 2279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42310E8-1C0A-4FFD-B745-90C5F4E0FCD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506730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olíticas habituales">
            <a:extLst>
              <a:ext uri="{FF2B5EF4-FFF2-40B4-BE49-F238E27FC236}">
                <a16:creationId xmlns:a16="http://schemas.microsoft.com/office/drawing/2014/main" id="{CDC421CD-95D7-4B21-BF71-7D616B403FB1}"/>
              </a:ext>
            </a:extLst>
          </p:cNvPr>
          <p:cNvSpPr>
            <a:spLocks noGrp="1"/>
          </p:cNvSpPr>
          <p:nvPr/>
        </p:nvSpPr>
        <p:spPr>
          <a:xfrm>
            <a:off x="1066800" y="1476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Políticas habituales</a:t>
            </a:r>
          </a:p>
        </p:txBody>
      </p:sp>
      <p:sp>
        <p:nvSpPr>
          <p:cNvPr id="51" name="HTML: caché corta o revalidación.&#10;&#10;CSS, ">
            <a:extLst>
              <a:ext uri="{FF2B5EF4-FFF2-40B4-BE49-F238E27FC236}">
                <a16:creationId xmlns:a16="http://schemas.microsoft.com/office/drawing/2014/main" id="{CC59D64E-9E08-4905-9657-E2C4084D92B2}"/>
              </a:ext>
            </a:extLst>
          </p:cNvPr>
          <p:cNvSpPr>
            <a:spLocks noGrp="1"/>
          </p:cNvSpPr>
          <p:nvPr/>
        </p:nvSpPr>
        <p:spPr>
          <a:xfrm>
            <a:off x="1123950" y="1981200"/>
            <a:ext cx="4648200" cy="2600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HTML: caché corta o revalidación.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CSS, JS e imágenes versionadas: caché más larga.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API: decidir según el significado y la volatilidad de la respuesta.</a:t>
            </a:r>
          </a:p>
        </p:txBody>
      </p:sp>
      <p:sp>
        <p:nvSpPr>
          <p:cNvPr id="52" name="Ejemplo para recursos estáticos">
            <a:extLst>
              <a:ext uri="{FF2B5EF4-FFF2-40B4-BE49-F238E27FC236}">
                <a16:creationId xmlns:a16="http://schemas.microsoft.com/office/drawing/2014/main" id="{C2699063-8529-4264-83CF-45B38E907B30}"/>
              </a:ext>
            </a:extLst>
          </p:cNvPr>
          <p:cNvSpPr>
            <a:spLocks noGrp="1"/>
          </p:cNvSpPr>
          <p:nvPr/>
        </p:nvSpPr>
        <p:spPr>
          <a:xfrm>
            <a:off x="6362700" y="1381125"/>
            <a:ext cx="49339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Ejemplo para recursos estáticos</a:t>
            </a:r>
          </a:p>
        </p:txBody>
      </p:sp>
      <p:sp>
        <p:nvSpPr>
          <p:cNvPr id="53" name="location ~*&#10;  \.(css|js|png|jpg|jpeg|svg">
            <a:extLst>
              <a:ext uri="{FF2B5EF4-FFF2-40B4-BE49-F238E27FC236}">
                <a16:creationId xmlns:a16="http://schemas.microsoft.com/office/drawing/2014/main" id="{4696AE04-EB74-4C68-A469-8950ECE5760A}"/>
              </a:ext>
            </a:extLst>
          </p:cNvPr>
          <p:cNvSpPr>
            <a:spLocks noGrp="1"/>
          </p:cNvSpPr>
          <p:nvPr/>
        </p:nvSpPr>
        <p:spPr>
          <a:xfrm>
            <a:off x="6267450" y="2095500"/>
            <a:ext cx="5105400" cy="1714500"/>
          </a:xfrm>
          <a:prstGeom prst="roundRect">
            <a:avLst>
              <a:gd name="adj" fmla="val 4444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location ~*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\.(css|js|png|jpg|jpeg|svg|webp)$ {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expires 7d;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4" name="Con caché larga, versiona el nombre y ac">
            <a:extLst>
              <a:ext uri="{FF2B5EF4-FFF2-40B4-BE49-F238E27FC236}">
                <a16:creationId xmlns:a16="http://schemas.microsoft.com/office/drawing/2014/main" id="{DAA345A1-736F-4E38-9392-E4216D122298}"/>
              </a:ext>
            </a:extLst>
          </p:cNvPr>
          <p:cNvSpPr>
            <a:spLocks noGrp="1"/>
          </p:cNvSpPr>
          <p:nvPr/>
        </p:nvSpPr>
        <p:spPr>
          <a:xfrm>
            <a:off x="6486525" y="4162425"/>
            <a:ext cx="46291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 caché larga, versiona el nombre y actualiza la referencia del HTML.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siguiente sesión desarrollará el proxy inverso que conecta /api/ con la aplicación.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Actividad: dos sitios en Escaparate</a:t>
            </a:r>
          </a:p>
        </p:txBody>
      </p:sp>
      <p:sp>
        <p:nvSpPr>
          <p:cNvPr id="48" name="Aplicación de los conceptos al despliegu">
            <a:extLst>
              <a:ext uri="{FF2B5EF4-FFF2-40B4-BE49-F238E27FC236}">
                <a16:creationId xmlns:a16="http://schemas.microsoft.com/office/drawing/2014/main" id="{C64A3533-0015-4384-AE43-85B4CDE51F2C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Aplicación de los conceptos al despliegue</a:t>
            </a:r>
          </a:p>
        </p:txBody>
      </p:sp>
      <p:sp>
        <p:nvSpPr>
          <p:cNvPr id="49" name="Rectángulo redondeado 48">
            <a:extLst>
              <a:ext uri="{FF2B5EF4-FFF2-40B4-BE49-F238E27FC236}">
                <a16:creationId xmlns:a16="http://schemas.microsoft.com/office/drawing/2014/main" id="{2D6F46B7-F0DB-483E-A579-35168FF05817}"/>
              </a:ext>
            </a:extLst>
          </p:cNvPr>
          <p:cNvSpPr>
            <a:spLocks noGrp="1"/>
          </p:cNvSpPr>
          <p:nvPr/>
        </p:nvSpPr>
        <p:spPr>
          <a:xfrm>
            <a:off x="914400" y="1724025"/>
            <a:ext cx="4895850" cy="3276600"/>
          </a:xfrm>
          <a:prstGeom prst="roundRect">
            <a:avLst>
              <a:gd name="adj" fmla="val 2326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30E110F-0CC6-4B01-9790-492F5C8B4B95}"/>
              </a:ext>
            </a:extLst>
          </p:cNvPr>
          <p:cNvSpPr>
            <a:spLocks noGrp="1"/>
          </p:cNvSpPr>
          <p:nvPr/>
        </p:nvSpPr>
        <p:spPr>
          <a:xfrm>
            <a:off x="914400" y="17240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Despliegue">
            <a:extLst>
              <a:ext uri="{FF2B5EF4-FFF2-40B4-BE49-F238E27FC236}">
                <a16:creationId xmlns:a16="http://schemas.microsoft.com/office/drawing/2014/main" id="{B2A8542C-CFBE-4B61-BD64-008D5872CA3E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Despliegue</a:t>
            </a:r>
          </a:p>
        </p:txBody>
      </p:sp>
      <p:sp>
        <p:nvSpPr>
          <p:cNvPr id="52" name="Añadir web y publicar solo su puerto 80.">
            <a:extLst>
              <a:ext uri="{FF2B5EF4-FFF2-40B4-BE49-F238E27FC236}">
                <a16:creationId xmlns:a16="http://schemas.microsoft.com/office/drawing/2014/main" id="{654C746B-3148-4CA0-A0B5-7AC14852B660}"/>
              </a:ext>
            </a:extLst>
          </p:cNvPr>
          <p:cNvSpPr>
            <a:spLocks noGrp="1"/>
          </p:cNvSpPr>
          <p:nvPr/>
        </p:nvSpPr>
        <p:spPr>
          <a:xfrm>
            <a:off x="1123950" y="2314575"/>
            <a:ext cx="4476750" cy="2533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Añadir web y publicar solo su puerto 80.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Montar configuración y contenido.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Configurar catálogo, documentación y servidor por defecto.</a:t>
            </a:r>
          </a:p>
        </p:txBody>
      </p:sp>
      <p:sp>
        <p:nvSpPr>
          <p:cNvPr id="53" name="Rectángulo redondeado 52">
            <a:extLst>
              <a:ext uri="{FF2B5EF4-FFF2-40B4-BE49-F238E27FC236}">
                <a16:creationId xmlns:a16="http://schemas.microsoft.com/office/drawing/2014/main" id="{A10E21B3-8C1C-4C08-8F59-84E9D2938EAB}"/>
              </a:ext>
            </a:extLst>
          </p:cNvPr>
          <p:cNvSpPr>
            <a:spLocks noGrp="1"/>
          </p:cNvSpPr>
          <p:nvPr/>
        </p:nvSpPr>
        <p:spPr>
          <a:xfrm>
            <a:off x="6381750" y="1724025"/>
            <a:ext cx="4895850" cy="3276600"/>
          </a:xfrm>
          <a:prstGeom prst="roundRect">
            <a:avLst>
              <a:gd name="adj" fmla="val 2326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0C7FD15-EE36-4DA7-9C52-43B39923F9FC}"/>
              </a:ext>
            </a:extLst>
          </p:cNvPr>
          <p:cNvSpPr>
            <a:spLocks noGrp="1"/>
          </p:cNvSpPr>
          <p:nvPr/>
        </p:nvSpPr>
        <p:spPr>
          <a:xfrm>
            <a:off x="6381750" y="17240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5" name="Comprobaciones">
            <a:extLst>
              <a:ext uri="{FF2B5EF4-FFF2-40B4-BE49-F238E27FC236}">
                <a16:creationId xmlns:a16="http://schemas.microsoft.com/office/drawing/2014/main" id="{578E7299-237E-465D-9844-515E15951654}"/>
              </a:ext>
            </a:extLst>
          </p:cNvPr>
          <p:cNvSpPr>
            <a:spLocks noGrp="1"/>
          </p:cNvSpPr>
          <p:nvPr/>
        </p:nvSpPr>
        <p:spPr>
          <a:xfrm>
            <a:off x="6534150" y="18097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Comprobaciones</a:t>
            </a:r>
          </a:p>
        </p:txBody>
      </p:sp>
      <p:sp>
        <p:nvSpPr>
          <p:cNvPr id="56" name="Validar y recargar Nginx.&#10;&#10;Comprobar DNS">
            <a:extLst>
              <a:ext uri="{FF2B5EF4-FFF2-40B4-BE49-F238E27FC236}">
                <a16:creationId xmlns:a16="http://schemas.microsoft.com/office/drawing/2014/main" id="{615C191C-A54E-482A-B672-61D385BD6A5E}"/>
              </a:ext>
            </a:extLst>
          </p:cNvPr>
          <p:cNvSpPr>
            <a:spLocks noGrp="1"/>
          </p:cNvSpPr>
          <p:nvPr/>
        </p:nvSpPr>
        <p:spPr>
          <a:xfrm>
            <a:off x="6591300" y="2314575"/>
            <a:ext cx="4476750" cy="2533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Validar y recargar Nginx.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DNS, Host y rutas.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Verificar gzip y justificar la política de caché.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Nginx entrega los estáticos y Spring Boot continúa ejecutando la lógica de Escaparate.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lang="es-ES" sz="1050">
                <a:solidFill>
                  <a:srgbClr val="757575"/>
                </a:solidFill>
                <a:latin typeface="Arial"/>
                <a:ea typeface="Arial"/>
                <a:cs typeface="Arial"/>
              </a:rPr>
              <a:t>Despliegue de Aplicaciones Web — Tema 3: Publicación y ejecución de aplicaciones web</a:t>
            </a:r>
            <a:endParaRPr lang="es-ES" sz="10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 de la sesión</a:t>
            </a:r>
          </a:p>
        </p:txBody>
      </p:sp>
      <p:sp>
        <p:nvSpPr>
          <p:cNvPr id="48" name="Lo mínimo que debe quedar claro">
            <a:extLst>
              <a:ext uri="{FF2B5EF4-FFF2-40B4-BE49-F238E27FC236}">
                <a16:creationId xmlns:a16="http://schemas.microsoft.com/office/drawing/2014/main" id="{F3F8035D-C860-49D0-9328-CC5AA6B14847}"/>
              </a:ext>
            </a:extLst>
          </p:cNvPr>
          <p:cNvSpPr>
            <a:spLocks noGrp="1"/>
          </p:cNvSpPr>
          <p:nvPr/>
        </p:nvSpPr>
        <p:spPr>
          <a:xfrm>
            <a:off x="914400" y="10287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Lo mínimo que debe quedar claro</a:t>
            </a:r>
          </a:p>
        </p:txBody>
      </p:sp>
      <p:sp>
        <p:nvSpPr>
          <p:cNvPr id="49" name="Nginx es la única entrada HTTP pública d">
            <a:extLst>
              <a:ext uri="{FF2B5EF4-FFF2-40B4-BE49-F238E27FC236}">
                <a16:creationId xmlns:a16="http://schemas.microsoft.com/office/drawing/2014/main" id="{678E548D-EEA0-4312-8910-327CF3827472}"/>
              </a:ext>
            </a:extLst>
          </p:cNvPr>
          <p:cNvSpPr>
            <a:spLocks noGrp="1"/>
          </p:cNvSpPr>
          <p:nvPr/>
        </p:nvSpPr>
        <p:spPr>
          <a:xfrm>
            <a:off x="1104900" y="1743075"/>
            <a:ext cx="10163175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CE2E6"/>
            </a:solidFill>
          </a:ln>
        </p:spPr>
        <p:txBody>
          <a:bodyPr lIns="171450" tIns="171450" rIns="171450" bIns="171450" anchor="t"/>
          <a:lstStyle>
            <a:def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Nginx es la única entrada HTTP pública del despliegue.</a:t>
            </a:r>
          </a:p>
          <a:p>
            <a:endParaRPr sz="180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root y los montajes determinan dónde están los ficheros.</a:t>
            </a:r>
          </a:p>
          <a:p>
            <a:endParaRPr sz="180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DNS obtiene la dirección y Host ayuda a seleccionar el sitio.</a:t>
            </a:r>
          </a:p>
          <a:p>
            <a:endParaRPr sz="180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diagnóstico se apoya en estado, logs, rutas y cabeceras.</a:t>
            </a:r>
          </a:p>
          <a:p>
            <a:endParaRPr sz="180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Gzip reduce la transferencia sin modificar el fichero original.</a:t>
            </a:r>
          </a:p>
          <a:p>
            <a:endParaRPr sz="180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caché se adapta a cada recurso y requiere planificar las actualizaciones.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2129</Words>
  <Application>Microsoft Macintosh PowerPoint</Application>
  <DocSecurity>0</DocSecurity>
  <PresentationFormat>Panorámica</PresentationFormat>
  <Paragraphs>258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2</cp:revision>
  <dcterms:created xsi:type="dcterms:W3CDTF">2026-10-13T08:26:48Z</dcterms:created>
  <dcterms:modified xsi:type="dcterms:W3CDTF">2026-10-13T08:52:37Z</dcterms:modified>
</cp:coreProperties>
</file>