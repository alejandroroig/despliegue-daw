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8"/>
  </p:normalViewPr>
  <p:slideViewPr>
    <p:cSldViewPr snapToGrid="0" snapToObjects="1">
      <p:cViewPr varScale="1">
        <p:scale>
          <a:sx n="132" d="100"/>
          <a:sy n="132" d="100"/>
        </p:scale>
        <p:origin x="3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servidor-aplicaciones.md. Ejecución, estado y rendimiento.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 de aplicaciones», revisión visual.</a:t>
            </a:r>
          </a:p>
          <a:p>
            <a:r>
              <a:t>La ejecución, el estado y los recursos condicionan el comportamiento del 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 de aplicaciones». Infografía elaborada para esta sesión.</a:t>
            </a:r>
          </a:p>
          <a:p>
            <a:r>
              <a:t>Nginx publica y reenvía. Tomcat administra la ejecución web. La aplicación implementa la lógica y consulta datos. HTTPS termina en el proxy en este ejemplo.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 de aplicaciones», revisión visual.</a:t>
            </a:r>
          </a:p>
          <a:p>
            <a:r>
              <a:t>Una petición puede estar ejecutándose o esperando un recurso.</a:t>
            </a:r>
          </a:p>
          <a:p>
            <a:r>
              <a:t>Tomcat puede recibir HTTP directamente. Un contenedor de servlets puede ejecutarse dentro de Docker. Los mecanismos asíncronos modifican la relación entre peticiones e hilos. WildFly y Payara añaden servicios Jakarta 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 de aplicaciones», revisión visual.</a:t>
            </a:r>
          </a:p>
          <a:p>
            <a:r>
              <a:t>El artefacto de aplicación y la unidad de ejecución cumplen funciones diferentes.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 de aplicaciones». Infografía elaborada para esta sesión.</a:t>
            </a:r>
          </a:p>
          <a:p>
            <a:r>
              <a:t>El modelo embebido inicia Tomcat desde la aplicación. El externo carga aplicaciones desplegadas. Ambos pueden ejecutarse en Docker.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 de aplicaciones», revisión visual.</a:t>
            </a:r>
          </a:p>
          <a:p>
            <a:r>
              <a:t>La compatibilidad entre aplicación, Java y Tomcat sigue siendo necesaria.</a:t>
            </a:r>
          </a:p>
          <a:p>
            <a:r>
              <a:t>https://docs.spring.io/spring-boot/how-to/deployment/traditional-deployment.html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 de aplicaciones», revisión visual.</a:t>
            </a:r>
          </a:p>
          <a:p>
            <a:r>
              <a:t>Estructura orientativa de una instalación sencilla. Las ubicaciones pueden configurarse.</a:t>
            </a:r>
          </a:p>
          <a:p>
            <a:r>
              <a:t>Las dependencias compartidas pueden acoplar aplicaciones que necesitan versiones diferentes. tomcat-users.xml no es necesariamente el registro de usuarios de la aplicación.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 de aplicaciones». Infografía elaborada para esta sesión.</a:t>
            </a:r>
          </a:p>
          <a:p>
            <a:r>
              <a:t>Convención de despliegue habitual: ventas.war publica bajo /ventas; ROOT.war usa el contexto raíz. Existen configuraciones explícitas alternativas.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 de aplicaciones», revisión visual.</a:t>
            </a:r>
          </a:p>
          <a:p>
            <a:r>
              <a:t>Contexto, ruta de la aplicación y ruta enviada por el proxy deben encajar.</a:t>
            </a:r>
          </a:p>
          <a:p>
            <a:r>
              <a:t>https://tomcat.apache.org/tomcat-10.1-doc/config/context.html</a:t>
            </a:r>
          </a:p>
          <a:p>
            <a:r>
              <a:t>El ejemplo supone que el proxy conserva la ruta y no hay aplicación raíz. Renombrar como ROOT.war no corrige automáticamente todos los enlaces o ajustes del proxy.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 de aplicaciones», revisión visual.</a:t>
            </a:r>
          </a:p>
          <a:p>
            <a:r>
              <a:t>En este modelo, los datos de la sesión se conservan en el servidor.</a:t>
            </a:r>
          </a:p>
          <a:p>
            <a:r>
              <a:t>El navegador envía la cookie cuando corresponde según sus atributos. Una sesión puede contener el identificador de usuario o un paso de un proceso. HTTP por sí solo no conserva esa conversación.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 de aplicaciones». Infografía elaborada para esta sesión.</a:t>
            </a:r>
          </a:p>
          <a:p>
            <a:r>
              <a:t>app-1 conserva la sesión abc en su memoria. app-2 recibe la misma cookie, pero no tiene acceso a ese estado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 de aplicaciones». Infografía elaborada para esta sesión.</a:t>
            </a:r>
          </a:p>
          <a:p>
            <a:r>
              <a:t>Afinidad, replicación y almacén externo tienen costes y garantías diferentes. Spring Session con Redis es un ejemplo de integración, no un efecto automático de arrancar Redis.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 de aplicaciones», revisión visual.</a:t>
            </a:r>
          </a:p>
          <a:p>
            <a:r>
              <a:t>Cambiar de réplica funciona si la sesión sigue siendo válida y el almacén está disponible.</a:t>
            </a:r>
          </a:p>
          <a:p>
            <a:r>
              <a:t>https://docs.spring.io/spring-session/reference/http-session.html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 de aplicaciones», revisión visual.</a:t>
            </a:r>
          </a:p>
          <a:p>
            <a:r>
              <a:t>Cada tipo de estado necesita una decisión de almacenamiento.</a:t>
            </a:r>
          </a:p>
          <a:p>
            <a:r>
              <a:t>https://tomcat.apache.org/tomcat-10.1-doc/config/manager.html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 de aplicaciones». Infografía elaborada para esta sesión.</a:t>
            </a:r>
          </a:p>
          <a:p>
            <a:r>
              <a:t>En un flujo estable, 150 peticiones/s por 0,18 s equivalen a 27 peticiones en curso de media.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 de aplicaciones», revisión visual.</a:t>
            </a:r>
          </a:p>
          <a:p>
            <a:r>
              <a:t>La relación utiliza medias, un flujo estable y el mismo ámbito de medida.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 de aplicaciones», revisión visual.</a:t>
            </a:r>
          </a:p>
          <a:p>
            <a:r>
              <a:t>Una respuesta rápida con errores no demuestra una mejora útil.</a:t>
            </a:r>
          </a:p>
          <a:p>
            <a:r>
              <a:t>p95: aproximadamente el 95 % de las observaciones no supera el umbral, según el método. No es máximo ni media de las más lentas. El throughput puede incluir respuestas fallidas.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 de aplicaciones». Infografía elaborada para esta sesión.</a:t>
            </a:r>
          </a:p>
          <a:p>
            <a:r>
              <a:t>Tres procesos comparten los recursos del host. La base de datos y el almacén de sesiones están en ese host en este ejemplo, pero pueden ubicarse en otros.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 de aplicaciones», revisión visual.</a:t>
            </a:r>
          </a:p>
          <a:p>
            <a:r>
              <a:t>Más réplicas también pueden consumir más memoria y abrir más conexiones.</a:t>
            </a:r>
          </a:p>
          <a:p>
            <a:r>
              <a:t>La continuidad ante el fallo de un proceso requiere gestionar el fallo y el estado. Las réplicas en el mismo host no sobreviven a la pérdida de ese host.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 de aplicaciones», revisión visual.</a:t>
            </a:r>
          </a:p>
          <a:p>
            <a:r>
              <a:t>Cambiamos el número de réplicas y mantenemos comparables las demás condiciones.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 de aplicaciones», revisión visual.</a:t>
            </a:r>
          </a:p>
          <a:p>
            <a:r>
              <a:t>Mismos usuarios virtuales no garantizan las mismas peticiones por segundo.</a:t>
            </a:r>
          </a:p>
          <a:p>
            <a:r>
              <a:t>https://grafana.com/docs/k6/latest/using-k6/scenarios/concepts/open-vs-closed/</a:t>
            </a:r>
          </a:p>
          <a:p>
            <a:r>
              <a:t>Una iteración puede contener varias peticiones. Mantener el escenario y registrar la carga realmente conseguida.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 de aplicaciones», revisión visual.</a:t>
            </a:r>
          </a:p>
          <a:p>
            <a:r>
              <a:t>Cliente, proxy y aplicación pueden medir intervalos diferentes.</a:t>
            </a:r>
          </a:p>
          <a:p>
            <a:r>
              <a:t>https://grafana.com/docs/k6/latest/using-k6/metrics/reference/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 de aplicaciones», revisión visual.</a:t>
            </a:r>
          </a:p>
          <a:p>
            <a:r>
              <a:t>La prueba permite concluir únicamente dentro de las condiciones observadas.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apuntes de la sesión «Servidor de aplicaciones», revisión visual.</a:t>
            </a:r>
          </a:p>
          <a:p>
            <a:r>
              <a:t>Publicar una aplicación exige comprender su ejecución, su estado y sus límites.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84FFA-57B3-473E-8514-6644CA98DD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E35CA6-5308-44BC-BF1A-C30BD97E14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BEEAF-ED49-4707-AFE4-5041369346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15/10/26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384D5-F66F-4360-94D8-454A0F8D20B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46F27-E376-4676-8879-30BE0823F2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9C910-717F-4FC7-A278-17172F1FF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ED22A-6E6F-48D4-B840-F79A79D0A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0FB15-7D53-48D2-92C5-D7F6C70414A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15/10/26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DACE6-8CFB-4943-98E1-81BB84A0A98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F5727-79AF-4983-BB70-CCF32D034D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E4C69-D484-4071-B982-177DA7F4A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C64A3-1BE1-4F3C-AADA-814853F8F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D07C4-2DC1-4CD6-9A90-544C5B85F7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15/10/26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87173-B9EE-46EE-A2DF-50A69104F6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531FC-4644-42B5-B983-C8DDC2DC58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10F66-5F7D-4DE6-B850-5BE5F0C23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472B5-BA09-430F-BBF4-B4F5020C2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FBF488-A97E-4111-BB8C-33516617521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FAADE-B187-4A6F-8F1A-823813C637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15/10/26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ACA8F-A336-40A4-803F-E4CE86F6EDE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01B76E-B3F5-4023-A572-6C6CAD9802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B10ED-D8F2-4CBC-BF56-C199DA99A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E0187-4604-40E3-9070-A18FCA975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4EBAD6-6D86-4386-948F-21189507BE7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EDB6D8-3837-4B22-A77F-A4E0A00E316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CDEAFC-620A-4569-B1A8-C9AF42DF1C8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165E23-2E46-478C-BA64-4A2BE975239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15/10/26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9BE838-89F7-40C8-9564-20DF863C285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4EB96F-8B1A-4C5C-BCA8-A70A436ADC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7D15C-0C71-43C5-AA5E-9B00D7391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3F321C-8853-4530-882E-0D12DC81838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15/10/26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5A64ED-68A6-46B6-A59C-76ACAE98210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CB7060-A30C-4E50-812C-F2CB34B5BD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1D9C38-7BE1-47EE-8AC8-066B505391B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15/10/26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FF42A3-E900-4014-B7FC-58AC7B91C7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4C7D6-3841-446D-A236-26FE37E2D4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6AF19-E253-4F1C-A7CE-B4BDFBB5C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D42D5-6198-477C-B241-F3305D394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103971-FE97-410F-9890-3364C9259FA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8DDA28-14FB-46AA-821C-76A9BBD255C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15/10/26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9B37F-C49D-43C2-9023-10666CD97FF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BDFEDF-8EE0-4613-B3A5-7C501584A6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86F2C-A7EA-4903-8696-6FADA4733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D3A16-E755-41E1-AF0D-FBF13F3FC4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DFC632-1726-431E-B849-40159A248D7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4DB24-7144-4CA2-B1FE-5365633139D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15/10/26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E50A98-DAD8-47CB-B6F6-B2D0B467DC5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F09F5E-5AA7-4EFA-8B96-7EE597175E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9F049-E342-4A9B-B001-BB02A9B86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3A223A-70C9-4176-8151-526074B26F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2FB6D-3562-4D01-8AA5-571E6AF2F0A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15/10/26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6A3B4-3EF6-450D-A49D-E5C54AB3AAD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0E4B8-2DC5-4E4E-9955-C3FC4306E0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20BE10-123F-4CDA-9C65-EEFF02272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D3C679-1D79-4F80-A4C4-6187AE85F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3C7D4-F05C-4279-A43B-EF9435F423B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15/10/26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06A87-2EB7-4329-877A-ECC07CF36F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E7B47-F773-4278-A957-5CB3293A0B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07F299-75FC-4C50-B6A5-457C3A8AE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66590-183C-4672-A27A-280B672C8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310E7-0469-4BB8-B097-34DD7192702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15/10/26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A78ED-35C5-4261-970D-D446CB161A2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EC0C2-FB7B-4C95-BDB0-243B2E2F0D4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DFD05B-31EC-45FA-A164-43DBF6EC2E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680960" cy="6858000"/>
          </a:xfrm>
          <a:prstGeom prst="rect">
            <a:avLst/>
          </a:prstGeom>
          <a:solidFill>
            <a:srgbClr val="055640"/>
          </a:solidFill>
          <a:ln>
            <a:solidFill>
              <a:srgbClr val="055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6178B9-FB2D-4E7C-AE59-576E366CD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0"/>
            <a:ext cx="51435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A1B38B-435F-4D29-BD88-4899FEE49C2E}"/>
              </a:ext>
            </a:extLst>
          </p:cNvPr>
          <p:cNvSpPr>
            <a:spLocks noGrp="1"/>
          </p:cNvSpPr>
          <p:nvPr/>
        </p:nvSpPr>
        <p:spPr>
          <a:xfrm>
            <a:off x="685800" y="1828800"/>
            <a:ext cx="5852160" cy="2514600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l">
              <a:buNone/>
            </a:pPr>
            <a:r>
              <a:rPr sz="4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Servidor de aplicaciones</a:t>
            </a:r>
          </a:p>
          <a:p>
            <a:pPr algn="l">
              <a:buNone/>
            </a:pPr>
            <a:r>
              <a:rPr sz="4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Ejecución, estado</a:t>
            </a:r>
          </a:p>
          <a:p>
            <a:pPr algn="l">
              <a:buNone/>
            </a:pPr>
            <a:r>
              <a:rPr sz="4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 rendimiento</a:t>
            </a: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29CB873E-685B-674F-42EF-2BCBE16E595D}"/>
              </a:ext>
            </a:extLst>
          </p:cNvPr>
          <p:cNvSpPr>
            <a:spLocks noGrp="1"/>
          </p:cNvSpPr>
          <p:nvPr/>
        </p:nvSpPr>
        <p:spPr>
          <a:xfrm>
            <a:off x="548640" y="502920"/>
            <a:ext cx="11091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 strike="noStrike">
                <a:solidFill>
                  <a:srgbClr val="B2DFDB"/>
                </a:solidFill>
                <a:latin typeface="Arial"/>
                <a:ea typeface="Arial"/>
                <a:cs typeface="Arial"/>
              </a:rPr>
              <a:t>DESPLIEGUE DE APLICACIONES WEB  —  CURSO 2026/2027</a:t>
            </a:r>
            <a:endParaRPr sz="14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8D19E44C-8D7D-DC4C-F500-8F8435DC93E3}"/>
              </a:ext>
            </a:extLst>
          </p:cNvPr>
          <p:cNvSpPr>
            <a:spLocks noGrp="1"/>
          </p:cNvSpPr>
          <p:nvPr/>
        </p:nvSpPr>
        <p:spPr>
          <a:xfrm>
            <a:off x="0" y="5120640"/>
            <a:ext cx="7954920" cy="91404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6E3D37BB-2692-A6BF-8485-3C8D15DF0F71}"/>
              </a:ext>
            </a:extLst>
          </p:cNvPr>
          <p:cNvSpPr>
            <a:spLocks noGrp="1"/>
          </p:cNvSpPr>
          <p:nvPr/>
        </p:nvSpPr>
        <p:spPr>
          <a:xfrm>
            <a:off x="548640" y="5120640"/>
            <a:ext cx="68576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i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Tema 3 — Publicación y ejecución de aplicaciones web</a:t>
            </a:r>
          </a:p>
        </p:txBody>
      </p:sp>
    </p:spTree>
    <p:extLst>
      <p:ext uri="{BB962C8B-B14F-4D97-AF65-F5344CB8AC3E}">
        <p14:creationId xmlns:p14="http://schemas.microsoft.com/office/powerpoint/2010/main" val="34921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La ejecución, el estado y los recursos condicionan el comportamiento del backend.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Objetivo de la sesión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EF162975-5237-4C50-98DD-12064A6EA63D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11D7BF8F-FFD0-44B3-A841-98669843B232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Punto de partida">
            <a:extLst>
              <a:ext uri="{FF2B5EF4-FFF2-40B4-BE49-F238E27FC236}">
                <a16:creationId xmlns:a16="http://schemas.microsoft.com/office/drawing/2014/main" id="{FA1897A8-81C8-4002-A3B7-31DD38A6BE49}"/>
              </a:ext>
            </a:extLst>
          </p:cNvPr>
          <p:cNvSpPr>
            <a:spLocks noGrp="1"/>
          </p:cNvSpPr>
          <p:nvPr/>
        </p:nvSpPr>
        <p:spPr>
          <a:xfrm>
            <a:off x="106680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Punto de partida</a:t>
            </a:r>
          </a:p>
        </p:txBody>
      </p:sp>
      <p:sp>
        <p:nvSpPr>
          <p:cNvPr id="51" name="Ya publicamos y observamos la aplicación">
            <a:extLst>
              <a:ext uri="{FF2B5EF4-FFF2-40B4-BE49-F238E27FC236}">
                <a16:creationId xmlns:a16="http://schemas.microsoft.com/office/drawing/2014/main" id="{DA5FB2B1-2F27-43CF-BA61-D7F25DE638E5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Ya publicamos y observamos la aplicación.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Ahora miramos dentro del proceso que atiende las peticiones.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C56FFEC5-36EE-43E8-8FF9-5ED73590239C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86C055B6-D191-4F2E-94F6-0992585FA717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Preguntas de la sesión">
            <a:extLst>
              <a:ext uri="{FF2B5EF4-FFF2-40B4-BE49-F238E27FC236}">
                <a16:creationId xmlns:a16="http://schemas.microsoft.com/office/drawing/2014/main" id="{CDB7AF41-C1CF-4585-A906-3A763B85325F}"/>
              </a:ext>
            </a:extLst>
          </p:cNvPr>
          <p:cNvSpPr>
            <a:spLocks noGrp="1"/>
          </p:cNvSpPr>
          <p:nvPr/>
        </p:nvSpPr>
        <p:spPr>
          <a:xfrm>
            <a:off x="653415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Preguntas de la sesión</a:t>
            </a:r>
          </a:p>
        </p:txBody>
      </p:sp>
      <p:sp>
        <p:nvSpPr>
          <p:cNvPr id="55" name="¿Qué administra el servidor?&#10;&#10;¿Dónde viv">
            <a:extLst>
              <a:ext uri="{FF2B5EF4-FFF2-40B4-BE49-F238E27FC236}">
                <a16:creationId xmlns:a16="http://schemas.microsoft.com/office/drawing/2014/main" id="{4A30CF5D-4AED-4FD9-81FE-02B4FEA3BCEC}"/>
              </a:ext>
            </a:extLst>
          </p:cNvPr>
          <p:cNvSpPr>
            <a:spLocks noGrp="1"/>
          </p:cNvSpPr>
          <p:nvPr/>
        </p:nvSpPr>
        <p:spPr>
          <a:xfrm>
            <a:off x="659130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¿Qué administra el servidor?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¿Dónde vive la sesión del usuario?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¿Qué limita la mejora al añadir réplicas?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Dentro del backend</a:t>
            </a:r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79D6E4C6-ABE8-48C9-9DBA-DFA9A6C94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5500" y="942975"/>
            <a:ext cx="8001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Una petición puede estar ejecutándose o esperando un recurso.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Contenedor de servlets y concurrencia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BA27A7DE-88E9-46EA-AF2B-234BDFBE9E93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AB490715-764F-4661-945B-A0497BF47063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Administración de la aplicación">
            <a:extLst>
              <a:ext uri="{FF2B5EF4-FFF2-40B4-BE49-F238E27FC236}">
                <a16:creationId xmlns:a16="http://schemas.microsoft.com/office/drawing/2014/main" id="{B38FD7F0-8A01-418D-A974-121D02AFD0D8}"/>
              </a:ext>
            </a:extLst>
          </p:cNvPr>
          <p:cNvSpPr>
            <a:spLocks noGrp="1"/>
          </p:cNvSpPr>
          <p:nvPr/>
        </p:nvSpPr>
        <p:spPr>
          <a:xfrm>
            <a:off x="106680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Administración de la aplicación</a:t>
            </a:r>
          </a:p>
        </p:txBody>
      </p:sp>
      <p:sp>
        <p:nvSpPr>
          <p:cNvPr id="51" name="Crear el contexto web.&#10;&#10;Inicializar y re">
            <a:extLst>
              <a:ext uri="{FF2B5EF4-FFF2-40B4-BE49-F238E27FC236}">
                <a16:creationId xmlns:a16="http://schemas.microsoft.com/office/drawing/2014/main" id="{2DCA906F-F72D-4894-BCAC-86A3C820A828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Crear el contexto web.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Inicializar y retirar componentes.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Atender HTTP y gestionar sesiones.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2862E21F-B166-4FFE-BE4D-DF8F20DCCE75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67ACB987-9D15-4029-AD22-8C0D1C8FC91D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Recursos de ejecución">
            <a:extLst>
              <a:ext uri="{FF2B5EF4-FFF2-40B4-BE49-F238E27FC236}">
                <a16:creationId xmlns:a16="http://schemas.microsoft.com/office/drawing/2014/main" id="{E7A70355-D52D-4CB3-A11C-9DA2A63F2180}"/>
              </a:ext>
            </a:extLst>
          </p:cNvPr>
          <p:cNvSpPr>
            <a:spLocks noGrp="1"/>
          </p:cNvSpPr>
          <p:nvPr/>
        </p:nvSpPr>
        <p:spPr>
          <a:xfrm>
            <a:off x="653415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Recursos de ejecución</a:t>
            </a:r>
          </a:p>
        </p:txBody>
      </p:sp>
      <p:sp>
        <p:nvSpPr>
          <p:cNvPr id="55" name="El servidor reutiliza recursos, como hil">
            <a:extLst>
              <a:ext uri="{FF2B5EF4-FFF2-40B4-BE49-F238E27FC236}">
                <a16:creationId xmlns:a16="http://schemas.microsoft.com/office/drawing/2014/main" id="{579A2827-E24E-4771-B63A-EA1E79E56244}"/>
              </a:ext>
            </a:extLst>
          </p:cNvPr>
          <p:cNvSpPr>
            <a:spLocks noGrp="1"/>
          </p:cNvSpPr>
          <p:nvPr/>
        </p:nvSpPr>
        <p:spPr>
          <a:xfrm>
            <a:off x="659130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El servidor reutiliza recursos, como hilos.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Las peticiones comparten CPU y memoria.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Los límites pueden provocar colas, rechazos o timeouts.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El artefacto de aplicación y la unidad de ejecución cumplen funciones diferentes.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WAR, imagen y contenedor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D3D199A8-34F4-4133-91A5-C8A5CDB96F84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54504F78-C34B-4A79-97B2-4C4CB8178D02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Artefacto WAR">
            <a:extLst>
              <a:ext uri="{FF2B5EF4-FFF2-40B4-BE49-F238E27FC236}">
                <a16:creationId xmlns:a16="http://schemas.microsoft.com/office/drawing/2014/main" id="{417DDD5D-C963-4E01-AB7E-EFFBACBEA84A}"/>
              </a:ext>
            </a:extLst>
          </p:cNvPr>
          <p:cNvSpPr>
            <a:spLocks noGrp="1"/>
          </p:cNvSpPr>
          <p:nvPr/>
        </p:nvSpPr>
        <p:spPr>
          <a:xfrm>
            <a:off x="106680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Artefacto WAR</a:t>
            </a:r>
          </a:p>
        </p:txBody>
      </p:sp>
      <p:sp>
        <p:nvSpPr>
          <p:cNvPr id="51" name="Empaqueta la aplicación web Java y sus r">
            <a:extLst>
              <a:ext uri="{FF2B5EF4-FFF2-40B4-BE49-F238E27FC236}">
                <a16:creationId xmlns:a16="http://schemas.microsoft.com/office/drawing/2014/main" id="{7A6ED339-C33D-4F94-900A-8A10989552E3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Empaqueta la aplicación web Java y sus recursos.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Su extensión no garantiza que sea ejecutable con java -jar.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0466A8FF-AC5C-49EE-A0A1-87C9D46043B3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5A577D21-798B-4955-A523-6320543B1600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Imagen y ejecución">
            <a:extLst>
              <a:ext uri="{FF2B5EF4-FFF2-40B4-BE49-F238E27FC236}">
                <a16:creationId xmlns:a16="http://schemas.microsoft.com/office/drawing/2014/main" id="{C6586E53-C834-4E13-9BD9-4EDCE909FE2C}"/>
              </a:ext>
            </a:extLst>
          </p:cNvPr>
          <p:cNvSpPr>
            <a:spLocks noGrp="1"/>
          </p:cNvSpPr>
          <p:nvPr/>
        </p:nvSpPr>
        <p:spPr>
          <a:xfrm>
            <a:off x="653415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Imagen y ejecución</a:t>
            </a:r>
          </a:p>
        </p:txBody>
      </p:sp>
      <p:sp>
        <p:nvSpPr>
          <p:cNvPr id="55" name="La imagen incorpora el entorno y los fic">
            <a:extLst>
              <a:ext uri="{FF2B5EF4-FFF2-40B4-BE49-F238E27FC236}">
                <a16:creationId xmlns:a16="http://schemas.microsoft.com/office/drawing/2014/main" id="{8AE9C95C-4DAB-4825-859C-43491A17D9A3}"/>
              </a:ext>
            </a:extLst>
          </p:cNvPr>
          <p:cNvSpPr>
            <a:spLocks noGrp="1"/>
          </p:cNvSpPr>
          <p:nvPr/>
        </p:nvSpPr>
        <p:spPr>
          <a:xfrm>
            <a:off x="659130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La imagen incorpora el entorno y los ficheros necesarios.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El contenedor ejecuta procesos a partir de esa imagen.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Tomcat embebido y externo</a:t>
            </a:r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4882C160-34C4-4176-B1BF-12B07C06E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5500" y="942975"/>
            <a:ext cx="8001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La compatibilidad entre aplicación, Java y Tomcat sigue siendo necesaria.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Un WAR preparado para ambos modelos</a:t>
            </a:r>
          </a:p>
        </p:txBody>
      </p:sp>
      <p:sp>
        <p:nvSpPr>
          <p:cNvPr id="48" name="java -jar aplicacion.war">
            <a:extLst>
              <a:ext uri="{FF2B5EF4-FFF2-40B4-BE49-F238E27FC236}">
                <a16:creationId xmlns:a16="http://schemas.microsoft.com/office/drawing/2014/main" id="{F4B4AD34-E701-4DD2-A4ED-A637D32E8AB4}"/>
              </a:ext>
            </a:extLst>
          </p:cNvPr>
          <p:cNvSpPr>
            <a:spLocks noGrp="1"/>
          </p:cNvSpPr>
          <p:nvPr/>
        </p:nvSpPr>
        <p:spPr>
          <a:xfrm>
            <a:off x="914400" y="1190625"/>
            <a:ext cx="10382250" cy="3238500"/>
          </a:xfrm>
          <a:prstGeom prst="roundRect">
            <a:avLst>
              <a:gd name="adj" fmla="val 2353"/>
            </a:avLst>
          </a:prstGeom>
          <a:solidFill>
            <a:srgbClr val="F6F8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21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defRPr sz="21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java -jar aplicacion.war</a:t>
            </a:r>
          </a:p>
        </p:txBody>
      </p:sp>
      <p:sp>
        <p:nvSpPr>
          <p:cNvPr id="49" name="Este comando requiere un WAR ejecutable ">
            <a:extLst>
              <a:ext uri="{FF2B5EF4-FFF2-40B4-BE49-F238E27FC236}">
                <a16:creationId xmlns:a16="http://schemas.microsoft.com/office/drawing/2014/main" id="{2BEB9CDD-68EA-4AF1-A4F8-400452B2CC03}"/>
              </a:ext>
            </a:extLst>
          </p:cNvPr>
          <p:cNvSpPr>
            <a:spLocks noGrp="1"/>
          </p:cNvSpPr>
          <p:nvPr/>
        </p:nvSpPr>
        <p:spPr>
          <a:xfrm>
            <a:off x="1047750" y="4714875"/>
            <a:ext cx="100965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Este comando requiere un WAR ejecutable preparado para ese uso.</a:t>
            </a:r>
          </a:p>
        </p:txBody>
      </p:sp>
      <p:sp>
        <p:nvSpPr>
          <p:cNvPr id="50" name="Despliegue externo: inicialización y dep">
            <a:extLst>
              <a:ext uri="{FF2B5EF4-FFF2-40B4-BE49-F238E27FC236}">
                <a16:creationId xmlns:a16="http://schemas.microsoft.com/office/drawing/2014/main" id="{48F965D4-E265-49F6-8A5C-6357D1DB9F03}"/>
              </a:ext>
            </a:extLst>
          </p:cNvPr>
          <p:cNvSpPr>
            <a:spLocks noGrp="1"/>
          </p:cNvSpPr>
          <p:nvPr/>
        </p:nvSpPr>
        <p:spPr>
          <a:xfrm>
            <a:off x="1095375" y="2762250"/>
            <a:ext cx="9906000" cy="1381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7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Despliegue externo: inicialización y dependencias adecuadas.</a:t>
            </a:r>
          </a:p>
          <a:p>
            <a:endParaRPr sz="1875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87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También existen aplicaciones con Tomcat embebido en un JAR ejecutable.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Estructura orientativa de una instalación sencilla. Las ubicaciones pueden configurarse.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Ficheros y directorios de Tomcat</a:t>
            </a:r>
          </a:p>
        </p:txBody>
      </p:sp>
      <p:sp>
        <p:nvSpPr>
          <p:cNvPr id="48" name="tomcat/&#10;├── conf/&#10;│   ├── server.xml&#10;│  ">
            <a:extLst>
              <a:ext uri="{FF2B5EF4-FFF2-40B4-BE49-F238E27FC236}">
                <a16:creationId xmlns:a16="http://schemas.microsoft.com/office/drawing/2014/main" id="{8AA5EC8A-C471-4B32-AB17-1FF8EDF24708}"/>
              </a:ext>
            </a:extLst>
          </p:cNvPr>
          <p:cNvSpPr>
            <a:spLocks noGrp="1"/>
          </p:cNvSpPr>
          <p:nvPr/>
        </p:nvSpPr>
        <p:spPr>
          <a:xfrm>
            <a:off x="914400" y="1285875"/>
            <a:ext cx="4762500" cy="3714750"/>
          </a:xfrm>
          <a:prstGeom prst="roundRect">
            <a:avLst>
              <a:gd name="adj" fmla="val 2051"/>
            </a:avLst>
          </a:prstGeom>
          <a:solidFill>
            <a:srgbClr val="F6F8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def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tomcat/</a:t>
            </a:r>
          </a:p>
          <a:p>
            <a:pPr algn="l">
              <a:def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├── conf/</a:t>
            </a:r>
          </a:p>
          <a:p>
            <a:pPr algn="l">
              <a:def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│   ├── server.xml</a:t>
            </a:r>
          </a:p>
          <a:p>
            <a:pPr algn="l">
              <a:def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│   ├── context.xml</a:t>
            </a:r>
          </a:p>
          <a:p>
            <a:pPr algn="l">
              <a:def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│   └── tomcat-users.xml</a:t>
            </a:r>
          </a:p>
          <a:p>
            <a:pPr algn="l">
              <a:def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├── lib/</a:t>
            </a:r>
          </a:p>
          <a:p>
            <a:pPr algn="l">
              <a:def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└── webapps/</a:t>
            </a:r>
          </a:p>
        </p:txBody>
      </p:sp>
      <p:sp>
        <p:nvSpPr>
          <p:cNvPr id="49" name="server.xml: conectores y estructura.&#10;&#10;co">
            <a:extLst>
              <a:ext uri="{FF2B5EF4-FFF2-40B4-BE49-F238E27FC236}">
                <a16:creationId xmlns:a16="http://schemas.microsoft.com/office/drawing/2014/main" id="{EA4EC735-A572-44FF-89E6-76CBCCF6838D}"/>
              </a:ext>
            </a:extLst>
          </p:cNvPr>
          <p:cNvSpPr>
            <a:spLocks noGrp="1"/>
          </p:cNvSpPr>
          <p:nvPr/>
        </p:nvSpPr>
        <p:spPr>
          <a:xfrm>
            <a:off x="6096000" y="1381125"/>
            <a:ext cx="5191125" cy="3714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server.xml: conectores y estructura.</a:t>
            </a:r>
          </a:p>
          <a:p>
            <a:endParaRPr sz="1725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context.xml: valores de los contextos.</a:t>
            </a:r>
          </a:p>
          <a:p>
            <a:endParaRPr sz="1725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tomcat-users.xml: usuarios y roles según el mecanismo utilizado.</a:t>
            </a:r>
          </a:p>
          <a:p>
            <a:endParaRPr sz="1725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lib/: bibliotecas compartidas.</a:t>
            </a:r>
          </a:p>
          <a:p>
            <a:endParaRPr sz="1725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webapps/: aplicaciones.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WAR, contexto y URL</a:t>
            </a:r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45330A05-CB20-4307-BD06-106119512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5500" y="942975"/>
            <a:ext cx="8001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Contexto, ruta de la aplicación y ruta enviada por el proxy deben encajar.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Diagnóstico de un 404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55563E09-86A4-44E5-BDCC-8A12D77C625F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DD2F707E-D501-4710-A8D1-F8D74FEB6339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Ruta del ejemplo">
            <a:extLst>
              <a:ext uri="{FF2B5EF4-FFF2-40B4-BE49-F238E27FC236}">
                <a16:creationId xmlns:a16="http://schemas.microsoft.com/office/drawing/2014/main" id="{7DB32069-7A21-46F4-B4BA-F0954B02E831}"/>
              </a:ext>
            </a:extLst>
          </p:cNvPr>
          <p:cNvSpPr>
            <a:spLocks noGrp="1"/>
          </p:cNvSpPr>
          <p:nvPr/>
        </p:nvSpPr>
        <p:spPr>
          <a:xfrm>
            <a:off x="106680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Ruta del ejemplo</a:t>
            </a:r>
          </a:p>
        </p:txBody>
      </p:sp>
      <p:sp>
        <p:nvSpPr>
          <p:cNvPr id="51" name="El proxy envía /api/productos.&#10;&#10;El endpo">
            <a:extLst>
              <a:ext uri="{FF2B5EF4-FFF2-40B4-BE49-F238E27FC236}">
                <a16:creationId xmlns:a16="http://schemas.microsoft.com/office/drawing/2014/main" id="{8513D6BE-411C-4F01-A67B-4A65D5A77388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El proxy envía /api/productos.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El endpoint está en /ventas/api/productos.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La petición no llega a ese endpoint.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02B70DE0-E69F-47C8-BBEA-25B92BB2E7A3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3572D2FF-6D4A-4889-A7DA-18A91A297DE5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Comprobaciones">
            <a:extLst>
              <a:ext uri="{FF2B5EF4-FFF2-40B4-BE49-F238E27FC236}">
                <a16:creationId xmlns:a16="http://schemas.microsoft.com/office/drawing/2014/main" id="{192C91B5-F185-46B2-A9B5-0B533F024660}"/>
              </a:ext>
            </a:extLst>
          </p:cNvPr>
          <p:cNvSpPr>
            <a:spLocks noGrp="1"/>
          </p:cNvSpPr>
          <p:nvPr/>
        </p:nvSpPr>
        <p:spPr>
          <a:xfrm>
            <a:off x="653415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Comprobaciones</a:t>
            </a:r>
          </a:p>
        </p:txBody>
      </p:sp>
      <p:sp>
        <p:nvSpPr>
          <p:cNvPr id="55" name="Ruta que recibe y reenvía el proxy.&#10;&#10;Con">
            <a:extLst>
              <a:ext uri="{FF2B5EF4-FFF2-40B4-BE49-F238E27FC236}">
                <a16:creationId xmlns:a16="http://schemas.microsoft.com/office/drawing/2014/main" id="{8A1C0A3B-FC65-48FB-9EC9-9223286DA62C}"/>
              </a:ext>
            </a:extLst>
          </p:cNvPr>
          <p:cNvSpPr>
            <a:spLocks noGrp="1"/>
          </p:cNvSpPr>
          <p:nvPr/>
        </p:nvSpPr>
        <p:spPr>
          <a:xfrm>
            <a:off x="659130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Ruta que recibe y reenvía el proxy.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Contexto desplegado en Tomcat.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Rutas, enlaces y redirecciones de la aplicación.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En este modelo, los datos de la sesión se conservan en el servidor.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Identificador de sesión en la cookie</a:t>
            </a:r>
          </a:p>
        </p:txBody>
      </p:sp>
      <p:sp>
        <p:nvSpPr>
          <p:cNvPr id="48" name="Respuesta:&#10;Set-Cookie: JSESSIONID=abc&#10;&#10;P">
            <a:extLst>
              <a:ext uri="{FF2B5EF4-FFF2-40B4-BE49-F238E27FC236}">
                <a16:creationId xmlns:a16="http://schemas.microsoft.com/office/drawing/2014/main" id="{CBEFD350-74FA-46D9-8E64-FC752D9F5E7D}"/>
              </a:ext>
            </a:extLst>
          </p:cNvPr>
          <p:cNvSpPr>
            <a:spLocks noGrp="1"/>
          </p:cNvSpPr>
          <p:nvPr/>
        </p:nvSpPr>
        <p:spPr>
          <a:xfrm>
            <a:off x="914400" y="1190625"/>
            <a:ext cx="10382250" cy="3238500"/>
          </a:xfrm>
          <a:prstGeom prst="roundRect">
            <a:avLst>
              <a:gd name="adj" fmla="val 2353"/>
            </a:avLst>
          </a:prstGeom>
          <a:solidFill>
            <a:srgbClr val="F6F8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20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defRPr sz="20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20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Respuesta:</a:t>
            </a:r>
          </a:p>
          <a:p>
            <a:pPr algn="l">
              <a:defRPr sz="20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20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Set-Cookie: JSESSIONID=abc</a:t>
            </a:r>
          </a:p>
          <a:p>
            <a:endParaRPr sz="2025" b="0">
              <a:solidFill>
                <a:srgbClr val="18365F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20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20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Petición posterior:</a:t>
            </a:r>
          </a:p>
          <a:p>
            <a:pPr algn="l">
              <a:defRPr sz="20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20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Cookie: JSESSIONID=abc</a:t>
            </a:r>
          </a:p>
        </p:txBody>
      </p:sp>
      <p:sp>
        <p:nvSpPr>
          <p:cNvPr id="49" name="Cabeceras simplificadas. El identificado">
            <a:extLst>
              <a:ext uri="{FF2B5EF4-FFF2-40B4-BE49-F238E27FC236}">
                <a16:creationId xmlns:a16="http://schemas.microsoft.com/office/drawing/2014/main" id="{60751CDD-9F42-44FA-A4A8-75F43C227AC5}"/>
              </a:ext>
            </a:extLst>
          </p:cNvPr>
          <p:cNvSpPr>
            <a:spLocks noGrp="1"/>
          </p:cNvSpPr>
          <p:nvPr/>
        </p:nvSpPr>
        <p:spPr>
          <a:xfrm>
            <a:off x="1047750" y="4714875"/>
            <a:ext cx="100965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Cabeceras simplificadas. El identificador real es opaco y la cookie tiene atributos de protección y envío.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Sesión local y cambio de réplica</a:t>
            </a:r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76435E38-0D01-4B0C-B7EB-7C7FE3595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5500" y="942975"/>
            <a:ext cx="8001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Estrategias de sesiones</a:t>
            </a:r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47A8A774-7462-4F59-ADCC-6DED0465A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5500" y="942975"/>
            <a:ext cx="8001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Cambiar de réplica funciona si la sesión sigue siendo válida y el almacén está disponible.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Spring Session y Redis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356CF52F-5921-4CBF-8B76-2D0C6A30AFAB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771933D4-6453-438F-A27D-4AFA64E1A4D9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Integración">
            <a:extLst>
              <a:ext uri="{FF2B5EF4-FFF2-40B4-BE49-F238E27FC236}">
                <a16:creationId xmlns:a16="http://schemas.microsoft.com/office/drawing/2014/main" id="{9D4CE2E2-83DE-41C7-B39D-0CFDB5204C9E}"/>
              </a:ext>
            </a:extLst>
          </p:cNvPr>
          <p:cNvSpPr>
            <a:spLocks noGrp="1"/>
          </p:cNvSpPr>
          <p:nvPr/>
        </p:nvSpPr>
        <p:spPr>
          <a:xfrm>
            <a:off x="106680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Integración</a:t>
            </a:r>
          </a:p>
        </p:txBody>
      </p:sp>
      <p:sp>
        <p:nvSpPr>
          <p:cNvPr id="51" name="La aplicación utiliza HttpSession.&#10;&#10;Spri">
            <a:extLst>
              <a:ext uri="{FF2B5EF4-FFF2-40B4-BE49-F238E27FC236}">
                <a16:creationId xmlns:a16="http://schemas.microsoft.com/office/drawing/2014/main" id="{5995022A-2A3F-4D6B-83F8-48AF8659931B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La aplicación utiliza HttpSession.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Spring Session integra el repositorio externo.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Las réplicas comparten una configuración compatible.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84C78567-9563-4E69-BFDD-F45CEE3E089E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93EDF0C0-C2D6-447D-9FA2-6A73DF4F59FE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Condiciones y límites">
            <a:extLst>
              <a:ext uri="{FF2B5EF4-FFF2-40B4-BE49-F238E27FC236}">
                <a16:creationId xmlns:a16="http://schemas.microsoft.com/office/drawing/2014/main" id="{8D01A045-0F3E-4B6E-9044-C2825CFC16D6}"/>
              </a:ext>
            </a:extLst>
          </p:cNvPr>
          <p:cNvSpPr>
            <a:spLocks noGrp="1"/>
          </p:cNvSpPr>
          <p:nvPr/>
        </p:nvSpPr>
        <p:spPr>
          <a:xfrm>
            <a:off x="653415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Condiciones y límites</a:t>
            </a:r>
          </a:p>
        </p:txBody>
      </p:sp>
      <p:sp>
        <p:nvSpPr>
          <p:cNvPr id="55" name="Añadir Redis exige configurar la aplicac">
            <a:extLst>
              <a:ext uri="{FF2B5EF4-FFF2-40B4-BE49-F238E27FC236}">
                <a16:creationId xmlns:a16="http://schemas.microsoft.com/office/drawing/2014/main" id="{C963A682-9B2A-4404-AB61-54855D785898}"/>
              </a:ext>
            </a:extLst>
          </p:cNvPr>
          <p:cNvSpPr>
            <a:spLocks noGrp="1"/>
          </p:cNvSpPr>
          <p:nvPr/>
        </p:nvSpPr>
        <p:spPr>
          <a:xfrm>
            <a:off x="659130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Añadir Redis exige configurar la aplicación.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Las sesiones pueden expirar o invalidarse.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El nombre de la cookie puede cambiar.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Cada tipo de estado necesita una decisión de almacenamiento.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Alcance del estado compartido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9956FD7E-1344-4654-910D-6F65B896C487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0719E526-2EC8-4532-92A0-68860260C08D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Sesiones">
            <a:extLst>
              <a:ext uri="{FF2B5EF4-FFF2-40B4-BE49-F238E27FC236}">
                <a16:creationId xmlns:a16="http://schemas.microsoft.com/office/drawing/2014/main" id="{644CBE7B-D884-4246-876C-E8318EF5DFA0}"/>
              </a:ext>
            </a:extLst>
          </p:cNvPr>
          <p:cNvSpPr>
            <a:spLocks noGrp="1"/>
          </p:cNvSpPr>
          <p:nvPr/>
        </p:nvSpPr>
        <p:spPr>
          <a:xfrm>
            <a:off x="106680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Sesiones</a:t>
            </a:r>
          </a:p>
        </p:txBody>
      </p:sp>
      <p:sp>
        <p:nvSpPr>
          <p:cNvPr id="51" name="La afinidad conserva el estado local.&#10;&#10;L">
            <a:extLst>
              <a:ext uri="{FF2B5EF4-FFF2-40B4-BE49-F238E27FC236}">
                <a16:creationId xmlns:a16="http://schemas.microsoft.com/office/drawing/2014/main" id="{6AC718CC-0877-423B-9B49-0DB2FEB1FFAD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La afinidad conserva el estado local.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La replicación necesita coordinación.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Un almacén externo necesita disponibilidad y capacidad.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2940B382-68FA-450D-AB32-B39CD6B5E51D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7F2F2303-B219-4F6B-B5A4-9BDDFF47FD0C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Otros datos">
            <a:extLst>
              <a:ext uri="{FF2B5EF4-FFF2-40B4-BE49-F238E27FC236}">
                <a16:creationId xmlns:a16="http://schemas.microsoft.com/office/drawing/2014/main" id="{C962902E-20F8-4F76-A4B3-B3F1AFDE41C9}"/>
              </a:ext>
            </a:extLst>
          </p:cNvPr>
          <p:cNvSpPr>
            <a:spLocks noGrp="1"/>
          </p:cNvSpPr>
          <p:nvPr/>
        </p:nvSpPr>
        <p:spPr>
          <a:xfrm>
            <a:off x="653415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Otros datos</a:t>
            </a:r>
          </a:p>
        </p:txBody>
      </p:sp>
      <p:sp>
        <p:nvSpPr>
          <p:cNvPr id="55" name="Los ficheros no se comparten al external">
            <a:extLst>
              <a:ext uri="{FF2B5EF4-FFF2-40B4-BE49-F238E27FC236}">
                <a16:creationId xmlns:a16="http://schemas.microsoft.com/office/drawing/2014/main" id="{DC3306A3-883F-47CC-8FF8-8029DA82ACCD}"/>
              </a:ext>
            </a:extLst>
          </p:cNvPr>
          <p:cNvSpPr>
            <a:spLocks noGrp="1"/>
          </p:cNvSpPr>
          <p:nvPr/>
        </p:nvSpPr>
        <p:spPr>
          <a:xfrm>
            <a:off x="659130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Los ficheros no se comparten al externalizar sesiones.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Las cachés locales pueden seguir siendo distintas.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Persistir una sesión en disco no la comparte entre réplicas.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Latencia, throughput y concurrencia</a:t>
            </a:r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43F391D2-33F1-4476-832F-8249BE846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5500" y="942975"/>
            <a:ext cx="8001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La relación utiliza medias, un flujo estable y el mismo ámbito de medida.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Relación entre las magnitudes</a:t>
            </a:r>
          </a:p>
        </p:txBody>
      </p:sp>
      <p:sp>
        <p:nvSpPr>
          <p:cNvPr id="48" name="150 peticiones/s × 0,18 s = 27 peticione">
            <a:extLst>
              <a:ext uri="{FF2B5EF4-FFF2-40B4-BE49-F238E27FC236}">
                <a16:creationId xmlns:a16="http://schemas.microsoft.com/office/drawing/2014/main" id="{5C6B2B7B-F993-4CB5-A79F-2EBA5A56C186}"/>
              </a:ext>
            </a:extLst>
          </p:cNvPr>
          <p:cNvSpPr>
            <a:spLocks noGrp="1"/>
          </p:cNvSpPr>
          <p:nvPr/>
        </p:nvSpPr>
        <p:spPr>
          <a:xfrm>
            <a:off x="914400" y="1190625"/>
            <a:ext cx="10382250" cy="3238500"/>
          </a:xfrm>
          <a:prstGeom prst="roundRect">
            <a:avLst>
              <a:gd name="adj" fmla="val 2353"/>
            </a:avLst>
          </a:prstGeom>
          <a:solidFill>
            <a:srgbClr val="F6F8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21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defRPr sz="21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150 peticiones/s × 0,18 s = 27 peticiones</a:t>
            </a:r>
          </a:p>
        </p:txBody>
      </p:sp>
      <p:sp>
        <p:nvSpPr>
          <p:cNvPr id="49" name="180 ms = 0,18 s. El resultado es una con">
            <a:extLst>
              <a:ext uri="{FF2B5EF4-FFF2-40B4-BE49-F238E27FC236}">
                <a16:creationId xmlns:a16="http://schemas.microsoft.com/office/drawing/2014/main" id="{966A9532-DA74-41F1-BBB0-2BCA2A45DCBF}"/>
              </a:ext>
            </a:extLst>
          </p:cNvPr>
          <p:cNvSpPr>
            <a:spLocks noGrp="1"/>
          </p:cNvSpPr>
          <p:nvPr/>
        </p:nvSpPr>
        <p:spPr>
          <a:xfrm>
            <a:off x="1047750" y="4714875"/>
            <a:ext cx="100965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180 ms = 0,18 s. El resultado es una concurrencia media.</a:t>
            </a:r>
          </a:p>
        </p:txBody>
      </p:sp>
      <p:sp>
        <p:nvSpPr>
          <p:cNvPr id="50" name="No implica que haya exactamente 27 petic">
            <a:extLst>
              <a:ext uri="{FF2B5EF4-FFF2-40B4-BE49-F238E27FC236}">
                <a16:creationId xmlns:a16="http://schemas.microsoft.com/office/drawing/2014/main" id="{5FA875AC-5118-4C90-B275-697C9B3EF0E6}"/>
              </a:ext>
            </a:extLst>
          </p:cNvPr>
          <p:cNvSpPr>
            <a:spLocks noGrp="1"/>
          </p:cNvSpPr>
          <p:nvPr/>
        </p:nvSpPr>
        <p:spPr>
          <a:xfrm>
            <a:off x="1095375" y="2619375"/>
            <a:ext cx="990600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7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No implica que haya exactamente 27 peticiones en cada instante.</a:t>
            </a:r>
          </a:p>
          <a:p>
            <a:endParaRPr sz="1875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87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No se sustituye la latencia media por el p95.</a:t>
            </a:r>
          </a:p>
          <a:p>
            <a:endParaRPr sz="1875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87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La concurrencia incluye ejecución y espera.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Una respuesta rápida con errores no demuestra una mejora útil.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Throughput, p95 y errores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7D89D430-17B1-4B4E-9003-5EB9917680C2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FE3180D4-4C64-4995-8982-D08FBE6A7252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Qué observar">
            <a:extLst>
              <a:ext uri="{FF2B5EF4-FFF2-40B4-BE49-F238E27FC236}">
                <a16:creationId xmlns:a16="http://schemas.microsoft.com/office/drawing/2014/main" id="{523FA57F-321B-47F5-9F58-86694FD0C3DE}"/>
              </a:ext>
            </a:extLst>
          </p:cNvPr>
          <p:cNvSpPr>
            <a:spLocks noGrp="1"/>
          </p:cNvSpPr>
          <p:nvPr/>
        </p:nvSpPr>
        <p:spPr>
          <a:xfrm>
            <a:off x="106680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Qué observar</a:t>
            </a:r>
          </a:p>
        </p:txBody>
      </p:sp>
      <p:sp>
        <p:nvSpPr>
          <p:cNvPr id="51" name="Peticiones/s: trabajo completado.&#10;&#10;p95: ">
            <a:extLst>
              <a:ext uri="{FF2B5EF4-FFF2-40B4-BE49-F238E27FC236}">
                <a16:creationId xmlns:a16="http://schemas.microsoft.com/office/drawing/2014/main" id="{E52F36A3-CF5C-48B2-B139-9DF85D3CBF48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Peticiones/s: trabajo completado.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p95: umbral de la distribución de latencia.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Errores: recuento y porcentaje según el criterio de la prueba.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9D8B242A-E240-46EA-9938-3C489B101AFB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2850ECDE-BD2F-49AB-AB65-67AF28EDBB63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Cómo comparar">
            <a:extLst>
              <a:ext uri="{FF2B5EF4-FFF2-40B4-BE49-F238E27FC236}">
                <a16:creationId xmlns:a16="http://schemas.microsoft.com/office/drawing/2014/main" id="{C725738C-7F75-4864-B826-5A137E0C5F63}"/>
              </a:ext>
            </a:extLst>
          </p:cNvPr>
          <p:cNvSpPr>
            <a:spLocks noGrp="1"/>
          </p:cNvSpPr>
          <p:nvPr/>
        </p:nvSpPr>
        <p:spPr>
          <a:xfrm>
            <a:off x="653415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Cómo comparar</a:t>
            </a:r>
          </a:p>
        </p:txBody>
      </p:sp>
      <p:sp>
        <p:nvSpPr>
          <p:cNvPr id="55" name="Mismas rutas y selección de respuestas.&#10;">
            <a:extLst>
              <a:ext uri="{FF2B5EF4-FFF2-40B4-BE49-F238E27FC236}">
                <a16:creationId xmlns:a16="http://schemas.microsoft.com/office/drawing/2014/main" id="{49157DF5-1B75-4105-953A-009FDB108C82}"/>
              </a:ext>
            </a:extLst>
          </p:cNvPr>
          <p:cNvSpPr>
            <a:spLocks noGrp="1"/>
          </p:cNvSpPr>
          <p:nvPr/>
        </p:nvSpPr>
        <p:spPr>
          <a:xfrm>
            <a:off x="659130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Mismas rutas y selección de respuestas.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Mismo ámbito y unidades.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Muestras suficientes.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No promediar los p95 de las réplicas.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Réplicas y recursos compartidos</a:t>
            </a:r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A1B3F98C-42C5-49D6-BAB8-29FFCFB4A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5500" y="942975"/>
            <a:ext cx="8001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Más réplicas también pueden consumir más memoria y abrir más conexiones.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El cuello de botella determina la mejora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A57C8C08-5E55-4928-8E57-02DB535DF596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15C91BA3-6A9F-4D3B-8DFB-8FF341D028DC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Qué pueden facilitar">
            <a:extLst>
              <a:ext uri="{FF2B5EF4-FFF2-40B4-BE49-F238E27FC236}">
                <a16:creationId xmlns:a16="http://schemas.microsoft.com/office/drawing/2014/main" id="{C5BA230D-E890-49D6-9C9F-18BE1189B941}"/>
              </a:ext>
            </a:extLst>
          </p:cNvPr>
          <p:cNvSpPr>
            <a:spLocks noGrp="1"/>
          </p:cNvSpPr>
          <p:nvPr/>
        </p:nvSpPr>
        <p:spPr>
          <a:xfrm>
            <a:off x="106680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Qué pueden facilitar</a:t>
            </a:r>
          </a:p>
        </p:txBody>
      </p:sp>
      <p:sp>
        <p:nvSpPr>
          <p:cNvPr id="51" name="Repartir trabajo entre procesos.&#10;&#10;Aprove">
            <a:extLst>
              <a:ext uri="{FF2B5EF4-FFF2-40B4-BE49-F238E27FC236}">
                <a16:creationId xmlns:a16="http://schemas.microsoft.com/office/drawing/2014/main" id="{411358A8-4B8D-4BAF-B180-FABEB6469903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Repartir trabajo entre procesos.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Aprovechar capacidad disponible.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Sustituir copias progresivamente.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DE24BA59-7415-47E5-869C-1EDAF8935D1D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88576DA6-1F1A-48D5-A72A-45D4A331B343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Qué puede limitar">
            <a:extLst>
              <a:ext uri="{FF2B5EF4-FFF2-40B4-BE49-F238E27FC236}">
                <a16:creationId xmlns:a16="http://schemas.microsoft.com/office/drawing/2014/main" id="{E5709AC8-FD63-4247-BA97-57A90AECAE99}"/>
              </a:ext>
            </a:extLst>
          </p:cNvPr>
          <p:cNvSpPr>
            <a:spLocks noGrp="1"/>
          </p:cNvSpPr>
          <p:nvPr/>
        </p:nvSpPr>
        <p:spPr>
          <a:xfrm>
            <a:off x="653415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Qué puede limitar</a:t>
            </a:r>
          </a:p>
        </p:txBody>
      </p:sp>
      <p:sp>
        <p:nvSpPr>
          <p:cNvPr id="55" name="CPU o memoria del host.&#10;&#10;Disco y red com">
            <a:extLst>
              <a:ext uri="{FF2B5EF4-FFF2-40B4-BE49-F238E27FC236}">
                <a16:creationId xmlns:a16="http://schemas.microsoft.com/office/drawing/2014/main" id="{22827D21-57CA-420E-A9B2-D0E13FC16252}"/>
              </a:ext>
            </a:extLst>
          </p:cNvPr>
          <p:cNvSpPr>
            <a:spLocks noGrp="1"/>
          </p:cNvSpPr>
          <p:nvPr/>
        </p:nvSpPr>
        <p:spPr>
          <a:xfrm>
            <a:off x="659130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CPU o memoria del host.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Disco y red compartidos.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Consultas o conexiones a la base de datos.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Dependencias externas.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Cambiamos el número de réplicas y mantenemos comparables las demás condiciones.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Preparación de una comparación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4EC0F95D-1062-43D6-9FB7-76F8DF26B4DD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D5AA10EF-280E-44F1-AA04-84713A68A17A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Mismo escenario">
            <a:extLst>
              <a:ext uri="{FF2B5EF4-FFF2-40B4-BE49-F238E27FC236}">
                <a16:creationId xmlns:a16="http://schemas.microsoft.com/office/drawing/2014/main" id="{3ABEDF36-A11A-417C-A1E7-C518C687437F}"/>
              </a:ext>
            </a:extLst>
          </p:cNvPr>
          <p:cNvSpPr>
            <a:spLocks noGrp="1"/>
          </p:cNvSpPr>
          <p:nvPr/>
        </p:nvSpPr>
        <p:spPr>
          <a:xfrm>
            <a:off x="106680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Mismo escenario</a:t>
            </a:r>
          </a:p>
        </p:txBody>
      </p:sp>
      <p:sp>
        <p:nvSpPr>
          <p:cNvPr id="51" name="Host y recursos asignados.&#10;&#10;Aplicación, ">
            <a:extLst>
              <a:ext uri="{FF2B5EF4-FFF2-40B4-BE49-F238E27FC236}">
                <a16:creationId xmlns:a16="http://schemas.microsoft.com/office/drawing/2014/main" id="{C41DAD4E-3384-4DC9-BE99-5E4960E27284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Host y recursos asignados.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Aplicación, datos y dependencias.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Ruta, método y contenido.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Generador, duración y comprobaciones.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AE8D5515-DC99-4D78-8CE9-22F2D1DA96CC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3798C6AF-FFF2-4218-92C0-3670E89EFAD6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Mismo procedimiento">
            <a:extLst>
              <a:ext uri="{FF2B5EF4-FFF2-40B4-BE49-F238E27FC236}">
                <a16:creationId xmlns:a16="http://schemas.microsoft.com/office/drawing/2014/main" id="{F8224294-8242-48FF-B343-02EEF340096D}"/>
              </a:ext>
            </a:extLst>
          </p:cNvPr>
          <p:cNvSpPr>
            <a:spLocks noGrp="1"/>
          </p:cNvSpPr>
          <p:nvPr/>
        </p:nvSpPr>
        <p:spPr>
          <a:xfrm>
            <a:off x="653415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Mismo procedimiento</a:t>
            </a:r>
          </a:p>
        </p:txBody>
      </p:sp>
      <p:sp>
        <p:nvSpPr>
          <p:cNvPr id="55" name="Aplicar un calentamiento equivalente.&#10;&#10;S">
            <a:extLst>
              <a:ext uri="{FF2B5EF4-FFF2-40B4-BE49-F238E27FC236}">
                <a16:creationId xmlns:a16="http://schemas.microsoft.com/office/drawing/2014/main" id="{EE306756-3E2A-4326-AB5C-3CD5D7A217C7}"/>
              </a:ext>
            </a:extLst>
          </p:cNvPr>
          <p:cNvSpPr>
            <a:spLocks noGrp="1"/>
          </p:cNvSpPr>
          <p:nvPr/>
        </p:nvSpPr>
        <p:spPr>
          <a:xfrm>
            <a:off x="659130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Aplicar un calentamiento equivalente.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Separarlo del periodo medido.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Repetir las ejecuciones.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Conservar todos los resultados.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Mismos usuarios virtuales no garantizan las mismas peticiones por segundo.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Modelos de carga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F646933B-2773-43CA-AF5A-FD155098F02F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EB0CC013-94C1-4032-AE6E-19403172C30E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Modelo cerrado">
            <a:extLst>
              <a:ext uri="{FF2B5EF4-FFF2-40B4-BE49-F238E27FC236}">
                <a16:creationId xmlns:a16="http://schemas.microsoft.com/office/drawing/2014/main" id="{171616BC-4696-4F8E-AA9F-8036112A6F69}"/>
              </a:ext>
            </a:extLst>
          </p:cNvPr>
          <p:cNvSpPr>
            <a:spLocks noGrp="1"/>
          </p:cNvSpPr>
          <p:nvPr/>
        </p:nvSpPr>
        <p:spPr>
          <a:xfrm>
            <a:off x="106680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Modelo cerrado</a:t>
            </a:r>
          </a:p>
        </p:txBody>
      </p:sp>
      <p:sp>
        <p:nvSpPr>
          <p:cNvPr id="51" name="Cada usuario espera a terminar su iterac">
            <a:extLst>
              <a:ext uri="{FF2B5EF4-FFF2-40B4-BE49-F238E27FC236}">
                <a16:creationId xmlns:a16="http://schemas.microsoft.com/office/drawing/2014/main" id="{53A58B6A-B640-4F17-8AC6-85CF0623662E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Cada usuario espera a terminar su iteración.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Una respuesta más lenta puede reducir la tasa de nuevas peticiones.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2676EC80-5E2E-4359-8479-B0F6E14485C9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E343FA65-A14D-470A-9A6D-A0201252ABF7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Modelo abierto">
            <a:extLst>
              <a:ext uri="{FF2B5EF4-FFF2-40B4-BE49-F238E27FC236}">
                <a16:creationId xmlns:a16="http://schemas.microsoft.com/office/drawing/2014/main" id="{99795416-EE0A-44E6-8E43-6533AB132172}"/>
              </a:ext>
            </a:extLst>
          </p:cNvPr>
          <p:cNvSpPr>
            <a:spLocks noGrp="1"/>
          </p:cNvSpPr>
          <p:nvPr/>
        </p:nvSpPr>
        <p:spPr>
          <a:xfrm>
            <a:off x="653415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Modelo abierto</a:t>
            </a:r>
          </a:p>
        </p:txBody>
      </p:sp>
      <p:sp>
        <p:nvSpPr>
          <p:cNvPr id="55" name="Programa una tasa de inicio de trabajo.&#10;">
            <a:extLst>
              <a:ext uri="{FF2B5EF4-FFF2-40B4-BE49-F238E27FC236}">
                <a16:creationId xmlns:a16="http://schemas.microsoft.com/office/drawing/2014/main" id="{DA86F470-A1A2-439A-AD5B-DDFA5AA1374C}"/>
              </a:ext>
            </a:extLst>
          </p:cNvPr>
          <p:cNvSpPr>
            <a:spLocks noGrp="1"/>
          </p:cNvSpPr>
          <p:nvPr/>
        </p:nvSpPr>
        <p:spPr>
          <a:xfrm>
            <a:off x="659130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Programa una tasa de inicio de trabajo.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El generador necesita capacidad para sostenerla.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Hay que revisar el trabajo que no consigue iniciar.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Cliente, proxy y aplicación pueden medir intervalos diferentes.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Ámbito y límites de la medición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36DFF764-660E-4DD1-8A24-FECF149EDFAF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888CE709-259E-4471-B1E2-91537FA5BC91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Métrica elegida">
            <a:extLst>
              <a:ext uri="{FF2B5EF4-FFF2-40B4-BE49-F238E27FC236}">
                <a16:creationId xmlns:a16="http://schemas.microsoft.com/office/drawing/2014/main" id="{66FF16BB-46B1-4A0A-8C2A-850325626A85}"/>
              </a:ext>
            </a:extLst>
          </p:cNvPr>
          <p:cNvSpPr>
            <a:spLocks noGrp="1"/>
          </p:cNvSpPr>
          <p:nvPr/>
        </p:nvSpPr>
        <p:spPr>
          <a:xfrm>
            <a:off x="106680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Métrica elegida</a:t>
            </a:r>
          </a:p>
        </p:txBody>
      </p:sp>
      <p:sp>
        <p:nvSpPr>
          <p:cNvPr id="51" name="En k6, http_req_duration suma envío, esp">
            <a:extLst>
              <a:ext uri="{FF2B5EF4-FFF2-40B4-BE49-F238E27FC236}">
                <a16:creationId xmlns:a16="http://schemas.microsoft.com/office/drawing/2014/main" id="{693DE37D-D7F4-4F3E-9D83-E5020B0AE876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En k6, http_req_duration suma envío, espera y recepción.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No incluye todos los tiempos previos de conexión.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Hay que conocer el criterio de error.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C1C94C70-1DB3-456C-BDEE-8DA0A45DD2AF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EDA7A1B5-F661-4B70-AD41-66DE27407B84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Generador y red">
            <a:extLst>
              <a:ext uri="{FF2B5EF4-FFF2-40B4-BE49-F238E27FC236}">
                <a16:creationId xmlns:a16="http://schemas.microsoft.com/office/drawing/2014/main" id="{42DA3313-33E6-4DF0-8717-E512441BEA99}"/>
              </a:ext>
            </a:extLst>
          </p:cNvPr>
          <p:cNvSpPr>
            <a:spLocks noGrp="1"/>
          </p:cNvSpPr>
          <p:nvPr/>
        </p:nvSpPr>
        <p:spPr>
          <a:xfrm>
            <a:off x="653415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Generador y red</a:t>
            </a:r>
          </a:p>
        </p:txBody>
      </p:sp>
      <p:sp>
        <p:nvSpPr>
          <p:cNvPr id="55" name="Otro equipo evita competir directamente ">
            <a:extLst>
              <a:ext uri="{FF2B5EF4-FFF2-40B4-BE49-F238E27FC236}">
                <a16:creationId xmlns:a16="http://schemas.microsoft.com/office/drawing/2014/main" id="{0BD7D0B6-5A3B-4575-9F2C-CDD1BDBD9A16}"/>
              </a:ext>
            </a:extLst>
          </p:cNvPr>
          <p:cNvSpPr>
            <a:spLocks noGrp="1"/>
          </p:cNvSpPr>
          <p:nvPr/>
        </p:nvSpPr>
        <p:spPr>
          <a:xfrm>
            <a:off x="659130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Otro equipo evita competir directamente por la CPU medida.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Su capacidad y la red también pueden limitar el resultado.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La prueba permite concluir únicamente dentro de las condiciones observadas.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Interpretación de los resultados</a:t>
            </a:r>
          </a:p>
        </p:txBody>
      </p:sp>
      <p:sp>
        <p:nvSpPr>
          <p:cNvPr id="48" name="Rectángulo redondeado 47">
            <a:extLst>
              <a:ext uri="{FF2B5EF4-FFF2-40B4-BE49-F238E27FC236}">
                <a16:creationId xmlns:a16="http://schemas.microsoft.com/office/drawing/2014/main" id="{8767F040-F1EF-4E6E-BFEA-33D3E67AB165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9F1FA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BB6C58A7-6D77-440F-A4B3-000F7BF56EB2}"/>
              </a:ext>
            </a:extLst>
          </p:cNvPr>
          <p:cNvSpPr>
            <a:spLocks noGrp="1"/>
          </p:cNvSpPr>
          <p:nvPr/>
        </p:nvSpPr>
        <p:spPr>
          <a:xfrm>
            <a:off x="914400" y="1381125"/>
            <a:ext cx="4895850" cy="40005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Resultado que se documenta">
            <a:extLst>
              <a:ext uri="{FF2B5EF4-FFF2-40B4-BE49-F238E27FC236}">
                <a16:creationId xmlns:a16="http://schemas.microsoft.com/office/drawing/2014/main" id="{34B6E871-6214-4CD8-B7E6-CB2FBB3A46D1}"/>
              </a:ext>
            </a:extLst>
          </p:cNvPr>
          <p:cNvSpPr>
            <a:spLocks noGrp="1"/>
          </p:cNvSpPr>
          <p:nvPr/>
        </p:nvSpPr>
        <p:spPr>
          <a:xfrm>
            <a:off x="106680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Resultado que se documenta</a:t>
            </a:r>
          </a:p>
        </p:txBody>
      </p:sp>
      <p:sp>
        <p:nvSpPr>
          <p:cNvPr id="51" name="Configuración y escenario.&#10;&#10;Peticiones/s">
            <a:extLst>
              <a:ext uri="{FF2B5EF4-FFF2-40B4-BE49-F238E27FC236}">
                <a16:creationId xmlns:a16="http://schemas.microsoft.com/office/drawing/2014/main" id="{77D612CE-BF63-4063-B460-D2279862EBDC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Configuración y escenario.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Peticiones/s, p95 y errores.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Variación entre repeticiones.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Observaciones sobre recursos y red.</a:t>
            </a:r>
          </a:p>
        </p:txBody>
      </p:sp>
      <p:sp>
        <p:nvSpPr>
          <p:cNvPr id="52" name="Rectángulo redondeado 51">
            <a:extLst>
              <a:ext uri="{FF2B5EF4-FFF2-40B4-BE49-F238E27FC236}">
                <a16:creationId xmlns:a16="http://schemas.microsoft.com/office/drawing/2014/main" id="{BB2F35DF-A158-4B62-A009-6ED2391E0C24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3495675"/>
          </a:xfrm>
          <a:prstGeom prst="roundRect">
            <a:avLst>
              <a:gd name="adj" fmla="val 2180"/>
            </a:avLst>
          </a:prstGeom>
          <a:solidFill>
            <a:srgbClr val="E8F6F0"/>
          </a:solidFill>
          <a:ln w="9525">
            <a:solidFill>
              <a:srgbClr val="AFD2C9"/>
            </a:solidFill>
          </a:ln>
        </p:spPr>
        <p:txBody>
          <a:bodyPr lIns="171450" tIns="171450" rIns="171450" bIns="17145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AC67887E-31ED-434B-8040-E321A513DC9B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4895850" cy="400050"/>
          </a:xfrm>
          <a:prstGeom prst="rect">
            <a:avLst/>
          </a:prstGeom>
          <a:solidFill>
            <a:srgbClr val="004D4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4" name="Alcance de la conclusión">
            <a:extLst>
              <a:ext uri="{FF2B5EF4-FFF2-40B4-BE49-F238E27FC236}">
                <a16:creationId xmlns:a16="http://schemas.microsoft.com/office/drawing/2014/main" id="{A2D89C3B-0E75-42A8-9DAA-5B707899305F}"/>
              </a:ext>
            </a:extLst>
          </p:cNvPr>
          <p:cNvSpPr>
            <a:spLocks noGrp="1"/>
          </p:cNvSpPr>
          <p:nvPr/>
        </p:nvSpPr>
        <p:spPr>
          <a:xfrm>
            <a:off x="6534150" y="14668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Alcance de la conclusión</a:t>
            </a:r>
          </a:p>
        </p:txBody>
      </p:sp>
      <p:sp>
        <p:nvSpPr>
          <p:cNvPr id="55" name="Explicar cómo se comportaron una y tres ">
            <a:extLst>
              <a:ext uri="{FF2B5EF4-FFF2-40B4-BE49-F238E27FC236}">
                <a16:creationId xmlns:a16="http://schemas.microsoft.com/office/drawing/2014/main" id="{EF4F49A6-BEFA-4358-8F97-8CC508F066B5}"/>
              </a:ext>
            </a:extLst>
          </p:cNvPr>
          <p:cNvSpPr>
            <a:spLocks noGrp="1"/>
          </p:cNvSpPr>
          <p:nvPr/>
        </p:nvSpPr>
        <p:spPr>
          <a:xfrm>
            <a:off x="6591300" y="1971675"/>
            <a:ext cx="4476750" cy="2752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Explicar cómo se comportaron una y tres réplicas.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Relacionar el cambio con un posible límite.</a:t>
            </a:r>
          </a:p>
          <a:p>
            <a:endParaRPr sz="1650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Evitar convertirlo en una cifra universal de usuarios.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noGrp="1"/>
          </p:cNvSpPr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noGrp="1"/>
          </p:cNvSpPr>
          <p:nvPr/>
        </p:nvSpPr>
        <p:spPr>
          <a:xfrm>
            <a:off x="937260" y="5578670"/>
            <a:ext cx="10564088" cy="213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Publicar una aplicación exige comprender su ejecución, su estado y sus límites.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noGrp="1"/>
          </p:cNvSpPr>
          <p:nvPr/>
        </p:nvSpPr>
        <p:spPr>
          <a:xfrm>
            <a:off x="11734495" y="6601968"/>
            <a:ext cx="25603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noGrp="1"/>
          </p:cNvSpPr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3: Publicación y ejecución de aplicaciones web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noGrp="1"/>
          </p:cNvSpPr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Cierre del tema 3</a:t>
            </a:r>
          </a:p>
        </p:txBody>
      </p:sp>
      <p:sp>
        <p:nvSpPr>
          <p:cNvPr id="48" name="Qué debemos poder explicar y comprobar">
            <a:extLst>
              <a:ext uri="{FF2B5EF4-FFF2-40B4-BE49-F238E27FC236}">
                <a16:creationId xmlns:a16="http://schemas.microsoft.com/office/drawing/2014/main" id="{8943123B-935B-4992-A20E-D68BD663DB88}"/>
              </a:ext>
            </a:extLst>
          </p:cNvPr>
          <p:cNvSpPr>
            <a:spLocks noGrp="1"/>
          </p:cNvSpPr>
          <p:nvPr/>
        </p:nvSpPr>
        <p:spPr>
          <a:xfrm>
            <a:off x="914400" y="1085850"/>
            <a:ext cx="103822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ctr">
              <a:defRPr sz="2175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175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4D40"/>
                </a:solidFill>
                <a:latin typeface="Arial"/>
                <a:ea typeface="Arial"/>
                <a:cs typeface="Arial"/>
              </a:rPr>
              <a:t>Qué debemos poder explicar y comprobar</a:t>
            </a:r>
          </a:p>
        </p:txBody>
      </p:sp>
      <p:sp>
        <p:nvSpPr>
          <p:cNvPr id="49" name="Qué administra Tomcat y cómo se desplieg">
            <a:extLst>
              <a:ext uri="{FF2B5EF4-FFF2-40B4-BE49-F238E27FC236}">
                <a16:creationId xmlns:a16="http://schemas.microsoft.com/office/drawing/2014/main" id="{B2CBB77A-06ED-42AF-8A57-2B60E342F6E3}"/>
              </a:ext>
            </a:extLst>
          </p:cNvPr>
          <p:cNvSpPr>
            <a:spLocks noGrp="1"/>
          </p:cNvSpPr>
          <p:nvPr/>
        </p:nvSpPr>
        <p:spPr>
          <a:xfrm>
            <a:off x="914400" y="1924050"/>
            <a:ext cx="10382250" cy="32385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CE2E6"/>
            </a:solidFill>
          </a:ln>
        </p:spPr>
        <p:txBody>
          <a:bodyPr lIns="171450" tIns="171450" rIns="171450" bIns="171450" anchor="t"/>
          <a:lstStyle>
            <a:defPPr algn="l">
              <a:defRPr sz="187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Qué administra Tomcat y cómo se despliega la aplicación.</a:t>
            </a:r>
          </a:p>
          <a:p>
            <a:endParaRPr sz="1875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87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Cómo encajan el WAR, el contexto y la ruta del proxy.</a:t>
            </a:r>
          </a:p>
          <a:p>
            <a:endParaRPr sz="1875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87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Dónde vive la sesión y cómo acceden a ella las réplicas.</a:t>
            </a:r>
          </a:p>
          <a:p>
            <a:endParaRPr sz="1875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87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Qué describen latencia, throughput y concurrencia.</a:t>
            </a:r>
          </a:p>
          <a:p>
            <a:endParaRPr sz="1875" b="0">
              <a:solidFill>
                <a:srgbClr val="313A44"/>
              </a:solidFill>
              <a:latin typeface="Arial"/>
              <a:ea typeface="Arial"/>
              <a:cs typeface="Arial"/>
            </a:endParaRPr>
          </a:p>
          <a:p>
            <a:pPr algn="l">
              <a:defRPr sz="187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Qué permite concluir una comparación de carga.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2545</Words>
  <Application>Microsoft Macintosh PowerPoint</Application>
  <DocSecurity>0</DocSecurity>
  <PresentationFormat>Panorámica</PresentationFormat>
  <Paragraphs>344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9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ROIG AGUILAR, ALEJANDRO</cp:lastModifiedBy>
  <cp:revision>1</cp:revision>
  <dcterms:created xsi:type="dcterms:W3CDTF">2026-10-15T12:14:22Z</dcterms:created>
  <dcterms:modified xsi:type="dcterms:W3CDTF">2026-10-15T14:00:02Z</dcterms:modified>
</cp:coreProperties>
</file>