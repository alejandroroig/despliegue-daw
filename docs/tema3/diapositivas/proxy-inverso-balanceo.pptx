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buNone/>
    </a:defPPr>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75"/>
  </p:normalViewPr>
  <p:slideViewPr>
    <p:cSldViewPr snapToGrid="0" snapToObjects="1">
      <p:cViewPr varScale="1">
        <p:scale>
          <a:sx n="119" d="100"/>
          <a:sy n="119" d="100"/>
        </p:scale>
        <p:origin x="85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Sesión 2 del tema 3. Ejemplos genéricos de aplicaciones HTTP detrás de Nginx. Fuente: proxy-inverso-balanceo.md.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Fuente: apuntes de la sesión «Proxy inverso y balanceo», revisión visual.</a:t>
            </a:r>
          </a:p>
          <a:p>
            <a:r>
              <a:t>Una entrada pública puede atender peticiones mediante varias aplicaciones internas.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Fuente: apuntes de la sesión «Proxy inverso y balanceo». Infografía elaborada para esta sesión.</a:t>
            </a:r>
          </a:p>
          <a:p>
            <a:r>
              <a:t>Nginx lee un archivo o reenvía una petición a una aplicación. La respuesta siempre vuelve al cliente a través del proxy.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Fuente: apuntes de la sesión «Proxy inverso y balanceo», revisión visual.</a:t>
            </a:r>
          </a:p>
          <a:p>
            <a:r>
              <a:t>En esta sesión, Nginx representa al servicio publicado.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Fuente: apuntes de la sesión «Proxy inverso y balanceo», revisión visual.</a:t>
            </a:r>
          </a:p>
          <a:p>
            <a:r>
              <a:t>El navegador utiliza el mismo origen público para acceder a distintos componentes.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Fuente: apuntes de la sesión «Proxy inverso y balanceo», revisión visual.</a:t>
            </a:r>
          </a:p>
          <a:p>
            <a:r>
              <a:t>Ejemplo sencillo con un location de prefijo, sin reescrituras.</a:t>
            </a:r>
          </a:p>
          <a:p>
            <a:r>
              <a:t>Referencia: https://nginx.org/en/docs/http/ngx_http_proxy_module.html</a:t>
            </a:r>
          </a:p>
          <a:p>
            <a:r>
              <a:t>El location se sitúa dentro de un bloque server. Los fragmentos no constituyen un nginx.conf completo.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Fuente: apuntes de la sesión «Proxy inverso y balanceo». Infografía elaborada para esta sesión.</a:t>
            </a:r>
          </a:p>
          <a:p>
            <a:r>
              <a:t>Sin URI en proxy_pass se conserva /api/productos. Con URI / se sustituye el prefijo /api/ y llega /productos. Supone location de prefijo sin rewrite ni variables.</a:t>
            </a:r>
          </a:p>
          <a:p>
            <a:r>
              <a:t>Referencia: https://nginx.org/en/docs/http/ngx_http_proxy_module.html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Fuente: apuntes de la sesión «Proxy inverso y balanceo». Infografía elaborada para esta sesión.</a:t>
            </a:r>
          </a:p>
          <a:p>
            <a:r>
              <a:t>Nginx es la primera y única puerta de confianza. Host, X-Forwarded-For y X-Forwarded-Proto describen la petición original. HTTPS es ilustrativo y se configurará en la siguiente sesión.</a:t>
            </a:r>
          </a:p>
          <a:p>
            <a:r>
              <a:t>Referencia: https://nginx.org/en/docs/http/ngx_http_proxy_module.html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Fuente: apuntes de la sesión «Proxy inverso y balanceo», revisión visual.</a:t>
            </a:r>
          </a:p>
          <a:p>
            <a:r>
              <a:t>La aplicación debe interpretar las cabeceras y confiar en los proxies configurados.</a:t>
            </a:r>
          </a:p>
          <a:p>
            <a:r>
              <a:t>Referencia: https://nginx.org/en/docs/http/ngx_http_proxy_module.html</a:t>
            </a:r>
          </a:p>
          <a:p>
            <a:r>
              <a:t>Con varios proxies hace falta definir cuáles son fiables. remote_addr puede ser la IP pública de un router NAT. scheme será http si la conexión pública utiliza HTTP.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Fuente: apuntes de la sesión «Proxy inverso y balanceo», revisión visual.</a:t>
            </a:r>
          </a:p>
          <a:p>
            <a:r>
              <a:t>El bloque upstream se declara en el contexto http, junto a los bloques server.</a:t>
            </a:r>
          </a:p>
          <a:p>
            <a:r>
              <a:t>Referencia: https://nginx.org/en/docs/http/ngx_http_upstream_module.html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Fuente: apuntes de la sesión «Proxy inverso y balanceo», revisión visual.</a:t>
            </a:r>
          </a:p>
          <a:p>
            <a:r>
              <a:t>Round robin con pesos iguales reparte tráfico entre los destinos disponibles.</a:t>
            </a:r>
          </a:p>
          <a:p>
            <a:r>
              <a:t>Referencia: https://nginx.org/en/docs/http/ngx_http_upstream_module.html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Fuente: apuntes de la sesión «Proxy inverso y balanceo», revisión visual.</a:t>
            </a:r>
          </a:p>
          <a:p>
            <a:r>
              <a:t>Resolver un nombre permite localizar una réplica. Su disponibilidad exige otra comprobación.</a:t>
            </a:r>
          </a:p>
          <a:p>
            <a:r>
              <a:t>Referencia: https://nginx.org/en/docs/http/ngx_http_upstream_module.html</a:t>
            </a:r>
          </a:p>
          <a:p>
            <a:r>
              <a:t>Referencia: https://docs.docker.com/engine/network/</a:t>
            </a:r>
          </a:p>
          <a:p>
            <a:r>
              <a:t>127.0.0.11 corresponde a redes personalizadas de Docker. Fuera de ese entorno hay que elegir el resolver adecuado. ipv6=off evita consultas IPv6 en este ejemplo.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Fuente: apuntes de la sesión «Proxy inverso y balanceo», revisión visual.</a:t>
            </a:r>
          </a:p>
          <a:p>
            <a:r>
              <a:t>El límite de conexión no limita el tiempo total de respuesta.</a:t>
            </a:r>
          </a:p>
          <a:p>
            <a:r>
              <a:t>Referencia: https://nginx.org/en/docs/http/ngx_http_proxy_module.html</a:t>
            </a:r>
          </a:p>
          <a:p>
            <a:r>
              <a:t>El comentario representa las tres directivas proxy_set_header de la diapositiva 9. Una conexión aceptada con respuesta lenta requiere analizar también los tiempos de lectura.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Fuente: apuntes de la sesión «Proxy inverso y balanceo». Infografía elaborada para esta sesión.</a:t>
            </a:r>
          </a:p>
          <a:p>
            <a:r>
              <a:t>El fallo aparece al usar una réplica. Cuando se permite el reintento, Nginx puede usar otra. La respuesta pasa por Nginx antes de llegar al navegador.</a:t>
            </a:r>
          </a:p>
          <a:p>
            <a:r>
              <a:t>Referencia: https://nginx.org/en/docs/http/ngx_http_proxy_module.html</a:t>
            </a:r>
          </a:p>
          <a:p>
            <a:r>
              <a:t>Referencia: https://nginx.org/en/docs/http/ngx_http_upstream_module.html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Fuente: apuntes de la sesión «Proxy inverso y balanceo», revisión visual.</a:t>
            </a:r>
          </a:p>
          <a:p>
            <a:r>
              <a:t>Varias réplicas reducen algunos fallos, pero no garantizan que toda petición tenga éxito.</a:t>
            </a:r>
          </a:p>
          <a:p>
            <a:r>
              <a:t>Referencia: https://nginx.org/en/docs/http/ngx_http_proxy_module.html</a:t>
            </a:r>
          </a:p>
          <a:p>
            <a:r>
              <a:t>Referencia: https://nginx.org/en/docs/http/ngx_http_upstream_module.html</a:t>
            </a:r>
          </a:p>
          <a:p>
            <a:r>
              <a:t>fail_timeout determina tanto la ventana para contar fallos como el tiempo de exclusión. Con un único servidor se ignoran estos parámetros. Si no hay destinos utilizables, el cliente puede recibir un error.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Fuente: apuntes de la sesión «Proxy inverso y balanceo», revisión visual.</a:t>
            </a:r>
          </a:p>
          <a:p>
            <a:r>
              <a:t>El estado unhealthy no retira automáticamente una réplica de este Nginx.</a:t>
            </a:r>
          </a:p>
          <a:p>
            <a:r>
              <a:t>Referencia: https://nginx.org/en/docs/http/ngx_http_upstream_module.html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Fuente: apuntes de la sesión «Proxy inverso y balanceo». Infografía elaborada para esta sesión.</a:t>
            </a:r>
          </a:p>
          <a:p>
            <a:r>
              <a:t>La misma ruta dentro de cada contenedor no significa el mismo almacenamiento. Un volumen local común permite compartir archivos entre réplicas del mismo host.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Fuente: apuntes de la sesión «Proxy inverso y balanceo», revisión visual.</a:t>
            </a:r>
          </a:p>
          <a:p>
            <a:r>
              <a:t>Cada réplica monta el mismo volumen en la ruta que utiliza la aplicación.</a:t>
            </a:r>
          </a:p>
          <a:p>
            <a:r>
              <a:t>Fragmento centrado en montajes. Faltan imágenes y demás configuración. Si ya hay archivos locales, añadir un montaje no los reúne automáticamente: es necesario trasladarlos.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Fuente: apuntes de la sesión «Proxy inverso y balanceo», revisión visual.</a:t>
            </a:r>
          </a:p>
          <a:p>
            <a:r>
              <a:t>El estado que necesita cualquier réplica debe estar accesible desde todas ellas.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Fuente: apuntes de la sesión «Proxy inverso y balanceo», revisión visual.</a:t>
            </a:r>
          </a:p>
          <a:p>
            <a:r>
              <a:t>Siguiente sesión: HTTPS y control de acceso en Nginx.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Fuente: apuntes de la sesión «Proxy inverso y balanceo», revisión visual.</a:t>
            </a:r>
          </a:p>
          <a:p>
            <a:r>
              <a:t>En la actividad aplicaremos el patrón a varias réplicas de una aplicación.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3E676-1FAB-44FA-A602-3914DB721D48}"/>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6B92710A-BBBF-49A5-8290-1C261645F2EC}"/>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2E9DCEAF-E463-4814-9C3E-0C3FF5F3AEA3}"/>
              </a:ext>
            </a:extLst>
          </p:cNvPr>
          <p:cNvSpPr>
            <a:spLocks noGrp="1"/>
          </p:cNvSpPr>
          <p:nvPr>
            <p:ph type="dt" idx="10"/>
          </p:nvPr>
        </p:nvSpPr>
        <p:spPr/>
        <p:txBody>
          <a:bodyPr/>
          <a:lstStyle/>
          <a:p>
            <a:fld id="{5BCAD085-E8A6-8845-BD4E-CB4CCA059FC4}" type="datetimeFigureOut">
              <a:t>14/10/26</a:t>
            </a:fld>
            <a:endParaRPr/>
          </a:p>
        </p:txBody>
      </p:sp>
      <p:sp>
        <p:nvSpPr>
          <p:cNvPr id="5" name="Footer Placeholder 4">
            <a:extLst>
              <a:ext uri="{FF2B5EF4-FFF2-40B4-BE49-F238E27FC236}">
                <a16:creationId xmlns:a16="http://schemas.microsoft.com/office/drawing/2014/main" id="{FB4A6EDD-FE2E-4FCF-8287-0C7ACDA7C178}"/>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B436CB2B-2AAE-4CB6-AF27-CA7533E4BF8D}"/>
              </a:ext>
            </a:extLst>
          </p:cNvPr>
          <p:cNvSpPr>
            <a:spLocks noGrp="1"/>
          </p:cNvSpPr>
          <p:nvPr>
            <p:ph type="sldNum" idx="12"/>
          </p:nvPr>
        </p:nvSpPr>
        <p:spPr/>
        <p:txBody>
          <a:bodyPr/>
          <a:lstStyle/>
          <a:p>
            <a:fld id="{C1FF6DA9-008F-8B48-92A6-B652298478BF}"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FFBD6-C173-4683-8CF3-0D693F2FF91A}"/>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D70507CE-7059-494D-A1BB-6C2FEB045AA3}"/>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A0C48614-E7BA-4883-A1D5-E5A66D0CEBDD}"/>
              </a:ext>
            </a:extLst>
          </p:cNvPr>
          <p:cNvSpPr>
            <a:spLocks noGrp="1"/>
          </p:cNvSpPr>
          <p:nvPr>
            <p:ph type="dt" idx="10"/>
          </p:nvPr>
        </p:nvSpPr>
        <p:spPr/>
        <p:txBody>
          <a:bodyPr/>
          <a:lstStyle/>
          <a:p>
            <a:fld id="{5BCAD085-E8A6-8845-BD4E-CB4CCA059FC4}" type="datetimeFigureOut">
              <a:t>14/10/26</a:t>
            </a:fld>
            <a:endParaRPr/>
          </a:p>
        </p:txBody>
      </p:sp>
      <p:sp>
        <p:nvSpPr>
          <p:cNvPr id="5" name="Footer Placeholder 4">
            <a:extLst>
              <a:ext uri="{FF2B5EF4-FFF2-40B4-BE49-F238E27FC236}">
                <a16:creationId xmlns:a16="http://schemas.microsoft.com/office/drawing/2014/main" id="{AFBD03E2-A5ED-4767-ACB8-F588A28BF5F0}"/>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852468BD-0FEF-40A9-A781-7D03F5A8040D}"/>
              </a:ext>
            </a:extLst>
          </p:cNvPr>
          <p:cNvSpPr>
            <a:spLocks noGrp="1"/>
          </p:cNvSpPr>
          <p:nvPr>
            <p:ph type="sldNum" idx="12"/>
          </p:nvPr>
        </p:nvSpPr>
        <p:spPr/>
        <p:txBody>
          <a:bodyPr/>
          <a:lstStyle/>
          <a:p>
            <a:fld id="{C1FF6DA9-008F-8B48-92A6-B652298478BF}"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BF21B-9A04-4B4A-B242-E3FAA5AF3F57}"/>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573C19B3-A0D6-4EB6-9B81-63BA66776978}"/>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6217A5B5-5466-420B-B03F-3D9697F9FCF9}"/>
              </a:ext>
            </a:extLst>
          </p:cNvPr>
          <p:cNvSpPr>
            <a:spLocks noGrp="1"/>
          </p:cNvSpPr>
          <p:nvPr>
            <p:ph type="dt" idx="10"/>
          </p:nvPr>
        </p:nvSpPr>
        <p:spPr/>
        <p:txBody>
          <a:bodyPr/>
          <a:lstStyle/>
          <a:p>
            <a:fld id="{5BCAD085-E8A6-8845-BD4E-CB4CCA059FC4}" type="datetimeFigureOut">
              <a:t>14/10/26</a:t>
            </a:fld>
            <a:endParaRPr/>
          </a:p>
        </p:txBody>
      </p:sp>
      <p:sp>
        <p:nvSpPr>
          <p:cNvPr id="5" name="Footer Placeholder 4">
            <a:extLst>
              <a:ext uri="{FF2B5EF4-FFF2-40B4-BE49-F238E27FC236}">
                <a16:creationId xmlns:a16="http://schemas.microsoft.com/office/drawing/2014/main" id="{EBF1151C-8922-4B5F-A447-DBE805F53093}"/>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4AEA1159-543C-480F-A73A-24E0113C1CED}"/>
              </a:ext>
            </a:extLst>
          </p:cNvPr>
          <p:cNvSpPr>
            <a:spLocks noGrp="1"/>
          </p:cNvSpPr>
          <p:nvPr>
            <p:ph type="sldNum" idx="12"/>
          </p:nvPr>
        </p:nvSpPr>
        <p:spPr/>
        <p:txBody>
          <a:bodyPr/>
          <a:lstStyle/>
          <a:p>
            <a:fld id="{C1FF6DA9-008F-8B48-92A6-B652298478BF}"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B36BE-1F05-4AE3-9AB9-F1A1C0B77233}"/>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5EF6CEDE-621E-4BCA-9C87-31DF07CD660C}"/>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2358E7AB-25C7-4E89-B315-C98E41E43684}"/>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B1E0025E-D70F-4112-9706-A7CF7ADAF610}"/>
              </a:ext>
            </a:extLst>
          </p:cNvPr>
          <p:cNvSpPr>
            <a:spLocks noGrp="1"/>
          </p:cNvSpPr>
          <p:nvPr>
            <p:ph type="dt" idx="10"/>
          </p:nvPr>
        </p:nvSpPr>
        <p:spPr/>
        <p:txBody>
          <a:bodyPr/>
          <a:lstStyle/>
          <a:p>
            <a:fld id="{5BCAD085-E8A6-8845-BD4E-CB4CCA059FC4}" type="datetimeFigureOut">
              <a:t>14/10/26</a:t>
            </a:fld>
            <a:endParaRPr/>
          </a:p>
        </p:txBody>
      </p:sp>
      <p:sp>
        <p:nvSpPr>
          <p:cNvPr id="6" name="Footer Placeholder 5">
            <a:extLst>
              <a:ext uri="{FF2B5EF4-FFF2-40B4-BE49-F238E27FC236}">
                <a16:creationId xmlns:a16="http://schemas.microsoft.com/office/drawing/2014/main" id="{6C941C27-5407-4929-AD67-90851113F8BE}"/>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A30A9E29-4586-4171-8950-BEAF87699CB8}"/>
              </a:ext>
            </a:extLst>
          </p:cNvPr>
          <p:cNvSpPr>
            <a:spLocks noGrp="1"/>
          </p:cNvSpPr>
          <p:nvPr>
            <p:ph type="sldNum" idx="12"/>
          </p:nvPr>
        </p:nvSpPr>
        <p:spPr/>
        <p:txBody>
          <a:bodyPr/>
          <a:lstStyle/>
          <a:p>
            <a:fld id="{C1FF6DA9-008F-8B48-92A6-B652298478BF}" type="slidenum">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9FC61-F346-4588-BFC7-2C3B72ABB347}"/>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20A0BD8B-8C89-4316-AD16-14A2FCC1198D}"/>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09D06828-4517-4438-9909-2BADB4B89B4A}"/>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41730BED-B5A5-4FCD-8015-6FF22B4CEEE7}"/>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CF8D7670-63C5-42C5-8108-D798717967A9}"/>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624DE73F-096F-46B2-88D8-BAF7EE418F49}"/>
              </a:ext>
            </a:extLst>
          </p:cNvPr>
          <p:cNvSpPr>
            <a:spLocks noGrp="1"/>
          </p:cNvSpPr>
          <p:nvPr>
            <p:ph type="dt" idx="10"/>
          </p:nvPr>
        </p:nvSpPr>
        <p:spPr/>
        <p:txBody>
          <a:bodyPr/>
          <a:lstStyle/>
          <a:p>
            <a:fld id="{5BCAD085-E8A6-8845-BD4E-CB4CCA059FC4}" type="datetimeFigureOut">
              <a:t>14/10/26</a:t>
            </a:fld>
            <a:endParaRPr/>
          </a:p>
        </p:txBody>
      </p:sp>
      <p:sp>
        <p:nvSpPr>
          <p:cNvPr id="8" name="Footer Placeholder 7">
            <a:extLst>
              <a:ext uri="{FF2B5EF4-FFF2-40B4-BE49-F238E27FC236}">
                <a16:creationId xmlns:a16="http://schemas.microsoft.com/office/drawing/2014/main" id="{92E24F45-830B-4765-A6B1-558C91B1D58C}"/>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1655AEA9-7A34-4914-808B-B54897990269}"/>
              </a:ext>
            </a:extLst>
          </p:cNvPr>
          <p:cNvSpPr>
            <a:spLocks noGrp="1"/>
          </p:cNvSpPr>
          <p:nvPr>
            <p:ph type="sldNum" idx="12"/>
          </p:nvPr>
        </p:nvSpPr>
        <p:spPr/>
        <p:txBody>
          <a:bodyPr/>
          <a:lstStyle/>
          <a:p>
            <a:fld id="{C1FF6DA9-008F-8B48-92A6-B652298478BF}" type="slidenum">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F2E64-C0DF-4AF8-BF75-AA3310A84DA3}"/>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3A5E3017-892C-4F89-9E47-89B9594B297E}"/>
              </a:ext>
            </a:extLst>
          </p:cNvPr>
          <p:cNvSpPr>
            <a:spLocks noGrp="1"/>
          </p:cNvSpPr>
          <p:nvPr>
            <p:ph type="dt" idx="10"/>
          </p:nvPr>
        </p:nvSpPr>
        <p:spPr/>
        <p:txBody>
          <a:bodyPr/>
          <a:lstStyle/>
          <a:p>
            <a:fld id="{5BCAD085-E8A6-8845-BD4E-CB4CCA059FC4}" type="datetimeFigureOut">
              <a:t>14/10/26</a:t>
            </a:fld>
            <a:endParaRPr/>
          </a:p>
        </p:txBody>
      </p:sp>
      <p:sp>
        <p:nvSpPr>
          <p:cNvPr id="4" name="Footer Placeholder 3">
            <a:extLst>
              <a:ext uri="{FF2B5EF4-FFF2-40B4-BE49-F238E27FC236}">
                <a16:creationId xmlns:a16="http://schemas.microsoft.com/office/drawing/2014/main" id="{0E868BA8-E73B-491B-9559-0534B1F959FC}"/>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C61CBD9E-7C62-45DF-8F61-0C53632318EA}"/>
              </a:ext>
            </a:extLst>
          </p:cNvPr>
          <p:cNvSpPr>
            <a:spLocks noGrp="1"/>
          </p:cNvSpPr>
          <p:nvPr>
            <p:ph type="sldNum" idx="12"/>
          </p:nvPr>
        </p:nvSpPr>
        <p:spPr/>
        <p:txBody>
          <a:bodyPr/>
          <a:lstStyle/>
          <a:p>
            <a:fld id="{C1FF6DA9-008F-8B48-92A6-B652298478BF}" type="slidenum">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D182968-E7AA-4367-9028-11DF4D40EE37}"/>
              </a:ext>
            </a:extLst>
          </p:cNvPr>
          <p:cNvSpPr>
            <a:spLocks noGrp="1"/>
          </p:cNvSpPr>
          <p:nvPr>
            <p:ph type="dt" idx="10"/>
          </p:nvPr>
        </p:nvSpPr>
        <p:spPr/>
        <p:txBody>
          <a:bodyPr/>
          <a:lstStyle/>
          <a:p>
            <a:fld id="{5BCAD085-E8A6-8845-BD4E-CB4CCA059FC4}" type="datetimeFigureOut">
              <a:t>14/10/26</a:t>
            </a:fld>
            <a:endParaRPr/>
          </a:p>
        </p:txBody>
      </p:sp>
      <p:sp>
        <p:nvSpPr>
          <p:cNvPr id="3" name="Footer Placeholder 2">
            <a:extLst>
              <a:ext uri="{FF2B5EF4-FFF2-40B4-BE49-F238E27FC236}">
                <a16:creationId xmlns:a16="http://schemas.microsoft.com/office/drawing/2014/main" id="{79FDDE97-CAE9-48CA-AB43-37875AAEA940}"/>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A35B7609-5B83-4CAA-AA0F-E8695B723F75}"/>
              </a:ext>
            </a:extLst>
          </p:cNvPr>
          <p:cNvSpPr>
            <a:spLocks noGrp="1"/>
          </p:cNvSpPr>
          <p:nvPr>
            <p:ph type="sldNum" idx="12"/>
          </p:nvPr>
        </p:nvSpPr>
        <p:spPr/>
        <p:txBody>
          <a:bodyPr/>
          <a:lstStyle/>
          <a:p>
            <a:fld id="{C1FF6DA9-008F-8B48-92A6-B652298478BF}" type="slidenum">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161CC-628D-42C3-814F-7F0EFC2E8D96}"/>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F0F5B974-D895-4752-BA17-B297D30DC191}"/>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554D8F1A-389D-4E6D-8262-C9849861A83F}"/>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4827C240-6C4F-4319-8B9E-19FA244B5657}"/>
              </a:ext>
            </a:extLst>
          </p:cNvPr>
          <p:cNvSpPr>
            <a:spLocks noGrp="1"/>
          </p:cNvSpPr>
          <p:nvPr>
            <p:ph type="dt" idx="10"/>
          </p:nvPr>
        </p:nvSpPr>
        <p:spPr/>
        <p:txBody>
          <a:bodyPr/>
          <a:lstStyle/>
          <a:p>
            <a:fld id="{5BCAD085-E8A6-8845-BD4E-CB4CCA059FC4}" type="datetimeFigureOut">
              <a:t>14/10/26</a:t>
            </a:fld>
            <a:endParaRPr/>
          </a:p>
        </p:txBody>
      </p:sp>
      <p:sp>
        <p:nvSpPr>
          <p:cNvPr id="6" name="Footer Placeholder 5">
            <a:extLst>
              <a:ext uri="{FF2B5EF4-FFF2-40B4-BE49-F238E27FC236}">
                <a16:creationId xmlns:a16="http://schemas.microsoft.com/office/drawing/2014/main" id="{1F132E63-67A1-4E17-B308-2727D2B3E386}"/>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472FEFC4-63AB-4119-9886-B895908183DA}"/>
              </a:ext>
            </a:extLst>
          </p:cNvPr>
          <p:cNvSpPr>
            <a:spLocks noGrp="1"/>
          </p:cNvSpPr>
          <p:nvPr>
            <p:ph type="sldNum" idx="12"/>
          </p:nvPr>
        </p:nvSpPr>
        <p:spPr/>
        <p:txBody>
          <a:bodyPr/>
          <a:lstStyle/>
          <a:p>
            <a:fld id="{C1FF6DA9-008F-8B48-92A6-B652298478BF}" type="slidenum">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82105-D8BF-44F7-9EF5-5ACBA7123EE8}"/>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70BC60DF-AF15-4E39-BE68-C1B3AC22463D}"/>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D9A701B7-5B78-4935-8BEE-6B9B5F243381}"/>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5CF65A6A-E727-4067-A3DC-392A3106B94D}"/>
              </a:ext>
            </a:extLst>
          </p:cNvPr>
          <p:cNvSpPr>
            <a:spLocks noGrp="1"/>
          </p:cNvSpPr>
          <p:nvPr>
            <p:ph type="dt" idx="10"/>
          </p:nvPr>
        </p:nvSpPr>
        <p:spPr/>
        <p:txBody>
          <a:bodyPr/>
          <a:lstStyle/>
          <a:p>
            <a:fld id="{5BCAD085-E8A6-8845-BD4E-CB4CCA059FC4}" type="datetimeFigureOut">
              <a:t>14/10/26</a:t>
            </a:fld>
            <a:endParaRPr/>
          </a:p>
        </p:txBody>
      </p:sp>
      <p:sp>
        <p:nvSpPr>
          <p:cNvPr id="6" name="Footer Placeholder 5">
            <a:extLst>
              <a:ext uri="{FF2B5EF4-FFF2-40B4-BE49-F238E27FC236}">
                <a16:creationId xmlns:a16="http://schemas.microsoft.com/office/drawing/2014/main" id="{9122851F-8464-46E5-A2E3-0D84B7802D2A}"/>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32657F57-D7E7-4507-8C68-FB8EF23D7860}"/>
              </a:ext>
            </a:extLst>
          </p:cNvPr>
          <p:cNvSpPr>
            <a:spLocks noGrp="1"/>
          </p:cNvSpPr>
          <p:nvPr>
            <p:ph type="sldNum" idx="12"/>
          </p:nvPr>
        </p:nvSpPr>
        <p:spPr/>
        <p:txBody>
          <a:bodyPr/>
          <a:lstStyle/>
          <a:p>
            <a:fld id="{C1FF6DA9-008F-8B48-92A6-B652298478BF}" type="slidenum">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24766-5520-46CB-9F86-0A6CD64232AA}"/>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2E3773FF-FE91-48A4-A69E-B846DD0BDED8}"/>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6ECFCC09-B9DF-4BF2-B286-E8A475777CDA}"/>
              </a:ext>
            </a:extLst>
          </p:cNvPr>
          <p:cNvSpPr>
            <a:spLocks noGrp="1"/>
          </p:cNvSpPr>
          <p:nvPr>
            <p:ph type="dt" idx="10"/>
          </p:nvPr>
        </p:nvSpPr>
        <p:spPr/>
        <p:txBody>
          <a:bodyPr/>
          <a:lstStyle/>
          <a:p>
            <a:fld id="{5BCAD085-E8A6-8845-BD4E-CB4CCA059FC4}" type="datetimeFigureOut">
              <a:t>14/10/26</a:t>
            </a:fld>
            <a:endParaRPr/>
          </a:p>
        </p:txBody>
      </p:sp>
      <p:sp>
        <p:nvSpPr>
          <p:cNvPr id="5" name="Footer Placeholder 4">
            <a:extLst>
              <a:ext uri="{FF2B5EF4-FFF2-40B4-BE49-F238E27FC236}">
                <a16:creationId xmlns:a16="http://schemas.microsoft.com/office/drawing/2014/main" id="{248F7140-2E03-4467-B863-4975F376615D}"/>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88AD73E0-024E-41E4-9EDA-090AD2015E9C}"/>
              </a:ext>
            </a:extLst>
          </p:cNvPr>
          <p:cNvSpPr>
            <a:spLocks noGrp="1"/>
          </p:cNvSpPr>
          <p:nvPr>
            <p:ph type="sldNum" idx="12"/>
          </p:nvPr>
        </p:nvSpPr>
        <p:spPr/>
        <p:txBody>
          <a:bodyPr/>
          <a:lstStyle/>
          <a:p>
            <a:fld id="{C1FF6DA9-008F-8B48-92A6-B652298478BF}" type="slidenum">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152AADB-BBCE-4E93-B4DA-3BC360DC11F6}"/>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9D83BFEE-2C80-4F9E-B809-90401CF78DD9}"/>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AC831AB0-4495-4CD3-ADBD-BF4D2EDAF343}"/>
              </a:ext>
            </a:extLst>
          </p:cNvPr>
          <p:cNvSpPr>
            <a:spLocks noGrp="1"/>
          </p:cNvSpPr>
          <p:nvPr>
            <p:ph type="dt" idx="10"/>
          </p:nvPr>
        </p:nvSpPr>
        <p:spPr/>
        <p:txBody>
          <a:bodyPr/>
          <a:lstStyle/>
          <a:p>
            <a:fld id="{5BCAD085-E8A6-8845-BD4E-CB4CCA059FC4}" type="datetimeFigureOut">
              <a:t>14/10/26</a:t>
            </a:fld>
            <a:endParaRPr/>
          </a:p>
        </p:txBody>
      </p:sp>
      <p:sp>
        <p:nvSpPr>
          <p:cNvPr id="5" name="Footer Placeholder 4">
            <a:extLst>
              <a:ext uri="{FF2B5EF4-FFF2-40B4-BE49-F238E27FC236}">
                <a16:creationId xmlns:a16="http://schemas.microsoft.com/office/drawing/2014/main" id="{D4B4D1E7-0308-4415-9448-D4C2C504BBBF}"/>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ADD890FD-B9F2-4E59-B33A-D1D3561CC63A}"/>
              </a:ext>
            </a:extLst>
          </p:cNvPr>
          <p:cNvSpPr>
            <a:spLocks noGrp="1"/>
          </p:cNvSpPr>
          <p:nvPr>
            <p:ph type="sldNum" idx="12"/>
          </p:nvPr>
        </p:nvSpPr>
        <p:spPr/>
        <p:txBody>
          <a:bodyPr/>
          <a:lstStyle/>
          <a:p>
            <a:fld id="{C1FF6DA9-008F-8B48-92A6-B652298478BF}" type="slidenum">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C404B2-D7C9-46AD-8922-EB72BD29C796}"/>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8B160DC2-08EC-4C4E-AD8B-DF9B4C591EFB}"/>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61BE753B-A264-40DB-AB21-A58BDC48CD5E}"/>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t>14/10/26</a:t>
            </a:fld>
            <a:endParaRPr/>
          </a:p>
        </p:txBody>
      </p:sp>
      <p:sp>
        <p:nvSpPr>
          <p:cNvPr id="5" name="Footer Placeholder 4">
            <a:extLst>
              <a:ext uri="{FF2B5EF4-FFF2-40B4-BE49-F238E27FC236}">
                <a16:creationId xmlns:a16="http://schemas.microsoft.com/office/drawing/2014/main" id="{4A7D568C-6A7B-4505-9F7B-A4DD782556AA}"/>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91480E21-6533-450C-8489-9BC7BDE0B3F0}"/>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t>‹Nº›</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a:buChar char="•"/>
        <a:defRPr sz="3200" kern="1200">
          <a:solidFill>
            <a:schemeClr val="tx1"/>
          </a:solidFill>
          <a:latin typeface="+mn-lt"/>
          <a:ea typeface="+mn-lt"/>
          <a:cs typeface="+mn-lt"/>
        </a:defRPr>
      </a:lvl1pPr>
      <a:lvl2pPr marL="742950" indent="-285750" algn="l" defTabSz="457200">
        <a:spcBef>
          <a:spcPct val="20000"/>
        </a:spcBef>
        <a:buFont typeface="Arial"/>
        <a:buChar char="–"/>
        <a:defRPr sz="2800" kern="1200">
          <a:solidFill>
            <a:schemeClr val="tx1"/>
          </a:solidFill>
          <a:latin typeface="+mn-lt"/>
          <a:ea typeface="+mn-lt"/>
          <a:cs typeface="+mn-lt"/>
        </a:defRPr>
      </a:lvl2pPr>
      <a:lvl3pPr marL="1143000" indent="-228600" algn="l" defTabSz="457200">
        <a:spcBef>
          <a:spcPct val="20000"/>
        </a:spcBef>
        <a:buFont typeface="Arial"/>
        <a:buChar char="•"/>
        <a:defRPr sz="24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048448E-26C8-4D5E-B8E4-D7DB3ED19F4D}"/>
              </a:ext>
            </a:extLst>
          </p:cNvPr>
          <p:cNvSpPr>
            <a:spLocks noGrp="1"/>
          </p:cNvSpPr>
          <p:nvPr/>
        </p:nvSpPr>
        <p:spPr>
          <a:xfrm>
            <a:off x="0" y="0"/>
            <a:ext cx="7680960" cy="6858000"/>
          </a:xfrm>
          <a:prstGeom prst="rect">
            <a:avLst/>
          </a:prstGeom>
          <a:solidFill>
            <a:srgbClr val="055640"/>
          </a:solidFill>
          <a:ln>
            <a:solidFill>
              <a:srgbClr val="05564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3" name="Picture 2">
            <a:extLst>
              <a:ext uri="{FF2B5EF4-FFF2-40B4-BE49-F238E27FC236}">
                <a16:creationId xmlns:a16="http://schemas.microsoft.com/office/drawing/2014/main" id="{647D8E12-E6D7-45E3-B540-21E6DFCA5445}"/>
              </a:ext>
            </a:extLst>
          </p:cNvPr>
          <p:cNvPicPr>
            <a:picLocks noChangeAspect="1"/>
          </p:cNvPicPr>
          <p:nvPr/>
        </p:nvPicPr>
        <p:blipFill>
          <a:blip r:embed="rId3"/>
          <a:stretch>
            <a:fillRect/>
          </a:stretch>
        </p:blipFill>
        <p:spPr>
          <a:xfrm>
            <a:off x="7818120" y="0"/>
            <a:ext cx="5143500" cy="6858000"/>
          </a:xfrm>
          <a:prstGeom prst="rect">
            <a:avLst/>
          </a:prstGeom>
        </p:spPr>
      </p:pic>
      <p:sp>
        <p:nvSpPr>
          <p:cNvPr id="5" name="TextBox 4">
            <a:extLst>
              <a:ext uri="{FF2B5EF4-FFF2-40B4-BE49-F238E27FC236}">
                <a16:creationId xmlns:a16="http://schemas.microsoft.com/office/drawing/2014/main" id="{220A24F7-5FFB-4A5F-A49F-80C7588A9FFE}"/>
              </a:ext>
            </a:extLst>
          </p:cNvPr>
          <p:cNvSpPr>
            <a:spLocks noGrp="1"/>
          </p:cNvSpPr>
          <p:nvPr/>
        </p:nvSpPr>
        <p:spPr>
          <a:xfrm>
            <a:off x="685800" y="1828800"/>
            <a:ext cx="5852160" cy="1295400"/>
          </a:xfrm>
          <a:prstGeom prst="rect">
            <a:avLst/>
          </a:prstGeom>
          <a:noFill/>
        </p:spPr>
        <p:txBody>
          <a:bodyPr wrap="square" lIns="38100" tIns="38100" rIns="38100" bIns="38100" anchor="t">
            <a:spAutoFit/>
          </a:bodyPr>
          <a:lstStyle/>
          <a:p>
            <a:pPr algn="l">
              <a:buNone/>
            </a:pPr>
            <a:r>
              <a:rPr sz="4000" b="1" i="0">
                <a:solidFill>
                  <a:srgbClr val="FFFFFF"/>
                </a:solidFill>
                <a:latin typeface="Arial"/>
                <a:ea typeface="Arial"/>
                <a:cs typeface="Arial"/>
              </a:rPr>
              <a:t>Proxy inverso</a:t>
            </a:r>
          </a:p>
          <a:p>
            <a:pPr algn="l">
              <a:buNone/>
            </a:pPr>
            <a:r>
              <a:rPr sz="4000" b="1" i="0">
                <a:solidFill>
                  <a:srgbClr val="FFFFFF"/>
                </a:solidFill>
                <a:latin typeface="Arial"/>
                <a:ea typeface="Arial"/>
                <a:cs typeface="Arial"/>
              </a:rPr>
              <a:t>y balanceo</a:t>
            </a:r>
          </a:p>
        </p:txBody>
      </p:sp>
      <p:sp>
        <p:nvSpPr>
          <p:cNvPr id="11" name="Text 0">
            <a:extLst>
              <a:ext uri="{FF2B5EF4-FFF2-40B4-BE49-F238E27FC236}">
                <a16:creationId xmlns:a16="http://schemas.microsoft.com/office/drawing/2014/main" id="{29CB873E-685B-674F-42EF-2BCBE16E595D}"/>
              </a:ext>
            </a:extLst>
          </p:cNvPr>
          <p:cNvSpPr>
            <a:spLocks noGrp="1"/>
          </p:cNvSpPr>
          <p:nvPr/>
        </p:nvSpPr>
        <p:spPr>
          <a:xfrm>
            <a:off x="548640" y="502920"/>
            <a:ext cx="11091240" cy="411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buNone/>
              <a:tabLst>
                <a:tab pos="0" algn="l"/>
              </a:tabLst>
            </a:pPr>
            <a:r>
              <a:rPr sz="1400" b="0" u="none" strike="noStrike">
                <a:solidFill>
                  <a:srgbClr val="B2DFDB"/>
                </a:solidFill>
                <a:latin typeface="Arial"/>
                <a:ea typeface="Arial"/>
                <a:cs typeface="Arial"/>
              </a:rPr>
              <a:t>DESPLIEGUE DE APLICACIONES WEB  —  CURSO 2026/2027</a:t>
            </a:r>
            <a:endParaRPr sz="1400" b="0" u="none" strike="noStrike">
              <a:solidFill>
                <a:srgbClr val="FFFFFF"/>
              </a:solidFill>
              <a:latin typeface="Arial"/>
              <a:ea typeface="Arial"/>
              <a:cs typeface="Arial"/>
            </a:endParaRPr>
          </a:p>
        </p:txBody>
      </p:sp>
      <p:sp>
        <p:nvSpPr>
          <p:cNvPr id="15" name="Shape 2">
            <a:extLst>
              <a:ext uri="{FF2B5EF4-FFF2-40B4-BE49-F238E27FC236}">
                <a16:creationId xmlns:a16="http://schemas.microsoft.com/office/drawing/2014/main" id="{8D19E44C-8D7D-DC4C-F500-8F8435DC93E3}"/>
              </a:ext>
            </a:extLst>
          </p:cNvPr>
          <p:cNvSpPr>
            <a:spLocks noGrp="1"/>
          </p:cNvSpPr>
          <p:nvPr/>
        </p:nvSpPr>
        <p:spPr>
          <a:xfrm>
            <a:off x="0" y="5120640"/>
            <a:ext cx="7954920" cy="914040"/>
          </a:xfrm>
          <a:prstGeom prst="rect">
            <a:avLst/>
          </a:prstGeom>
          <a:solidFill>
            <a:srgbClr val="00ACC1"/>
          </a:solidFill>
          <a:ln w="12700">
            <a:solidFill>
              <a:srgbClr val="00ACC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strike="noStrike">
              <a:solidFill>
                <a:srgbClr val="FFFFFF"/>
              </a:solidFill>
              <a:latin typeface="Arial"/>
              <a:ea typeface="Arial"/>
              <a:cs typeface="Arial"/>
            </a:endParaRPr>
          </a:p>
        </p:txBody>
      </p:sp>
      <p:sp>
        <p:nvSpPr>
          <p:cNvPr id="17" name="Text 3">
            <a:extLst>
              <a:ext uri="{FF2B5EF4-FFF2-40B4-BE49-F238E27FC236}">
                <a16:creationId xmlns:a16="http://schemas.microsoft.com/office/drawing/2014/main" id="{6E3D37BB-2692-A6BF-8485-3C8D15DF0F71}"/>
              </a:ext>
            </a:extLst>
          </p:cNvPr>
          <p:cNvSpPr>
            <a:spLocks noGrp="1"/>
          </p:cNvSpPr>
          <p:nvPr/>
        </p:nvSpPr>
        <p:spPr>
          <a:xfrm>
            <a:off x="548640" y="5120640"/>
            <a:ext cx="6857640" cy="914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buNone/>
              <a:tabLst>
                <a:tab pos="0" algn="l"/>
              </a:tabLst>
            </a:pPr>
            <a:r>
              <a:rPr sz="2000" b="0" i="1" u="none" strike="noStrike">
                <a:solidFill>
                  <a:srgbClr val="FFFFFF"/>
                </a:solidFill>
                <a:latin typeface="Arial"/>
                <a:ea typeface="Arial"/>
                <a:cs typeface="Arial"/>
              </a:rPr>
              <a:t>Tema 3 — Publicación y ejecución de aplicaciones web</a:t>
            </a:r>
          </a:p>
        </p:txBody>
      </p:sp>
    </p:spTree>
    <p:extLst>
      <p:ext uri="{BB962C8B-B14F-4D97-AF65-F5344CB8AC3E}">
        <p14:creationId xmlns:p14="http://schemas.microsoft.com/office/powerpoint/2010/main" val="3085390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Shape 18">
            <a:extLst>
              <a:ext uri="{FF2B5EF4-FFF2-40B4-BE49-F238E27FC236}">
                <a16:creationId xmlns:a16="http://schemas.microsoft.com/office/drawing/2014/main" id="{A21D1190-F64E-B2BC-A6FE-78AF0EBF8949}"/>
              </a:ext>
            </a:extLst>
          </p:cNvPr>
          <p:cNvSpPr>
            <a:spLocks noGrp="1"/>
          </p:cNvSpPr>
          <p:nvPr/>
        </p:nvSpPr>
        <p:spPr>
          <a:xfrm>
            <a:off x="860282" y="5463540"/>
            <a:ext cx="10718044" cy="594000"/>
          </a:xfrm>
          <a:prstGeom prst="roundRect">
            <a:avLst>
              <a:gd name="adj" fmla="val 12308"/>
            </a:avLst>
          </a:prstGeom>
          <a:solidFill>
            <a:srgbClr val="FFFDE7"/>
          </a:solidFill>
          <a:ln w="16510">
            <a:solidFill>
              <a:srgbClr val="00ACC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strike="noStrike">
              <a:solidFill>
                <a:srgbClr val="000000"/>
              </a:solidFill>
              <a:latin typeface="Arial"/>
              <a:ea typeface="Arial"/>
              <a:cs typeface="Arial"/>
            </a:endParaRPr>
          </a:p>
        </p:txBody>
      </p:sp>
      <p:sp>
        <p:nvSpPr>
          <p:cNvPr id="33" name="TextBox 32">
            <a:extLst>
              <a:ext uri="{FF2B5EF4-FFF2-40B4-BE49-F238E27FC236}">
                <a16:creationId xmlns:a16="http://schemas.microsoft.com/office/drawing/2014/main" id="{31F66DA7-F80E-EED7-7362-A84C5F1E2B57}"/>
              </a:ext>
            </a:extLst>
          </p:cNvPr>
          <p:cNvSpPr>
            <a:spLocks noGrp="1"/>
          </p:cNvSpPr>
          <p:nvPr/>
        </p:nvSpPr>
        <p:spPr>
          <a:xfrm>
            <a:off x="937260" y="5578670"/>
            <a:ext cx="10564088" cy="213360"/>
          </a:xfrm>
          <a:prstGeom prst="rect">
            <a:avLst/>
          </a:prstGeom>
          <a:noFill/>
        </p:spPr>
        <p:txBody>
          <a:bodyPr wrap="square" lIns="0" tIns="0" rIns="0" bIns="0" anchor="ctr">
            <a:spAutoFit/>
          </a:bodyPr>
          <a:lstStyle>
            <a:defPPr algn="ctr">
              <a:defRPr sz="1400">
                <a:solidFill>
                  <a:srgbClr val="18365F"/>
                </a:solidFill>
                <a:latin typeface="Arial"/>
                <a:ea typeface="Arial"/>
                <a:cs typeface="Arial"/>
              </a:defRPr>
            </a:defPPr>
          </a:lstStyle>
          <a:p>
            <a:pPr algn="ctr">
              <a:buNone/>
              <a:defRPr sz="1400">
                <a:solidFill>
                  <a:srgbClr val="18365F"/>
                </a:solidFill>
                <a:latin typeface="Arial"/>
                <a:ea typeface="Arial"/>
                <a:cs typeface="Arial"/>
              </a:defRPr>
            </a:pPr>
            <a:r>
              <a:rPr sz="1400">
                <a:solidFill>
                  <a:srgbClr val="18365F"/>
                </a:solidFill>
                <a:latin typeface="Arial"/>
                <a:ea typeface="Arial"/>
                <a:cs typeface="Arial"/>
              </a:rPr>
              <a:t>Una entrada pública puede atender peticiones mediante varias aplicaciones internas.</a:t>
            </a:r>
          </a:p>
        </p:txBody>
      </p:sp>
      <p:sp>
        <p:nvSpPr>
          <p:cNvPr id="35" name="TextBox 34">
            <a:extLst>
              <a:ext uri="{FF2B5EF4-FFF2-40B4-BE49-F238E27FC236}">
                <a16:creationId xmlns:a16="http://schemas.microsoft.com/office/drawing/2014/main" id="{847ED172-986B-1F4B-A572-EC07E15E9547}"/>
              </a:ext>
            </a:extLst>
          </p:cNvPr>
          <p:cNvSpPr>
            <a:spLocks noGrp="1"/>
          </p:cNvSpPr>
          <p:nvPr/>
        </p:nvSpPr>
        <p:spPr>
          <a:xfrm>
            <a:off x="11734495" y="6601968"/>
            <a:ext cx="256032" cy="114300"/>
          </a:xfrm>
          <a:prstGeom prst="rect">
            <a:avLst/>
          </a:prstGeom>
          <a:noFill/>
        </p:spPr>
        <p:txBody>
          <a:bodyPr wrap="square" lIns="0" tIns="0" rIns="0" bIns="0" anchor="t">
            <a:spAutoFit/>
          </a:bodyPr>
          <a:lstStyle>
            <a:defPPr>
              <a:defRPr sz="750">
                <a:solidFill>
                  <a:srgbClr val="737C84"/>
                </a:solidFill>
                <a:latin typeface="Arial"/>
                <a:ea typeface="Arial"/>
                <a:cs typeface="Arial"/>
              </a:defRPr>
            </a:defPPr>
          </a:lstStyle>
          <a:p>
            <a:pPr algn="r">
              <a:buNone/>
              <a:defRPr sz="750">
                <a:solidFill>
                  <a:srgbClr val="737C84"/>
                </a:solidFill>
                <a:latin typeface="Arial"/>
                <a:ea typeface="Arial"/>
                <a:cs typeface="Arial"/>
              </a:defRPr>
            </a:pPr>
            <a:r>
              <a:rPr sz="750" b="0" i="0">
                <a:solidFill>
                  <a:srgbClr val="737C84"/>
                </a:solidFill>
                <a:latin typeface="Arial"/>
                <a:ea typeface="Arial"/>
                <a:cs typeface="Arial"/>
              </a:rPr>
              <a:t>2</a:t>
            </a:r>
          </a:p>
        </p:txBody>
      </p:sp>
      <p:sp>
        <p:nvSpPr>
          <p:cNvPr id="43" name="Text 2">
            <a:extLst>
              <a:ext uri="{FF2B5EF4-FFF2-40B4-BE49-F238E27FC236}">
                <a16:creationId xmlns:a16="http://schemas.microsoft.com/office/drawing/2014/main" id="{A742CC06-271C-8A14-EE0E-4886B7BFD265}"/>
              </a:ext>
            </a:extLst>
          </p:cNvPr>
          <p:cNvSpPr>
            <a:spLocks noGrp="1"/>
          </p:cNvSpPr>
          <p:nvPr/>
        </p:nvSpPr>
        <p:spPr>
          <a:xfrm>
            <a:off x="548640" y="6492240"/>
            <a:ext cx="11091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defPPr algn="r">
              <a:defRPr sz="1050">
                <a:solidFill>
                  <a:srgbClr val="757575"/>
                </a:solidFill>
                <a:latin typeface="Arial"/>
                <a:ea typeface="Arial"/>
                <a:cs typeface="Arial"/>
              </a:defRPr>
            </a:defPPr>
          </a:lstStyle>
          <a:p>
            <a:pPr algn="r">
              <a:buNone/>
              <a:tabLst>
                <a:tab pos="0" algn="l"/>
              </a:tabLst>
              <a:defRPr sz="1050">
                <a:solidFill>
                  <a:srgbClr val="757575"/>
                </a:solidFill>
                <a:latin typeface="Arial"/>
                <a:ea typeface="Arial"/>
                <a:cs typeface="Arial"/>
              </a:defRPr>
            </a:pPr>
            <a:r>
              <a:rPr sz="1050" b="0" u="none" strike="noStrike">
                <a:solidFill>
                  <a:srgbClr val="757575"/>
                </a:solidFill>
                <a:latin typeface="Arial"/>
                <a:ea typeface="Arial"/>
                <a:cs typeface="Arial"/>
              </a:rPr>
              <a:t>DAW — Tema 3: Publicación y ejecución de aplicaciones web</a:t>
            </a:r>
            <a:endParaRPr sz="1050" b="0" u="none" strike="noStrike">
              <a:solidFill>
                <a:srgbClr val="000000"/>
              </a:solidFill>
              <a:latin typeface="Arial"/>
              <a:ea typeface="Arial"/>
              <a:cs typeface="Arial"/>
            </a:endParaRPr>
          </a:p>
        </p:txBody>
      </p:sp>
      <p:sp>
        <p:nvSpPr>
          <p:cNvPr id="45" name="Shape 0">
            <a:extLst>
              <a:ext uri="{FF2B5EF4-FFF2-40B4-BE49-F238E27FC236}">
                <a16:creationId xmlns:a16="http://schemas.microsoft.com/office/drawing/2014/main" id="{6EA75EBC-A260-30AE-F0D3-DA414F41C6C8}"/>
              </a:ext>
            </a:extLst>
          </p:cNvPr>
          <p:cNvSpPr>
            <a:spLocks noGrp="1"/>
          </p:cNvSpPr>
          <p:nvPr/>
        </p:nvSpPr>
        <p:spPr>
          <a:xfrm>
            <a:off x="0" y="0"/>
            <a:ext cx="12188520" cy="776880"/>
          </a:xfrm>
          <a:prstGeom prst="rect">
            <a:avLst/>
          </a:prstGeom>
          <a:solidFill>
            <a:srgbClr val="004D40"/>
          </a:solidFill>
          <a:ln w="12700">
            <a:solidFill>
              <a:srgbClr val="004D4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strike="noStrike">
              <a:solidFill>
                <a:srgbClr val="FFFFFF"/>
              </a:solidFill>
              <a:latin typeface="Arial"/>
              <a:ea typeface="Arial"/>
              <a:cs typeface="Arial"/>
            </a:endParaRPr>
          </a:p>
        </p:txBody>
      </p:sp>
      <p:sp>
        <p:nvSpPr>
          <p:cNvPr id="47" name="Text 1">
            <a:extLst>
              <a:ext uri="{FF2B5EF4-FFF2-40B4-BE49-F238E27FC236}">
                <a16:creationId xmlns:a16="http://schemas.microsoft.com/office/drawing/2014/main" id="{A6130689-1879-EB68-E5CC-55B4B8D469DE}"/>
              </a:ext>
            </a:extLst>
          </p:cNvPr>
          <p:cNvSpPr>
            <a:spLocks noGrp="1"/>
          </p:cNvSpPr>
          <p:nvPr/>
        </p:nvSpPr>
        <p:spPr>
          <a:xfrm>
            <a:off x="384120" y="18360"/>
            <a:ext cx="1142064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defPPr>
              <a:defRPr sz="2500" b="1">
                <a:solidFill>
                  <a:srgbClr val="FFFFFF"/>
                </a:solidFill>
                <a:latin typeface="Arial"/>
                <a:ea typeface="Arial"/>
                <a:cs typeface="Arial"/>
              </a:defRPr>
            </a:defPPr>
          </a:lstStyle>
          <a:p>
            <a:pPr defTabSz="914400">
              <a:lnSpc>
                <a:spcPct val="100000"/>
              </a:lnSpc>
              <a:buNone/>
              <a:tabLst>
                <a:tab pos="0" algn="l"/>
              </a:tabLst>
              <a:defRPr sz="2500" b="1">
                <a:solidFill>
                  <a:srgbClr val="FFFFFF"/>
                </a:solidFill>
                <a:latin typeface="Arial"/>
                <a:ea typeface="Arial"/>
                <a:cs typeface="Arial"/>
              </a:defRPr>
            </a:pPr>
            <a:r>
              <a:rPr sz="2500" b="1" u="none" strike="noStrike">
                <a:solidFill>
                  <a:srgbClr val="FFFFFF"/>
                </a:solidFill>
                <a:latin typeface="Arial"/>
                <a:ea typeface="Arial"/>
                <a:cs typeface="Arial"/>
              </a:rPr>
              <a:t>Objetivo de la sesión</a:t>
            </a:r>
          </a:p>
        </p:txBody>
      </p:sp>
      <p:sp>
        <p:nvSpPr>
          <p:cNvPr id="48" name="Rectángulo redondeado 47">
            <a:extLst>
              <a:ext uri="{FF2B5EF4-FFF2-40B4-BE49-F238E27FC236}">
                <a16:creationId xmlns:a16="http://schemas.microsoft.com/office/drawing/2014/main" id="{87CCBCB1-0E07-4D33-9D93-37881D089DB4}"/>
              </a:ext>
            </a:extLst>
          </p:cNvPr>
          <p:cNvSpPr>
            <a:spLocks noGrp="1"/>
          </p:cNvSpPr>
          <p:nvPr/>
        </p:nvSpPr>
        <p:spPr>
          <a:xfrm>
            <a:off x="914400" y="1381125"/>
            <a:ext cx="4895850" cy="3400425"/>
          </a:xfrm>
          <a:prstGeom prst="roundRect">
            <a:avLst>
              <a:gd name="adj" fmla="val 2241"/>
            </a:avLst>
          </a:prstGeom>
          <a:solidFill>
            <a:srgbClr val="E9F1FA"/>
          </a:solidFill>
          <a:ln w="9525">
            <a:solidFill>
              <a:srgbClr val="AFD2C9"/>
            </a:solidFill>
          </a:ln>
        </p:spPr>
        <p:txBody>
          <a:bodyPr lIns="171450" tIns="171450" rIns="171450" bIns="171450" anchor="t"/>
          <a:lstStyle>
            <a:defPPr algn="l">
              <a:defRPr sz="1650" b="0">
                <a:solidFill>
                  <a:srgbClr val="313A44"/>
                </a:solidFill>
                <a:latin typeface="Arial"/>
                <a:ea typeface="Arial"/>
                <a:cs typeface="Arial"/>
              </a:defRPr>
            </a:defPPr>
          </a:lstStyle>
          <a:p>
            <a:endParaRPr/>
          </a:p>
        </p:txBody>
      </p:sp>
      <p:sp>
        <p:nvSpPr>
          <p:cNvPr id="49" name="Rectángulo 48">
            <a:extLst>
              <a:ext uri="{FF2B5EF4-FFF2-40B4-BE49-F238E27FC236}">
                <a16:creationId xmlns:a16="http://schemas.microsoft.com/office/drawing/2014/main" id="{A6F9BEE8-A0F7-4AD3-B869-E8C957A799F2}"/>
              </a:ext>
            </a:extLst>
          </p:cNvPr>
          <p:cNvSpPr>
            <a:spLocks noGrp="1"/>
          </p:cNvSpPr>
          <p:nvPr/>
        </p:nvSpPr>
        <p:spPr>
          <a:xfrm>
            <a:off x="914400" y="1381125"/>
            <a:ext cx="4895850" cy="400050"/>
          </a:xfrm>
          <a:prstGeom prst="rect">
            <a:avLst/>
          </a:prstGeom>
          <a:solidFill>
            <a:srgbClr val="3B82F6"/>
          </a:solidFill>
          <a:ln w="0">
            <a:noFill/>
          </a:ln>
        </p:spPr>
        <p:txBody>
          <a:bodyPr/>
          <a:lstStyle/>
          <a:p>
            <a:endParaRPr lang="es-ES"/>
          </a:p>
        </p:txBody>
      </p:sp>
      <p:sp>
        <p:nvSpPr>
          <p:cNvPr id="50" name="Punto de partida">
            <a:extLst>
              <a:ext uri="{FF2B5EF4-FFF2-40B4-BE49-F238E27FC236}">
                <a16:creationId xmlns:a16="http://schemas.microsoft.com/office/drawing/2014/main" id="{A8FD35C5-1786-466A-BFBA-24CCB994C847}"/>
              </a:ext>
            </a:extLst>
          </p:cNvPr>
          <p:cNvSpPr>
            <a:spLocks noGrp="1"/>
          </p:cNvSpPr>
          <p:nvPr/>
        </p:nvSpPr>
        <p:spPr>
          <a:xfrm>
            <a:off x="1066800" y="1466850"/>
            <a:ext cx="4591050" cy="285750"/>
          </a:xfrm>
          <a:prstGeom prst="rect">
            <a:avLst/>
          </a:prstGeom>
          <a:noFill/>
          <a:ln w="0">
            <a:noFill/>
          </a:ln>
        </p:spPr>
        <p:txBody>
          <a:bodyPr lIns="0" tIns="0" rIns="0" bIns="0" anchor="t"/>
          <a:lstStyle>
            <a:defPPr algn="l">
              <a:defRPr sz="1650" b="1">
                <a:solidFill>
                  <a:srgbClr val="FFFFFF"/>
                </a:solidFill>
                <a:latin typeface="Arial"/>
                <a:ea typeface="Arial"/>
                <a:cs typeface="Arial"/>
              </a:defRPr>
            </a:defPPr>
          </a:lstStyle>
          <a:p>
            <a:pPr algn="l">
              <a:defRPr sz="1650" b="1">
                <a:solidFill>
                  <a:srgbClr val="FFFFFF"/>
                </a:solidFill>
                <a:latin typeface="Arial"/>
                <a:ea typeface="Arial"/>
                <a:cs typeface="Arial"/>
              </a:defRPr>
            </a:pPr>
            <a:r>
              <a:rPr sz="1650" b="1">
                <a:solidFill>
                  <a:srgbClr val="FFFFFF"/>
                </a:solidFill>
                <a:latin typeface="Arial"/>
                <a:ea typeface="Arial"/>
                <a:cs typeface="Arial"/>
              </a:rPr>
              <a:t>Punto de partida</a:t>
            </a:r>
          </a:p>
        </p:txBody>
      </p:sp>
      <p:sp>
        <p:nvSpPr>
          <p:cNvPr id="51" name="Nginx sirve archivos y recibe las conexi">
            <a:extLst>
              <a:ext uri="{FF2B5EF4-FFF2-40B4-BE49-F238E27FC236}">
                <a16:creationId xmlns:a16="http://schemas.microsoft.com/office/drawing/2014/main" id="{918D4328-C66D-463E-83D5-BCFE1EC4E626}"/>
              </a:ext>
            </a:extLst>
          </p:cNvPr>
          <p:cNvSpPr>
            <a:spLocks noGrp="1"/>
          </p:cNvSpPr>
          <p:nvPr/>
        </p:nvSpPr>
        <p:spPr>
          <a:xfrm>
            <a:off x="1123950" y="1971675"/>
            <a:ext cx="4476750" cy="2657475"/>
          </a:xfrm>
          <a:prstGeom prst="rect">
            <a:avLst/>
          </a:prstGeom>
          <a:noFill/>
          <a:ln w="0">
            <a:noFill/>
          </a:ln>
        </p:spPr>
        <p:txBody>
          <a:bodyPr lIns="0" tIns="0" rIns="0" bIns="0" anchor="t"/>
          <a:lstStyle>
            <a:defPPr algn="l">
              <a:defRPr sz="1650" b="0">
                <a:solidFill>
                  <a:srgbClr val="313A44"/>
                </a:solidFill>
                <a:latin typeface="Arial"/>
                <a:ea typeface="Arial"/>
                <a:cs typeface="Arial"/>
              </a:defRPr>
            </a:defPPr>
          </a:lstStyle>
          <a:p>
            <a:pPr algn="l">
              <a:defRPr sz="1650" b="0">
                <a:solidFill>
                  <a:srgbClr val="313A44"/>
                </a:solidFill>
                <a:latin typeface="Arial"/>
                <a:ea typeface="Arial"/>
                <a:cs typeface="Arial"/>
              </a:defRPr>
            </a:pPr>
            <a:r>
              <a:rPr sz="1650" b="0">
                <a:solidFill>
                  <a:srgbClr val="313A44"/>
                </a:solidFill>
                <a:latin typeface="Arial"/>
                <a:ea typeface="Arial"/>
                <a:cs typeface="Arial"/>
              </a:rPr>
              <a:t>Nginx sirve archivos y recibe las conexiones públicas.</a:t>
            </a:r>
          </a:p>
          <a:p>
            <a:endParaRPr sz="1650" b="0">
              <a:solidFill>
                <a:srgbClr val="313A44"/>
              </a:solidFill>
              <a:latin typeface="Arial"/>
              <a:ea typeface="Arial"/>
              <a:cs typeface="Arial"/>
            </a:endParaRPr>
          </a:p>
          <a:p>
            <a:pPr algn="l">
              <a:defRPr sz="1650" b="0">
                <a:solidFill>
                  <a:srgbClr val="313A44"/>
                </a:solidFill>
                <a:latin typeface="Arial"/>
                <a:ea typeface="Arial"/>
                <a:cs typeface="Arial"/>
              </a:defRPr>
            </a:pPr>
            <a:r>
              <a:rPr sz="1650" b="0">
                <a:solidFill>
                  <a:srgbClr val="313A44"/>
                </a:solidFill>
                <a:latin typeface="Arial"/>
                <a:ea typeface="Arial"/>
                <a:cs typeface="Arial"/>
              </a:rPr>
              <a:t>La aplicación atiende peticiones HTTP en su puerto interno.</a:t>
            </a:r>
          </a:p>
        </p:txBody>
      </p:sp>
      <p:sp>
        <p:nvSpPr>
          <p:cNvPr id="52" name="Rectángulo redondeado 51">
            <a:extLst>
              <a:ext uri="{FF2B5EF4-FFF2-40B4-BE49-F238E27FC236}">
                <a16:creationId xmlns:a16="http://schemas.microsoft.com/office/drawing/2014/main" id="{2FF2A15D-CBF1-4B34-9728-D4CFBA6AFE76}"/>
              </a:ext>
            </a:extLst>
          </p:cNvPr>
          <p:cNvSpPr>
            <a:spLocks noGrp="1"/>
          </p:cNvSpPr>
          <p:nvPr/>
        </p:nvSpPr>
        <p:spPr>
          <a:xfrm>
            <a:off x="6381750" y="1381125"/>
            <a:ext cx="4895850" cy="3400425"/>
          </a:xfrm>
          <a:prstGeom prst="roundRect">
            <a:avLst>
              <a:gd name="adj" fmla="val 2241"/>
            </a:avLst>
          </a:prstGeom>
          <a:solidFill>
            <a:srgbClr val="E8F6F0"/>
          </a:solidFill>
          <a:ln w="9525">
            <a:solidFill>
              <a:srgbClr val="AFD2C9"/>
            </a:solidFill>
          </a:ln>
        </p:spPr>
        <p:txBody>
          <a:bodyPr lIns="171450" tIns="171450" rIns="171450" bIns="171450" anchor="t"/>
          <a:lstStyle>
            <a:defPPr algn="l">
              <a:defRPr sz="1650" b="0">
                <a:solidFill>
                  <a:srgbClr val="313A44"/>
                </a:solidFill>
                <a:latin typeface="Arial"/>
                <a:ea typeface="Arial"/>
                <a:cs typeface="Arial"/>
              </a:defRPr>
            </a:defPPr>
          </a:lstStyle>
          <a:p>
            <a:endParaRPr/>
          </a:p>
        </p:txBody>
      </p:sp>
      <p:sp>
        <p:nvSpPr>
          <p:cNvPr id="53" name="Rectángulo 52">
            <a:extLst>
              <a:ext uri="{FF2B5EF4-FFF2-40B4-BE49-F238E27FC236}">
                <a16:creationId xmlns:a16="http://schemas.microsoft.com/office/drawing/2014/main" id="{C1B872D1-95B9-43DC-A4EA-961F3F579204}"/>
              </a:ext>
            </a:extLst>
          </p:cNvPr>
          <p:cNvSpPr>
            <a:spLocks noGrp="1"/>
          </p:cNvSpPr>
          <p:nvPr/>
        </p:nvSpPr>
        <p:spPr>
          <a:xfrm>
            <a:off x="6381750" y="1381125"/>
            <a:ext cx="4895850" cy="400050"/>
          </a:xfrm>
          <a:prstGeom prst="rect">
            <a:avLst/>
          </a:prstGeom>
          <a:solidFill>
            <a:srgbClr val="004D40"/>
          </a:solidFill>
          <a:ln w="0">
            <a:noFill/>
          </a:ln>
        </p:spPr>
        <p:txBody>
          <a:bodyPr/>
          <a:lstStyle/>
          <a:p>
            <a:endParaRPr lang="es-ES"/>
          </a:p>
        </p:txBody>
      </p:sp>
      <p:sp>
        <p:nvSpPr>
          <p:cNvPr id="54" name="Qué incorporamos">
            <a:extLst>
              <a:ext uri="{FF2B5EF4-FFF2-40B4-BE49-F238E27FC236}">
                <a16:creationId xmlns:a16="http://schemas.microsoft.com/office/drawing/2014/main" id="{86A9EFE1-95CD-4EB1-87F8-AE546693B538}"/>
              </a:ext>
            </a:extLst>
          </p:cNvPr>
          <p:cNvSpPr>
            <a:spLocks noGrp="1"/>
          </p:cNvSpPr>
          <p:nvPr/>
        </p:nvSpPr>
        <p:spPr>
          <a:xfrm>
            <a:off x="6534150" y="1466850"/>
            <a:ext cx="4591050" cy="285750"/>
          </a:xfrm>
          <a:prstGeom prst="rect">
            <a:avLst/>
          </a:prstGeom>
          <a:noFill/>
          <a:ln w="0">
            <a:noFill/>
          </a:ln>
        </p:spPr>
        <p:txBody>
          <a:bodyPr lIns="0" tIns="0" rIns="0" bIns="0" anchor="t"/>
          <a:lstStyle>
            <a:defPPr algn="l">
              <a:defRPr sz="1650" b="1">
                <a:solidFill>
                  <a:srgbClr val="FFFFFF"/>
                </a:solidFill>
                <a:latin typeface="Arial"/>
                <a:ea typeface="Arial"/>
                <a:cs typeface="Arial"/>
              </a:defRPr>
            </a:defPPr>
          </a:lstStyle>
          <a:p>
            <a:pPr algn="l">
              <a:defRPr sz="1650" b="1">
                <a:solidFill>
                  <a:srgbClr val="FFFFFF"/>
                </a:solidFill>
                <a:latin typeface="Arial"/>
                <a:ea typeface="Arial"/>
                <a:cs typeface="Arial"/>
              </a:defRPr>
            </a:pPr>
            <a:r>
              <a:rPr sz="1650" b="1">
                <a:solidFill>
                  <a:srgbClr val="FFFFFF"/>
                </a:solidFill>
                <a:latin typeface="Arial"/>
                <a:ea typeface="Arial"/>
                <a:cs typeface="Arial"/>
              </a:rPr>
              <a:t>Qué incorporamos</a:t>
            </a:r>
          </a:p>
        </p:txBody>
      </p:sp>
      <p:sp>
        <p:nvSpPr>
          <p:cNvPr id="55" name="Reenvío y cabeceras de la petición.&#10;&#10;Rep">
            <a:extLst>
              <a:ext uri="{FF2B5EF4-FFF2-40B4-BE49-F238E27FC236}">
                <a16:creationId xmlns:a16="http://schemas.microsoft.com/office/drawing/2014/main" id="{8C00F02B-B26D-41D7-B32F-22A330752B77}"/>
              </a:ext>
            </a:extLst>
          </p:cNvPr>
          <p:cNvSpPr>
            <a:spLocks noGrp="1"/>
          </p:cNvSpPr>
          <p:nvPr/>
        </p:nvSpPr>
        <p:spPr>
          <a:xfrm>
            <a:off x="6591300" y="1971675"/>
            <a:ext cx="4476750" cy="2657475"/>
          </a:xfrm>
          <a:prstGeom prst="rect">
            <a:avLst/>
          </a:prstGeom>
          <a:noFill/>
          <a:ln w="0">
            <a:noFill/>
          </a:ln>
        </p:spPr>
        <p:txBody>
          <a:bodyPr lIns="0" tIns="0" rIns="0" bIns="0" anchor="t"/>
          <a:lstStyle>
            <a:defPPr algn="l">
              <a:defRPr sz="1650" b="0">
                <a:solidFill>
                  <a:srgbClr val="313A44"/>
                </a:solidFill>
                <a:latin typeface="Arial"/>
                <a:ea typeface="Arial"/>
                <a:cs typeface="Arial"/>
              </a:defRPr>
            </a:defPPr>
          </a:lstStyle>
          <a:p>
            <a:pPr algn="l">
              <a:defRPr sz="1650" b="0">
                <a:solidFill>
                  <a:srgbClr val="313A44"/>
                </a:solidFill>
                <a:latin typeface="Arial"/>
                <a:ea typeface="Arial"/>
                <a:cs typeface="Arial"/>
              </a:defRPr>
            </a:pPr>
            <a:r>
              <a:rPr sz="1650" b="0">
                <a:solidFill>
                  <a:srgbClr val="313A44"/>
                </a:solidFill>
                <a:latin typeface="Arial"/>
                <a:ea typeface="Arial"/>
                <a:cs typeface="Arial"/>
              </a:rPr>
              <a:t>Reenvío y cabeceras de la petición.</a:t>
            </a:r>
          </a:p>
          <a:p>
            <a:endParaRPr sz="1650" b="0">
              <a:solidFill>
                <a:srgbClr val="313A44"/>
              </a:solidFill>
              <a:latin typeface="Arial"/>
              <a:ea typeface="Arial"/>
              <a:cs typeface="Arial"/>
            </a:endParaRPr>
          </a:p>
          <a:p>
            <a:pPr algn="l">
              <a:defRPr sz="1650" b="0">
                <a:solidFill>
                  <a:srgbClr val="313A44"/>
                </a:solidFill>
                <a:latin typeface="Arial"/>
                <a:ea typeface="Arial"/>
                <a:cs typeface="Arial"/>
              </a:defRPr>
            </a:pPr>
            <a:r>
              <a:rPr sz="1650" b="0">
                <a:solidFill>
                  <a:srgbClr val="313A44"/>
                </a:solidFill>
                <a:latin typeface="Arial"/>
                <a:ea typeface="Arial"/>
                <a:cs typeface="Arial"/>
              </a:rPr>
              <a:t>Reparto entre réplicas y tratamiento de fallos.</a:t>
            </a:r>
          </a:p>
          <a:p>
            <a:endParaRPr sz="1650" b="0">
              <a:solidFill>
                <a:srgbClr val="313A44"/>
              </a:solidFill>
              <a:latin typeface="Arial"/>
              <a:ea typeface="Arial"/>
              <a:cs typeface="Arial"/>
            </a:endParaRPr>
          </a:p>
          <a:p>
            <a:pPr algn="l">
              <a:defRPr sz="1650" b="0">
                <a:solidFill>
                  <a:srgbClr val="313A44"/>
                </a:solidFill>
                <a:latin typeface="Arial"/>
                <a:ea typeface="Arial"/>
                <a:cs typeface="Arial"/>
              </a:defRPr>
            </a:pPr>
            <a:r>
              <a:rPr sz="1650" b="0">
                <a:solidFill>
                  <a:srgbClr val="313A44"/>
                </a:solidFill>
                <a:latin typeface="Arial"/>
                <a:ea typeface="Arial"/>
                <a:cs typeface="Arial"/>
              </a:rPr>
              <a:t>Almacenamiento accesible desde cualquier réplica.</a:t>
            </a:r>
          </a:p>
        </p:txBody>
      </p:sp>
    </p:spTree>
    <p:extLst>
      <p:ext uri="{BB962C8B-B14F-4D97-AF65-F5344CB8AC3E}">
        <p14:creationId xmlns:p14="http://schemas.microsoft.com/office/powerpoint/2010/main" val="29370857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34">
            <a:extLst>
              <a:ext uri="{FF2B5EF4-FFF2-40B4-BE49-F238E27FC236}">
                <a16:creationId xmlns:a16="http://schemas.microsoft.com/office/drawing/2014/main" id="{847ED172-986B-1F4B-A572-EC07E15E9547}"/>
              </a:ext>
            </a:extLst>
          </p:cNvPr>
          <p:cNvSpPr>
            <a:spLocks noGrp="1"/>
          </p:cNvSpPr>
          <p:nvPr/>
        </p:nvSpPr>
        <p:spPr>
          <a:xfrm>
            <a:off x="11734495" y="6601968"/>
            <a:ext cx="256032" cy="114300"/>
          </a:xfrm>
          <a:prstGeom prst="rect">
            <a:avLst/>
          </a:prstGeom>
          <a:noFill/>
        </p:spPr>
        <p:txBody>
          <a:bodyPr wrap="square" lIns="0" tIns="0" rIns="0" bIns="0" anchor="t">
            <a:spAutoFit/>
          </a:bodyPr>
          <a:lstStyle>
            <a:defPPr>
              <a:defRPr sz="750">
                <a:solidFill>
                  <a:srgbClr val="737C84"/>
                </a:solidFill>
                <a:latin typeface="Arial"/>
                <a:ea typeface="Arial"/>
                <a:cs typeface="Arial"/>
              </a:defRPr>
            </a:defPPr>
          </a:lstStyle>
          <a:p>
            <a:pPr algn="r">
              <a:buNone/>
              <a:defRPr sz="750">
                <a:solidFill>
                  <a:srgbClr val="737C84"/>
                </a:solidFill>
                <a:latin typeface="Arial"/>
                <a:ea typeface="Arial"/>
                <a:cs typeface="Arial"/>
              </a:defRPr>
            </a:pPr>
            <a:r>
              <a:rPr sz="750" b="0" i="0">
                <a:solidFill>
                  <a:srgbClr val="737C84"/>
                </a:solidFill>
                <a:latin typeface="Arial"/>
                <a:ea typeface="Arial"/>
                <a:cs typeface="Arial"/>
              </a:rPr>
              <a:t>3</a:t>
            </a:r>
          </a:p>
        </p:txBody>
      </p:sp>
      <p:sp>
        <p:nvSpPr>
          <p:cNvPr id="43" name="Text 2">
            <a:extLst>
              <a:ext uri="{FF2B5EF4-FFF2-40B4-BE49-F238E27FC236}">
                <a16:creationId xmlns:a16="http://schemas.microsoft.com/office/drawing/2014/main" id="{A742CC06-271C-8A14-EE0E-4886B7BFD265}"/>
              </a:ext>
            </a:extLst>
          </p:cNvPr>
          <p:cNvSpPr>
            <a:spLocks noGrp="1"/>
          </p:cNvSpPr>
          <p:nvPr/>
        </p:nvSpPr>
        <p:spPr>
          <a:xfrm>
            <a:off x="548640" y="6492240"/>
            <a:ext cx="11091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defPPr algn="r">
              <a:defRPr sz="1050">
                <a:solidFill>
                  <a:srgbClr val="757575"/>
                </a:solidFill>
                <a:latin typeface="Arial"/>
                <a:ea typeface="Arial"/>
                <a:cs typeface="Arial"/>
              </a:defRPr>
            </a:defPPr>
          </a:lstStyle>
          <a:p>
            <a:pPr algn="r">
              <a:buNone/>
              <a:tabLst>
                <a:tab pos="0" algn="l"/>
              </a:tabLst>
              <a:defRPr sz="1050">
                <a:solidFill>
                  <a:srgbClr val="757575"/>
                </a:solidFill>
                <a:latin typeface="Arial"/>
                <a:ea typeface="Arial"/>
                <a:cs typeface="Arial"/>
              </a:defRPr>
            </a:pPr>
            <a:r>
              <a:rPr sz="1050" b="0" u="none" strike="noStrike">
                <a:solidFill>
                  <a:srgbClr val="757575"/>
                </a:solidFill>
                <a:latin typeface="Arial"/>
                <a:ea typeface="Arial"/>
                <a:cs typeface="Arial"/>
              </a:rPr>
              <a:t>DAW — Tema 3: Publicación y ejecución de aplicaciones web</a:t>
            </a:r>
            <a:endParaRPr sz="1050" b="0" u="none" strike="noStrike">
              <a:solidFill>
                <a:srgbClr val="000000"/>
              </a:solidFill>
              <a:latin typeface="Arial"/>
              <a:ea typeface="Arial"/>
              <a:cs typeface="Arial"/>
            </a:endParaRPr>
          </a:p>
        </p:txBody>
      </p:sp>
      <p:sp>
        <p:nvSpPr>
          <p:cNvPr id="45" name="Shape 0">
            <a:extLst>
              <a:ext uri="{FF2B5EF4-FFF2-40B4-BE49-F238E27FC236}">
                <a16:creationId xmlns:a16="http://schemas.microsoft.com/office/drawing/2014/main" id="{6EA75EBC-A260-30AE-F0D3-DA414F41C6C8}"/>
              </a:ext>
            </a:extLst>
          </p:cNvPr>
          <p:cNvSpPr>
            <a:spLocks noGrp="1"/>
          </p:cNvSpPr>
          <p:nvPr/>
        </p:nvSpPr>
        <p:spPr>
          <a:xfrm>
            <a:off x="0" y="0"/>
            <a:ext cx="12188520" cy="776880"/>
          </a:xfrm>
          <a:prstGeom prst="rect">
            <a:avLst/>
          </a:prstGeom>
          <a:solidFill>
            <a:srgbClr val="004D40"/>
          </a:solidFill>
          <a:ln w="12700">
            <a:solidFill>
              <a:srgbClr val="004D4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strike="noStrike">
              <a:solidFill>
                <a:srgbClr val="FFFFFF"/>
              </a:solidFill>
              <a:latin typeface="Arial"/>
              <a:ea typeface="Arial"/>
              <a:cs typeface="Arial"/>
            </a:endParaRPr>
          </a:p>
        </p:txBody>
      </p:sp>
      <p:sp>
        <p:nvSpPr>
          <p:cNvPr id="47" name="Text 1">
            <a:extLst>
              <a:ext uri="{FF2B5EF4-FFF2-40B4-BE49-F238E27FC236}">
                <a16:creationId xmlns:a16="http://schemas.microsoft.com/office/drawing/2014/main" id="{A6130689-1879-EB68-E5CC-55B4B8D469DE}"/>
              </a:ext>
            </a:extLst>
          </p:cNvPr>
          <p:cNvSpPr>
            <a:spLocks noGrp="1"/>
          </p:cNvSpPr>
          <p:nvPr/>
        </p:nvSpPr>
        <p:spPr>
          <a:xfrm>
            <a:off x="384120" y="18360"/>
            <a:ext cx="1142064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defPPr>
              <a:defRPr sz="2500" b="1">
                <a:solidFill>
                  <a:srgbClr val="FFFFFF"/>
                </a:solidFill>
                <a:latin typeface="Arial"/>
                <a:ea typeface="Arial"/>
                <a:cs typeface="Arial"/>
              </a:defRPr>
            </a:defPPr>
          </a:lstStyle>
          <a:p>
            <a:pPr defTabSz="914400">
              <a:lnSpc>
                <a:spcPct val="100000"/>
              </a:lnSpc>
              <a:buNone/>
              <a:tabLst>
                <a:tab pos="0" algn="l"/>
              </a:tabLst>
              <a:defRPr sz="2500" b="1">
                <a:solidFill>
                  <a:srgbClr val="FFFFFF"/>
                </a:solidFill>
                <a:latin typeface="Arial"/>
                <a:ea typeface="Arial"/>
                <a:cs typeface="Arial"/>
              </a:defRPr>
            </a:pPr>
            <a:r>
              <a:rPr sz="2500" b="1" u="none" strike="noStrike">
                <a:solidFill>
                  <a:srgbClr val="FFFFFF"/>
                </a:solidFill>
                <a:latin typeface="Arial"/>
                <a:ea typeface="Arial"/>
                <a:cs typeface="Arial"/>
              </a:rPr>
              <a:t>Contenido estático y proxy inverso</a:t>
            </a:r>
          </a:p>
        </p:txBody>
      </p:sp>
      <p:pic>
        <p:nvPicPr>
          <p:cNvPr id="48" name="Imagen 47">
            <a:extLst>
              <a:ext uri="{FF2B5EF4-FFF2-40B4-BE49-F238E27FC236}">
                <a16:creationId xmlns:a16="http://schemas.microsoft.com/office/drawing/2014/main" id="{59717A42-B679-4B11-925C-4C3B1DF41524}"/>
              </a:ext>
            </a:extLst>
          </p:cNvPr>
          <p:cNvPicPr>
            <a:picLocks noChangeAspect="1"/>
          </p:cNvPicPr>
          <p:nvPr/>
        </p:nvPicPr>
        <p:blipFill>
          <a:blip r:embed="rId3"/>
          <a:stretch/>
        </p:blipFill>
        <p:spPr>
          <a:xfrm>
            <a:off x="1357186" y="942975"/>
            <a:ext cx="9477628" cy="5334000"/>
          </a:xfrm>
          <a:prstGeom prst="rect">
            <a:avLst/>
          </a:prstGeom>
        </p:spPr>
      </p:pic>
    </p:spTree>
    <p:extLst>
      <p:ext uri="{BB962C8B-B14F-4D97-AF65-F5344CB8AC3E}">
        <p14:creationId xmlns:p14="http://schemas.microsoft.com/office/powerpoint/2010/main" val="29370857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Shape 18">
            <a:extLst>
              <a:ext uri="{FF2B5EF4-FFF2-40B4-BE49-F238E27FC236}">
                <a16:creationId xmlns:a16="http://schemas.microsoft.com/office/drawing/2014/main" id="{A21D1190-F64E-B2BC-A6FE-78AF0EBF8949}"/>
              </a:ext>
            </a:extLst>
          </p:cNvPr>
          <p:cNvSpPr>
            <a:spLocks noGrp="1"/>
          </p:cNvSpPr>
          <p:nvPr/>
        </p:nvSpPr>
        <p:spPr>
          <a:xfrm>
            <a:off x="860282" y="5463540"/>
            <a:ext cx="10718044" cy="594000"/>
          </a:xfrm>
          <a:prstGeom prst="roundRect">
            <a:avLst>
              <a:gd name="adj" fmla="val 12308"/>
            </a:avLst>
          </a:prstGeom>
          <a:solidFill>
            <a:srgbClr val="FFFDE7"/>
          </a:solidFill>
          <a:ln w="16510">
            <a:solidFill>
              <a:srgbClr val="00ACC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strike="noStrike">
              <a:solidFill>
                <a:srgbClr val="000000"/>
              </a:solidFill>
              <a:latin typeface="Arial"/>
              <a:ea typeface="Arial"/>
              <a:cs typeface="Arial"/>
            </a:endParaRPr>
          </a:p>
        </p:txBody>
      </p:sp>
      <p:sp>
        <p:nvSpPr>
          <p:cNvPr id="33" name="TextBox 32">
            <a:extLst>
              <a:ext uri="{FF2B5EF4-FFF2-40B4-BE49-F238E27FC236}">
                <a16:creationId xmlns:a16="http://schemas.microsoft.com/office/drawing/2014/main" id="{31F66DA7-F80E-EED7-7362-A84C5F1E2B57}"/>
              </a:ext>
            </a:extLst>
          </p:cNvPr>
          <p:cNvSpPr>
            <a:spLocks noGrp="1"/>
          </p:cNvSpPr>
          <p:nvPr/>
        </p:nvSpPr>
        <p:spPr>
          <a:xfrm>
            <a:off x="937260" y="5578670"/>
            <a:ext cx="10564088" cy="213360"/>
          </a:xfrm>
          <a:prstGeom prst="rect">
            <a:avLst/>
          </a:prstGeom>
          <a:noFill/>
        </p:spPr>
        <p:txBody>
          <a:bodyPr wrap="square" lIns="0" tIns="0" rIns="0" bIns="0" anchor="ctr">
            <a:spAutoFit/>
          </a:bodyPr>
          <a:lstStyle>
            <a:defPPr algn="ctr">
              <a:defRPr sz="1400">
                <a:solidFill>
                  <a:srgbClr val="18365F"/>
                </a:solidFill>
                <a:latin typeface="Arial"/>
                <a:ea typeface="Arial"/>
                <a:cs typeface="Arial"/>
              </a:defRPr>
            </a:defPPr>
          </a:lstStyle>
          <a:p>
            <a:pPr algn="ctr">
              <a:buNone/>
              <a:defRPr sz="1400">
                <a:solidFill>
                  <a:srgbClr val="18365F"/>
                </a:solidFill>
                <a:latin typeface="Arial"/>
                <a:ea typeface="Arial"/>
                <a:cs typeface="Arial"/>
              </a:defRPr>
            </a:pPr>
            <a:r>
              <a:rPr sz="1400">
                <a:solidFill>
                  <a:srgbClr val="18365F"/>
                </a:solidFill>
                <a:latin typeface="Arial"/>
                <a:ea typeface="Arial"/>
                <a:cs typeface="Arial"/>
              </a:rPr>
              <a:t>En esta sesión, Nginx representa al servicio publicado.</a:t>
            </a:r>
          </a:p>
        </p:txBody>
      </p:sp>
      <p:sp>
        <p:nvSpPr>
          <p:cNvPr id="35" name="TextBox 34">
            <a:extLst>
              <a:ext uri="{FF2B5EF4-FFF2-40B4-BE49-F238E27FC236}">
                <a16:creationId xmlns:a16="http://schemas.microsoft.com/office/drawing/2014/main" id="{847ED172-986B-1F4B-A572-EC07E15E9547}"/>
              </a:ext>
            </a:extLst>
          </p:cNvPr>
          <p:cNvSpPr>
            <a:spLocks noGrp="1"/>
          </p:cNvSpPr>
          <p:nvPr/>
        </p:nvSpPr>
        <p:spPr>
          <a:xfrm>
            <a:off x="11734495" y="6601968"/>
            <a:ext cx="256032" cy="114300"/>
          </a:xfrm>
          <a:prstGeom prst="rect">
            <a:avLst/>
          </a:prstGeom>
          <a:noFill/>
        </p:spPr>
        <p:txBody>
          <a:bodyPr wrap="square" lIns="0" tIns="0" rIns="0" bIns="0" anchor="t">
            <a:spAutoFit/>
          </a:bodyPr>
          <a:lstStyle>
            <a:defPPr>
              <a:defRPr sz="750">
                <a:solidFill>
                  <a:srgbClr val="737C84"/>
                </a:solidFill>
                <a:latin typeface="Arial"/>
                <a:ea typeface="Arial"/>
                <a:cs typeface="Arial"/>
              </a:defRPr>
            </a:defPPr>
          </a:lstStyle>
          <a:p>
            <a:pPr algn="r">
              <a:buNone/>
              <a:defRPr sz="750">
                <a:solidFill>
                  <a:srgbClr val="737C84"/>
                </a:solidFill>
                <a:latin typeface="Arial"/>
                <a:ea typeface="Arial"/>
                <a:cs typeface="Arial"/>
              </a:defRPr>
            </a:pPr>
            <a:r>
              <a:rPr sz="750" b="0" i="0">
                <a:solidFill>
                  <a:srgbClr val="737C84"/>
                </a:solidFill>
                <a:latin typeface="Arial"/>
                <a:ea typeface="Arial"/>
                <a:cs typeface="Arial"/>
              </a:rPr>
              <a:t>4</a:t>
            </a:r>
          </a:p>
        </p:txBody>
      </p:sp>
      <p:sp>
        <p:nvSpPr>
          <p:cNvPr id="43" name="Text 2">
            <a:extLst>
              <a:ext uri="{FF2B5EF4-FFF2-40B4-BE49-F238E27FC236}">
                <a16:creationId xmlns:a16="http://schemas.microsoft.com/office/drawing/2014/main" id="{A742CC06-271C-8A14-EE0E-4886B7BFD265}"/>
              </a:ext>
            </a:extLst>
          </p:cNvPr>
          <p:cNvSpPr>
            <a:spLocks noGrp="1"/>
          </p:cNvSpPr>
          <p:nvPr/>
        </p:nvSpPr>
        <p:spPr>
          <a:xfrm>
            <a:off x="548640" y="6492240"/>
            <a:ext cx="11091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defPPr algn="r">
              <a:defRPr sz="1050">
                <a:solidFill>
                  <a:srgbClr val="757575"/>
                </a:solidFill>
                <a:latin typeface="Arial"/>
                <a:ea typeface="Arial"/>
                <a:cs typeface="Arial"/>
              </a:defRPr>
            </a:defPPr>
          </a:lstStyle>
          <a:p>
            <a:pPr algn="r">
              <a:buNone/>
              <a:tabLst>
                <a:tab pos="0" algn="l"/>
              </a:tabLst>
              <a:defRPr sz="1050">
                <a:solidFill>
                  <a:srgbClr val="757575"/>
                </a:solidFill>
                <a:latin typeface="Arial"/>
                <a:ea typeface="Arial"/>
                <a:cs typeface="Arial"/>
              </a:defRPr>
            </a:pPr>
            <a:r>
              <a:rPr sz="1050" b="0" u="none" strike="noStrike">
                <a:solidFill>
                  <a:srgbClr val="757575"/>
                </a:solidFill>
                <a:latin typeface="Arial"/>
                <a:ea typeface="Arial"/>
                <a:cs typeface="Arial"/>
              </a:rPr>
              <a:t>DAW — Tema 3: Publicación y ejecución de aplicaciones web</a:t>
            </a:r>
            <a:endParaRPr sz="1050" b="0" u="none" strike="noStrike">
              <a:solidFill>
                <a:srgbClr val="000000"/>
              </a:solidFill>
              <a:latin typeface="Arial"/>
              <a:ea typeface="Arial"/>
              <a:cs typeface="Arial"/>
            </a:endParaRPr>
          </a:p>
        </p:txBody>
      </p:sp>
      <p:sp>
        <p:nvSpPr>
          <p:cNvPr id="45" name="Shape 0">
            <a:extLst>
              <a:ext uri="{FF2B5EF4-FFF2-40B4-BE49-F238E27FC236}">
                <a16:creationId xmlns:a16="http://schemas.microsoft.com/office/drawing/2014/main" id="{6EA75EBC-A260-30AE-F0D3-DA414F41C6C8}"/>
              </a:ext>
            </a:extLst>
          </p:cNvPr>
          <p:cNvSpPr>
            <a:spLocks noGrp="1"/>
          </p:cNvSpPr>
          <p:nvPr/>
        </p:nvSpPr>
        <p:spPr>
          <a:xfrm>
            <a:off x="0" y="0"/>
            <a:ext cx="12188520" cy="776880"/>
          </a:xfrm>
          <a:prstGeom prst="rect">
            <a:avLst/>
          </a:prstGeom>
          <a:solidFill>
            <a:srgbClr val="004D40"/>
          </a:solidFill>
          <a:ln w="12700">
            <a:solidFill>
              <a:srgbClr val="004D4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strike="noStrike">
              <a:solidFill>
                <a:srgbClr val="FFFFFF"/>
              </a:solidFill>
              <a:latin typeface="Arial"/>
              <a:ea typeface="Arial"/>
              <a:cs typeface="Arial"/>
            </a:endParaRPr>
          </a:p>
        </p:txBody>
      </p:sp>
      <p:sp>
        <p:nvSpPr>
          <p:cNvPr id="47" name="Text 1">
            <a:extLst>
              <a:ext uri="{FF2B5EF4-FFF2-40B4-BE49-F238E27FC236}">
                <a16:creationId xmlns:a16="http://schemas.microsoft.com/office/drawing/2014/main" id="{A6130689-1879-EB68-E5CC-55B4B8D469DE}"/>
              </a:ext>
            </a:extLst>
          </p:cNvPr>
          <p:cNvSpPr>
            <a:spLocks noGrp="1"/>
          </p:cNvSpPr>
          <p:nvPr/>
        </p:nvSpPr>
        <p:spPr>
          <a:xfrm>
            <a:off x="384120" y="18360"/>
            <a:ext cx="1142064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defPPr>
              <a:defRPr sz="2500" b="1">
                <a:solidFill>
                  <a:srgbClr val="FFFFFF"/>
                </a:solidFill>
                <a:latin typeface="Arial"/>
                <a:ea typeface="Arial"/>
                <a:cs typeface="Arial"/>
              </a:defRPr>
            </a:defPPr>
          </a:lstStyle>
          <a:p>
            <a:pPr defTabSz="914400">
              <a:lnSpc>
                <a:spcPct val="100000"/>
              </a:lnSpc>
              <a:buNone/>
              <a:tabLst>
                <a:tab pos="0" algn="l"/>
              </a:tabLst>
              <a:defRPr sz="2500" b="1">
                <a:solidFill>
                  <a:srgbClr val="FFFFFF"/>
                </a:solidFill>
                <a:latin typeface="Arial"/>
                <a:ea typeface="Arial"/>
                <a:cs typeface="Arial"/>
              </a:defRPr>
            </a:pPr>
            <a:r>
              <a:rPr sz="2500" b="1" u="none" strike="noStrike">
                <a:solidFill>
                  <a:srgbClr val="FFFFFF"/>
                </a:solidFill>
                <a:latin typeface="Arial"/>
                <a:ea typeface="Arial"/>
                <a:cs typeface="Arial"/>
              </a:rPr>
              <a:t>Proxy directo y proxy inverso</a:t>
            </a:r>
          </a:p>
        </p:txBody>
      </p:sp>
      <p:sp>
        <p:nvSpPr>
          <p:cNvPr id="48" name="Rectángulo redondeado 47">
            <a:extLst>
              <a:ext uri="{FF2B5EF4-FFF2-40B4-BE49-F238E27FC236}">
                <a16:creationId xmlns:a16="http://schemas.microsoft.com/office/drawing/2014/main" id="{2EDF3FF3-D97C-416F-8856-C27595814F36}"/>
              </a:ext>
            </a:extLst>
          </p:cNvPr>
          <p:cNvSpPr>
            <a:spLocks noGrp="1"/>
          </p:cNvSpPr>
          <p:nvPr/>
        </p:nvSpPr>
        <p:spPr>
          <a:xfrm>
            <a:off x="914400" y="1381125"/>
            <a:ext cx="4895850" cy="3400425"/>
          </a:xfrm>
          <a:prstGeom prst="roundRect">
            <a:avLst>
              <a:gd name="adj" fmla="val 2241"/>
            </a:avLst>
          </a:prstGeom>
          <a:solidFill>
            <a:srgbClr val="E9F1FA"/>
          </a:solidFill>
          <a:ln w="9525">
            <a:solidFill>
              <a:srgbClr val="AFD2C9"/>
            </a:solidFill>
          </a:ln>
        </p:spPr>
        <p:txBody>
          <a:bodyPr lIns="171450" tIns="171450" rIns="171450" bIns="171450" anchor="t"/>
          <a:lstStyle>
            <a:defPPr algn="l">
              <a:defRPr sz="1650" b="0">
                <a:solidFill>
                  <a:srgbClr val="313A44"/>
                </a:solidFill>
                <a:latin typeface="Arial"/>
                <a:ea typeface="Arial"/>
                <a:cs typeface="Arial"/>
              </a:defRPr>
            </a:defPPr>
          </a:lstStyle>
          <a:p>
            <a:endParaRPr/>
          </a:p>
        </p:txBody>
      </p:sp>
      <p:sp>
        <p:nvSpPr>
          <p:cNvPr id="49" name="Rectángulo 48">
            <a:extLst>
              <a:ext uri="{FF2B5EF4-FFF2-40B4-BE49-F238E27FC236}">
                <a16:creationId xmlns:a16="http://schemas.microsoft.com/office/drawing/2014/main" id="{AC48A163-1572-4489-9678-AA83C8BF9379}"/>
              </a:ext>
            </a:extLst>
          </p:cNvPr>
          <p:cNvSpPr>
            <a:spLocks noGrp="1"/>
          </p:cNvSpPr>
          <p:nvPr/>
        </p:nvSpPr>
        <p:spPr>
          <a:xfrm>
            <a:off x="914400" y="1381125"/>
            <a:ext cx="4895850" cy="400050"/>
          </a:xfrm>
          <a:prstGeom prst="rect">
            <a:avLst/>
          </a:prstGeom>
          <a:solidFill>
            <a:srgbClr val="3B82F6"/>
          </a:solidFill>
          <a:ln w="0">
            <a:noFill/>
          </a:ln>
        </p:spPr>
        <p:txBody>
          <a:bodyPr/>
          <a:lstStyle/>
          <a:p>
            <a:endParaRPr lang="es-ES"/>
          </a:p>
        </p:txBody>
      </p:sp>
      <p:sp>
        <p:nvSpPr>
          <p:cNvPr id="50" name="Proxy directo">
            <a:extLst>
              <a:ext uri="{FF2B5EF4-FFF2-40B4-BE49-F238E27FC236}">
                <a16:creationId xmlns:a16="http://schemas.microsoft.com/office/drawing/2014/main" id="{F9B899E2-5690-43D2-B5E4-59EC713CB520}"/>
              </a:ext>
            </a:extLst>
          </p:cNvPr>
          <p:cNvSpPr>
            <a:spLocks noGrp="1"/>
          </p:cNvSpPr>
          <p:nvPr/>
        </p:nvSpPr>
        <p:spPr>
          <a:xfrm>
            <a:off x="1066800" y="1466850"/>
            <a:ext cx="4591050" cy="285750"/>
          </a:xfrm>
          <a:prstGeom prst="rect">
            <a:avLst/>
          </a:prstGeom>
          <a:noFill/>
          <a:ln w="0">
            <a:noFill/>
          </a:ln>
        </p:spPr>
        <p:txBody>
          <a:bodyPr lIns="0" tIns="0" rIns="0" bIns="0" anchor="t"/>
          <a:lstStyle>
            <a:defPPr algn="l">
              <a:defRPr sz="1650" b="1">
                <a:solidFill>
                  <a:srgbClr val="FFFFFF"/>
                </a:solidFill>
                <a:latin typeface="Arial"/>
                <a:ea typeface="Arial"/>
                <a:cs typeface="Arial"/>
              </a:defRPr>
            </a:defPPr>
          </a:lstStyle>
          <a:p>
            <a:pPr algn="l">
              <a:defRPr sz="1650" b="1">
                <a:solidFill>
                  <a:srgbClr val="FFFFFF"/>
                </a:solidFill>
                <a:latin typeface="Arial"/>
                <a:ea typeface="Arial"/>
                <a:cs typeface="Arial"/>
              </a:defRPr>
            </a:pPr>
            <a:r>
              <a:rPr sz="1650" b="1">
                <a:solidFill>
                  <a:srgbClr val="FFFFFF"/>
                </a:solidFill>
                <a:latin typeface="Arial"/>
                <a:ea typeface="Arial"/>
                <a:cs typeface="Arial"/>
              </a:rPr>
              <a:t>Proxy directo</a:t>
            </a:r>
          </a:p>
        </p:txBody>
      </p:sp>
      <p:sp>
        <p:nvSpPr>
          <p:cNvPr id="51" name="Se sitúa del lado del cliente.&#10;&#10;Represen">
            <a:extLst>
              <a:ext uri="{FF2B5EF4-FFF2-40B4-BE49-F238E27FC236}">
                <a16:creationId xmlns:a16="http://schemas.microsoft.com/office/drawing/2014/main" id="{9EE438E9-CD9B-42EA-BBF9-983438C3A5B4}"/>
              </a:ext>
            </a:extLst>
          </p:cNvPr>
          <p:cNvSpPr>
            <a:spLocks noGrp="1"/>
          </p:cNvSpPr>
          <p:nvPr/>
        </p:nvSpPr>
        <p:spPr>
          <a:xfrm>
            <a:off x="1123950" y="1971675"/>
            <a:ext cx="4476750" cy="2657475"/>
          </a:xfrm>
          <a:prstGeom prst="rect">
            <a:avLst/>
          </a:prstGeom>
          <a:noFill/>
          <a:ln w="0">
            <a:noFill/>
          </a:ln>
        </p:spPr>
        <p:txBody>
          <a:bodyPr lIns="0" tIns="0" rIns="0" bIns="0" anchor="t"/>
          <a:lstStyle>
            <a:defPPr algn="l">
              <a:defRPr sz="1650" b="0">
                <a:solidFill>
                  <a:srgbClr val="313A44"/>
                </a:solidFill>
                <a:latin typeface="Arial"/>
                <a:ea typeface="Arial"/>
                <a:cs typeface="Arial"/>
              </a:defRPr>
            </a:defPPr>
          </a:lstStyle>
          <a:p>
            <a:pPr algn="l">
              <a:defRPr sz="1650" b="0">
                <a:solidFill>
                  <a:srgbClr val="313A44"/>
                </a:solidFill>
                <a:latin typeface="Arial"/>
                <a:ea typeface="Arial"/>
                <a:cs typeface="Arial"/>
              </a:defRPr>
            </a:pPr>
            <a:r>
              <a:rPr sz="1650" b="0">
                <a:solidFill>
                  <a:srgbClr val="313A44"/>
                </a:solidFill>
                <a:latin typeface="Arial"/>
                <a:ea typeface="Arial"/>
                <a:cs typeface="Arial"/>
              </a:rPr>
              <a:t>Se sitúa del lado del cliente.</a:t>
            </a:r>
          </a:p>
          <a:p>
            <a:endParaRPr sz="1650" b="0">
              <a:solidFill>
                <a:srgbClr val="313A44"/>
              </a:solidFill>
              <a:latin typeface="Arial"/>
              <a:ea typeface="Arial"/>
              <a:cs typeface="Arial"/>
            </a:endParaRPr>
          </a:p>
          <a:p>
            <a:pPr algn="l">
              <a:defRPr sz="1650" b="0">
                <a:solidFill>
                  <a:srgbClr val="313A44"/>
                </a:solidFill>
                <a:latin typeface="Arial"/>
                <a:ea typeface="Arial"/>
                <a:cs typeface="Arial"/>
              </a:defRPr>
            </a:pPr>
            <a:r>
              <a:rPr sz="1650" b="0">
                <a:solidFill>
                  <a:srgbClr val="313A44"/>
                </a:solidFill>
                <a:latin typeface="Arial"/>
                <a:ea typeface="Arial"/>
                <a:cs typeface="Arial"/>
              </a:rPr>
              <a:t>Representa al cliente frente al destino.</a:t>
            </a:r>
          </a:p>
          <a:p>
            <a:endParaRPr sz="1650" b="0">
              <a:solidFill>
                <a:srgbClr val="313A44"/>
              </a:solidFill>
              <a:latin typeface="Arial"/>
              <a:ea typeface="Arial"/>
              <a:cs typeface="Arial"/>
            </a:endParaRPr>
          </a:p>
          <a:p>
            <a:pPr algn="l">
              <a:defRPr sz="1650" b="0">
                <a:solidFill>
                  <a:srgbClr val="313A44"/>
                </a:solidFill>
                <a:latin typeface="Arial"/>
                <a:ea typeface="Arial"/>
                <a:cs typeface="Arial"/>
              </a:defRPr>
            </a:pPr>
            <a:r>
              <a:rPr sz="1650" b="0">
                <a:solidFill>
                  <a:srgbClr val="313A44"/>
                </a:solidFill>
                <a:latin typeface="Arial"/>
                <a:ea typeface="Arial"/>
                <a:cs typeface="Arial"/>
              </a:rPr>
              <a:t>Ejemplo: proxy de salida de una organización.</a:t>
            </a:r>
          </a:p>
        </p:txBody>
      </p:sp>
      <p:sp>
        <p:nvSpPr>
          <p:cNvPr id="52" name="Rectángulo redondeado 51">
            <a:extLst>
              <a:ext uri="{FF2B5EF4-FFF2-40B4-BE49-F238E27FC236}">
                <a16:creationId xmlns:a16="http://schemas.microsoft.com/office/drawing/2014/main" id="{ADD0F6DC-EFCA-401C-AA5A-C6C3943F8146}"/>
              </a:ext>
            </a:extLst>
          </p:cNvPr>
          <p:cNvSpPr>
            <a:spLocks noGrp="1"/>
          </p:cNvSpPr>
          <p:nvPr/>
        </p:nvSpPr>
        <p:spPr>
          <a:xfrm>
            <a:off x="6381750" y="1381125"/>
            <a:ext cx="4895850" cy="3400425"/>
          </a:xfrm>
          <a:prstGeom prst="roundRect">
            <a:avLst>
              <a:gd name="adj" fmla="val 2241"/>
            </a:avLst>
          </a:prstGeom>
          <a:solidFill>
            <a:srgbClr val="E8F6F0"/>
          </a:solidFill>
          <a:ln w="9525">
            <a:solidFill>
              <a:srgbClr val="AFD2C9"/>
            </a:solidFill>
          </a:ln>
        </p:spPr>
        <p:txBody>
          <a:bodyPr lIns="171450" tIns="171450" rIns="171450" bIns="171450" anchor="t"/>
          <a:lstStyle>
            <a:defPPr algn="l">
              <a:defRPr sz="1650" b="0">
                <a:solidFill>
                  <a:srgbClr val="313A44"/>
                </a:solidFill>
                <a:latin typeface="Arial"/>
                <a:ea typeface="Arial"/>
                <a:cs typeface="Arial"/>
              </a:defRPr>
            </a:defPPr>
          </a:lstStyle>
          <a:p>
            <a:endParaRPr/>
          </a:p>
        </p:txBody>
      </p:sp>
      <p:sp>
        <p:nvSpPr>
          <p:cNvPr id="53" name="Rectángulo 52">
            <a:extLst>
              <a:ext uri="{FF2B5EF4-FFF2-40B4-BE49-F238E27FC236}">
                <a16:creationId xmlns:a16="http://schemas.microsoft.com/office/drawing/2014/main" id="{576DBF47-530D-43A0-99A8-F22EFB07F8B3}"/>
              </a:ext>
            </a:extLst>
          </p:cNvPr>
          <p:cNvSpPr>
            <a:spLocks noGrp="1"/>
          </p:cNvSpPr>
          <p:nvPr/>
        </p:nvSpPr>
        <p:spPr>
          <a:xfrm>
            <a:off x="6381750" y="1381125"/>
            <a:ext cx="4895850" cy="400050"/>
          </a:xfrm>
          <a:prstGeom prst="rect">
            <a:avLst/>
          </a:prstGeom>
          <a:solidFill>
            <a:srgbClr val="004D40"/>
          </a:solidFill>
          <a:ln w="0">
            <a:noFill/>
          </a:ln>
        </p:spPr>
        <p:txBody>
          <a:bodyPr/>
          <a:lstStyle/>
          <a:p>
            <a:endParaRPr lang="es-ES"/>
          </a:p>
        </p:txBody>
      </p:sp>
      <p:sp>
        <p:nvSpPr>
          <p:cNvPr id="54" name="Proxy inverso">
            <a:extLst>
              <a:ext uri="{FF2B5EF4-FFF2-40B4-BE49-F238E27FC236}">
                <a16:creationId xmlns:a16="http://schemas.microsoft.com/office/drawing/2014/main" id="{ADC2C294-1348-49DD-9254-E6B9F3A71B64}"/>
              </a:ext>
            </a:extLst>
          </p:cNvPr>
          <p:cNvSpPr>
            <a:spLocks noGrp="1"/>
          </p:cNvSpPr>
          <p:nvPr/>
        </p:nvSpPr>
        <p:spPr>
          <a:xfrm>
            <a:off x="6534150" y="1466850"/>
            <a:ext cx="4591050" cy="285750"/>
          </a:xfrm>
          <a:prstGeom prst="rect">
            <a:avLst/>
          </a:prstGeom>
          <a:noFill/>
          <a:ln w="0">
            <a:noFill/>
          </a:ln>
        </p:spPr>
        <p:txBody>
          <a:bodyPr lIns="0" tIns="0" rIns="0" bIns="0" anchor="t"/>
          <a:lstStyle>
            <a:defPPr algn="l">
              <a:defRPr sz="1650" b="1">
                <a:solidFill>
                  <a:srgbClr val="FFFFFF"/>
                </a:solidFill>
                <a:latin typeface="Arial"/>
                <a:ea typeface="Arial"/>
                <a:cs typeface="Arial"/>
              </a:defRPr>
            </a:defPPr>
          </a:lstStyle>
          <a:p>
            <a:pPr algn="l">
              <a:defRPr sz="1650" b="1">
                <a:solidFill>
                  <a:srgbClr val="FFFFFF"/>
                </a:solidFill>
                <a:latin typeface="Arial"/>
                <a:ea typeface="Arial"/>
                <a:cs typeface="Arial"/>
              </a:defRPr>
            </a:pPr>
            <a:r>
              <a:rPr sz="1650" b="1">
                <a:solidFill>
                  <a:srgbClr val="FFFFFF"/>
                </a:solidFill>
                <a:latin typeface="Arial"/>
                <a:ea typeface="Arial"/>
                <a:cs typeface="Arial"/>
              </a:rPr>
              <a:t>Proxy inverso</a:t>
            </a:r>
          </a:p>
        </p:txBody>
      </p:sp>
      <p:sp>
        <p:nvSpPr>
          <p:cNvPr id="55" name="Se sitúa delante de los servidores.&#10;&#10;Rec">
            <a:extLst>
              <a:ext uri="{FF2B5EF4-FFF2-40B4-BE49-F238E27FC236}">
                <a16:creationId xmlns:a16="http://schemas.microsoft.com/office/drawing/2014/main" id="{A4A2DA37-9870-4F19-994C-32B9720EF505}"/>
              </a:ext>
            </a:extLst>
          </p:cNvPr>
          <p:cNvSpPr>
            <a:spLocks noGrp="1"/>
          </p:cNvSpPr>
          <p:nvPr/>
        </p:nvSpPr>
        <p:spPr>
          <a:xfrm>
            <a:off x="6591300" y="1971675"/>
            <a:ext cx="4476750" cy="2657475"/>
          </a:xfrm>
          <a:prstGeom prst="rect">
            <a:avLst/>
          </a:prstGeom>
          <a:noFill/>
          <a:ln w="0">
            <a:noFill/>
          </a:ln>
        </p:spPr>
        <p:txBody>
          <a:bodyPr lIns="0" tIns="0" rIns="0" bIns="0" anchor="t"/>
          <a:lstStyle>
            <a:defPPr algn="l">
              <a:defRPr sz="1650" b="0">
                <a:solidFill>
                  <a:srgbClr val="313A44"/>
                </a:solidFill>
                <a:latin typeface="Arial"/>
                <a:ea typeface="Arial"/>
                <a:cs typeface="Arial"/>
              </a:defRPr>
            </a:defPPr>
          </a:lstStyle>
          <a:p>
            <a:pPr algn="l">
              <a:defRPr sz="1650" b="0">
                <a:solidFill>
                  <a:srgbClr val="313A44"/>
                </a:solidFill>
                <a:latin typeface="Arial"/>
                <a:ea typeface="Arial"/>
                <a:cs typeface="Arial"/>
              </a:defRPr>
            </a:pPr>
            <a:r>
              <a:rPr sz="1650" b="0">
                <a:solidFill>
                  <a:srgbClr val="313A44"/>
                </a:solidFill>
                <a:latin typeface="Arial"/>
                <a:ea typeface="Arial"/>
                <a:cs typeface="Arial"/>
              </a:rPr>
              <a:t>Se sitúa delante de los servidores.</a:t>
            </a:r>
          </a:p>
          <a:p>
            <a:endParaRPr sz="1650" b="0">
              <a:solidFill>
                <a:srgbClr val="313A44"/>
              </a:solidFill>
              <a:latin typeface="Arial"/>
              <a:ea typeface="Arial"/>
              <a:cs typeface="Arial"/>
            </a:endParaRPr>
          </a:p>
          <a:p>
            <a:pPr algn="l">
              <a:defRPr sz="1650" b="0">
                <a:solidFill>
                  <a:srgbClr val="313A44"/>
                </a:solidFill>
                <a:latin typeface="Arial"/>
                <a:ea typeface="Arial"/>
                <a:cs typeface="Arial"/>
              </a:defRPr>
            </a:pPr>
            <a:r>
              <a:rPr sz="1650" b="0">
                <a:solidFill>
                  <a:srgbClr val="313A44"/>
                </a:solidFill>
                <a:latin typeface="Arial"/>
                <a:ea typeface="Arial"/>
                <a:cs typeface="Arial"/>
              </a:rPr>
              <a:t>Recibe las peticiones del servicio público.</a:t>
            </a:r>
          </a:p>
          <a:p>
            <a:endParaRPr sz="1650" b="0">
              <a:solidFill>
                <a:srgbClr val="313A44"/>
              </a:solidFill>
              <a:latin typeface="Arial"/>
              <a:ea typeface="Arial"/>
              <a:cs typeface="Arial"/>
            </a:endParaRPr>
          </a:p>
          <a:p>
            <a:pPr algn="l">
              <a:defRPr sz="1650" b="0">
                <a:solidFill>
                  <a:srgbClr val="313A44"/>
                </a:solidFill>
                <a:latin typeface="Arial"/>
                <a:ea typeface="Arial"/>
                <a:cs typeface="Arial"/>
              </a:defRPr>
            </a:pPr>
            <a:r>
              <a:rPr sz="1650" b="0">
                <a:solidFill>
                  <a:srgbClr val="313A44"/>
                </a:solidFill>
                <a:latin typeface="Arial"/>
                <a:ea typeface="Arial"/>
                <a:cs typeface="Arial"/>
              </a:rPr>
              <a:t>Ejemplo: Nginx delante de una aplicación web.</a:t>
            </a:r>
          </a:p>
        </p:txBody>
      </p:sp>
    </p:spTree>
    <p:extLst>
      <p:ext uri="{BB962C8B-B14F-4D97-AF65-F5344CB8AC3E}">
        <p14:creationId xmlns:p14="http://schemas.microsoft.com/office/powerpoint/2010/main" val="29370857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Shape 18">
            <a:extLst>
              <a:ext uri="{FF2B5EF4-FFF2-40B4-BE49-F238E27FC236}">
                <a16:creationId xmlns:a16="http://schemas.microsoft.com/office/drawing/2014/main" id="{A21D1190-F64E-B2BC-A6FE-78AF0EBF8949}"/>
              </a:ext>
            </a:extLst>
          </p:cNvPr>
          <p:cNvSpPr>
            <a:spLocks noGrp="1"/>
          </p:cNvSpPr>
          <p:nvPr/>
        </p:nvSpPr>
        <p:spPr>
          <a:xfrm>
            <a:off x="860282" y="5463540"/>
            <a:ext cx="10718044" cy="594000"/>
          </a:xfrm>
          <a:prstGeom prst="roundRect">
            <a:avLst>
              <a:gd name="adj" fmla="val 12308"/>
            </a:avLst>
          </a:prstGeom>
          <a:solidFill>
            <a:srgbClr val="FFFDE7"/>
          </a:solidFill>
          <a:ln w="16510">
            <a:solidFill>
              <a:srgbClr val="00ACC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strike="noStrike">
              <a:solidFill>
                <a:srgbClr val="000000"/>
              </a:solidFill>
              <a:latin typeface="Arial"/>
              <a:ea typeface="Arial"/>
              <a:cs typeface="Arial"/>
            </a:endParaRPr>
          </a:p>
        </p:txBody>
      </p:sp>
      <p:sp>
        <p:nvSpPr>
          <p:cNvPr id="33" name="TextBox 32">
            <a:extLst>
              <a:ext uri="{FF2B5EF4-FFF2-40B4-BE49-F238E27FC236}">
                <a16:creationId xmlns:a16="http://schemas.microsoft.com/office/drawing/2014/main" id="{31F66DA7-F80E-EED7-7362-A84C5F1E2B57}"/>
              </a:ext>
            </a:extLst>
          </p:cNvPr>
          <p:cNvSpPr>
            <a:spLocks noGrp="1"/>
          </p:cNvSpPr>
          <p:nvPr/>
        </p:nvSpPr>
        <p:spPr>
          <a:xfrm>
            <a:off x="937260" y="5578670"/>
            <a:ext cx="10564088" cy="213360"/>
          </a:xfrm>
          <a:prstGeom prst="rect">
            <a:avLst/>
          </a:prstGeom>
          <a:noFill/>
        </p:spPr>
        <p:txBody>
          <a:bodyPr wrap="square" lIns="0" tIns="0" rIns="0" bIns="0" anchor="ctr">
            <a:spAutoFit/>
          </a:bodyPr>
          <a:lstStyle>
            <a:defPPr algn="ctr">
              <a:defRPr sz="1400">
                <a:solidFill>
                  <a:srgbClr val="18365F"/>
                </a:solidFill>
                <a:latin typeface="Arial"/>
                <a:ea typeface="Arial"/>
                <a:cs typeface="Arial"/>
              </a:defRPr>
            </a:defPPr>
          </a:lstStyle>
          <a:p>
            <a:pPr algn="ctr">
              <a:buNone/>
              <a:defRPr sz="1400">
                <a:solidFill>
                  <a:srgbClr val="18365F"/>
                </a:solidFill>
                <a:latin typeface="Arial"/>
                <a:ea typeface="Arial"/>
                <a:cs typeface="Arial"/>
              </a:defRPr>
            </a:pPr>
            <a:r>
              <a:rPr sz="1400">
                <a:solidFill>
                  <a:srgbClr val="18365F"/>
                </a:solidFill>
                <a:latin typeface="Arial"/>
                <a:ea typeface="Arial"/>
                <a:cs typeface="Arial"/>
              </a:rPr>
              <a:t>El navegador utiliza el mismo origen público para acceder a distintos componentes.</a:t>
            </a:r>
          </a:p>
        </p:txBody>
      </p:sp>
      <p:sp>
        <p:nvSpPr>
          <p:cNvPr id="35" name="TextBox 34">
            <a:extLst>
              <a:ext uri="{FF2B5EF4-FFF2-40B4-BE49-F238E27FC236}">
                <a16:creationId xmlns:a16="http://schemas.microsoft.com/office/drawing/2014/main" id="{847ED172-986B-1F4B-A572-EC07E15E9547}"/>
              </a:ext>
            </a:extLst>
          </p:cNvPr>
          <p:cNvSpPr>
            <a:spLocks noGrp="1"/>
          </p:cNvSpPr>
          <p:nvPr/>
        </p:nvSpPr>
        <p:spPr>
          <a:xfrm>
            <a:off x="11734495" y="6601968"/>
            <a:ext cx="256032" cy="114300"/>
          </a:xfrm>
          <a:prstGeom prst="rect">
            <a:avLst/>
          </a:prstGeom>
          <a:noFill/>
        </p:spPr>
        <p:txBody>
          <a:bodyPr wrap="square" lIns="0" tIns="0" rIns="0" bIns="0" anchor="t">
            <a:spAutoFit/>
          </a:bodyPr>
          <a:lstStyle>
            <a:defPPr>
              <a:defRPr sz="750">
                <a:solidFill>
                  <a:srgbClr val="737C84"/>
                </a:solidFill>
                <a:latin typeface="Arial"/>
                <a:ea typeface="Arial"/>
                <a:cs typeface="Arial"/>
              </a:defRPr>
            </a:defPPr>
          </a:lstStyle>
          <a:p>
            <a:pPr algn="r">
              <a:buNone/>
              <a:defRPr sz="750">
                <a:solidFill>
                  <a:srgbClr val="737C84"/>
                </a:solidFill>
                <a:latin typeface="Arial"/>
                <a:ea typeface="Arial"/>
                <a:cs typeface="Arial"/>
              </a:defRPr>
            </a:pPr>
            <a:r>
              <a:rPr sz="750" b="0" i="0">
                <a:solidFill>
                  <a:srgbClr val="737C84"/>
                </a:solidFill>
                <a:latin typeface="Arial"/>
                <a:ea typeface="Arial"/>
                <a:cs typeface="Arial"/>
              </a:rPr>
              <a:t>5</a:t>
            </a:r>
          </a:p>
        </p:txBody>
      </p:sp>
      <p:sp>
        <p:nvSpPr>
          <p:cNvPr id="43" name="Text 2">
            <a:extLst>
              <a:ext uri="{FF2B5EF4-FFF2-40B4-BE49-F238E27FC236}">
                <a16:creationId xmlns:a16="http://schemas.microsoft.com/office/drawing/2014/main" id="{A742CC06-271C-8A14-EE0E-4886B7BFD265}"/>
              </a:ext>
            </a:extLst>
          </p:cNvPr>
          <p:cNvSpPr>
            <a:spLocks noGrp="1"/>
          </p:cNvSpPr>
          <p:nvPr/>
        </p:nvSpPr>
        <p:spPr>
          <a:xfrm>
            <a:off x="548640" y="6492240"/>
            <a:ext cx="11091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defPPr algn="r">
              <a:defRPr sz="1050">
                <a:solidFill>
                  <a:srgbClr val="757575"/>
                </a:solidFill>
                <a:latin typeface="Arial"/>
                <a:ea typeface="Arial"/>
                <a:cs typeface="Arial"/>
              </a:defRPr>
            </a:defPPr>
          </a:lstStyle>
          <a:p>
            <a:pPr algn="r">
              <a:buNone/>
              <a:tabLst>
                <a:tab pos="0" algn="l"/>
              </a:tabLst>
              <a:defRPr sz="1050">
                <a:solidFill>
                  <a:srgbClr val="757575"/>
                </a:solidFill>
                <a:latin typeface="Arial"/>
                <a:ea typeface="Arial"/>
                <a:cs typeface="Arial"/>
              </a:defRPr>
            </a:pPr>
            <a:r>
              <a:rPr sz="1050" b="0" u="none" strike="noStrike">
                <a:solidFill>
                  <a:srgbClr val="757575"/>
                </a:solidFill>
                <a:latin typeface="Arial"/>
                <a:ea typeface="Arial"/>
                <a:cs typeface="Arial"/>
              </a:rPr>
              <a:t>DAW — Tema 3: Publicación y ejecución de aplicaciones web</a:t>
            </a:r>
            <a:endParaRPr sz="1050" b="0" u="none" strike="noStrike">
              <a:solidFill>
                <a:srgbClr val="000000"/>
              </a:solidFill>
              <a:latin typeface="Arial"/>
              <a:ea typeface="Arial"/>
              <a:cs typeface="Arial"/>
            </a:endParaRPr>
          </a:p>
        </p:txBody>
      </p:sp>
      <p:sp>
        <p:nvSpPr>
          <p:cNvPr id="45" name="Shape 0">
            <a:extLst>
              <a:ext uri="{FF2B5EF4-FFF2-40B4-BE49-F238E27FC236}">
                <a16:creationId xmlns:a16="http://schemas.microsoft.com/office/drawing/2014/main" id="{6EA75EBC-A260-30AE-F0D3-DA414F41C6C8}"/>
              </a:ext>
            </a:extLst>
          </p:cNvPr>
          <p:cNvSpPr>
            <a:spLocks noGrp="1"/>
          </p:cNvSpPr>
          <p:nvPr/>
        </p:nvSpPr>
        <p:spPr>
          <a:xfrm>
            <a:off x="0" y="0"/>
            <a:ext cx="12188520" cy="776880"/>
          </a:xfrm>
          <a:prstGeom prst="rect">
            <a:avLst/>
          </a:prstGeom>
          <a:solidFill>
            <a:srgbClr val="004D40"/>
          </a:solidFill>
          <a:ln w="12700">
            <a:solidFill>
              <a:srgbClr val="004D4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strike="noStrike">
              <a:solidFill>
                <a:srgbClr val="FFFFFF"/>
              </a:solidFill>
              <a:latin typeface="Arial"/>
              <a:ea typeface="Arial"/>
              <a:cs typeface="Arial"/>
            </a:endParaRPr>
          </a:p>
        </p:txBody>
      </p:sp>
      <p:sp>
        <p:nvSpPr>
          <p:cNvPr id="47" name="Text 1">
            <a:extLst>
              <a:ext uri="{FF2B5EF4-FFF2-40B4-BE49-F238E27FC236}">
                <a16:creationId xmlns:a16="http://schemas.microsoft.com/office/drawing/2014/main" id="{A6130689-1879-EB68-E5CC-55B4B8D469DE}"/>
              </a:ext>
            </a:extLst>
          </p:cNvPr>
          <p:cNvSpPr>
            <a:spLocks noGrp="1"/>
          </p:cNvSpPr>
          <p:nvPr/>
        </p:nvSpPr>
        <p:spPr>
          <a:xfrm>
            <a:off x="384120" y="18360"/>
            <a:ext cx="1142064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defPPr>
              <a:defRPr sz="2500" b="1">
                <a:solidFill>
                  <a:srgbClr val="FFFFFF"/>
                </a:solidFill>
                <a:latin typeface="Arial"/>
                <a:ea typeface="Arial"/>
                <a:cs typeface="Arial"/>
              </a:defRPr>
            </a:defPPr>
          </a:lstStyle>
          <a:p>
            <a:pPr defTabSz="914400">
              <a:lnSpc>
                <a:spcPct val="100000"/>
              </a:lnSpc>
              <a:buNone/>
              <a:tabLst>
                <a:tab pos="0" algn="l"/>
              </a:tabLst>
              <a:defRPr sz="2500" b="1">
                <a:solidFill>
                  <a:srgbClr val="FFFFFF"/>
                </a:solidFill>
                <a:latin typeface="Arial"/>
                <a:ea typeface="Arial"/>
                <a:cs typeface="Arial"/>
              </a:defRPr>
            </a:pPr>
            <a:r>
              <a:rPr sz="2500" b="1" u="none" strike="noStrike">
                <a:solidFill>
                  <a:srgbClr val="FFFFFF"/>
                </a:solidFill>
                <a:latin typeface="Arial"/>
                <a:ea typeface="Arial"/>
                <a:cs typeface="Arial"/>
              </a:rPr>
              <a:t>Rutas y responsabilidades</a:t>
            </a:r>
          </a:p>
        </p:txBody>
      </p:sp>
      <p:sp>
        <p:nvSpPr>
          <p:cNvPr id="48" name="Rectángulo redondeado 47">
            <a:extLst>
              <a:ext uri="{FF2B5EF4-FFF2-40B4-BE49-F238E27FC236}">
                <a16:creationId xmlns:a16="http://schemas.microsoft.com/office/drawing/2014/main" id="{E1E90110-3662-4D72-A9B3-5015D4701467}"/>
              </a:ext>
            </a:extLst>
          </p:cNvPr>
          <p:cNvSpPr>
            <a:spLocks noGrp="1"/>
          </p:cNvSpPr>
          <p:nvPr/>
        </p:nvSpPr>
        <p:spPr>
          <a:xfrm>
            <a:off x="914400" y="1381125"/>
            <a:ext cx="4895850" cy="3400425"/>
          </a:xfrm>
          <a:prstGeom prst="roundRect">
            <a:avLst>
              <a:gd name="adj" fmla="val 2241"/>
            </a:avLst>
          </a:prstGeom>
          <a:solidFill>
            <a:srgbClr val="E9F1FA"/>
          </a:solidFill>
          <a:ln w="9525">
            <a:solidFill>
              <a:srgbClr val="AFD2C9"/>
            </a:solidFill>
          </a:ln>
        </p:spPr>
        <p:txBody>
          <a:bodyPr lIns="171450" tIns="171450" rIns="171450" bIns="171450" anchor="t"/>
          <a:lstStyle>
            <a:defPPr algn="l">
              <a:defRPr sz="1650" b="0">
                <a:solidFill>
                  <a:srgbClr val="313A44"/>
                </a:solidFill>
                <a:latin typeface="Arial"/>
                <a:ea typeface="Arial"/>
                <a:cs typeface="Arial"/>
              </a:defRPr>
            </a:defPPr>
          </a:lstStyle>
          <a:p>
            <a:endParaRPr/>
          </a:p>
        </p:txBody>
      </p:sp>
      <p:sp>
        <p:nvSpPr>
          <p:cNvPr id="49" name="Rectángulo 48">
            <a:extLst>
              <a:ext uri="{FF2B5EF4-FFF2-40B4-BE49-F238E27FC236}">
                <a16:creationId xmlns:a16="http://schemas.microsoft.com/office/drawing/2014/main" id="{A991AE28-165F-424C-8F1F-0E4FADD6AB9E}"/>
              </a:ext>
            </a:extLst>
          </p:cNvPr>
          <p:cNvSpPr>
            <a:spLocks noGrp="1"/>
          </p:cNvSpPr>
          <p:nvPr/>
        </p:nvSpPr>
        <p:spPr>
          <a:xfrm>
            <a:off x="914400" y="1381125"/>
            <a:ext cx="4895850" cy="400050"/>
          </a:xfrm>
          <a:prstGeom prst="rect">
            <a:avLst/>
          </a:prstGeom>
          <a:solidFill>
            <a:srgbClr val="3B82F6"/>
          </a:solidFill>
          <a:ln w="0">
            <a:noFill/>
          </a:ln>
        </p:spPr>
        <p:txBody>
          <a:bodyPr/>
          <a:lstStyle/>
          <a:p>
            <a:endParaRPr lang="es-ES"/>
          </a:p>
        </p:txBody>
      </p:sp>
      <p:sp>
        <p:nvSpPr>
          <p:cNvPr id="50" name="Archivos del frontend">
            <a:extLst>
              <a:ext uri="{FF2B5EF4-FFF2-40B4-BE49-F238E27FC236}">
                <a16:creationId xmlns:a16="http://schemas.microsoft.com/office/drawing/2014/main" id="{4DCAFF17-86B3-48AC-9870-D698C68E546E}"/>
              </a:ext>
            </a:extLst>
          </p:cNvPr>
          <p:cNvSpPr>
            <a:spLocks noGrp="1"/>
          </p:cNvSpPr>
          <p:nvPr/>
        </p:nvSpPr>
        <p:spPr>
          <a:xfrm>
            <a:off x="1066800" y="1466850"/>
            <a:ext cx="4591050" cy="285750"/>
          </a:xfrm>
          <a:prstGeom prst="rect">
            <a:avLst/>
          </a:prstGeom>
          <a:noFill/>
          <a:ln w="0">
            <a:noFill/>
          </a:ln>
        </p:spPr>
        <p:txBody>
          <a:bodyPr lIns="0" tIns="0" rIns="0" bIns="0" anchor="t"/>
          <a:lstStyle>
            <a:defPPr algn="l">
              <a:defRPr sz="1650" b="1">
                <a:solidFill>
                  <a:srgbClr val="FFFFFF"/>
                </a:solidFill>
                <a:latin typeface="Arial"/>
                <a:ea typeface="Arial"/>
                <a:cs typeface="Arial"/>
              </a:defRPr>
            </a:defPPr>
          </a:lstStyle>
          <a:p>
            <a:pPr algn="l">
              <a:defRPr sz="1650" b="1">
                <a:solidFill>
                  <a:srgbClr val="FFFFFF"/>
                </a:solidFill>
                <a:latin typeface="Arial"/>
                <a:ea typeface="Arial"/>
                <a:cs typeface="Arial"/>
              </a:defRPr>
            </a:pPr>
            <a:r>
              <a:rPr sz="1650" b="1">
                <a:solidFill>
                  <a:srgbClr val="FFFFFF"/>
                </a:solidFill>
                <a:latin typeface="Arial"/>
                <a:ea typeface="Arial"/>
                <a:cs typeface="Arial"/>
              </a:rPr>
              <a:t>Archivos del frontend</a:t>
            </a:r>
          </a:p>
        </p:txBody>
      </p:sp>
      <p:sp>
        <p:nvSpPr>
          <p:cNvPr id="51" name="/&#10;/css/...&#10;&#10;Nginx obtiene el contenido d">
            <a:extLst>
              <a:ext uri="{FF2B5EF4-FFF2-40B4-BE49-F238E27FC236}">
                <a16:creationId xmlns:a16="http://schemas.microsoft.com/office/drawing/2014/main" id="{05C1650D-999D-4CF2-BE1E-3ED10174F330}"/>
              </a:ext>
            </a:extLst>
          </p:cNvPr>
          <p:cNvSpPr>
            <a:spLocks noGrp="1"/>
          </p:cNvSpPr>
          <p:nvPr/>
        </p:nvSpPr>
        <p:spPr>
          <a:xfrm>
            <a:off x="1123950" y="1971675"/>
            <a:ext cx="4476750" cy="2657475"/>
          </a:xfrm>
          <a:prstGeom prst="rect">
            <a:avLst/>
          </a:prstGeom>
          <a:noFill/>
          <a:ln w="0">
            <a:noFill/>
          </a:ln>
        </p:spPr>
        <p:txBody>
          <a:bodyPr lIns="0" tIns="0" rIns="0" bIns="0" anchor="t"/>
          <a:lstStyle>
            <a:defPPr algn="l">
              <a:defRPr sz="1650" b="0">
                <a:solidFill>
                  <a:srgbClr val="313A44"/>
                </a:solidFill>
                <a:latin typeface="Arial"/>
                <a:ea typeface="Arial"/>
                <a:cs typeface="Arial"/>
              </a:defRPr>
            </a:defPPr>
          </a:lstStyle>
          <a:p>
            <a:pPr algn="l">
              <a:defRPr sz="1650" b="0">
                <a:solidFill>
                  <a:srgbClr val="313A44"/>
                </a:solidFill>
                <a:latin typeface="Arial"/>
                <a:ea typeface="Arial"/>
                <a:cs typeface="Arial"/>
              </a:defRPr>
            </a:pPr>
            <a:r>
              <a:rPr sz="1650" b="0">
                <a:solidFill>
                  <a:srgbClr val="313A44"/>
                </a:solidFill>
                <a:latin typeface="Arial"/>
                <a:ea typeface="Arial"/>
                <a:cs typeface="Arial"/>
              </a:rPr>
              <a:t>/</a:t>
            </a:r>
          </a:p>
          <a:p>
            <a:pPr algn="l">
              <a:defRPr sz="1650" b="0">
                <a:solidFill>
                  <a:srgbClr val="313A44"/>
                </a:solidFill>
                <a:latin typeface="Arial"/>
                <a:ea typeface="Arial"/>
                <a:cs typeface="Arial"/>
              </a:defRPr>
            </a:pPr>
            <a:r>
              <a:rPr sz="1650" b="0">
                <a:solidFill>
                  <a:srgbClr val="313A44"/>
                </a:solidFill>
                <a:latin typeface="Arial"/>
                <a:ea typeface="Arial"/>
                <a:cs typeface="Arial"/>
              </a:rPr>
              <a:t>/css/...</a:t>
            </a:r>
          </a:p>
          <a:p>
            <a:endParaRPr sz="1650" b="0">
              <a:solidFill>
                <a:srgbClr val="313A44"/>
              </a:solidFill>
              <a:latin typeface="Arial"/>
              <a:ea typeface="Arial"/>
              <a:cs typeface="Arial"/>
            </a:endParaRPr>
          </a:p>
          <a:p>
            <a:pPr algn="l">
              <a:defRPr sz="1650" b="0">
                <a:solidFill>
                  <a:srgbClr val="313A44"/>
                </a:solidFill>
                <a:latin typeface="Arial"/>
                <a:ea typeface="Arial"/>
                <a:cs typeface="Arial"/>
              </a:defRPr>
            </a:pPr>
            <a:r>
              <a:rPr sz="1650" b="0">
                <a:solidFill>
                  <a:srgbClr val="313A44"/>
                </a:solidFill>
                <a:latin typeface="Arial"/>
                <a:ea typeface="Arial"/>
                <a:cs typeface="Arial"/>
              </a:rPr>
              <a:t>Nginx obtiene el contenido desde el sistema de archivos.</a:t>
            </a:r>
          </a:p>
        </p:txBody>
      </p:sp>
      <p:sp>
        <p:nvSpPr>
          <p:cNvPr id="52" name="Rectángulo redondeado 51">
            <a:extLst>
              <a:ext uri="{FF2B5EF4-FFF2-40B4-BE49-F238E27FC236}">
                <a16:creationId xmlns:a16="http://schemas.microsoft.com/office/drawing/2014/main" id="{9D5EC39C-6F79-4B18-B933-60D6FDAFD035}"/>
              </a:ext>
            </a:extLst>
          </p:cNvPr>
          <p:cNvSpPr>
            <a:spLocks noGrp="1"/>
          </p:cNvSpPr>
          <p:nvPr/>
        </p:nvSpPr>
        <p:spPr>
          <a:xfrm>
            <a:off x="6381750" y="1381125"/>
            <a:ext cx="4895850" cy="3400425"/>
          </a:xfrm>
          <a:prstGeom prst="roundRect">
            <a:avLst>
              <a:gd name="adj" fmla="val 2241"/>
            </a:avLst>
          </a:prstGeom>
          <a:solidFill>
            <a:srgbClr val="E8F6F0"/>
          </a:solidFill>
          <a:ln w="9525">
            <a:solidFill>
              <a:srgbClr val="AFD2C9"/>
            </a:solidFill>
          </a:ln>
        </p:spPr>
        <p:txBody>
          <a:bodyPr lIns="171450" tIns="171450" rIns="171450" bIns="171450" anchor="t"/>
          <a:lstStyle>
            <a:defPPr algn="l">
              <a:defRPr sz="1650" b="0">
                <a:solidFill>
                  <a:srgbClr val="313A44"/>
                </a:solidFill>
                <a:latin typeface="Arial"/>
                <a:ea typeface="Arial"/>
                <a:cs typeface="Arial"/>
              </a:defRPr>
            </a:defPPr>
          </a:lstStyle>
          <a:p>
            <a:endParaRPr/>
          </a:p>
        </p:txBody>
      </p:sp>
      <p:sp>
        <p:nvSpPr>
          <p:cNvPr id="53" name="Rectángulo 52">
            <a:extLst>
              <a:ext uri="{FF2B5EF4-FFF2-40B4-BE49-F238E27FC236}">
                <a16:creationId xmlns:a16="http://schemas.microsoft.com/office/drawing/2014/main" id="{0781BC0B-8842-4D38-ADC0-B3B2F1140F65}"/>
              </a:ext>
            </a:extLst>
          </p:cNvPr>
          <p:cNvSpPr>
            <a:spLocks noGrp="1"/>
          </p:cNvSpPr>
          <p:nvPr/>
        </p:nvSpPr>
        <p:spPr>
          <a:xfrm>
            <a:off x="6381750" y="1381125"/>
            <a:ext cx="4895850" cy="400050"/>
          </a:xfrm>
          <a:prstGeom prst="rect">
            <a:avLst/>
          </a:prstGeom>
          <a:solidFill>
            <a:srgbClr val="004D40"/>
          </a:solidFill>
          <a:ln w="0">
            <a:noFill/>
          </a:ln>
        </p:spPr>
        <p:txBody>
          <a:bodyPr/>
          <a:lstStyle/>
          <a:p>
            <a:endParaRPr lang="es-ES"/>
          </a:p>
        </p:txBody>
      </p:sp>
      <p:sp>
        <p:nvSpPr>
          <p:cNvPr id="54" name="Peticiones de la aplicación">
            <a:extLst>
              <a:ext uri="{FF2B5EF4-FFF2-40B4-BE49-F238E27FC236}">
                <a16:creationId xmlns:a16="http://schemas.microsoft.com/office/drawing/2014/main" id="{423C4B42-F850-4E5F-B0E3-C8DD91B4B160}"/>
              </a:ext>
            </a:extLst>
          </p:cNvPr>
          <p:cNvSpPr>
            <a:spLocks noGrp="1"/>
          </p:cNvSpPr>
          <p:nvPr/>
        </p:nvSpPr>
        <p:spPr>
          <a:xfrm>
            <a:off x="6534150" y="1466850"/>
            <a:ext cx="4591050" cy="285750"/>
          </a:xfrm>
          <a:prstGeom prst="rect">
            <a:avLst/>
          </a:prstGeom>
          <a:noFill/>
          <a:ln w="0">
            <a:noFill/>
          </a:ln>
        </p:spPr>
        <p:txBody>
          <a:bodyPr lIns="0" tIns="0" rIns="0" bIns="0" anchor="t"/>
          <a:lstStyle>
            <a:defPPr algn="l">
              <a:defRPr sz="1650" b="1">
                <a:solidFill>
                  <a:srgbClr val="FFFFFF"/>
                </a:solidFill>
                <a:latin typeface="Arial"/>
                <a:ea typeface="Arial"/>
                <a:cs typeface="Arial"/>
              </a:defRPr>
            </a:defPPr>
          </a:lstStyle>
          <a:p>
            <a:pPr algn="l">
              <a:defRPr sz="1650" b="1">
                <a:solidFill>
                  <a:srgbClr val="FFFFFF"/>
                </a:solidFill>
                <a:latin typeface="Arial"/>
                <a:ea typeface="Arial"/>
                <a:cs typeface="Arial"/>
              </a:defRPr>
            </a:pPr>
            <a:r>
              <a:rPr sz="1650" b="1">
                <a:solidFill>
                  <a:srgbClr val="FFFFFF"/>
                </a:solidFill>
                <a:latin typeface="Arial"/>
                <a:ea typeface="Arial"/>
                <a:cs typeface="Arial"/>
              </a:rPr>
              <a:t>Peticiones de la aplicación</a:t>
            </a:r>
          </a:p>
        </p:txBody>
      </p:sp>
      <p:sp>
        <p:nvSpPr>
          <p:cNvPr id="55" name="/api/...&#10;&#10;Nginx reenvía al backend.&#10;&#10;La ">
            <a:extLst>
              <a:ext uri="{FF2B5EF4-FFF2-40B4-BE49-F238E27FC236}">
                <a16:creationId xmlns:a16="http://schemas.microsoft.com/office/drawing/2014/main" id="{ACC92924-59F3-4A4A-92BE-812C12DB1348}"/>
              </a:ext>
            </a:extLst>
          </p:cNvPr>
          <p:cNvSpPr>
            <a:spLocks noGrp="1"/>
          </p:cNvSpPr>
          <p:nvPr/>
        </p:nvSpPr>
        <p:spPr>
          <a:xfrm>
            <a:off x="6591300" y="1971675"/>
            <a:ext cx="4476750" cy="2657475"/>
          </a:xfrm>
          <a:prstGeom prst="rect">
            <a:avLst/>
          </a:prstGeom>
          <a:noFill/>
          <a:ln w="0">
            <a:noFill/>
          </a:ln>
        </p:spPr>
        <p:txBody>
          <a:bodyPr lIns="0" tIns="0" rIns="0" bIns="0" anchor="t"/>
          <a:lstStyle>
            <a:defPPr algn="l">
              <a:defRPr sz="1650" b="0">
                <a:solidFill>
                  <a:srgbClr val="313A44"/>
                </a:solidFill>
                <a:latin typeface="Arial"/>
                <a:ea typeface="Arial"/>
                <a:cs typeface="Arial"/>
              </a:defRPr>
            </a:defPPr>
          </a:lstStyle>
          <a:p>
            <a:pPr algn="l">
              <a:defRPr sz="1650" b="0">
                <a:solidFill>
                  <a:srgbClr val="313A44"/>
                </a:solidFill>
                <a:latin typeface="Arial"/>
                <a:ea typeface="Arial"/>
                <a:cs typeface="Arial"/>
              </a:defRPr>
            </a:pPr>
            <a:r>
              <a:rPr sz="1650" b="0">
                <a:solidFill>
                  <a:srgbClr val="313A44"/>
                </a:solidFill>
                <a:latin typeface="Arial"/>
                <a:ea typeface="Arial"/>
                <a:cs typeface="Arial"/>
              </a:rPr>
              <a:t>/api/...</a:t>
            </a:r>
          </a:p>
          <a:p>
            <a:endParaRPr sz="1650" b="0">
              <a:solidFill>
                <a:srgbClr val="313A44"/>
              </a:solidFill>
              <a:latin typeface="Arial"/>
              <a:ea typeface="Arial"/>
              <a:cs typeface="Arial"/>
            </a:endParaRPr>
          </a:p>
          <a:p>
            <a:pPr algn="l">
              <a:defRPr sz="1650" b="0">
                <a:solidFill>
                  <a:srgbClr val="313A44"/>
                </a:solidFill>
                <a:latin typeface="Arial"/>
                <a:ea typeface="Arial"/>
                <a:cs typeface="Arial"/>
              </a:defRPr>
            </a:pPr>
            <a:r>
              <a:rPr sz="1650" b="0">
                <a:solidFill>
                  <a:srgbClr val="313A44"/>
                </a:solidFill>
                <a:latin typeface="Arial"/>
                <a:ea typeface="Arial"/>
                <a:cs typeface="Arial"/>
              </a:rPr>
              <a:t>Nginx reenvía al backend.</a:t>
            </a:r>
          </a:p>
          <a:p>
            <a:endParaRPr sz="1650" b="0">
              <a:solidFill>
                <a:srgbClr val="313A44"/>
              </a:solidFill>
              <a:latin typeface="Arial"/>
              <a:ea typeface="Arial"/>
              <a:cs typeface="Arial"/>
            </a:endParaRPr>
          </a:p>
          <a:p>
            <a:pPr algn="l">
              <a:defRPr sz="1650" b="0">
                <a:solidFill>
                  <a:srgbClr val="313A44"/>
                </a:solidFill>
                <a:latin typeface="Arial"/>
                <a:ea typeface="Arial"/>
                <a:cs typeface="Arial"/>
              </a:defRPr>
            </a:pPr>
            <a:r>
              <a:rPr sz="1650" b="0">
                <a:solidFill>
                  <a:srgbClr val="313A44"/>
                </a:solidFill>
                <a:latin typeface="Arial"/>
                <a:ea typeface="Arial"/>
                <a:cs typeface="Arial"/>
              </a:rPr>
              <a:t>La aplicación ejecuta su lógica y genera la respuesta.</a:t>
            </a:r>
          </a:p>
        </p:txBody>
      </p:sp>
    </p:spTree>
    <p:extLst>
      <p:ext uri="{BB962C8B-B14F-4D97-AF65-F5344CB8AC3E}">
        <p14:creationId xmlns:p14="http://schemas.microsoft.com/office/powerpoint/2010/main" val="29370857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Shape 18">
            <a:extLst>
              <a:ext uri="{FF2B5EF4-FFF2-40B4-BE49-F238E27FC236}">
                <a16:creationId xmlns:a16="http://schemas.microsoft.com/office/drawing/2014/main" id="{A21D1190-F64E-B2BC-A6FE-78AF0EBF8949}"/>
              </a:ext>
            </a:extLst>
          </p:cNvPr>
          <p:cNvSpPr>
            <a:spLocks noGrp="1"/>
          </p:cNvSpPr>
          <p:nvPr/>
        </p:nvSpPr>
        <p:spPr>
          <a:xfrm>
            <a:off x="860282" y="5463540"/>
            <a:ext cx="10718044" cy="594000"/>
          </a:xfrm>
          <a:prstGeom prst="roundRect">
            <a:avLst>
              <a:gd name="adj" fmla="val 12308"/>
            </a:avLst>
          </a:prstGeom>
          <a:solidFill>
            <a:srgbClr val="FFFDE7"/>
          </a:solidFill>
          <a:ln w="16510">
            <a:solidFill>
              <a:srgbClr val="00ACC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strike="noStrike">
              <a:solidFill>
                <a:srgbClr val="000000"/>
              </a:solidFill>
              <a:latin typeface="Arial"/>
              <a:ea typeface="Arial"/>
              <a:cs typeface="Arial"/>
            </a:endParaRPr>
          </a:p>
        </p:txBody>
      </p:sp>
      <p:sp>
        <p:nvSpPr>
          <p:cNvPr id="33" name="TextBox 32">
            <a:extLst>
              <a:ext uri="{FF2B5EF4-FFF2-40B4-BE49-F238E27FC236}">
                <a16:creationId xmlns:a16="http://schemas.microsoft.com/office/drawing/2014/main" id="{31F66DA7-F80E-EED7-7362-A84C5F1E2B57}"/>
              </a:ext>
            </a:extLst>
          </p:cNvPr>
          <p:cNvSpPr>
            <a:spLocks noGrp="1"/>
          </p:cNvSpPr>
          <p:nvPr/>
        </p:nvSpPr>
        <p:spPr>
          <a:xfrm>
            <a:off x="937260" y="5578670"/>
            <a:ext cx="10564088" cy="213360"/>
          </a:xfrm>
          <a:prstGeom prst="rect">
            <a:avLst/>
          </a:prstGeom>
          <a:noFill/>
        </p:spPr>
        <p:txBody>
          <a:bodyPr wrap="square" lIns="0" tIns="0" rIns="0" bIns="0" anchor="ctr">
            <a:spAutoFit/>
          </a:bodyPr>
          <a:lstStyle>
            <a:defPPr algn="ctr">
              <a:defRPr sz="1400">
                <a:solidFill>
                  <a:srgbClr val="18365F"/>
                </a:solidFill>
                <a:latin typeface="Arial"/>
                <a:ea typeface="Arial"/>
                <a:cs typeface="Arial"/>
              </a:defRPr>
            </a:defPPr>
          </a:lstStyle>
          <a:p>
            <a:pPr algn="ctr">
              <a:buNone/>
              <a:defRPr sz="1400">
                <a:solidFill>
                  <a:srgbClr val="18365F"/>
                </a:solidFill>
                <a:latin typeface="Arial"/>
                <a:ea typeface="Arial"/>
                <a:cs typeface="Arial"/>
              </a:defRPr>
            </a:pPr>
            <a:r>
              <a:rPr sz="1400">
                <a:solidFill>
                  <a:srgbClr val="18365F"/>
                </a:solidFill>
                <a:latin typeface="Arial"/>
                <a:ea typeface="Arial"/>
                <a:cs typeface="Arial"/>
              </a:rPr>
              <a:t>Ejemplo sencillo con un location de prefijo, sin reescrituras.</a:t>
            </a:r>
          </a:p>
        </p:txBody>
      </p:sp>
      <p:sp>
        <p:nvSpPr>
          <p:cNvPr id="35" name="TextBox 34">
            <a:extLst>
              <a:ext uri="{FF2B5EF4-FFF2-40B4-BE49-F238E27FC236}">
                <a16:creationId xmlns:a16="http://schemas.microsoft.com/office/drawing/2014/main" id="{847ED172-986B-1F4B-A572-EC07E15E9547}"/>
              </a:ext>
            </a:extLst>
          </p:cNvPr>
          <p:cNvSpPr>
            <a:spLocks noGrp="1"/>
          </p:cNvSpPr>
          <p:nvPr/>
        </p:nvSpPr>
        <p:spPr>
          <a:xfrm>
            <a:off x="11734495" y="6601968"/>
            <a:ext cx="256032" cy="114300"/>
          </a:xfrm>
          <a:prstGeom prst="rect">
            <a:avLst/>
          </a:prstGeom>
          <a:noFill/>
        </p:spPr>
        <p:txBody>
          <a:bodyPr wrap="square" lIns="0" tIns="0" rIns="0" bIns="0" anchor="t">
            <a:spAutoFit/>
          </a:bodyPr>
          <a:lstStyle>
            <a:defPPr>
              <a:defRPr sz="750">
                <a:solidFill>
                  <a:srgbClr val="737C84"/>
                </a:solidFill>
                <a:latin typeface="Arial"/>
                <a:ea typeface="Arial"/>
                <a:cs typeface="Arial"/>
              </a:defRPr>
            </a:defPPr>
          </a:lstStyle>
          <a:p>
            <a:pPr algn="r">
              <a:buNone/>
              <a:defRPr sz="750">
                <a:solidFill>
                  <a:srgbClr val="737C84"/>
                </a:solidFill>
                <a:latin typeface="Arial"/>
                <a:ea typeface="Arial"/>
                <a:cs typeface="Arial"/>
              </a:defRPr>
            </a:pPr>
            <a:r>
              <a:rPr sz="750" b="0" i="0">
                <a:solidFill>
                  <a:srgbClr val="737C84"/>
                </a:solidFill>
                <a:latin typeface="Arial"/>
                <a:ea typeface="Arial"/>
                <a:cs typeface="Arial"/>
              </a:rPr>
              <a:t>6</a:t>
            </a:r>
          </a:p>
        </p:txBody>
      </p:sp>
      <p:sp>
        <p:nvSpPr>
          <p:cNvPr id="43" name="Text 2">
            <a:extLst>
              <a:ext uri="{FF2B5EF4-FFF2-40B4-BE49-F238E27FC236}">
                <a16:creationId xmlns:a16="http://schemas.microsoft.com/office/drawing/2014/main" id="{A742CC06-271C-8A14-EE0E-4886B7BFD265}"/>
              </a:ext>
            </a:extLst>
          </p:cNvPr>
          <p:cNvSpPr>
            <a:spLocks noGrp="1"/>
          </p:cNvSpPr>
          <p:nvPr/>
        </p:nvSpPr>
        <p:spPr>
          <a:xfrm>
            <a:off x="548640" y="6492240"/>
            <a:ext cx="11091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defPPr algn="r">
              <a:defRPr sz="1050">
                <a:solidFill>
                  <a:srgbClr val="757575"/>
                </a:solidFill>
                <a:latin typeface="Arial"/>
                <a:ea typeface="Arial"/>
                <a:cs typeface="Arial"/>
              </a:defRPr>
            </a:defPPr>
          </a:lstStyle>
          <a:p>
            <a:pPr algn="r">
              <a:buNone/>
              <a:tabLst>
                <a:tab pos="0" algn="l"/>
              </a:tabLst>
              <a:defRPr sz="1050">
                <a:solidFill>
                  <a:srgbClr val="757575"/>
                </a:solidFill>
                <a:latin typeface="Arial"/>
                <a:ea typeface="Arial"/>
                <a:cs typeface="Arial"/>
              </a:defRPr>
            </a:pPr>
            <a:r>
              <a:rPr sz="1050" b="0" u="none" strike="noStrike">
                <a:solidFill>
                  <a:srgbClr val="757575"/>
                </a:solidFill>
                <a:latin typeface="Arial"/>
                <a:ea typeface="Arial"/>
                <a:cs typeface="Arial"/>
              </a:rPr>
              <a:t>DAW — Tema 3: Publicación y ejecución de aplicaciones web</a:t>
            </a:r>
            <a:endParaRPr sz="1050" b="0" u="none" strike="noStrike">
              <a:solidFill>
                <a:srgbClr val="000000"/>
              </a:solidFill>
              <a:latin typeface="Arial"/>
              <a:ea typeface="Arial"/>
              <a:cs typeface="Arial"/>
            </a:endParaRPr>
          </a:p>
        </p:txBody>
      </p:sp>
      <p:sp>
        <p:nvSpPr>
          <p:cNvPr id="45" name="Shape 0">
            <a:extLst>
              <a:ext uri="{FF2B5EF4-FFF2-40B4-BE49-F238E27FC236}">
                <a16:creationId xmlns:a16="http://schemas.microsoft.com/office/drawing/2014/main" id="{6EA75EBC-A260-30AE-F0D3-DA414F41C6C8}"/>
              </a:ext>
            </a:extLst>
          </p:cNvPr>
          <p:cNvSpPr>
            <a:spLocks noGrp="1"/>
          </p:cNvSpPr>
          <p:nvPr/>
        </p:nvSpPr>
        <p:spPr>
          <a:xfrm>
            <a:off x="0" y="0"/>
            <a:ext cx="12188520" cy="776880"/>
          </a:xfrm>
          <a:prstGeom prst="rect">
            <a:avLst/>
          </a:prstGeom>
          <a:solidFill>
            <a:srgbClr val="004D40"/>
          </a:solidFill>
          <a:ln w="12700">
            <a:solidFill>
              <a:srgbClr val="004D4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strike="noStrike">
              <a:solidFill>
                <a:srgbClr val="FFFFFF"/>
              </a:solidFill>
              <a:latin typeface="Arial"/>
              <a:ea typeface="Arial"/>
              <a:cs typeface="Arial"/>
            </a:endParaRPr>
          </a:p>
        </p:txBody>
      </p:sp>
      <p:sp>
        <p:nvSpPr>
          <p:cNvPr id="47" name="Text 1">
            <a:extLst>
              <a:ext uri="{FF2B5EF4-FFF2-40B4-BE49-F238E27FC236}">
                <a16:creationId xmlns:a16="http://schemas.microsoft.com/office/drawing/2014/main" id="{A6130689-1879-EB68-E5CC-55B4B8D469DE}"/>
              </a:ext>
            </a:extLst>
          </p:cNvPr>
          <p:cNvSpPr>
            <a:spLocks noGrp="1"/>
          </p:cNvSpPr>
          <p:nvPr/>
        </p:nvSpPr>
        <p:spPr>
          <a:xfrm>
            <a:off x="384120" y="18360"/>
            <a:ext cx="1142064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defPPr>
              <a:defRPr sz="2500" b="1">
                <a:solidFill>
                  <a:srgbClr val="FFFFFF"/>
                </a:solidFill>
                <a:latin typeface="Arial"/>
                <a:ea typeface="Arial"/>
                <a:cs typeface="Arial"/>
              </a:defRPr>
            </a:defPPr>
          </a:lstStyle>
          <a:p>
            <a:pPr defTabSz="914400">
              <a:lnSpc>
                <a:spcPct val="100000"/>
              </a:lnSpc>
              <a:buNone/>
              <a:tabLst>
                <a:tab pos="0" algn="l"/>
              </a:tabLst>
              <a:defRPr sz="2500" b="1">
                <a:solidFill>
                  <a:srgbClr val="FFFFFF"/>
                </a:solidFill>
                <a:latin typeface="Arial"/>
                <a:ea typeface="Arial"/>
                <a:cs typeface="Arial"/>
              </a:defRPr>
            </a:pPr>
            <a:r>
              <a:rPr sz="2500" b="1" u="none" strike="noStrike">
                <a:solidFill>
                  <a:srgbClr val="FFFFFF"/>
                </a:solidFill>
                <a:latin typeface="Arial"/>
                <a:ea typeface="Arial"/>
                <a:cs typeface="Arial"/>
              </a:rPr>
              <a:t>Configuración mínima del reenvío</a:t>
            </a:r>
          </a:p>
        </p:txBody>
      </p:sp>
      <p:sp>
        <p:nvSpPr>
          <p:cNvPr id="48" name="location /api/ {&#10;    proxy_pass http://b">
            <a:extLst>
              <a:ext uri="{FF2B5EF4-FFF2-40B4-BE49-F238E27FC236}">
                <a16:creationId xmlns:a16="http://schemas.microsoft.com/office/drawing/2014/main" id="{D234687F-94E9-4915-8313-CED870235200}"/>
              </a:ext>
            </a:extLst>
          </p:cNvPr>
          <p:cNvSpPr>
            <a:spLocks noGrp="1"/>
          </p:cNvSpPr>
          <p:nvPr/>
        </p:nvSpPr>
        <p:spPr>
          <a:xfrm>
            <a:off x="914400" y="1381125"/>
            <a:ext cx="10382250" cy="1952625"/>
          </a:xfrm>
          <a:prstGeom prst="roundRect">
            <a:avLst>
              <a:gd name="adj" fmla="val 3902"/>
            </a:avLst>
          </a:prstGeom>
          <a:solidFill>
            <a:srgbClr val="F6F8FA"/>
          </a:solidFill>
          <a:ln w="9525">
            <a:solidFill>
              <a:srgbClr val="AFD2C9"/>
            </a:solidFill>
          </a:ln>
        </p:spPr>
        <p:txBody>
          <a:bodyPr lIns="171450" tIns="171450" rIns="171450" bIns="171450" anchor="t"/>
          <a:lstStyle>
            <a:defPPr algn="l">
              <a:defRPr sz="2100" b="0">
                <a:solidFill>
                  <a:srgbClr val="18365F"/>
                </a:solidFill>
                <a:latin typeface="Courier New"/>
                <a:ea typeface="Courier New"/>
                <a:cs typeface="Courier New"/>
              </a:defRPr>
            </a:defPPr>
          </a:lstStyle>
          <a:p>
            <a:pPr algn="l">
              <a:defRPr sz="2100" b="0">
                <a:solidFill>
                  <a:srgbClr val="18365F"/>
                </a:solidFill>
                <a:latin typeface="Courier New"/>
                <a:ea typeface="Courier New"/>
                <a:cs typeface="Courier New"/>
              </a:defRPr>
            </a:pPr>
            <a:r>
              <a:rPr sz="2100" b="0">
                <a:solidFill>
                  <a:srgbClr val="18365F"/>
                </a:solidFill>
                <a:latin typeface="Courier New"/>
                <a:ea typeface="Courier New"/>
                <a:cs typeface="Courier New"/>
              </a:rPr>
              <a:t>location /api/ {</a:t>
            </a:r>
          </a:p>
          <a:p>
            <a:pPr algn="l">
              <a:defRPr sz="2100" b="0">
                <a:solidFill>
                  <a:srgbClr val="18365F"/>
                </a:solidFill>
                <a:latin typeface="Courier New"/>
                <a:ea typeface="Courier New"/>
                <a:cs typeface="Courier New"/>
              </a:defRPr>
            </a:pPr>
            <a:r>
              <a:rPr sz="2100" b="0">
                <a:solidFill>
                  <a:srgbClr val="18365F"/>
                </a:solidFill>
                <a:latin typeface="Courier New"/>
                <a:ea typeface="Courier New"/>
                <a:cs typeface="Courier New"/>
              </a:rPr>
              <a:t>    proxy_pass http://backend:8080;</a:t>
            </a:r>
          </a:p>
          <a:p>
            <a:pPr algn="l">
              <a:defRPr sz="2100" b="0">
                <a:solidFill>
                  <a:srgbClr val="18365F"/>
                </a:solidFill>
                <a:latin typeface="Courier New"/>
                <a:ea typeface="Courier New"/>
                <a:cs typeface="Courier New"/>
              </a:defRPr>
            </a:pPr>
            <a:r>
              <a:rPr sz="2100" b="0">
                <a:solidFill>
                  <a:srgbClr val="18365F"/>
                </a:solidFill>
                <a:latin typeface="Courier New"/>
                <a:ea typeface="Courier New"/>
                <a:cs typeface="Courier New"/>
              </a:rPr>
              <a:t>}</a:t>
            </a:r>
          </a:p>
        </p:txBody>
      </p:sp>
      <p:sp>
        <p:nvSpPr>
          <p:cNvPr id="49" name="location selecciona las rutas que empiez">
            <a:extLst>
              <a:ext uri="{FF2B5EF4-FFF2-40B4-BE49-F238E27FC236}">
                <a16:creationId xmlns:a16="http://schemas.microsoft.com/office/drawing/2014/main" id="{EF991B61-A119-4D85-8C54-4E124FE3AE77}"/>
              </a:ext>
            </a:extLst>
          </p:cNvPr>
          <p:cNvSpPr>
            <a:spLocks noGrp="1"/>
          </p:cNvSpPr>
          <p:nvPr/>
        </p:nvSpPr>
        <p:spPr>
          <a:xfrm>
            <a:off x="1047750" y="3771900"/>
            <a:ext cx="10096500" cy="1066800"/>
          </a:xfrm>
          <a:prstGeom prst="rect">
            <a:avLst/>
          </a:prstGeom>
          <a:noFill/>
          <a:ln w="0">
            <a:noFill/>
          </a:ln>
        </p:spPr>
        <p:txBody>
          <a:bodyPr lIns="0" tIns="0" rIns="0" bIns="0" anchor="t"/>
          <a:lstStyle>
            <a:defPPr algn="l">
              <a:defRPr sz="1875" b="0">
                <a:solidFill>
                  <a:srgbClr val="313A44"/>
                </a:solidFill>
                <a:latin typeface="Arial"/>
                <a:ea typeface="Arial"/>
                <a:cs typeface="Arial"/>
              </a:defRPr>
            </a:defPPr>
          </a:lstStyle>
          <a:p>
            <a:pPr algn="l">
              <a:defRPr sz="1875" b="0">
                <a:solidFill>
                  <a:srgbClr val="313A44"/>
                </a:solidFill>
                <a:latin typeface="Arial"/>
                <a:ea typeface="Arial"/>
                <a:cs typeface="Arial"/>
              </a:defRPr>
            </a:pPr>
            <a:r>
              <a:rPr sz="1875" b="0">
                <a:solidFill>
                  <a:srgbClr val="313A44"/>
                </a:solidFill>
                <a:latin typeface="Arial"/>
                <a:ea typeface="Arial"/>
                <a:cs typeface="Arial"/>
              </a:rPr>
              <a:t>location selecciona las rutas que empiezan por /api/.</a:t>
            </a:r>
          </a:p>
          <a:p>
            <a:endParaRPr sz="1875" b="0">
              <a:solidFill>
                <a:srgbClr val="313A44"/>
              </a:solidFill>
              <a:latin typeface="Arial"/>
              <a:ea typeface="Arial"/>
              <a:cs typeface="Arial"/>
            </a:endParaRPr>
          </a:p>
          <a:p>
            <a:pPr algn="l">
              <a:defRPr sz="1875" b="0">
                <a:solidFill>
                  <a:srgbClr val="313A44"/>
                </a:solidFill>
                <a:latin typeface="Arial"/>
                <a:ea typeface="Arial"/>
                <a:cs typeface="Arial"/>
              </a:defRPr>
            </a:pPr>
            <a:r>
              <a:rPr sz="1875" b="0">
                <a:solidFill>
                  <a:srgbClr val="313A44"/>
                </a:solidFill>
                <a:latin typeface="Arial"/>
                <a:ea typeface="Arial"/>
                <a:cs typeface="Arial"/>
              </a:rPr>
              <a:t>proxy_pass indica el servidor al que Nginx reenvía la petición.</a:t>
            </a:r>
          </a:p>
        </p:txBody>
      </p:sp>
    </p:spTree>
    <p:extLst>
      <p:ext uri="{BB962C8B-B14F-4D97-AF65-F5344CB8AC3E}">
        <p14:creationId xmlns:p14="http://schemas.microsoft.com/office/powerpoint/2010/main" val="29370857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34">
            <a:extLst>
              <a:ext uri="{FF2B5EF4-FFF2-40B4-BE49-F238E27FC236}">
                <a16:creationId xmlns:a16="http://schemas.microsoft.com/office/drawing/2014/main" id="{847ED172-986B-1F4B-A572-EC07E15E9547}"/>
              </a:ext>
            </a:extLst>
          </p:cNvPr>
          <p:cNvSpPr>
            <a:spLocks noGrp="1"/>
          </p:cNvSpPr>
          <p:nvPr/>
        </p:nvSpPr>
        <p:spPr>
          <a:xfrm>
            <a:off x="11734495" y="6601968"/>
            <a:ext cx="256032" cy="114300"/>
          </a:xfrm>
          <a:prstGeom prst="rect">
            <a:avLst/>
          </a:prstGeom>
          <a:noFill/>
        </p:spPr>
        <p:txBody>
          <a:bodyPr wrap="square" lIns="0" tIns="0" rIns="0" bIns="0" anchor="t">
            <a:spAutoFit/>
          </a:bodyPr>
          <a:lstStyle>
            <a:defPPr>
              <a:defRPr sz="750">
                <a:solidFill>
                  <a:srgbClr val="737C84"/>
                </a:solidFill>
                <a:latin typeface="Arial"/>
                <a:ea typeface="Arial"/>
                <a:cs typeface="Arial"/>
              </a:defRPr>
            </a:defPPr>
          </a:lstStyle>
          <a:p>
            <a:pPr algn="r">
              <a:buNone/>
              <a:defRPr sz="750">
                <a:solidFill>
                  <a:srgbClr val="737C84"/>
                </a:solidFill>
                <a:latin typeface="Arial"/>
                <a:ea typeface="Arial"/>
                <a:cs typeface="Arial"/>
              </a:defRPr>
            </a:pPr>
            <a:r>
              <a:rPr sz="750" b="0" i="0">
                <a:solidFill>
                  <a:srgbClr val="737C84"/>
                </a:solidFill>
                <a:latin typeface="Arial"/>
                <a:ea typeface="Arial"/>
                <a:cs typeface="Arial"/>
              </a:rPr>
              <a:t>7</a:t>
            </a:r>
          </a:p>
        </p:txBody>
      </p:sp>
      <p:sp>
        <p:nvSpPr>
          <p:cNvPr id="43" name="Text 2">
            <a:extLst>
              <a:ext uri="{FF2B5EF4-FFF2-40B4-BE49-F238E27FC236}">
                <a16:creationId xmlns:a16="http://schemas.microsoft.com/office/drawing/2014/main" id="{A742CC06-271C-8A14-EE0E-4886B7BFD265}"/>
              </a:ext>
            </a:extLst>
          </p:cNvPr>
          <p:cNvSpPr>
            <a:spLocks noGrp="1"/>
          </p:cNvSpPr>
          <p:nvPr/>
        </p:nvSpPr>
        <p:spPr>
          <a:xfrm>
            <a:off x="548640" y="6492240"/>
            <a:ext cx="11091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defPPr algn="r">
              <a:defRPr sz="1050">
                <a:solidFill>
                  <a:srgbClr val="757575"/>
                </a:solidFill>
                <a:latin typeface="Arial"/>
                <a:ea typeface="Arial"/>
                <a:cs typeface="Arial"/>
              </a:defRPr>
            </a:defPPr>
          </a:lstStyle>
          <a:p>
            <a:pPr algn="r">
              <a:buNone/>
              <a:tabLst>
                <a:tab pos="0" algn="l"/>
              </a:tabLst>
              <a:defRPr sz="1050">
                <a:solidFill>
                  <a:srgbClr val="757575"/>
                </a:solidFill>
                <a:latin typeface="Arial"/>
                <a:ea typeface="Arial"/>
                <a:cs typeface="Arial"/>
              </a:defRPr>
            </a:pPr>
            <a:r>
              <a:rPr sz="1050" b="0" u="none" strike="noStrike">
                <a:solidFill>
                  <a:srgbClr val="757575"/>
                </a:solidFill>
                <a:latin typeface="Arial"/>
                <a:ea typeface="Arial"/>
                <a:cs typeface="Arial"/>
              </a:rPr>
              <a:t>DAW — Tema 3: Publicación y ejecución de aplicaciones web</a:t>
            </a:r>
            <a:endParaRPr sz="1050" b="0" u="none" strike="noStrike">
              <a:solidFill>
                <a:srgbClr val="000000"/>
              </a:solidFill>
              <a:latin typeface="Arial"/>
              <a:ea typeface="Arial"/>
              <a:cs typeface="Arial"/>
            </a:endParaRPr>
          </a:p>
        </p:txBody>
      </p:sp>
      <p:sp>
        <p:nvSpPr>
          <p:cNvPr id="45" name="Shape 0">
            <a:extLst>
              <a:ext uri="{FF2B5EF4-FFF2-40B4-BE49-F238E27FC236}">
                <a16:creationId xmlns:a16="http://schemas.microsoft.com/office/drawing/2014/main" id="{6EA75EBC-A260-30AE-F0D3-DA414F41C6C8}"/>
              </a:ext>
            </a:extLst>
          </p:cNvPr>
          <p:cNvSpPr>
            <a:spLocks noGrp="1"/>
          </p:cNvSpPr>
          <p:nvPr/>
        </p:nvSpPr>
        <p:spPr>
          <a:xfrm>
            <a:off x="0" y="0"/>
            <a:ext cx="12188520" cy="776880"/>
          </a:xfrm>
          <a:prstGeom prst="rect">
            <a:avLst/>
          </a:prstGeom>
          <a:solidFill>
            <a:srgbClr val="004D40"/>
          </a:solidFill>
          <a:ln w="12700">
            <a:solidFill>
              <a:srgbClr val="004D4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strike="noStrike">
              <a:solidFill>
                <a:srgbClr val="FFFFFF"/>
              </a:solidFill>
              <a:latin typeface="Arial"/>
              <a:ea typeface="Arial"/>
              <a:cs typeface="Arial"/>
            </a:endParaRPr>
          </a:p>
        </p:txBody>
      </p:sp>
      <p:sp>
        <p:nvSpPr>
          <p:cNvPr id="47" name="Text 1">
            <a:extLst>
              <a:ext uri="{FF2B5EF4-FFF2-40B4-BE49-F238E27FC236}">
                <a16:creationId xmlns:a16="http://schemas.microsoft.com/office/drawing/2014/main" id="{A6130689-1879-EB68-E5CC-55B4B8D469DE}"/>
              </a:ext>
            </a:extLst>
          </p:cNvPr>
          <p:cNvSpPr>
            <a:spLocks noGrp="1"/>
          </p:cNvSpPr>
          <p:nvPr/>
        </p:nvSpPr>
        <p:spPr>
          <a:xfrm>
            <a:off x="384120" y="18360"/>
            <a:ext cx="1142064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defPPr>
              <a:defRPr sz="2500" b="1">
                <a:solidFill>
                  <a:srgbClr val="FFFFFF"/>
                </a:solidFill>
                <a:latin typeface="Arial"/>
                <a:ea typeface="Arial"/>
                <a:cs typeface="Arial"/>
              </a:defRPr>
            </a:defPPr>
          </a:lstStyle>
          <a:p>
            <a:pPr defTabSz="914400">
              <a:lnSpc>
                <a:spcPct val="100000"/>
              </a:lnSpc>
              <a:buNone/>
              <a:tabLst>
                <a:tab pos="0" algn="l"/>
              </a:tabLst>
              <a:defRPr sz="2500" b="1">
                <a:solidFill>
                  <a:srgbClr val="FFFFFF"/>
                </a:solidFill>
                <a:latin typeface="Arial"/>
                <a:ea typeface="Arial"/>
                <a:cs typeface="Arial"/>
              </a:defRPr>
            </a:pPr>
            <a:r>
              <a:rPr sz="2500" b="1" u="none" strike="noStrike">
                <a:solidFill>
                  <a:srgbClr val="FFFFFF"/>
                </a:solidFill>
                <a:latin typeface="Arial"/>
                <a:ea typeface="Arial"/>
                <a:cs typeface="Arial"/>
              </a:rPr>
              <a:t>La ruta que recibe el backend</a:t>
            </a:r>
          </a:p>
        </p:txBody>
      </p:sp>
      <p:pic>
        <p:nvPicPr>
          <p:cNvPr id="48" name="Imagen 47">
            <a:extLst>
              <a:ext uri="{FF2B5EF4-FFF2-40B4-BE49-F238E27FC236}">
                <a16:creationId xmlns:a16="http://schemas.microsoft.com/office/drawing/2014/main" id="{C0089D6A-1992-43AD-A23D-D1D7E8FD1E80}"/>
              </a:ext>
            </a:extLst>
          </p:cNvPr>
          <p:cNvPicPr>
            <a:picLocks noChangeAspect="1"/>
          </p:cNvPicPr>
          <p:nvPr/>
        </p:nvPicPr>
        <p:blipFill>
          <a:blip r:embed="rId3"/>
          <a:stretch/>
        </p:blipFill>
        <p:spPr>
          <a:xfrm>
            <a:off x="1357186" y="942975"/>
            <a:ext cx="9477628" cy="5334000"/>
          </a:xfrm>
          <a:prstGeom prst="rect">
            <a:avLst/>
          </a:prstGeom>
        </p:spPr>
      </p:pic>
    </p:spTree>
    <p:extLst>
      <p:ext uri="{BB962C8B-B14F-4D97-AF65-F5344CB8AC3E}">
        <p14:creationId xmlns:p14="http://schemas.microsoft.com/office/powerpoint/2010/main" val="29370857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34">
            <a:extLst>
              <a:ext uri="{FF2B5EF4-FFF2-40B4-BE49-F238E27FC236}">
                <a16:creationId xmlns:a16="http://schemas.microsoft.com/office/drawing/2014/main" id="{847ED172-986B-1F4B-A572-EC07E15E9547}"/>
              </a:ext>
            </a:extLst>
          </p:cNvPr>
          <p:cNvSpPr>
            <a:spLocks noGrp="1"/>
          </p:cNvSpPr>
          <p:nvPr/>
        </p:nvSpPr>
        <p:spPr>
          <a:xfrm>
            <a:off x="11734495" y="6601968"/>
            <a:ext cx="256032" cy="114300"/>
          </a:xfrm>
          <a:prstGeom prst="rect">
            <a:avLst/>
          </a:prstGeom>
          <a:noFill/>
        </p:spPr>
        <p:txBody>
          <a:bodyPr wrap="square" lIns="0" tIns="0" rIns="0" bIns="0" anchor="t">
            <a:spAutoFit/>
          </a:bodyPr>
          <a:lstStyle>
            <a:defPPr>
              <a:defRPr sz="750">
                <a:solidFill>
                  <a:srgbClr val="737C84"/>
                </a:solidFill>
                <a:latin typeface="Arial"/>
                <a:ea typeface="Arial"/>
                <a:cs typeface="Arial"/>
              </a:defRPr>
            </a:defPPr>
          </a:lstStyle>
          <a:p>
            <a:pPr algn="r">
              <a:buNone/>
              <a:defRPr sz="750">
                <a:solidFill>
                  <a:srgbClr val="737C84"/>
                </a:solidFill>
                <a:latin typeface="Arial"/>
                <a:ea typeface="Arial"/>
                <a:cs typeface="Arial"/>
              </a:defRPr>
            </a:pPr>
            <a:r>
              <a:rPr sz="750" b="0" i="0">
                <a:solidFill>
                  <a:srgbClr val="737C84"/>
                </a:solidFill>
                <a:latin typeface="Arial"/>
                <a:ea typeface="Arial"/>
                <a:cs typeface="Arial"/>
              </a:rPr>
              <a:t>8</a:t>
            </a:r>
          </a:p>
        </p:txBody>
      </p:sp>
      <p:sp>
        <p:nvSpPr>
          <p:cNvPr id="43" name="Text 2">
            <a:extLst>
              <a:ext uri="{FF2B5EF4-FFF2-40B4-BE49-F238E27FC236}">
                <a16:creationId xmlns:a16="http://schemas.microsoft.com/office/drawing/2014/main" id="{A742CC06-271C-8A14-EE0E-4886B7BFD265}"/>
              </a:ext>
            </a:extLst>
          </p:cNvPr>
          <p:cNvSpPr>
            <a:spLocks noGrp="1"/>
          </p:cNvSpPr>
          <p:nvPr/>
        </p:nvSpPr>
        <p:spPr>
          <a:xfrm>
            <a:off x="548640" y="6492240"/>
            <a:ext cx="11091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defPPr algn="r">
              <a:defRPr sz="1050">
                <a:solidFill>
                  <a:srgbClr val="757575"/>
                </a:solidFill>
                <a:latin typeface="Arial"/>
                <a:ea typeface="Arial"/>
                <a:cs typeface="Arial"/>
              </a:defRPr>
            </a:defPPr>
          </a:lstStyle>
          <a:p>
            <a:pPr algn="r">
              <a:buNone/>
              <a:tabLst>
                <a:tab pos="0" algn="l"/>
              </a:tabLst>
              <a:defRPr sz="1050">
                <a:solidFill>
                  <a:srgbClr val="757575"/>
                </a:solidFill>
                <a:latin typeface="Arial"/>
                <a:ea typeface="Arial"/>
                <a:cs typeface="Arial"/>
              </a:defRPr>
            </a:pPr>
            <a:r>
              <a:rPr sz="1050" b="0" u="none" strike="noStrike">
                <a:solidFill>
                  <a:srgbClr val="757575"/>
                </a:solidFill>
                <a:latin typeface="Arial"/>
                <a:ea typeface="Arial"/>
                <a:cs typeface="Arial"/>
              </a:rPr>
              <a:t>DAW — Tema 3: Publicación y ejecución de aplicaciones web</a:t>
            </a:r>
            <a:endParaRPr sz="1050" b="0" u="none" strike="noStrike">
              <a:solidFill>
                <a:srgbClr val="000000"/>
              </a:solidFill>
              <a:latin typeface="Arial"/>
              <a:ea typeface="Arial"/>
              <a:cs typeface="Arial"/>
            </a:endParaRPr>
          </a:p>
        </p:txBody>
      </p:sp>
      <p:sp>
        <p:nvSpPr>
          <p:cNvPr id="45" name="Shape 0">
            <a:extLst>
              <a:ext uri="{FF2B5EF4-FFF2-40B4-BE49-F238E27FC236}">
                <a16:creationId xmlns:a16="http://schemas.microsoft.com/office/drawing/2014/main" id="{6EA75EBC-A260-30AE-F0D3-DA414F41C6C8}"/>
              </a:ext>
            </a:extLst>
          </p:cNvPr>
          <p:cNvSpPr>
            <a:spLocks noGrp="1"/>
          </p:cNvSpPr>
          <p:nvPr/>
        </p:nvSpPr>
        <p:spPr>
          <a:xfrm>
            <a:off x="0" y="0"/>
            <a:ext cx="12188520" cy="776880"/>
          </a:xfrm>
          <a:prstGeom prst="rect">
            <a:avLst/>
          </a:prstGeom>
          <a:solidFill>
            <a:srgbClr val="004D40"/>
          </a:solidFill>
          <a:ln w="12700">
            <a:solidFill>
              <a:srgbClr val="004D4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strike="noStrike">
              <a:solidFill>
                <a:srgbClr val="FFFFFF"/>
              </a:solidFill>
              <a:latin typeface="Arial"/>
              <a:ea typeface="Arial"/>
              <a:cs typeface="Arial"/>
            </a:endParaRPr>
          </a:p>
        </p:txBody>
      </p:sp>
      <p:sp>
        <p:nvSpPr>
          <p:cNvPr id="47" name="Text 1">
            <a:extLst>
              <a:ext uri="{FF2B5EF4-FFF2-40B4-BE49-F238E27FC236}">
                <a16:creationId xmlns:a16="http://schemas.microsoft.com/office/drawing/2014/main" id="{A6130689-1879-EB68-E5CC-55B4B8D469DE}"/>
              </a:ext>
            </a:extLst>
          </p:cNvPr>
          <p:cNvSpPr>
            <a:spLocks noGrp="1"/>
          </p:cNvSpPr>
          <p:nvPr/>
        </p:nvSpPr>
        <p:spPr>
          <a:xfrm>
            <a:off x="384120" y="18360"/>
            <a:ext cx="1142064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defPPr>
              <a:defRPr sz="2500" b="1">
                <a:solidFill>
                  <a:srgbClr val="FFFFFF"/>
                </a:solidFill>
                <a:latin typeface="Arial"/>
                <a:ea typeface="Arial"/>
                <a:cs typeface="Arial"/>
              </a:defRPr>
            </a:defPPr>
          </a:lstStyle>
          <a:p>
            <a:pPr defTabSz="914400">
              <a:lnSpc>
                <a:spcPct val="100000"/>
              </a:lnSpc>
              <a:buNone/>
              <a:tabLst>
                <a:tab pos="0" algn="l"/>
              </a:tabLst>
              <a:defRPr sz="2500" b="1">
                <a:solidFill>
                  <a:srgbClr val="FFFFFF"/>
                </a:solidFill>
                <a:latin typeface="Arial"/>
                <a:ea typeface="Arial"/>
                <a:cs typeface="Arial"/>
              </a:defRPr>
            </a:pPr>
            <a:r>
              <a:rPr sz="2500" b="1" u="none" strike="noStrike">
                <a:solidFill>
                  <a:srgbClr val="FFFFFF"/>
                </a:solidFill>
                <a:latin typeface="Arial"/>
                <a:ea typeface="Arial"/>
                <a:cs typeface="Arial"/>
              </a:rPr>
              <a:t>Información original y cabeceras reenviadas</a:t>
            </a:r>
          </a:p>
        </p:txBody>
      </p:sp>
      <p:pic>
        <p:nvPicPr>
          <p:cNvPr id="48" name="Imagen 47">
            <a:extLst>
              <a:ext uri="{FF2B5EF4-FFF2-40B4-BE49-F238E27FC236}">
                <a16:creationId xmlns:a16="http://schemas.microsoft.com/office/drawing/2014/main" id="{6F63F692-04A0-4A69-8258-AABC0AF19FA6}"/>
              </a:ext>
            </a:extLst>
          </p:cNvPr>
          <p:cNvPicPr>
            <a:picLocks noChangeAspect="1"/>
          </p:cNvPicPr>
          <p:nvPr/>
        </p:nvPicPr>
        <p:blipFill>
          <a:blip r:embed="rId3"/>
          <a:stretch/>
        </p:blipFill>
        <p:spPr>
          <a:xfrm>
            <a:off x="1357186" y="942975"/>
            <a:ext cx="9477628" cy="5334000"/>
          </a:xfrm>
          <a:prstGeom prst="rect">
            <a:avLst/>
          </a:prstGeom>
        </p:spPr>
      </p:pic>
    </p:spTree>
    <p:extLst>
      <p:ext uri="{BB962C8B-B14F-4D97-AF65-F5344CB8AC3E}">
        <p14:creationId xmlns:p14="http://schemas.microsoft.com/office/powerpoint/2010/main" val="29370857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Shape 18">
            <a:extLst>
              <a:ext uri="{FF2B5EF4-FFF2-40B4-BE49-F238E27FC236}">
                <a16:creationId xmlns:a16="http://schemas.microsoft.com/office/drawing/2014/main" id="{A21D1190-F64E-B2BC-A6FE-78AF0EBF8949}"/>
              </a:ext>
            </a:extLst>
          </p:cNvPr>
          <p:cNvSpPr>
            <a:spLocks noGrp="1"/>
          </p:cNvSpPr>
          <p:nvPr/>
        </p:nvSpPr>
        <p:spPr>
          <a:xfrm>
            <a:off x="860282" y="5463540"/>
            <a:ext cx="10718044" cy="594000"/>
          </a:xfrm>
          <a:prstGeom prst="roundRect">
            <a:avLst>
              <a:gd name="adj" fmla="val 12308"/>
            </a:avLst>
          </a:prstGeom>
          <a:solidFill>
            <a:srgbClr val="FFFDE7"/>
          </a:solidFill>
          <a:ln w="16510">
            <a:solidFill>
              <a:srgbClr val="00ACC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strike="noStrike">
              <a:solidFill>
                <a:srgbClr val="000000"/>
              </a:solidFill>
              <a:latin typeface="Arial"/>
              <a:ea typeface="Arial"/>
              <a:cs typeface="Arial"/>
            </a:endParaRPr>
          </a:p>
        </p:txBody>
      </p:sp>
      <p:sp>
        <p:nvSpPr>
          <p:cNvPr id="33" name="TextBox 32">
            <a:extLst>
              <a:ext uri="{FF2B5EF4-FFF2-40B4-BE49-F238E27FC236}">
                <a16:creationId xmlns:a16="http://schemas.microsoft.com/office/drawing/2014/main" id="{31F66DA7-F80E-EED7-7362-A84C5F1E2B57}"/>
              </a:ext>
            </a:extLst>
          </p:cNvPr>
          <p:cNvSpPr>
            <a:spLocks noGrp="1"/>
          </p:cNvSpPr>
          <p:nvPr/>
        </p:nvSpPr>
        <p:spPr>
          <a:xfrm>
            <a:off x="937260" y="5578670"/>
            <a:ext cx="10564088" cy="213360"/>
          </a:xfrm>
          <a:prstGeom prst="rect">
            <a:avLst/>
          </a:prstGeom>
          <a:noFill/>
        </p:spPr>
        <p:txBody>
          <a:bodyPr wrap="square" lIns="0" tIns="0" rIns="0" bIns="0" anchor="ctr">
            <a:spAutoFit/>
          </a:bodyPr>
          <a:lstStyle>
            <a:defPPr algn="ctr">
              <a:defRPr sz="1400">
                <a:solidFill>
                  <a:srgbClr val="18365F"/>
                </a:solidFill>
                <a:latin typeface="Arial"/>
                <a:ea typeface="Arial"/>
                <a:cs typeface="Arial"/>
              </a:defRPr>
            </a:defPPr>
          </a:lstStyle>
          <a:p>
            <a:pPr algn="ctr">
              <a:buNone/>
              <a:defRPr sz="1400">
                <a:solidFill>
                  <a:srgbClr val="18365F"/>
                </a:solidFill>
                <a:latin typeface="Arial"/>
                <a:ea typeface="Arial"/>
                <a:cs typeface="Arial"/>
              </a:defRPr>
            </a:pPr>
            <a:r>
              <a:rPr sz="1400">
                <a:solidFill>
                  <a:srgbClr val="18365F"/>
                </a:solidFill>
                <a:latin typeface="Arial"/>
                <a:ea typeface="Arial"/>
                <a:cs typeface="Arial"/>
              </a:rPr>
              <a:t>La aplicación debe interpretar las cabeceras y confiar en los proxies configurados.</a:t>
            </a:r>
          </a:p>
        </p:txBody>
      </p:sp>
      <p:sp>
        <p:nvSpPr>
          <p:cNvPr id="35" name="TextBox 34">
            <a:extLst>
              <a:ext uri="{FF2B5EF4-FFF2-40B4-BE49-F238E27FC236}">
                <a16:creationId xmlns:a16="http://schemas.microsoft.com/office/drawing/2014/main" id="{847ED172-986B-1F4B-A572-EC07E15E9547}"/>
              </a:ext>
            </a:extLst>
          </p:cNvPr>
          <p:cNvSpPr>
            <a:spLocks noGrp="1"/>
          </p:cNvSpPr>
          <p:nvPr/>
        </p:nvSpPr>
        <p:spPr>
          <a:xfrm>
            <a:off x="11734495" y="6601968"/>
            <a:ext cx="256032" cy="114300"/>
          </a:xfrm>
          <a:prstGeom prst="rect">
            <a:avLst/>
          </a:prstGeom>
          <a:noFill/>
        </p:spPr>
        <p:txBody>
          <a:bodyPr wrap="square" lIns="0" tIns="0" rIns="0" bIns="0" anchor="t">
            <a:spAutoFit/>
          </a:bodyPr>
          <a:lstStyle>
            <a:defPPr>
              <a:defRPr sz="750">
                <a:solidFill>
                  <a:srgbClr val="737C84"/>
                </a:solidFill>
                <a:latin typeface="Arial"/>
                <a:ea typeface="Arial"/>
                <a:cs typeface="Arial"/>
              </a:defRPr>
            </a:defPPr>
          </a:lstStyle>
          <a:p>
            <a:pPr algn="r">
              <a:buNone/>
              <a:defRPr sz="750">
                <a:solidFill>
                  <a:srgbClr val="737C84"/>
                </a:solidFill>
                <a:latin typeface="Arial"/>
                <a:ea typeface="Arial"/>
                <a:cs typeface="Arial"/>
              </a:defRPr>
            </a:pPr>
            <a:r>
              <a:rPr sz="750" b="0" i="0">
                <a:solidFill>
                  <a:srgbClr val="737C84"/>
                </a:solidFill>
                <a:latin typeface="Arial"/>
                <a:ea typeface="Arial"/>
                <a:cs typeface="Arial"/>
              </a:rPr>
              <a:t>9</a:t>
            </a:r>
          </a:p>
        </p:txBody>
      </p:sp>
      <p:sp>
        <p:nvSpPr>
          <p:cNvPr id="43" name="Text 2">
            <a:extLst>
              <a:ext uri="{FF2B5EF4-FFF2-40B4-BE49-F238E27FC236}">
                <a16:creationId xmlns:a16="http://schemas.microsoft.com/office/drawing/2014/main" id="{A742CC06-271C-8A14-EE0E-4886B7BFD265}"/>
              </a:ext>
            </a:extLst>
          </p:cNvPr>
          <p:cNvSpPr>
            <a:spLocks noGrp="1"/>
          </p:cNvSpPr>
          <p:nvPr/>
        </p:nvSpPr>
        <p:spPr>
          <a:xfrm>
            <a:off x="548640" y="6492240"/>
            <a:ext cx="11091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defPPr algn="r">
              <a:defRPr sz="1050">
                <a:solidFill>
                  <a:srgbClr val="757575"/>
                </a:solidFill>
                <a:latin typeface="Arial"/>
                <a:ea typeface="Arial"/>
                <a:cs typeface="Arial"/>
              </a:defRPr>
            </a:defPPr>
          </a:lstStyle>
          <a:p>
            <a:pPr algn="r">
              <a:buNone/>
              <a:tabLst>
                <a:tab pos="0" algn="l"/>
              </a:tabLst>
              <a:defRPr sz="1050">
                <a:solidFill>
                  <a:srgbClr val="757575"/>
                </a:solidFill>
                <a:latin typeface="Arial"/>
                <a:ea typeface="Arial"/>
                <a:cs typeface="Arial"/>
              </a:defRPr>
            </a:pPr>
            <a:r>
              <a:rPr sz="1050" b="0" u="none" strike="noStrike">
                <a:solidFill>
                  <a:srgbClr val="757575"/>
                </a:solidFill>
                <a:latin typeface="Arial"/>
                <a:ea typeface="Arial"/>
                <a:cs typeface="Arial"/>
              </a:rPr>
              <a:t>DAW — Tema 3: Publicación y ejecución de aplicaciones web</a:t>
            </a:r>
            <a:endParaRPr sz="1050" b="0" u="none" strike="noStrike">
              <a:solidFill>
                <a:srgbClr val="000000"/>
              </a:solidFill>
              <a:latin typeface="Arial"/>
              <a:ea typeface="Arial"/>
              <a:cs typeface="Arial"/>
            </a:endParaRPr>
          </a:p>
        </p:txBody>
      </p:sp>
      <p:sp>
        <p:nvSpPr>
          <p:cNvPr id="45" name="Shape 0">
            <a:extLst>
              <a:ext uri="{FF2B5EF4-FFF2-40B4-BE49-F238E27FC236}">
                <a16:creationId xmlns:a16="http://schemas.microsoft.com/office/drawing/2014/main" id="{6EA75EBC-A260-30AE-F0D3-DA414F41C6C8}"/>
              </a:ext>
            </a:extLst>
          </p:cNvPr>
          <p:cNvSpPr>
            <a:spLocks noGrp="1"/>
          </p:cNvSpPr>
          <p:nvPr/>
        </p:nvSpPr>
        <p:spPr>
          <a:xfrm>
            <a:off x="0" y="0"/>
            <a:ext cx="12188520" cy="776880"/>
          </a:xfrm>
          <a:prstGeom prst="rect">
            <a:avLst/>
          </a:prstGeom>
          <a:solidFill>
            <a:srgbClr val="004D40"/>
          </a:solidFill>
          <a:ln w="12700">
            <a:solidFill>
              <a:srgbClr val="004D4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strike="noStrike">
              <a:solidFill>
                <a:srgbClr val="FFFFFF"/>
              </a:solidFill>
              <a:latin typeface="Arial"/>
              <a:ea typeface="Arial"/>
              <a:cs typeface="Arial"/>
            </a:endParaRPr>
          </a:p>
        </p:txBody>
      </p:sp>
      <p:sp>
        <p:nvSpPr>
          <p:cNvPr id="47" name="Text 1">
            <a:extLst>
              <a:ext uri="{FF2B5EF4-FFF2-40B4-BE49-F238E27FC236}">
                <a16:creationId xmlns:a16="http://schemas.microsoft.com/office/drawing/2014/main" id="{A6130689-1879-EB68-E5CC-55B4B8D469DE}"/>
              </a:ext>
            </a:extLst>
          </p:cNvPr>
          <p:cNvSpPr>
            <a:spLocks noGrp="1"/>
          </p:cNvSpPr>
          <p:nvPr/>
        </p:nvSpPr>
        <p:spPr>
          <a:xfrm>
            <a:off x="384120" y="18360"/>
            <a:ext cx="1142064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defPPr>
              <a:defRPr sz="2500" b="1">
                <a:solidFill>
                  <a:srgbClr val="FFFFFF"/>
                </a:solidFill>
                <a:latin typeface="Arial"/>
                <a:ea typeface="Arial"/>
                <a:cs typeface="Arial"/>
              </a:defRPr>
            </a:defPPr>
          </a:lstStyle>
          <a:p>
            <a:pPr defTabSz="914400">
              <a:lnSpc>
                <a:spcPct val="100000"/>
              </a:lnSpc>
              <a:buNone/>
              <a:tabLst>
                <a:tab pos="0" algn="l"/>
              </a:tabLst>
              <a:defRPr sz="2500" b="1">
                <a:solidFill>
                  <a:srgbClr val="FFFFFF"/>
                </a:solidFill>
                <a:latin typeface="Arial"/>
                <a:ea typeface="Arial"/>
                <a:cs typeface="Arial"/>
              </a:defRPr>
            </a:pPr>
            <a:r>
              <a:rPr sz="2500" b="1" u="none" strike="noStrike">
                <a:solidFill>
                  <a:srgbClr val="FFFFFF"/>
                </a:solidFill>
                <a:latin typeface="Arial"/>
                <a:ea typeface="Arial"/>
                <a:cs typeface="Arial"/>
              </a:rPr>
              <a:t>Confianza en el proxy</a:t>
            </a:r>
          </a:p>
        </p:txBody>
      </p:sp>
      <p:sp>
        <p:nvSpPr>
          <p:cNvPr id="48" name="proxy_set_header Host              $host">
            <a:extLst>
              <a:ext uri="{FF2B5EF4-FFF2-40B4-BE49-F238E27FC236}">
                <a16:creationId xmlns:a16="http://schemas.microsoft.com/office/drawing/2014/main" id="{477BED67-EEC9-429E-9CD7-8620115D3A4C}"/>
              </a:ext>
            </a:extLst>
          </p:cNvPr>
          <p:cNvSpPr>
            <a:spLocks noGrp="1"/>
          </p:cNvSpPr>
          <p:nvPr/>
        </p:nvSpPr>
        <p:spPr>
          <a:xfrm>
            <a:off x="914400" y="1352550"/>
            <a:ext cx="10382250" cy="1676400"/>
          </a:xfrm>
          <a:prstGeom prst="roundRect">
            <a:avLst>
              <a:gd name="adj" fmla="val 4545"/>
            </a:avLst>
          </a:prstGeom>
          <a:solidFill>
            <a:srgbClr val="F6F8FA"/>
          </a:solidFill>
          <a:ln w="9525">
            <a:solidFill>
              <a:srgbClr val="AFD2C9"/>
            </a:solidFill>
          </a:ln>
        </p:spPr>
        <p:txBody>
          <a:bodyPr lIns="171450" tIns="171450" rIns="171450" bIns="171450" anchor="t"/>
          <a:lstStyle>
            <a:defPPr algn="l">
              <a:defRPr sz="1875" b="0">
                <a:solidFill>
                  <a:srgbClr val="18365F"/>
                </a:solidFill>
                <a:latin typeface="Courier New"/>
                <a:ea typeface="Courier New"/>
                <a:cs typeface="Courier New"/>
              </a:defRPr>
            </a:defPPr>
          </a:lstStyle>
          <a:p>
            <a:pPr algn="l">
              <a:defRPr sz="1875" b="0">
                <a:solidFill>
                  <a:srgbClr val="18365F"/>
                </a:solidFill>
                <a:latin typeface="Courier New"/>
                <a:ea typeface="Courier New"/>
                <a:cs typeface="Courier New"/>
              </a:defRPr>
            </a:pPr>
            <a:r>
              <a:rPr sz="1875" b="0">
                <a:solidFill>
                  <a:srgbClr val="18365F"/>
                </a:solidFill>
                <a:latin typeface="Courier New"/>
                <a:ea typeface="Courier New"/>
                <a:cs typeface="Courier New"/>
              </a:rPr>
              <a:t>proxy_set_header Host              $host;</a:t>
            </a:r>
          </a:p>
          <a:p>
            <a:pPr algn="l">
              <a:defRPr sz="1875" b="0">
                <a:solidFill>
                  <a:srgbClr val="18365F"/>
                </a:solidFill>
                <a:latin typeface="Courier New"/>
                <a:ea typeface="Courier New"/>
                <a:cs typeface="Courier New"/>
              </a:defRPr>
            </a:pPr>
            <a:r>
              <a:rPr sz="1875" b="0">
                <a:solidFill>
                  <a:srgbClr val="18365F"/>
                </a:solidFill>
                <a:latin typeface="Courier New"/>
                <a:ea typeface="Courier New"/>
                <a:cs typeface="Courier New"/>
              </a:rPr>
              <a:t>proxy_set_header X-Forwarded-For   $remote_addr;</a:t>
            </a:r>
          </a:p>
          <a:p>
            <a:pPr algn="l">
              <a:defRPr sz="1875" b="0">
                <a:solidFill>
                  <a:srgbClr val="18365F"/>
                </a:solidFill>
                <a:latin typeface="Courier New"/>
                <a:ea typeface="Courier New"/>
                <a:cs typeface="Courier New"/>
              </a:defRPr>
            </a:pPr>
            <a:r>
              <a:rPr sz="1875" b="0">
                <a:solidFill>
                  <a:srgbClr val="18365F"/>
                </a:solidFill>
                <a:latin typeface="Courier New"/>
                <a:ea typeface="Courier New"/>
                <a:cs typeface="Courier New"/>
              </a:rPr>
              <a:t>proxy_set_header X-Forwarded-Proto $scheme;</a:t>
            </a:r>
          </a:p>
        </p:txBody>
      </p:sp>
      <p:sp>
        <p:nvSpPr>
          <p:cNvPr id="49" name="Un cliente puede inventar el valor de X-">
            <a:extLst>
              <a:ext uri="{FF2B5EF4-FFF2-40B4-BE49-F238E27FC236}">
                <a16:creationId xmlns:a16="http://schemas.microsoft.com/office/drawing/2014/main" id="{1459E656-5AA0-47FF-B05D-7A7F4BC45F4C}"/>
              </a:ext>
            </a:extLst>
          </p:cNvPr>
          <p:cNvSpPr>
            <a:spLocks noGrp="1"/>
          </p:cNvSpPr>
          <p:nvPr/>
        </p:nvSpPr>
        <p:spPr>
          <a:xfrm>
            <a:off x="1047750" y="3429000"/>
            <a:ext cx="10096500" cy="1619250"/>
          </a:xfrm>
          <a:prstGeom prst="rect">
            <a:avLst/>
          </a:prstGeom>
          <a:noFill/>
          <a:ln w="0">
            <a:noFill/>
          </a:ln>
        </p:spPr>
        <p:txBody>
          <a:bodyPr lIns="0" tIns="0" rIns="0" bIns="0" anchor="t"/>
          <a:lstStyle>
            <a:defPPr algn="l">
              <a:defRPr sz="1875" b="0">
                <a:solidFill>
                  <a:srgbClr val="313A44"/>
                </a:solidFill>
                <a:latin typeface="Arial"/>
                <a:ea typeface="Arial"/>
                <a:cs typeface="Arial"/>
              </a:defRPr>
            </a:defPPr>
          </a:lstStyle>
          <a:p>
            <a:pPr algn="l">
              <a:defRPr sz="1875" b="0">
                <a:solidFill>
                  <a:srgbClr val="313A44"/>
                </a:solidFill>
                <a:latin typeface="Arial"/>
                <a:ea typeface="Arial"/>
                <a:cs typeface="Arial"/>
              </a:defRPr>
            </a:pPr>
            <a:r>
              <a:rPr sz="1875" b="0">
                <a:solidFill>
                  <a:srgbClr val="313A44"/>
                </a:solidFill>
                <a:latin typeface="Arial"/>
                <a:ea typeface="Arial"/>
                <a:cs typeface="Arial"/>
              </a:rPr>
              <a:t>Un cliente puede inventar el valor de X-Forwarded-For.</a:t>
            </a:r>
          </a:p>
          <a:p>
            <a:endParaRPr sz="1875" b="0">
              <a:solidFill>
                <a:srgbClr val="313A44"/>
              </a:solidFill>
              <a:latin typeface="Arial"/>
              <a:ea typeface="Arial"/>
              <a:cs typeface="Arial"/>
            </a:endParaRPr>
          </a:p>
          <a:p>
            <a:pPr algn="l">
              <a:defRPr sz="1875" b="0">
                <a:solidFill>
                  <a:srgbClr val="313A44"/>
                </a:solidFill>
                <a:latin typeface="Arial"/>
                <a:ea typeface="Arial"/>
                <a:cs typeface="Arial"/>
              </a:defRPr>
            </a:pPr>
            <a:r>
              <a:rPr sz="1875" b="0">
                <a:solidFill>
                  <a:srgbClr val="313A44"/>
                </a:solidFill>
                <a:latin typeface="Arial"/>
                <a:ea typeface="Arial"/>
                <a:cs typeface="Arial"/>
              </a:rPr>
              <a:t>En este ejemplo, Nginx lo sustituye por la dirección observada.</a:t>
            </a:r>
          </a:p>
          <a:p>
            <a:endParaRPr sz="1875" b="0">
              <a:solidFill>
                <a:srgbClr val="313A44"/>
              </a:solidFill>
              <a:latin typeface="Arial"/>
              <a:ea typeface="Arial"/>
              <a:cs typeface="Arial"/>
            </a:endParaRPr>
          </a:p>
          <a:p>
            <a:pPr algn="l">
              <a:defRPr sz="1875" b="0">
                <a:solidFill>
                  <a:srgbClr val="313A44"/>
                </a:solidFill>
                <a:latin typeface="Arial"/>
                <a:ea typeface="Arial"/>
                <a:cs typeface="Arial"/>
              </a:defRPr>
            </a:pPr>
            <a:r>
              <a:rPr sz="1875" b="0">
                <a:solidFill>
                  <a:srgbClr val="313A44"/>
                </a:solidFill>
                <a:latin typeface="Arial"/>
                <a:ea typeface="Arial"/>
                <a:cs typeface="Arial"/>
              </a:rPr>
              <a:t>La conexión del backend sigue procediendo de Nginx.</a:t>
            </a:r>
          </a:p>
        </p:txBody>
      </p:sp>
    </p:spTree>
    <p:extLst>
      <p:ext uri="{BB962C8B-B14F-4D97-AF65-F5344CB8AC3E}">
        <p14:creationId xmlns:p14="http://schemas.microsoft.com/office/powerpoint/2010/main" val="29370857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Shape 18">
            <a:extLst>
              <a:ext uri="{FF2B5EF4-FFF2-40B4-BE49-F238E27FC236}">
                <a16:creationId xmlns:a16="http://schemas.microsoft.com/office/drawing/2014/main" id="{A21D1190-F64E-B2BC-A6FE-78AF0EBF8949}"/>
              </a:ext>
            </a:extLst>
          </p:cNvPr>
          <p:cNvSpPr>
            <a:spLocks noGrp="1"/>
          </p:cNvSpPr>
          <p:nvPr/>
        </p:nvSpPr>
        <p:spPr>
          <a:xfrm>
            <a:off x="860282" y="5463540"/>
            <a:ext cx="10718044" cy="594000"/>
          </a:xfrm>
          <a:prstGeom prst="roundRect">
            <a:avLst>
              <a:gd name="adj" fmla="val 12308"/>
            </a:avLst>
          </a:prstGeom>
          <a:solidFill>
            <a:srgbClr val="FFFDE7"/>
          </a:solidFill>
          <a:ln w="16510">
            <a:solidFill>
              <a:srgbClr val="00ACC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strike="noStrike">
              <a:solidFill>
                <a:srgbClr val="000000"/>
              </a:solidFill>
              <a:latin typeface="Arial"/>
              <a:ea typeface="Arial"/>
              <a:cs typeface="Arial"/>
            </a:endParaRPr>
          </a:p>
        </p:txBody>
      </p:sp>
      <p:sp>
        <p:nvSpPr>
          <p:cNvPr id="33" name="TextBox 32">
            <a:extLst>
              <a:ext uri="{FF2B5EF4-FFF2-40B4-BE49-F238E27FC236}">
                <a16:creationId xmlns:a16="http://schemas.microsoft.com/office/drawing/2014/main" id="{31F66DA7-F80E-EED7-7362-A84C5F1E2B57}"/>
              </a:ext>
            </a:extLst>
          </p:cNvPr>
          <p:cNvSpPr>
            <a:spLocks noGrp="1"/>
          </p:cNvSpPr>
          <p:nvPr/>
        </p:nvSpPr>
        <p:spPr>
          <a:xfrm>
            <a:off x="937260" y="5578670"/>
            <a:ext cx="10564088" cy="213360"/>
          </a:xfrm>
          <a:prstGeom prst="rect">
            <a:avLst/>
          </a:prstGeom>
          <a:noFill/>
        </p:spPr>
        <p:txBody>
          <a:bodyPr wrap="square" lIns="0" tIns="0" rIns="0" bIns="0" anchor="ctr">
            <a:spAutoFit/>
          </a:bodyPr>
          <a:lstStyle>
            <a:defPPr algn="ctr">
              <a:defRPr sz="1400">
                <a:solidFill>
                  <a:srgbClr val="18365F"/>
                </a:solidFill>
                <a:latin typeface="Arial"/>
                <a:ea typeface="Arial"/>
                <a:cs typeface="Arial"/>
              </a:defRPr>
            </a:defPPr>
          </a:lstStyle>
          <a:p>
            <a:pPr algn="ctr">
              <a:buNone/>
              <a:defRPr sz="1400">
                <a:solidFill>
                  <a:srgbClr val="18365F"/>
                </a:solidFill>
                <a:latin typeface="Arial"/>
                <a:ea typeface="Arial"/>
                <a:cs typeface="Arial"/>
              </a:defRPr>
            </a:pPr>
            <a:r>
              <a:rPr sz="1400">
                <a:solidFill>
                  <a:srgbClr val="18365F"/>
                </a:solidFill>
                <a:latin typeface="Arial"/>
                <a:ea typeface="Arial"/>
                <a:cs typeface="Arial"/>
              </a:rPr>
              <a:t>El bloque upstream se declara en el contexto http, junto a los bloques server.</a:t>
            </a:r>
          </a:p>
        </p:txBody>
      </p:sp>
      <p:sp>
        <p:nvSpPr>
          <p:cNvPr id="35" name="TextBox 34">
            <a:extLst>
              <a:ext uri="{FF2B5EF4-FFF2-40B4-BE49-F238E27FC236}">
                <a16:creationId xmlns:a16="http://schemas.microsoft.com/office/drawing/2014/main" id="{847ED172-986B-1F4B-A572-EC07E15E9547}"/>
              </a:ext>
            </a:extLst>
          </p:cNvPr>
          <p:cNvSpPr>
            <a:spLocks noGrp="1"/>
          </p:cNvSpPr>
          <p:nvPr/>
        </p:nvSpPr>
        <p:spPr>
          <a:xfrm>
            <a:off x="11734495" y="6601968"/>
            <a:ext cx="256032" cy="114300"/>
          </a:xfrm>
          <a:prstGeom prst="rect">
            <a:avLst/>
          </a:prstGeom>
          <a:noFill/>
        </p:spPr>
        <p:txBody>
          <a:bodyPr wrap="square" lIns="0" tIns="0" rIns="0" bIns="0" anchor="t">
            <a:spAutoFit/>
          </a:bodyPr>
          <a:lstStyle>
            <a:defPPr>
              <a:defRPr sz="750">
                <a:solidFill>
                  <a:srgbClr val="737C84"/>
                </a:solidFill>
                <a:latin typeface="Arial"/>
                <a:ea typeface="Arial"/>
                <a:cs typeface="Arial"/>
              </a:defRPr>
            </a:defPPr>
          </a:lstStyle>
          <a:p>
            <a:pPr algn="r">
              <a:buNone/>
              <a:defRPr sz="750">
                <a:solidFill>
                  <a:srgbClr val="737C84"/>
                </a:solidFill>
                <a:latin typeface="Arial"/>
                <a:ea typeface="Arial"/>
                <a:cs typeface="Arial"/>
              </a:defRPr>
            </a:pPr>
            <a:r>
              <a:rPr sz="750" b="0" i="0">
                <a:solidFill>
                  <a:srgbClr val="737C84"/>
                </a:solidFill>
                <a:latin typeface="Arial"/>
                <a:ea typeface="Arial"/>
                <a:cs typeface="Arial"/>
              </a:rPr>
              <a:t>10</a:t>
            </a:r>
          </a:p>
        </p:txBody>
      </p:sp>
      <p:sp>
        <p:nvSpPr>
          <p:cNvPr id="43" name="Text 2">
            <a:extLst>
              <a:ext uri="{FF2B5EF4-FFF2-40B4-BE49-F238E27FC236}">
                <a16:creationId xmlns:a16="http://schemas.microsoft.com/office/drawing/2014/main" id="{A742CC06-271C-8A14-EE0E-4886B7BFD265}"/>
              </a:ext>
            </a:extLst>
          </p:cNvPr>
          <p:cNvSpPr>
            <a:spLocks noGrp="1"/>
          </p:cNvSpPr>
          <p:nvPr/>
        </p:nvSpPr>
        <p:spPr>
          <a:xfrm>
            <a:off x="548640" y="6492240"/>
            <a:ext cx="11091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defPPr algn="r">
              <a:defRPr sz="1050">
                <a:solidFill>
                  <a:srgbClr val="757575"/>
                </a:solidFill>
                <a:latin typeface="Arial"/>
                <a:ea typeface="Arial"/>
                <a:cs typeface="Arial"/>
              </a:defRPr>
            </a:defPPr>
          </a:lstStyle>
          <a:p>
            <a:pPr algn="r">
              <a:buNone/>
              <a:tabLst>
                <a:tab pos="0" algn="l"/>
              </a:tabLst>
              <a:defRPr sz="1050">
                <a:solidFill>
                  <a:srgbClr val="757575"/>
                </a:solidFill>
                <a:latin typeface="Arial"/>
                <a:ea typeface="Arial"/>
                <a:cs typeface="Arial"/>
              </a:defRPr>
            </a:pPr>
            <a:r>
              <a:rPr sz="1050" b="0" u="none" strike="noStrike">
                <a:solidFill>
                  <a:srgbClr val="757575"/>
                </a:solidFill>
                <a:latin typeface="Arial"/>
                <a:ea typeface="Arial"/>
                <a:cs typeface="Arial"/>
              </a:rPr>
              <a:t>DAW — Tema 3: Publicación y ejecución de aplicaciones web</a:t>
            </a:r>
            <a:endParaRPr sz="1050" b="0" u="none" strike="noStrike">
              <a:solidFill>
                <a:srgbClr val="000000"/>
              </a:solidFill>
              <a:latin typeface="Arial"/>
              <a:ea typeface="Arial"/>
              <a:cs typeface="Arial"/>
            </a:endParaRPr>
          </a:p>
        </p:txBody>
      </p:sp>
      <p:sp>
        <p:nvSpPr>
          <p:cNvPr id="45" name="Shape 0">
            <a:extLst>
              <a:ext uri="{FF2B5EF4-FFF2-40B4-BE49-F238E27FC236}">
                <a16:creationId xmlns:a16="http://schemas.microsoft.com/office/drawing/2014/main" id="{6EA75EBC-A260-30AE-F0D3-DA414F41C6C8}"/>
              </a:ext>
            </a:extLst>
          </p:cNvPr>
          <p:cNvSpPr>
            <a:spLocks noGrp="1"/>
          </p:cNvSpPr>
          <p:nvPr/>
        </p:nvSpPr>
        <p:spPr>
          <a:xfrm>
            <a:off x="0" y="0"/>
            <a:ext cx="12188520" cy="776880"/>
          </a:xfrm>
          <a:prstGeom prst="rect">
            <a:avLst/>
          </a:prstGeom>
          <a:solidFill>
            <a:srgbClr val="004D40"/>
          </a:solidFill>
          <a:ln w="12700">
            <a:solidFill>
              <a:srgbClr val="004D4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strike="noStrike">
              <a:solidFill>
                <a:srgbClr val="FFFFFF"/>
              </a:solidFill>
              <a:latin typeface="Arial"/>
              <a:ea typeface="Arial"/>
              <a:cs typeface="Arial"/>
            </a:endParaRPr>
          </a:p>
        </p:txBody>
      </p:sp>
      <p:sp>
        <p:nvSpPr>
          <p:cNvPr id="47" name="Text 1">
            <a:extLst>
              <a:ext uri="{FF2B5EF4-FFF2-40B4-BE49-F238E27FC236}">
                <a16:creationId xmlns:a16="http://schemas.microsoft.com/office/drawing/2014/main" id="{A6130689-1879-EB68-E5CC-55B4B8D469DE}"/>
              </a:ext>
            </a:extLst>
          </p:cNvPr>
          <p:cNvSpPr>
            <a:spLocks noGrp="1"/>
          </p:cNvSpPr>
          <p:nvPr/>
        </p:nvSpPr>
        <p:spPr>
          <a:xfrm>
            <a:off x="384120" y="18360"/>
            <a:ext cx="1142064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defPPr>
              <a:defRPr sz="2500" b="1">
                <a:solidFill>
                  <a:srgbClr val="FFFFFF"/>
                </a:solidFill>
                <a:latin typeface="Arial"/>
                <a:ea typeface="Arial"/>
                <a:cs typeface="Arial"/>
              </a:defRPr>
            </a:defPPr>
          </a:lstStyle>
          <a:p>
            <a:pPr defTabSz="914400">
              <a:lnSpc>
                <a:spcPct val="100000"/>
              </a:lnSpc>
              <a:buNone/>
              <a:tabLst>
                <a:tab pos="0" algn="l"/>
              </a:tabLst>
              <a:defRPr sz="2500" b="1">
                <a:solidFill>
                  <a:srgbClr val="FFFFFF"/>
                </a:solidFill>
                <a:latin typeface="Arial"/>
                <a:ea typeface="Arial"/>
                <a:cs typeface="Arial"/>
              </a:defRPr>
            </a:pPr>
            <a:r>
              <a:rPr sz="2500" b="1" u="none" strike="noStrike">
                <a:solidFill>
                  <a:srgbClr val="FFFFFF"/>
                </a:solidFill>
                <a:latin typeface="Arial"/>
                <a:ea typeface="Arial"/>
                <a:cs typeface="Arial"/>
              </a:rPr>
              <a:t>Un grupo upstream para las réplicas</a:t>
            </a:r>
          </a:p>
        </p:txBody>
      </p:sp>
      <p:sp>
        <p:nvSpPr>
          <p:cNvPr id="48" name="upstream backend_pool {&#10;    zone backend">
            <a:extLst>
              <a:ext uri="{FF2B5EF4-FFF2-40B4-BE49-F238E27FC236}">
                <a16:creationId xmlns:a16="http://schemas.microsoft.com/office/drawing/2014/main" id="{2A4E38CA-B302-419A-8C72-53E894F83588}"/>
              </a:ext>
            </a:extLst>
          </p:cNvPr>
          <p:cNvSpPr>
            <a:spLocks noGrp="1"/>
          </p:cNvSpPr>
          <p:nvPr/>
        </p:nvSpPr>
        <p:spPr>
          <a:xfrm>
            <a:off x="914400" y="1190625"/>
            <a:ext cx="10382250" cy="3238500"/>
          </a:xfrm>
          <a:prstGeom prst="roundRect">
            <a:avLst>
              <a:gd name="adj" fmla="val 2353"/>
            </a:avLst>
          </a:prstGeom>
          <a:solidFill>
            <a:srgbClr val="F6F8FA"/>
          </a:solidFill>
          <a:ln w="9525">
            <a:solidFill>
              <a:srgbClr val="AFD2C9"/>
            </a:solidFill>
          </a:ln>
        </p:spPr>
        <p:txBody>
          <a:bodyPr lIns="171450" tIns="171450" rIns="171450" bIns="171450" anchor="t"/>
          <a:lstStyle>
            <a:defPPr algn="l">
              <a:defRPr sz="1800" b="0">
                <a:solidFill>
                  <a:srgbClr val="18365F"/>
                </a:solidFill>
                <a:latin typeface="Courier New"/>
                <a:ea typeface="Courier New"/>
                <a:cs typeface="Courier New"/>
              </a:defRPr>
            </a:defPPr>
          </a:lstStyle>
          <a:p>
            <a:pPr algn="l">
              <a:defRPr sz="1800" b="0">
                <a:solidFill>
                  <a:srgbClr val="18365F"/>
                </a:solidFill>
                <a:latin typeface="Courier New"/>
                <a:ea typeface="Courier New"/>
                <a:cs typeface="Courier New"/>
              </a:defRPr>
            </a:pPr>
            <a:r>
              <a:rPr sz="1800" b="0">
                <a:solidFill>
                  <a:srgbClr val="18365F"/>
                </a:solidFill>
                <a:latin typeface="Courier New"/>
                <a:ea typeface="Courier New"/>
                <a:cs typeface="Courier New"/>
              </a:rPr>
              <a:t>upstream backend_pool {</a:t>
            </a:r>
          </a:p>
          <a:p>
            <a:pPr algn="l">
              <a:defRPr sz="1800" b="0">
                <a:solidFill>
                  <a:srgbClr val="18365F"/>
                </a:solidFill>
                <a:latin typeface="Courier New"/>
                <a:ea typeface="Courier New"/>
                <a:cs typeface="Courier New"/>
              </a:defRPr>
            </a:pPr>
            <a:r>
              <a:rPr sz="1800" b="0">
                <a:solidFill>
                  <a:srgbClr val="18365F"/>
                </a:solidFill>
                <a:latin typeface="Courier New"/>
                <a:ea typeface="Courier New"/>
                <a:cs typeface="Courier New"/>
              </a:rPr>
              <a:t>    zone backend_pool 64k;</a:t>
            </a:r>
          </a:p>
          <a:p>
            <a:pPr algn="l">
              <a:defRPr sz="1800" b="0">
                <a:solidFill>
                  <a:srgbClr val="18365F"/>
                </a:solidFill>
                <a:latin typeface="Courier New"/>
                <a:ea typeface="Courier New"/>
                <a:cs typeface="Courier New"/>
              </a:defRPr>
            </a:pPr>
            <a:r>
              <a:rPr sz="1800" b="0">
                <a:solidFill>
                  <a:srgbClr val="18365F"/>
                </a:solidFill>
                <a:latin typeface="Courier New"/>
                <a:ea typeface="Courier New"/>
                <a:cs typeface="Courier New"/>
              </a:rPr>
              <a:t>    resolver 127.0.0.11 valid=5s ipv6=off;</a:t>
            </a:r>
          </a:p>
          <a:p>
            <a:endParaRPr sz="1800" b="0">
              <a:solidFill>
                <a:srgbClr val="18365F"/>
              </a:solidFill>
              <a:latin typeface="Courier New"/>
              <a:ea typeface="Courier New"/>
              <a:cs typeface="Courier New"/>
            </a:endParaRPr>
          </a:p>
          <a:p>
            <a:pPr algn="l">
              <a:defRPr sz="1800" b="0">
                <a:solidFill>
                  <a:srgbClr val="18365F"/>
                </a:solidFill>
                <a:latin typeface="Courier New"/>
                <a:ea typeface="Courier New"/>
                <a:cs typeface="Courier New"/>
              </a:defRPr>
            </a:pPr>
            <a:r>
              <a:rPr sz="1800" b="0">
                <a:solidFill>
                  <a:srgbClr val="18365F"/>
                </a:solidFill>
                <a:latin typeface="Courier New"/>
                <a:ea typeface="Courier New"/>
                <a:cs typeface="Courier New"/>
              </a:rPr>
              <a:t>    server app-1:8080 resolve;</a:t>
            </a:r>
          </a:p>
          <a:p>
            <a:pPr algn="l">
              <a:defRPr sz="1800" b="0">
                <a:solidFill>
                  <a:srgbClr val="18365F"/>
                </a:solidFill>
                <a:latin typeface="Courier New"/>
                <a:ea typeface="Courier New"/>
                <a:cs typeface="Courier New"/>
              </a:defRPr>
            </a:pPr>
            <a:r>
              <a:rPr sz="1800" b="0">
                <a:solidFill>
                  <a:srgbClr val="18365F"/>
                </a:solidFill>
                <a:latin typeface="Courier New"/>
                <a:ea typeface="Courier New"/>
                <a:cs typeface="Courier New"/>
              </a:rPr>
              <a:t>    server app-2:8080 resolve;</a:t>
            </a:r>
          </a:p>
          <a:p>
            <a:pPr algn="l">
              <a:defRPr sz="1800" b="0">
                <a:solidFill>
                  <a:srgbClr val="18365F"/>
                </a:solidFill>
                <a:latin typeface="Courier New"/>
                <a:ea typeface="Courier New"/>
                <a:cs typeface="Courier New"/>
              </a:defRPr>
            </a:pPr>
            <a:r>
              <a:rPr sz="1800" b="0">
                <a:solidFill>
                  <a:srgbClr val="18365F"/>
                </a:solidFill>
                <a:latin typeface="Courier New"/>
                <a:ea typeface="Courier New"/>
                <a:cs typeface="Courier New"/>
              </a:rPr>
              <a:t>    server app-3:8080 resolve;</a:t>
            </a:r>
          </a:p>
          <a:p>
            <a:pPr algn="l">
              <a:defRPr sz="1800" b="0">
                <a:solidFill>
                  <a:srgbClr val="18365F"/>
                </a:solidFill>
                <a:latin typeface="Courier New"/>
                <a:ea typeface="Courier New"/>
                <a:cs typeface="Courier New"/>
              </a:defRPr>
            </a:pPr>
            <a:r>
              <a:rPr sz="1800" b="0">
                <a:solidFill>
                  <a:srgbClr val="18365F"/>
                </a:solidFill>
                <a:latin typeface="Courier New"/>
                <a:ea typeface="Courier New"/>
                <a:cs typeface="Courier New"/>
              </a:rPr>
              <a:t>}</a:t>
            </a:r>
          </a:p>
        </p:txBody>
      </p:sp>
      <p:sp>
        <p:nvSpPr>
          <p:cNvPr id="49" name="Ejemplo en una red de Docker Compose y N">
            <a:extLst>
              <a:ext uri="{FF2B5EF4-FFF2-40B4-BE49-F238E27FC236}">
                <a16:creationId xmlns:a16="http://schemas.microsoft.com/office/drawing/2014/main" id="{C49ED74C-9CFB-42D2-83FD-CC5CD0CC16A7}"/>
              </a:ext>
            </a:extLst>
          </p:cNvPr>
          <p:cNvSpPr>
            <a:spLocks noGrp="1"/>
          </p:cNvSpPr>
          <p:nvPr/>
        </p:nvSpPr>
        <p:spPr>
          <a:xfrm>
            <a:off x="1047750" y="4838700"/>
            <a:ext cx="10096500" cy="381000"/>
          </a:xfrm>
          <a:prstGeom prst="rect">
            <a:avLst/>
          </a:prstGeom>
          <a:noFill/>
          <a:ln w="0">
            <a:noFill/>
          </a:ln>
        </p:spPr>
        <p:txBody>
          <a:bodyPr lIns="0" tIns="0" rIns="0" bIns="0" anchor="t"/>
          <a:lstStyle>
            <a:defPPr algn="l">
              <a:defRPr sz="1725" b="0">
                <a:solidFill>
                  <a:srgbClr val="313A44"/>
                </a:solidFill>
                <a:latin typeface="Arial"/>
                <a:ea typeface="Arial"/>
                <a:cs typeface="Arial"/>
              </a:defRPr>
            </a:defPPr>
          </a:lstStyle>
          <a:p>
            <a:pPr algn="l">
              <a:defRPr sz="1725" b="0">
                <a:solidFill>
                  <a:srgbClr val="313A44"/>
                </a:solidFill>
                <a:latin typeface="Arial"/>
                <a:ea typeface="Arial"/>
                <a:cs typeface="Arial"/>
              </a:defRPr>
            </a:pPr>
            <a:r>
              <a:rPr sz="1725" b="0">
                <a:solidFill>
                  <a:srgbClr val="313A44"/>
                </a:solidFill>
                <a:latin typeface="Arial"/>
                <a:ea typeface="Arial"/>
                <a:cs typeface="Arial"/>
              </a:rPr>
              <a:t>Ejemplo en una red de Docker Compose y Nginx 1.27.3 o posterior.</a:t>
            </a:r>
          </a:p>
        </p:txBody>
      </p:sp>
    </p:spTree>
    <p:extLst>
      <p:ext uri="{BB962C8B-B14F-4D97-AF65-F5344CB8AC3E}">
        <p14:creationId xmlns:p14="http://schemas.microsoft.com/office/powerpoint/2010/main" val="29370857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Shape 18">
            <a:extLst>
              <a:ext uri="{FF2B5EF4-FFF2-40B4-BE49-F238E27FC236}">
                <a16:creationId xmlns:a16="http://schemas.microsoft.com/office/drawing/2014/main" id="{A21D1190-F64E-B2BC-A6FE-78AF0EBF8949}"/>
              </a:ext>
            </a:extLst>
          </p:cNvPr>
          <p:cNvSpPr>
            <a:spLocks noGrp="1"/>
          </p:cNvSpPr>
          <p:nvPr/>
        </p:nvSpPr>
        <p:spPr>
          <a:xfrm>
            <a:off x="860282" y="5463540"/>
            <a:ext cx="10718044" cy="594000"/>
          </a:xfrm>
          <a:prstGeom prst="roundRect">
            <a:avLst>
              <a:gd name="adj" fmla="val 12308"/>
            </a:avLst>
          </a:prstGeom>
          <a:solidFill>
            <a:srgbClr val="FFFDE7"/>
          </a:solidFill>
          <a:ln w="16510">
            <a:solidFill>
              <a:srgbClr val="00ACC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strike="noStrike">
              <a:solidFill>
                <a:srgbClr val="000000"/>
              </a:solidFill>
              <a:latin typeface="Arial"/>
              <a:ea typeface="Arial"/>
              <a:cs typeface="Arial"/>
            </a:endParaRPr>
          </a:p>
        </p:txBody>
      </p:sp>
      <p:sp>
        <p:nvSpPr>
          <p:cNvPr id="33" name="TextBox 32">
            <a:extLst>
              <a:ext uri="{FF2B5EF4-FFF2-40B4-BE49-F238E27FC236}">
                <a16:creationId xmlns:a16="http://schemas.microsoft.com/office/drawing/2014/main" id="{31F66DA7-F80E-EED7-7362-A84C5F1E2B57}"/>
              </a:ext>
            </a:extLst>
          </p:cNvPr>
          <p:cNvSpPr>
            <a:spLocks noGrp="1"/>
          </p:cNvSpPr>
          <p:nvPr/>
        </p:nvSpPr>
        <p:spPr>
          <a:xfrm>
            <a:off x="937260" y="5578670"/>
            <a:ext cx="10564088" cy="213360"/>
          </a:xfrm>
          <a:prstGeom prst="rect">
            <a:avLst/>
          </a:prstGeom>
          <a:noFill/>
        </p:spPr>
        <p:txBody>
          <a:bodyPr wrap="square" lIns="0" tIns="0" rIns="0" bIns="0" anchor="ctr">
            <a:spAutoFit/>
          </a:bodyPr>
          <a:lstStyle>
            <a:defPPr algn="ctr">
              <a:defRPr sz="1400">
                <a:solidFill>
                  <a:srgbClr val="18365F"/>
                </a:solidFill>
                <a:latin typeface="Arial"/>
                <a:ea typeface="Arial"/>
                <a:cs typeface="Arial"/>
              </a:defRPr>
            </a:defPPr>
          </a:lstStyle>
          <a:p>
            <a:pPr algn="ctr">
              <a:buNone/>
              <a:defRPr sz="1400">
                <a:solidFill>
                  <a:srgbClr val="18365F"/>
                </a:solidFill>
                <a:latin typeface="Arial"/>
                <a:ea typeface="Arial"/>
                <a:cs typeface="Arial"/>
              </a:defRPr>
            </a:pPr>
            <a:r>
              <a:rPr sz="1400">
                <a:solidFill>
                  <a:srgbClr val="18365F"/>
                </a:solidFill>
                <a:latin typeface="Arial"/>
                <a:ea typeface="Arial"/>
                <a:cs typeface="Arial"/>
              </a:rPr>
              <a:t>Round robin con pesos iguales reparte tráfico entre los destinos disponibles.</a:t>
            </a:r>
          </a:p>
        </p:txBody>
      </p:sp>
      <p:sp>
        <p:nvSpPr>
          <p:cNvPr id="35" name="TextBox 34">
            <a:extLst>
              <a:ext uri="{FF2B5EF4-FFF2-40B4-BE49-F238E27FC236}">
                <a16:creationId xmlns:a16="http://schemas.microsoft.com/office/drawing/2014/main" id="{847ED172-986B-1F4B-A572-EC07E15E9547}"/>
              </a:ext>
            </a:extLst>
          </p:cNvPr>
          <p:cNvSpPr>
            <a:spLocks noGrp="1"/>
          </p:cNvSpPr>
          <p:nvPr/>
        </p:nvSpPr>
        <p:spPr>
          <a:xfrm>
            <a:off x="11734495" y="6601968"/>
            <a:ext cx="256032" cy="114300"/>
          </a:xfrm>
          <a:prstGeom prst="rect">
            <a:avLst/>
          </a:prstGeom>
          <a:noFill/>
        </p:spPr>
        <p:txBody>
          <a:bodyPr wrap="square" lIns="0" tIns="0" rIns="0" bIns="0" anchor="t">
            <a:spAutoFit/>
          </a:bodyPr>
          <a:lstStyle>
            <a:defPPr>
              <a:defRPr sz="750">
                <a:solidFill>
                  <a:srgbClr val="737C84"/>
                </a:solidFill>
                <a:latin typeface="Arial"/>
                <a:ea typeface="Arial"/>
                <a:cs typeface="Arial"/>
              </a:defRPr>
            </a:defPPr>
          </a:lstStyle>
          <a:p>
            <a:pPr algn="r">
              <a:buNone/>
              <a:defRPr sz="750">
                <a:solidFill>
                  <a:srgbClr val="737C84"/>
                </a:solidFill>
                <a:latin typeface="Arial"/>
                <a:ea typeface="Arial"/>
                <a:cs typeface="Arial"/>
              </a:defRPr>
            </a:pPr>
            <a:r>
              <a:rPr sz="750" b="0" i="0">
                <a:solidFill>
                  <a:srgbClr val="737C84"/>
                </a:solidFill>
                <a:latin typeface="Arial"/>
                <a:ea typeface="Arial"/>
                <a:cs typeface="Arial"/>
              </a:rPr>
              <a:t>11</a:t>
            </a:r>
          </a:p>
        </p:txBody>
      </p:sp>
      <p:sp>
        <p:nvSpPr>
          <p:cNvPr id="43" name="Text 2">
            <a:extLst>
              <a:ext uri="{FF2B5EF4-FFF2-40B4-BE49-F238E27FC236}">
                <a16:creationId xmlns:a16="http://schemas.microsoft.com/office/drawing/2014/main" id="{A742CC06-271C-8A14-EE0E-4886B7BFD265}"/>
              </a:ext>
            </a:extLst>
          </p:cNvPr>
          <p:cNvSpPr>
            <a:spLocks noGrp="1"/>
          </p:cNvSpPr>
          <p:nvPr/>
        </p:nvSpPr>
        <p:spPr>
          <a:xfrm>
            <a:off x="548640" y="6492240"/>
            <a:ext cx="11091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defPPr algn="r">
              <a:defRPr sz="1050">
                <a:solidFill>
                  <a:srgbClr val="757575"/>
                </a:solidFill>
                <a:latin typeface="Arial"/>
                <a:ea typeface="Arial"/>
                <a:cs typeface="Arial"/>
              </a:defRPr>
            </a:defPPr>
          </a:lstStyle>
          <a:p>
            <a:pPr algn="r">
              <a:buNone/>
              <a:tabLst>
                <a:tab pos="0" algn="l"/>
              </a:tabLst>
              <a:defRPr sz="1050">
                <a:solidFill>
                  <a:srgbClr val="757575"/>
                </a:solidFill>
                <a:latin typeface="Arial"/>
                <a:ea typeface="Arial"/>
                <a:cs typeface="Arial"/>
              </a:defRPr>
            </a:pPr>
            <a:r>
              <a:rPr sz="1050" b="0" u="none" strike="noStrike">
                <a:solidFill>
                  <a:srgbClr val="757575"/>
                </a:solidFill>
                <a:latin typeface="Arial"/>
                <a:ea typeface="Arial"/>
                <a:cs typeface="Arial"/>
              </a:rPr>
              <a:t>DAW — Tema 3: Publicación y ejecución de aplicaciones web</a:t>
            </a:r>
            <a:endParaRPr sz="1050" b="0" u="none" strike="noStrike">
              <a:solidFill>
                <a:srgbClr val="000000"/>
              </a:solidFill>
              <a:latin typeface="Arial"/>
              <a:ea typeface="Arial"/>
              <a:cs typeface="Arial"/>
            </a:endParaRPr>
          </a:p>
        </p:txBody>
      </p:sp>
      <p:sp>
        <p:nvSpPr>
          <p:cNvPr id="45" name="Shape 0">
            <a:extLst>
              <a:ext uri="{FF2B5EF4-FFF2-40B4-BE49-F238E27FC236}">
                <a16:creationId xmlns:a16="http://schemas.microsoft.com/office/drawing/2014/main" id="{6EA75EBC-A260-30AE-F0D3-DA414F41C6C8}"/>
              </a:ext>
            </a:extLst>
          </p:cNvPr>
          <p:cNvSpPr>
            <a:spLocks noGrp="1"/>
          </p:cNvSpPr>
          <p:nvPr/>
        </p:nvSpPr>
        <p:spPr>
          <a:xfrm>
            <a:off x="0" y="0"/>
            <a:ext cx="12188520" cy="776880"/>
          </a:xfrm>
          <a:prstGeom prst="rect">
            <a:avLst/>
          </a:prstGeom>
          <a:solidFill>
            <a:srgbClr val="004D40"/>
          </a:solidFill>
          <a:ln w="12700">
            <a:solidFill>
              <a:srgbClr val="004D4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strike="noStrike">
              <a:solidFill>
                <a:srgbClr val="FFFFFF"/>
              </a:solidFill>
              <a:latin typeface="Arial"/>
              <a:ea typeface="Arial"/>
              <a:cs typeface="Arial"/>
            </a:endParaRPr>
          </a:p>
        </p:txBody>
      </p:sp>
      <p:sp>
        <p:nvSpPr>
          <p:cNvPr id="47" name="Text 1">
            <a:extLst>
              <a:ext uri="{FF2B5EF4-FFF2-40B4-BE49-F238E27FC236}">
                <a16:creationId xmlns:a16="http://schemas.microsoft.com/office/drawing/2014/main" id="{A6130689-1879-EB68-E5CC-55B4B8D469DE}"/>
              </a:ext>
            </a:extLst>
          </p:cNvPr>
          <p:cNvSpPr>
            <a:spLocks noGrp="1"/>
          </p:cNvSpPr>
          <p:nvPr/>
        </p:nvSpPr>
        <p:spPr>
          <a:xfrm>
            <a:off x="384120" y="18360"/>
            <a:ext cx="1142064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defPPr>
              <a:defRPr sz="2500" b="1">
                <a:solidFill>
                  <a:srgbClr val="FFFFFF"/>
                </a:solidFill>
                <a:latin typeface="Arial"/>
                <a:ea typeface="Arial"/>
                <a:cs typeface="Arial"/>
              </a:defRPr>
            </a:defPPr>
          </a:lstStyle>
          <a:p>
            <a:pPr defTabSz="914400">
              <a:lnSpc>
                <a:spcPct val="100000"/>
              </a:lnSpc>
              <a:buNone/>
              <a:tabLst>
                <a:tab pos="0" algn="l"/>
              </a:tabLst>
              <a:defRPr sz="2500" b="1">
                <a:solidFill>
                  <a:srgbClr val="FFFFFF"/>
                </a:solidFill>
                <a:latin typeface="Arial"/>
                <a:ea typeface="Arial"/>
                <a:cs typeface="Arial"/>
              </a:defRPr>
            </a:pPr>
            <a:r>
              <a:rPr sz="2500" b="1" u="none" strike="noStrike">
                <a:solidFill>
                  <a:srgbClr val="FFFFFF"/>
                </a:solidFill>
                <a:latin typeface="Arial"/>
                <a:ea typeface="Arial"/>
                <a:cs typeface="Arial"/>
              </a:rPr>
              <a:t>Reparto y observación de las respuestas</a:t>
            </a:r>
          </a:p>
        </p:txBody>
      </p:sp>
      <p:sp>
        <p:nvSpPr>
          <p:cNvPr id="48" name="Rectángulo redondeado 47">
            <a:extLst>
              <a:ext uri="{FF2B5EF4-FFF2-40B4-BE49-F238E27FC236}">
                <a16:creationId xmlns:a16="http://schemas.microsoft.com/office/drawing/2014/main" id="{BF5E59A7-DDC4-4804-AA38-C66BBDD7D9A6}"/>
              </a:ext>
            </a:extLst>
          </p:cNvPr>
          <p:cNvSpPr>
            <a:spLocks noGrp="1"/>
          </p:cNvSpPr>
          <p:nvPr/>
        </p:nvSpPr>
        <p:spPr>
          <a:xfrm>
            <a:off x="914400" y="1381125"/>
            <a:ext cx="4895850" cy="3495675"/>
          </a:xfrm>
          <a:prstGeom prst="roundRect">
            <a:avLst>
              <a:gd name="adj" fmla="val 2180"/>
            </a:avLst>
          </a:prstGeom>
          <a:solidFill>
            <a:srgbClr val="E9F1FA"/>
          </a:solidFill>
          <a:ln w="9525">
            <a:solidFill>
              <a:srgbClr val="AFD2C9"/>
            </a:solidFill>
          </a:ln>
        </p:spPr>
        <p:txBody>
          <a:bodyPr lIns="171450" tIns="171450" rIns="171450" bIns="171450" anchor="t"/>
          <a:lstStyle>
            <a:defPPr algn="l">
              <a:defRPr sz="1650" b="0">
                <a:solidFill>
                  <a:srgbClr val="313A44"/>
                </a:solidFill>
                <a:latin typeface="Arial"/>
                <a:ea typeface="Arial"/>
                <a:cs typeface="Arial"/>
              </a:defRPr>
            </a:defPPr>
          </a:lstStyle>
          <a:p>
            <a:endParaRPr/>
          </a:p>
        </p:txBody>
      </p:sp>
      <p:sp>
        <p:nvSpPr>
          <p:cNvPr id="49" name="Rectángulo 48">
            <a:extLst>
              <a:ext uri="{FF2B5EF4-FFF2-40B4-BE49-F238E27FC236}">
                <a16:creationId xmlns:a16="http://schemas.microsoft.com/office/drawing/2014/main" id="{A778D397-2F69-43CF-A4EC-CEFBB1C40E77}"/>
              </a:ext>
            </a:extLst>
          </p:cNvPr>
          <p:cNvSpPr>
            <a:spLocks noGrp="1"/>
          </p:cNvSpPr>
          <p:nvPr/>
        </p:nvSpPr>
        <p:spPr>
          <a:xfrm>
            <a:off x="914400" y="1381125"/>
            <a:ext cx="4895850" cy="400050"/>
          </a:xfrm>
          <a:prstGeom prst="rect">
            <a:avLst/>
          </a:prstGeom>
          <a:solidFill>
            <a:srgbClr val="3B82F6"/>
          </a:solidFill>
          <a:ln w="0">
            <a:noFill/>
          </a:ln>
        </p:spPr>
        <p:txBody>
          <a:bodyPr/>
          <a:lstStyle/>
          <a:p>
            <a:endParaRPr lang="es-ES"/>
          </a:p>
        </p:txBody>
      </p:sp>
      <p:sp>
        <p:nvSpPr>
          <p:cNvPr id="50" name="Réplicas equivalentes">
            <a:extLst>
              <a:ext uri="{FF2B5EF4-FFF2-40B4-BE49-F238E27FC236}">
                <a16:creationId xmlns:a16="http://schemas.microsoft.com/office/drawing/2014/main" id="{044FCE67-072A-4BC5-AED6-E02364FDC1CB}"/>
              </a:ext>
            </a:extLst>
          </p:cNvPr>
          <p:cNvSpPr>
            <a:spLocks noGrp="1"/>
          </p:cNvSpPr>
          <p:nvPr/>
        </p:nvSpPr>
        <p:spPr>
          <a:xfrm>
            <a:off x="1066800" y="1466850"/>
            <a:ext cx="4591050" cy="285750"/>
          </a:xfrm>
          <a:prstGeom prst="rect">
            <a:avLst/>
          </a:prstGeom>
          <a:noFill/>
          <a:ln w="0">
            <a:noFill/>
          </a:ln>
        </p:spPr>
        <p:txBody>
          <a:bodyPr lIns="0" tIns="0" rIns="0" bIns="0" anchor="t"/>
          <a:lstStyle>
            <a:defPPr algn="l">
              <a:defRPr sz="1650" b="1">
                <a:solidFill>
                  <a:srgbClr val="FFFFFF"/>
                </a:solidFill>
                <a:latin typeface="Arial"/>
                <a:ea typeface="Arial"/>
                <a:cs typeface="Arial"/>
              </a:defRPr>
            </a:defPPr>
          </a:lstStyle>
          <a:p>
            <a:pPr algn="l">
              <a:defRPr sz="1650" b="1">
                <a:solidFill>
                  <a:srgbClr val="FFFFFF"/>
                </a:solidFill>
                <a:latin typeface="Arial"/>
                <a:ea typeface="Arial"/>
                <a:cs typeface="Arial"/>
              </a:defRPr>
            </a:pPr>
            <a:r>
              <a:rPr sz="1650" b="1">
                <a:solidFill>
                  <a:srgbClr val="FFFFFF"/>
                </a:solidFill>
                <a:latin typeface="Arial"/>
                <a:ea typeface="Arial"/>
                <a:cs typeface="Arial"/>
              </a:rPr>
              <a:t>Réplicas equivalentes</a:t>
            </a:r>
          </a:p>
        </p:txBody>
      </p:sp>
      <p:sp>
        <p:nvSpPr>
          <p:cNvPr id="51" name="Cada copia puede atender la misma clase ">
            <a:extLst>
              <a:ext uri="{FF2B5EF4-FFF2-40B4-BE49-F238E27FC236}">
                <a16:creationId xmlns:a16="http://schemas.microsoft.com/office/drawing/2014/main" id="{876D2B37-552B-4E3A-8D8F-6E045D4424A5}"/>
              </a:ext>
            </a:extLst>
          </p:cNvPr>
          <p:cNvSpPr>
            <a:spLocks noGrp="1"/>
          </p:cNvSpPr>
          <p:nvPr/>
        </p:nvSpPr>
        <p:spPr>
          <a:xfrm>
            <a:off x="1123950" y="1971675"/>
            <a:ext cx="4476750" cy="2752725"/>
          </a:xfrm>
          <a:prstGeom prst="rect">
            <a:avLst/>
          </a:prstGeom>
          <a:noFill/>
          <a:ln w="0">
            <a:noFill/>
          </a:ln>
        </p:spPr>
        <p:txBody>
          <a:bodyPr lIns="0" tIns="0" rIns="0" bIns="0" anchor="t"/>
          <a:lstStyle>
            <a:defPPr algn="l">
              <a:defRPr sz="1650" b="0">
                <a:solidFill>
                  <a:srgbClr val="313A44"/>
                </a:solidFill>
                <a:latin typeface="Arial"/>
                <a:ea typeface="Arial"/>
                <a:cs typeface="Arial"/>
              </a:defRPr>
            </a:defPPr>
          </a:lstStyle>
          <a:p>
            <a:pPr algn="l">
              <a:defRPr sz="1650" b="0">
                <a:solidFill>
                  <a:srgbClr val="313A44"/>
                </a:solidFill>
                <a:latin typeface="Arial"/>
                <a:ea typeface="Arial"/>
                <a:cs typeface="Arial"/>
              </a:defRPr>
            </a:pPr>
            <a:r>
              <a:rPr sz="1650" b="0">
                <a:solidFill>
                  <a:srgbClr val="313A44"/>
                </a:solidFill>
                <a:latin typeface="Arial"/>
                <a:ea typeface="Arial"/>
                <a:cs typeface="Arial"/>
              </a:rPr>
              <a:t>Cada copia puede atender la misma clase de petición.</a:t>
            </a:r>
          </a:p>
          <a:p>
            <a:endParaRPr sz="1650" b="0">
              <a:solidFill>
                <a:srgbClr val="313A44"/>
              </a:solidFill>
              <a:latin typeface="Arial"/>
              <a:ea typeface="Arial"/>
              <a:cs typeface="Arial"/>
            </a:endParaRPr>
          </a:p>
          <a:p>
            <a:pPr algn="l">
              <a:defRPr sz="1650" b="0">
                <a:solidFill>
                  <a:srgbClr val="313A44"/>
                </a:solidFill>
                <a:latin typeface="Arial"/>
                <a:ea typeface="Arial"/>
                <a:cs typeface="Arial"/>
              </a:defRPr>
            </a:pPr>
            <a:r>
              <a:rPr sz="1650" b="0">
                <a:solidFill>
                  <a:srgbClr val="313A44"/>
                </a:solidFill>
                <a:latin typeface="Arial"/>
                <a:ea typeface="Arial"/>
                <a:cs typeface="Arial"/>
              </a:rPr>
              <a:t>El reparto no garantiza una secuencia exacta 1–2–3.</a:t>
            </a:r>
          </a:p>
          <a:p>
            <a:endParaRPr sz="1650" b="0">
              <a:solidFill>
                <a:srgbClr val="313A44"/>
              </a:solidFill>
              <a:latin typeface="Arial"/>
              <a:ea typeface="Arial"/>
              <a:cs typeface="Arial"/>
            </a:endParaRPr>
          </a:p>
          <a:p>
            <a:pPr algn="l">
              <a:defRPr sz="1650" b="0">
                <a:solidFill>
                  <a:srgbClr val="313A44"/>
                </a:solidFill>
                <a:latin typeface="Arial"/>
                <a:ea typeface="Arial"/>
                <a:cs typeface="Arial"/>
              </a:defRPr>
            </a:pPr>
            <a:r>
              <a:rPr sz="1650" b="0">
                <a:solidFill>
                  <a:srgbClr val="313A44"/>
                </a:solidFill>
                <a:latin typeface="Arial"/>
                <a:ea typeface="Arial"/>
                <a:cs typeface="Arial"/>
              </a:rPr>
              <a:t>Las peticiones pueden tener costes distintos.</a:t>
            </a:r>
          </a:p>
        </p:txBody>
      </p:sp>
      <p:sp>
        <p:nvSpPr>
          <p:cNvPr id="52" name="Rectángulo redondeado 51">
            <a:extLst>
              <a:ext uri="{FF2B5EF4-FFF2-40B4-BE49-F238E27FC236}">
                <a16:creationId xmlns:a16="http://schemas.microsoft.com/office/drawing/2014/main" id="{51DAB009-698D-43C4-8AD2-EA03BA5154FC}"/>
              </a:ext>
            </a:extLst>
          </p:cNvPr>
          <p:cNvSpPr>
            <a:spLocks noGrp="1"/>
          </p:cNvSpPr>
          <p:nvPr/>
        </p:nvSpPr>
        <p:spPr>
          <a:xfrm>
            <a:off x="6381750" y="1381125"/>
            <a:ext cx="4895850" cy="3495675"/>
          </a:xfrm>
          <a:prstGeom prst="roundRect">
            <a:avLst>
              <a:gd name="adj" fmla="val 2180"/>
            </a:avLst>
          </a:prstGeom>
          <a:solidFill>
            <a:srgbClr val="E8F6F0"/>
          </a:solidFill>
          <a:ln w="9525">
            <a:solidFill>
              <a:srgbClr val="AFD2C9"/>
            </a:solidFill>
          </a:ln>
        </p:spPr>
        <p:txBody>
          <a:bodyPr lIns="171450" tIns="171450" rIns="171450" bIns="171450" anchor="t"/>
          <a:lstStyle>
            <a:defPPr algn="l">
              <a:defRPr sz="1650" b="0">
                <a:solidFill>
                  <a:srgbClr val="313A44"/>
                </a:solidFill>
                <a:latin typeface="Arial"/>
                <a:ea typeface="Arial"/>
                <a:cs typeface="Arial"/>
              </a:defRPr>
            </a:defPPr>
          </a:lstStyle>
          <a:p>
            <a:endParaRPr/>
          </a:p>
        </p:txBody>
      </p:sp>
      <p:sp>
        <p:nvSpPr>
          <p:cNvPr id="53" name="Rectángulo 52">
            <a:extLst>
              <a:ext uri="{FF2B5EF4-FFF2-40B4-BE49-F238E27FC236}">
                <a16:creationId xmlns:a16="http://schemas.microsoft.com/office/drawing/2014/main" id="{6A84EC13-56AA-415E-A04C-AF7031453964}"/>
              </a:ext>
            </a:extLst>
          </p:cNvPr>
          <p:cNvSpPr>
            <a:spLocks noGrp="1"/>
          </p:cNvSpPr>
          <p:nvPr/>
        </p:nvSpPr>
        <p:spPr>
          <a:xfrm>
            <a:off x="6381750" y="1381125"/>
            <a:ext cx="4895850" cy="400050"/>
          </a:xfrm>
          <a:prstGeom prst="rect">
            <a:avLst/>
          </a:prstGeom>
          <a:solidFill>
            <a:srgbClr val="004D40"/>
          </a:solidFill>
          <a:ln w="0">
            <a:noFill/>
          </a:ln>
        </p:spPr>
        <p:txBody>
          <a:bodyPr/>
          <a:lstStyle/>
          <a:p>
            <a:endParaRPr lang="es-ES"/>
          </a:p>
        </p:txBody>
      </p:sp>
      <p:sp>
        <p:nvSpPr>
          <p:cNvPr id="54" name="Identificar quién responde">
            <a:extLst>
              <a:ext uri="{FF2B5EF4-FFF2-40B4-BE49-F238E27FC236}">
                <a16:creationId xmlns:a16="http://schemas.microsoft.com/office/drawing/2014/main" id="{1EE38E5D-312C-477F-9432-4B81495B76D4}"/>
              </a:ext>
            </a:extLst>
          </p:cNvPr>
          <p:cNvSpPr>
            <a:spLocks noGrp="1"/>
          </p:cNvSpPr>
          <p:nvPr/>
        </p:nvSpPr>
        <p:spPr>
          <a:xfrm>
            <a:off x="6534150" y="1466850"/>
            <a:ext cx="4591050" cy="285750"/>
          </a:xfrm>
          <a:prstGeom prst="rect">
            <a:avLst/>
          </a:prstGeom>
          <a:noFill/>
          <a:ln w="0">
            <a:noFill/>
          </a:ln>
        </p:spPr>
        <p:txBody>
          <a:bodyPr lIns="0" tIns="0" rIns="0" bIns="0" anchor="t"/>
          <a:lstStyle>
            <a:defPPr algn="l">
              <a:defRPr sz="1650" b="1">
                <a:solidFill>
                  <a:srgbClr val="FFFFFF"/>
                </a:solidFill>
                <a:latin typeface="Arial"/>
                <a:ea typeface="Arial"/>
                <a:cs typeface="Arial"/>
              </a:defRPr>
            </a:defPPr>
          </a:lstStyle>
          <a:p>
            <a:pPr algn="l">
              <a:defRPr sz="1650" b="1">
                <a:solidFill>
                  <a:srgbClr val="FFFFFF"/>
                </a:solidFill>
                <a:latin typeface="Arial"/>
                <a:ea typeface="Arial"/>
                <a:cs typeface="Arial"/>
              </a:defRPr>
            </a:pPr>
            <a:r>
              <a:rPr sz="1650" b="1">
                <a:solidFill>
                  <a:srgbClr val="FFFFFF"/>
                </a:solidFill>
                <a:latin typeface="Arial"/>
                <a:ea typeface="Arial"/>
                <a:cs typeface="Arial"/>
              </a:rPr>
              <a:t>Identificar quién responde</a:t>
            </a:r>
          </a:p>
        </p:txBody>
      </p:sp>
      <p:sp>
        <p:nvSpPr>
          <p:cNvPr id="55" name="Un endpoint puede devolver el identifica">
            <a:extLst>
              <a:ext uri="{FF2B5EF4-FFF2-40B4-BE49-F238E27FC236}">
                <a16:creationId xmlns:a16="http://schemas.microsoft.com/office/drawing/2014/main" id="{9B2E9D85-70FD-4D97-BA61-4A275C479CA9}"/>
              </a:ext>
            </a:extLst>
          </p:cNvPr>
          <p:cNvSpPr>
            <a:spLocks noGrp="1"/>
          </p:cNvSpPr>
          <p:nvPr/>
        </p:nvSpPr>
        <p:spPr>
          <a:xfrm>
            <a:off x="6591300" y="1971675"/>
            <a:ext cx="4476750" cy="2752725"/>
          </a:xfrm>
          <a:prstGeom prst="rect">
            <a:avLst/>
          </a:prstGeom>
          <a:noFill/>
          <a:ln w="0">
            <a:noFill/>
          </a:ln>
        </p:spPr>
        <p:txBody>
          <a:bodyPr lIns="0" tIns="0" rIns="0" bIns="0" anchor="t"/>
          <a:lstStyle>
            <a:defPPr algn="l">
              <a:defRPr sz="1650" b="0">
                <a:solidFill>
                  <a:srgbClr val="313A44"/>
                </a:solidFill>
                <a:latin typeface="Arial"/>
                <a:ea typeface="Arial"/>
                <a:cs typeface="Arial"/>
              </a:defRPr>
            </a:defPPr>
          </a:lstStyle>
          <a:p>
            <a:pPr algn="l">
              <a:defRPr sz="1650" b="0">
                <a:solidFill>
                  <a:srgbClr val="313A44"/>
                </a:solidFill>
                <a:latin typeface="Arial"/>
                <a:ea typeface="Arial"/>
                <a:cs typeface="Arial"/>
              </a:defRPr>
            </a:pPr>
            <a:r>
              <a:rPr sz="1650" b="0">
                <a:solidFill>
                  <a:srgbClr val="313A44"/>
                </a:solidFill>
                <a:latin typeface="Arial"/>
                <a:ea typeface="Arial"/>
                <a:cs typeface="Arial"/>
              </a:rPr>
              <a:t>Un endpoint puede devolver el identificador de la réplica.</a:t>
            </a:r>
          </a:p>
          <a:p>
            <a:endParaRPr sz="1650" b="0">
              <a:solidFill>
                <a:srgbClr val="313A44"/>
              </a:solidFill>
              <a:latin typeface="Arial"/>
              <a:ea typeface="Arial"/>
              <a:cs typeface="Arial"/>
            </a:endParaRPr>
          </a:p>
          <a:p>
            <a:pPr algn="l">
              <a:defRPr sz="1650" b="0">
                <a:solidFill>
                  <a:srgbClr val="313A44"/>
                </a:solidFill>
                <a:latin typeface="Arial"/>
                <a:ea typeface="Arial"/>
                <a:cs typeface="Arial"/>
              </a:defRPr>
            </a:pPr>
            <a:r>
              <a:rPr sz="1650" b="0">
                <a:solidFill>
                  <a:srgbClr val="313A44"/>
                </a:solidFill>
                <a:latin typeface="Arial"/>
                <a:ea typeface="Arial"/>
                <a:cs typeface="Arial"/>
              </a:rPr>
              <a:t>Ejemplo: /api/instancia</a:t>
            </a:r>
          </a:p>
          <a:p>
            <a:endParaRPr sz="1650" b="0">
              <a:solidFill>
                <a:srgbClr val="313A44"/>
              </a:solidFill>
              <a:latin typeface="Arial"/>
              <a:ea typeface="Arial"/>
              <a:cs typeface="Arial"/>
            </a:endParaRPr>
          </a:p>
          <a:p>
            <a:pPr algn="l">
              <a:defRPr sz="1650" b="0">
                <a:solidFill>
                  <a:srgbClr val="313A44"/>
                </a:solidFill>
                <a:latin typeface="Arial"/>
                <a:ea typeface="Arial"/>
                <a:cs typeface="Arial"/>
              </a:defRPr>
            </a:pPr>
            <a:r>
              <a:rPr sz="1650" b="0">
                <a:solidFill>
                  <a:srgbClr val="313A44"/>
                </a:solidFill>
                <a:latin typeface="Arial"/>
                <a:ea typeface="Arial"/>
                <a:cs typeface="Arial"/>
              </a:rPr>
              <a:t>La aplicación debe implementarlo. Nginx no crea ese endpoint.</a:t>
            </a:r>
          </a:p>
        </p:txBody>
      </p:sp>
    </p:spTree>
    <p:extLst>
      <p:ext uri="{BB962C8B-B14F-4D97-AF65-F5344CB8AC3E}">
        <p14:creationId xmlns:p14="http://schemas.microsoft.com/office/powerpoint/2010/main" val="29370857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Shape 18">
            <a:extLst>
              <a:ext uri="{FF2B5EF4-FFF2-40B4-BE49-F238E27FC236}">
                <a16:creationId xmlns:a16="http://schemas.microsoft.com/office/drawing/2014/main" id="{A21D1190-F64E-B2BC-A6FE-78AF0EBF8949}"/>
              </a:ext>
            </a:extLst>
          </p:cNvPr>
          <p:cNvSpPr>
            <a:spLocks noGrp="1"/>
          </p:cNvSpPr>
          <p:nvPr/>
        </p:nvSpPr>
        <p:spPr>
          <a:xfrm>
            <a:off x="860282" y="5463540"/>
            <a:ext cx="10718044" cy="594000"/>
          </a:xfrm>
          <a:prstGeom prst="roundRect">
            <a:avLst>
              <a:gd name="adj" fmla="val 12308"/>
            </a:avLst>
          </a:prstGeom>
          <a:solidFill>
            <a:srgbClr val="FFFDE7"/>
          </a:solidFill>
          <a:ln w="16510">
            <a:solidFill>
              <a:srgbClr val="00ACC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strike="noStrike">
              <a:solidFill>
                <a:srgbClr val="000000"/>
              </a:solidFill>
              <a:latin typeface="Arial"/>
              <a:ea typeface="Arial"/>
              <a:cs typeface="Arial"/>
            </a:endParaRPr>
          </a:p>
        </p:txBody>
      </p:sp>
      <p:sp>
        <p:nvSpPr>
          <p:cNvPr id="33" name="TextBox 32">
            <a:extLst>
              <a:ext uri="{FF2B5EF4-FFF2-40B4-BE49-F238E27FC236}">
                <a16:creationId xmlns:a16="http://schemas.microsoft.com/office/drawing/2014/main" id="{31F66DA7-F80E-EED7-7362-A84C5F1E2B57}"/>
              </a:ext>
            </a:extLst>
          </p:cNvPr>
          <p:cNvSpPr>
            <a:spLocks noGrp="1"/>
          </p:cNvSpPr>
          <p:nvPr/>
        </p:nvSpPr>
        <p:spPr>
          <a:xfrm>
            <a:off x="937260" y="5578670"/>
            <a:ext cx="10564088" cy="213360"/>
          </a:xfrm>
          <a:prstGeom prst="rect">
            <a:avLst/>
          </a:prstGeom>
          <a:noFill/>
        </p:spPr>
        <p:txBody>
          <a:bodyPr wrap="square" lIns="0" tIns="0" rIns="0" bIns="0" anchor="ctr">
            <a:spAutoFit/>
          </a:bodyPr>
          <a:lstStyle>
            <a:defPPr algn="ctr">
              <a:defRPr sz="1400">
                <a:solidFill>
                  <a:srgbClr val="18365F"/>
                </a:solidFill>
                <a:latin typeface="Arial"/>
                <a:ea typeface="Arial"/>
                <a:cs typeface="Arial"/>
              </a:defRPr>
            </a:defPPr>
          </a:lstStyle>
          <a:p>
            <a:pPr algn="ctr">
              <a:buNone/>
              <a:defRPr sz="1400">
                <a:solidFill>
                  <a:srgbClr val="18365F"/>
                </a:solidFill>
                <a:latin typeface="Arial"/>
                <a:ea typeface="Arial"/>
                <a:cs typeface="Arial"/>
              </a:defRPr>
            </a:pPr>
            <a:r>
              <a:rPr sz="1400">
                <a:solidFill>
                  <a:srgbClr val="18365F"/>
                </a:solidFill>
                <a:latin typeface="Arial"/>
                <a:ea typeface="Arial"/>
                <a:cs typeface="Arial"/>
              </a:rPr>
              <a:t>Resolver un nombre permite localizar una réplica. Su disponibilidad exige otra comprobación.</a:t>
            </a:r>
          </a:p>
        </p:txBody>
      </p:sp>
      <p:sp>
        <p:nvSpPr>
          <p:cNvPr id="35" name="TextBox 34">
            <a:extLst>
              <a:ext uri="{FF2B5EF4-FFF2-40B4-BE49-F238E27FC236}">
                <a16:creationId xmlns:a16="http://schemas.microsoft.com/office/drawing/2014/main" id="{847ED172-986B-1F4B-A572-EC07E15E9547}"/>
              </a:ext>
            </a:extLst>
          </p:cNvPr>
          <p:cNvSpPr>
            <a:spLocks noGrp="1"/>
          </p:cNvSpPr>
          <p:nvPr/>
        </p:nvSpPr>
        <p:spPr>
          <a:xfrm>
            <a:off x="11734495" y="6601968"/>
            <a:ext cx="256032" cy="114300"/>
          </a:xfrm>
          <a:prstGeom prst="rect">
            <a:avLst/>
          </a:prstGeom>
          <a:noFill/>
        </p:spPr>
        <p:txBody>
          <a:bodyPr wrap="square" lIns="0" tIns="0" rIns="0" bIns="0" anchor="t">
            <a:spAutoFit/>
          </a:bodyPr>
          <a:lstStyle>
            <a:defPPr>
              <a:defRPr sz="750">
                <a:solidFill>
                  <a:srgbClr val="737C84"/>
                </a:solidFill>
                <a:latin typeface="Arial"/>
                <a:ea typeface="Arial"/>
                <a:cs typeface="Arial"/>
              </a:defRPr>
            </a:defPPr>
          </a:lstStyle>
          <a:p>
            <a:pPr algn="r">
              <a:buNone/>
              <a:defRPr sz="750">
                <a:solidFill>
                  <a:srgbClr val="737C84"/>
                </a:solidFill>
                <a:latin typeface="Arial"/>
                <a:ea typeface="Arial"/>
                <a:cs typeface="Arial"/>
              </a:defRPr>
            </a:pPr>
            <a:r>
              <a:rPr sz="750" b="0" i="0">
                <a:solidFill>
                  <a:srgbClr val="737C84"/>
                </a:solidFill>
                <a:latin typeface="Arial"/>
                <a:ea typeface="Arial"/>
                <a:cs typeface="Arial"/>
              </a:rPr>
              <a:t>12</a:t>
            </a:r>
          </a:p>
        </p:txBody>
      </p:sp>
      <p:sp>
        <p:nvSpPr>
          <p:cNvPr id="43" name="Text 2">
            <a:extLst>
              <a:ext uri="{FF2B5EF4-FFF2-40B4-BE49-F238E27FC236}">
                <a16:creationId xmlns:a16="http://schemas.microsoft.com/office/drawing/2014/main" id="{A742CC06-271C-8A14-EE0E-4886B7BFD265}"/>
              </a:ext>
            </a:extLst>
          </p:cNvPr>
          <p:cNvSpPr>
            <a:spLocks noGrp="1"/>
          </p:cNvSpPr>
          <p:nvPr/>
        </p:nvSpPr>
        <p:spPr>
          <a:xfrm>
            <a:off x="548640" y="6492240"/>
            <a:ext cx="11091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defPPr algn="r">
              <a:defRPr sz="1050">
                <a:solidFill>
                  <a:srgbClr val="757575"/>
                </a:solidFill>
                <a:latin typeface="Arial"/>
                <a:ea typeface="Arial"/>
                <a:cs typeface="Arial"/>
              </a:defRPr>
            </a:defPPr>
          </a:lstStyle>
          <a:p>
            <a:pPr algn="r">
              <a:buNone/>
              <a:tabLst>
                <a:tab pos="0" algn="l"/>
              </a:tabLst>
              <a:defRPr sz="1050">
                <a:solidFill>
                  <a:srgbClr val="757575"/>
                </a:solidFill>
                <a:latin typeface="Arial"/>
                <a:ea typeface="Arial"/>
                <a:cs typeface="Arial"/>
              </a:defRPr>
            </a:pPr>
            <a:r>
              <a:rPr sz="1050" b="0" u="none" strike="noStrike">
                <a:solidFill>
                  <a:srgbClr val="757575"/>
                </a:solidFill>
                <a:latin typeface="Arial"/>
                <a:ea typeface="Arial"/>
                <a:cs typeface="Arial"/>
              </a:rPr>
              <a:t>DAW — Tema 3: Publicación y ejecución de aplicaciones web</a:t>
            </a:r>
            <a:endParaRPr sz="1050" b="0" u="none" strike="noStrike">
              <a:solidFill>
                <a:srgbClr val="000000"/>
              </a:solidFill>
              <a:latin typeface="Arial"/>
              <a:ea typeface="Arial"/>
              <a:cs typeface="Arial"/>
            </a:endParaRPr>
          </a:p>
        </p:txBody>
      </p:sp>
      <p:sp>
        <p:nvSpPr>
          <p:cNvPr id="45" name="Shape 0">
            <a:extLst>
              <a:ext uri="{FF2B5EF4-FFF2-40B4-BE49-F238E27FC236}">
                <a16:creationId xmlns:a16="http://schemas.microsoft.com/office/drawing/2014/main" id="{6EA75EBC-A260-30AE-F0D3-DA414F41C6C8}"/>
              </a:ext>
            </a:extLst>
          </p:cNvPr>
          <p:cNvSpPr>
            <a:spLocks noGrp="1"/>
          </p:cNvSpPr>
          <p:nvPr/>
        </p:nvSpPr>
        <p:spPr>
          <a:xfrm>
            <a:off x="0" y="0"/>
            <a:ext cx="12188520" cy="776880"/>
          </a:xfrm>
          <a:prstGeom prst="rect">
            <a:avLst/>
          </a:prstGeom>
          <a:solidFill>
            <a:srgbClr val="004D40"/>
          </a:solidFill>
          <a:ln w="12700">
            <a:solidFill>
              <a:srgbClr val="004D4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strike="noStrike">
              <a:solidFill>
                <a:srgbClr val="FFFFFF"/>
              </a:solidFill>
              <a:latin typeface="Arial"/>
              <a:ea typeface="Arial"/>
              <a:cs typeface="Arial"/>
            </a:endParaRPr>
          </a:p>
        </p:txBody>
      </p:sp>
      <p:sp>
        <p:nvSpPr>
          <p:cNvPr id="47" name="Text 1">
            <a:extLst>
              <a:ext uri="{FF2B5EF4-FFF2-40B4-BE49-F238E27FC236}">
                <a16:creationId xmlns:a16="http://schemas.microsoft.com/office/drawing/2014/main" id="{A6130689-1879-EB68-E5CC-55B4B8D469DE}"/>
              </a:ext>
            </a:extLst>
          </p:cNvPr>
          <p:cNvSpPr>
            <a:spLocks noGrp="1"/>
          </p:cNvSpPr>
          <p:nvPr/>
        </p:nvSpPr>
        <p:spPr>
          <a:xfrm>
            <a:off x="384120" y="18360"/>
            <a:ext cx="1142064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defPPr>
              <a:defRPr sz="2500" b="1">
                <a:solidFill>
                  <a:srgbClr val="FFFFFF"/>
                </a:solidFill>
                <a:latin typeface="Arial"/>
                <a:ea typeface="Arial"/>
                <a:cs typeface="Arial"/>
              </a:defRPr>
            </a:defPPr>
          </a:lstStyle>
          <a:p>
            <a:pPr defTabSz="914400">
              <a:lnSpc>
                <a:spcPct val="100000"/>
              </a:lnSpc>
              <a:buNone/>
              <a:tabLst>
                <a:tab pos="0" algn="l"/>
              </a:tabLst>
              <a:defRPr sz="2500" b="1">
                <a:solidFill>
                  <a:srgbClr val="FFFFFF"/>
                </a:solidFill>
                <a:latin typeface="Arial"/>
                <a:ea typeface="Arial"/>
                <a:cs typeface="Arial"/>
              </a:defRPr>
            </a:pPr>
            <a:r>
              <a:rPr sz="2500" b="1" u="none" strike="noStrike">
                <a:solidFill>
                  <a:srgbClr val="FFFFFF"/>
                </a:solidFill>
                <a:latin typeface="Arial"/>
                <a:ea typeface="Arial"/>
                <a:cs typeface="Arial"/>
              </a:rPr>
              <a:t>Nombres estables e IP que pueden cambiar</a:t>
            </a:r>
          </a:p>
        </p:txBody>
      </p:sp>
      <p:sp>
        <p:nvSpPr>
          <p:cNvPr id="48" name="app-2 conserva su nombre al recrearse, p">
            <a:extLst>
              <a:ext uri="{FF2B5EF4-FFF2-40B4-BE49-F238E27FC236}">
                <a16:creationId xmlns:a16="http://schemas.microsoft.com/office/drawing/2014/main" id="{00CA97D5-C065-4D9C-BB9C-AECEF6F2FA59}"/>
              </a:ext>
            </a:extLst>
          </p:cNvPr>
          <p:cNvSpPr>
            <a:spLocks noGrp="1"/>
          </p:cNvSpPr>
          <p:nvPr/>
        </p:nvSpPr>
        <p:spPr>
          <a:xfrm>
            <a:off x="914400" y="1085850"/>
            <a:ext cx="10382250" cy="638175"/>
          </a:xfrm>
          <a:prstGeom prst="rect">
            <a:avLst/>
          </a:prstGeom>
          <a:noFill/>
          <a:ln w="0">
            <a:noFill/>
          </a:ln>
        </p:spPr>
        <p:txBody>
          <a:bodyPr lIns="0" tIns="0" rIns="0" bIns="0" anchor="t"/>
          <a:lstStyle>
            <a:defPPr algn="ctr">
              <a:defRPr sz="2100" b="1">
                <a:solidFill>
                  <a:srgbClr val="004D40"/>
                </a:solidFill>
                <a:latin typeface="Arial"/>
                <a:ea typeface="Arial"/>
                <a:cs typeface="Arial"/>
              </a:defRPr>
            </a:defPPr>
          </a:lstStyle>
          <a:p>
            <a:pPr algn="ctr">
              <a:defRPr sz="2100" b="1">
                <a:solidFill>
                  <a:srgbClr val="004D40"/>
                </a:solidFill>
                <a:latin typeface="Arial"/>
                <a:ea typeface="Arial"/>
                <a:cs typeface="Arial"/>
              </a:defRPr>
            </a:pPr>
            <a:r>
              <a:rPr sz="2100" b="1">
                <a:solidFill>
                  <a:srgbClr val="004D40"/>
                </a:solidFill>
                <a:latin typeface="Arial"/>
                <a:ea typeface="Arial"/>
                <a:cs typeface="Arial"/>
              </a:rPr>
              <a:t>app-2 conserva su nombre al recrearse, pero puede recibir otra IP.</a:t>
            </a:r>
          </a:p>
        </p:txBody>
      </p:sp>
      <p:sp>
        <p:nvSpPr>
          <p:cNvPr id="49" name="resolver   Consulta el DNS interno de Do">
            <a:extLst>
              <a:ext uri="{FF2B5EF4-FFF2-40B4-BE49-F238E27FC236}">
                <a16:creationId xmlns:a16="http://schemas.microsoft.com/office/drawing/2014/main" id="{F72AA100-7754-4E0A-B309-00196DDA04EC}"/>
              </a:ext>
            </a:extLst>
          </p:cNvPr>
          <p:cNvSpPr>
            <a:spLocks noGrp="1"/>
          </p:cNvSpPr>
          <p:nvPr/>
        </p:nvSpPr>
        <p:spPr>
          <a:xfrm>
            <a:off x="914400" y="1990725"/>
            <a:ext cx="10382250" cy="2333625"/>
          </a:xfrm>
          <a:prstGeom prst="roundRect">
            <a:avLst>
              <a:gd name="adj" fmla="val 3265"/>
            </a:avLst>
          </a:prstGeom>
          <a:solidFill>
            <a:srgbClr val="F6F8FA"/>
          </a:solidFill>
          <a:ln w="9525">
            <a:solidFill>
              <a:srgbClr val="AFD2C9"/>
            </a:solidFill>
          </a:ln>
        </p:spPr>
        <p:txBody>
          <a:bodyPr lIns="171450" tIns="171450" rIns="171450" bIns="171450" anchor="t"/>
          <a:lstStyle>
            <a:defPPr algn="l">
              <a:defRPr sz="1725" b="0">
                <a:solidFill>
                  <a:srgbClr val="18365F"/>
                </a:solidFill>
                <a:latin typeface="Courier New"/>
                <a:ea typeface="Courier New"/>
                <a:cs typeface="Courier New"/>
              </a:defRPr>
            </a:defPPr>
          </a:lstStyle>
          <a:p>
            <a:pPr algn="l">
              <a:defRPr sz="1725" b="0">
                <a:solidFill>
                  <a:srgbClr val="18365F"/>
                </a:solidFill>
                <a:latin typeface="Courier New"/>
                <a:ea typeface="Courier New"/>
                <a:cs typeface="Courier New"/>
              </a:defRPr>
            </a:pPr>
            <a:r>
              <a:rPr sz="1725" b="0">
                <a:solidFill>
                  <a:srgbClr val="18365F"/>
                </a:solidFill>
                <a:latin typeface="Courier New"/>
                <a:ea typeface="Courier New"/>
                <a:cs typeface="Courier New"/>
              </a:rPr>
              <a:t>resolver   Consulta el DNS interno de Docker: 127.0.0.11.</a:t>
            </a:r>
          </a:p>
          <a:p>
            <a:endParaRPr sz="1725" b="0">
              <a:solidFill>
                <a:srgbClr val="18365F"/>
              </a:solidFill>
              <a:latin typeface="Courier New"/>
              <a:ea typeface="Courier New"/>
              <a:cs typeface="Courier New"/>
            </a:endParaRPr>
          </a:p>
          <a:p>
            <a:pPr algn="l">
              <a:defRPr sz="1725" b="0">
                <a:solidFill>
                  <a:srgbClr val="18365F"/>
                </a:solidFill>
                <a:latin typeface="Courier New"/>
                <a:ea typeface="Courier New"/>
                <a:cs typeface="Courier New"/>
              </a:defRPr>
            </a:pPr>
            <a:r>
              <a:rPr sz="1725" b="0">
                <a:solidFill>
                  <a:srgbClr val="18365F"/>
                </a:solidFill>
                <a:latin typeface="Courier New"/>
                <a:ea typeface="Courier New"/>
                <a:cs typeface="Courier New"/>
              </a:rPr>
              <a:t>resolve    Actualiza las direcciones del grupo según el DNS.</a:t>
            </a:r>
          </a:p>
          <a:p>
            <a:endParaRPr sz="1725" b="0">
              <a:solidFill>
                <a:srgbClr val="18365F"/>
              </a:solidFill>
              <a:latin typeface="Courier New"/>
              <a:ea typeface="Courier New"/>
              <a:cs typeface="Courier New"/>
            </a:endParaRPr>
          </a:p>
          <a:p>
            <a:pPr algn="l">
              <a:defRPr sz="1725" b="0">
                <a:solidFill>
                  <a:srgbClr val="18365F"/>
                </a:solidFill>
                <a:latin typeface="Courier New"/>
                <a:ea typeface="Courier New"/>
                <a:cs typeface="Courier New"/>
              </a:defRPr>
            </a:pPr>
            <a:r>
              <a:rPr sz="1725" b="0">
                <a:solidFill>
                  <a:srgbClr val="18365F"/>
                </a:solidFill>
                <a:latin typeface="Courier New"/>
                <a:ea typeface="Courier New"/>
                <a:cs typeface="Courier New"/>
              </a:rPr>
              <a:t>zone       Comparte el estado del grupo entre procesos de Nginx.</a:t>
            </a:r>
          </a:p>
        </p:txBody>
      </p:sp>
      <p:sp>
        <p:nvSpPr>
          <p:cNvPr id="50" name="valid=5s fija la validez de las respuest">
            <a:extLst>
              <a:ext uri="{FF2B5EF4-FFF2-40B4-BE49-F238E27FC236}">
                <a16:creationId xmlns:a16="http://schemas.microsoft.com/office/drawing/2014/main" id="{9DD041BD-3FFE-4D56-B4D0-E78286A408CF}"/>
              </a:ext>
            </a:extLst>
          </p:cNvPr>
          <p:cNvSpPr>
            <a:spLocks noGrp="1"/>
          </p:cNvSpPr>
          <p:nvPr/>
        </p:nvSpPr>
        <p:spPr>
          <a:xfrm>
            <a:off x="1047750" y="4714875"/>
            <a:ext cx="10096500" cy="409575"/>
          </a:xfrm>
          <a:prstGeom prst="rect">
            <a:avLst/>
          </a:prstGeom>
          <a:noFill/>
          <a:ln w="0">
            <a:noFill/>
          </a:ln>
        </p:spPr>
        <p:txBody>
          <a:bodyPr lIns="0" tIns="0" rIns="0" bIns="0" anchor="t"/>
          <a:lstStyle>
            <a:defPPr algn="l">
              <a:defRPr sz="1800" b="0">
                <a:solidFill>
                  <a:srgbClr val="313A44"/>
                </a:solidFill>
                <a:latin typeface="Arial"/>
                <a:ea typeface="Arial"/>
                <a:cs typeface="Arial"/>
              </a:defRPr>
            </a:defPPr>
          </a:lstStyle>
          <a:p>
            <a:pPr algn="l">
              <a:defRPr sz="1800" b="0">
                <a:solidFill>
                  <a:srgbClr val="313A44"/>
                </a:solidFill>
                <a:latin typeface="Arial"/>
                <a:ea typeface="Arial"/>
                <a:cs typeface="Arial"/>
              </a:defRPr>
            </a:pPr>
            <a:r>
              <a:rPr sz="1800" b="0">
                <a:solidFill>
                  <a:srgbClr val="313A44"/>
                </a:solidFill>
                <a:latin typeface="Arial"/>
                <a:ea typeface="Arial"/>
                <a:cs typeface="Arial"/>
              </a:rPr>
              <a:t>valid=5s fija la validez de las respuestas DNS almacenadas.</a:t>
            </a:r>
          </a:p>
        </p:txBody>
      </p:sp>
    </p:spTree>
    <p:extLst>
      <p:ext uri="{BB962C8B-B14F-4D97-AF65-F5344CB8AC3E}">
        <p14:creationId xmlns:p14="http://schemas.microsoft.com/office/powerpoint/2010/main" val="29370857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Shape 18">
            <a:extLst>
              <a:ext uri="{FF2B5EF4-FFF2-40B4-BE49-F238E27FC236}">
                <a16:creationId xmlns:a16="http://schemas.microsoft.com/office/drawing/2014/main" id="{A21D1190-F64E-B2BC-A6FE-78AF0EBF8949}"/>
              </a:ext>
            </a:extLst>
          </p:cNvPr>
          <p:cNvSpPr>
            <a:spLocks noGrp="1"/>
          </p:cNvSpPr>
          <p:nvPr/>
        </p:nvSpPr>
        <p:spPr>
          <a:xfrm>
            <a:off x="860282" y="5463540"/>
            <a:ext cx="10718044" cy="594000"/>
          </a:xfrm>
          <a:prstGeom prst="roundRect">
            <a:avLst>
              <a:gd name="adj" fmla="val 12308"/>
            </a:avLst>
          </a:prstGeom>
          <a:solidFill>
            <a:srgbClr val="FFFDE7"/>
          </a:solidFill>
          <a:ln w="16510">
            <a:solidFill>
              <a:srgbClr val="00ACC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strike="noStrike">
              <a:solidFill>
                <a:srgbClr val="000000"/>
              </a:solidFill>
              <a:latin typeface="Arial"/>
              <a:ea typeface="Arial"/>
              <a:cs typeface="Arial"/>
            </a:endParaRPr>
          </a:p>
        </p:txBody>
      </p:sp>
      <p:sp>
        <p:nvSpPr>
          <p:cNvPr id="33" name="TextBox 32">
            <a:extLst>
              <a:ext uri="{FF2B5EF4-FFF2-40B4-BE49-F238E27FC236}">
                <a16:creationId xmlns:a16="http://schemas.microsoft.com/office/drawing/2014/main" id="{31F66DA7-F80E-EED7-7362-A84C5F1E2B57}"/>
              </a:ext>
            </a:extLst>
          </p:cNvPr>
          <p:cNvSpPr>
            <a:spLocks noGrp="1"/>
          </p:cNvSpPr>
          <p:nvPr/>
        </p:nvSpPr>
        <p:spPr>
          <a:xfrm>
            <a:off x="937260" y="5578670"/>
            <a:ext cx="10564088" cy="213360"/>
          </a:xfrm>
          <a:prstGeom prst="rect">
            <a:avLst/>
          </a:prstGeom>
          <a:noFill/>
        </p:spPr>
        <p:txBody>
          <a:bodyPr wrap="square" lIns="0" tIns="0" rIns="0" bIns="0" anchor="ctr">
            <a:spAutoFit/>
          </a:bodyPr>
          <a:lstStyle>
            <a:defPPr algn="ctr">
              <a:defRPr sz="1400">
                <a:solidFill>
                  <a:srgbClr val="18365F"/>
                </a:solidFill>
                <a:latin typeface="Arial"/>
                <a:ea typeface="Arial"/>
                <a:cs typeface="Arial"/>
              </a:defRPr>
            </a:defPPr>
          </a:lstStyle>
          <a:p>
            <a:pPr algn="ctr">
              <a:buNone/>
              <a:defRPr sz="1400">
                <a:solidFill>
                  <a:srgbClr val="18365F"/>
                </a:solidFill>
                <a:latin typeface="Arial"/>
                <a:ea typeface="Arial"/>
                <a:cs typeface="Arial"/>
              </a:defRPr>
            </a:pPr>
            <a:r>
              <a:rPr sz="1400">
                <a:solidFill>
                  <a:srgbClr val="18365F"/>
                </a:solidFill>
                <a:latin typeface="Arial"/>
                <a:ea typeface="Arial"/>
                <a:cs typeface="Arial"/>
              </a:rPr>
              <a:t>El límite de conexión no limita el tiempo total de respuesta.</a:t>
            </a:r>
          </a:p>
        </p:txBody>
      </p:sp>
      <p:sp>
        <p:nvSpPr>
          <p:cNvPr id="35" name="TextBox 34">
            <a:extLst>
              <a:ext uri="{FF2B5EF4-FFF2-40B4-BE49-F238E27FC236}">
                <a16:creationId xmlns:a16="http://schemas.microsoft.com/office/drawing/2014/main" id="{847ED172-986B-1F4B-A572-EC07E15E9547}"/>
              </a:ext>
            </a:extLst>
          </p:cNvPr>
          <p:cNvSpPr>
            <a:spLocks noGrp="1"/>
          </p:cNvSpPr>
          <p:nvPr/>
        </p:nvSpPr>
        <p:spPr>
          <a:xfrm>
            <a:off x="11734495" y="6601968"/>
            <a:ext cx="256032" cy="114300"/>
          </a:xfrm>
          <a:prstGeom prst="rect">
            <a:avLst/>
          </a:prstGeom>
          <a:noFill/>
        </p:spPr>
        <p:txBody>
          <a:bodyPr wrap="square" lIns="0" tIns="0" rIns="0" bIns="0" anchor="t">
            <a:spAutoFit/>
          </a:bodyPr>
          <a:lstStyle>
            <a:defPPr>
              <a:defRPr sz="750">
                <a:solidFill>
                  <a:srgbClr val="737C84"/>
                </a:solidFill>
                <a:latin typeface="Arial"/>
                <a:ea typeface="Arial"/>
                <a:cs typeface="Arial"/>
              </a:defRPr>
            </a:defPPr>
          </a:lstStyle>
          <a:p>
            <a:pPr algn="r">
              <a:buNone/>
              <a:defRPr sz="750">
                <a:solidFill>
                  <a:srgbClr val="737C84"/>
                </a:solidFill>
                <a:latin typeface="Arial"/>
                <a:ea typeface="Arial"/>
                <a:cs typeface="Arial"/>
              </a:defRPr>
            </a:pPr>
            <a:r>
              <a:rPr sz="750" b="0" i="0">
                <a:solidFill>
                  <a:srgbClr val="737C84"/>
                </a:solidFill>
                <a:latin typeface="Arial"/>
                <a:ea typeface="Arial"/>
                <a:cs typeface="Arial"/>
              </a:rPr>
              <a:t>13</a:t>
            </a:r>
          </a:p>
        </p:txBody>
      </p:sp>
      <p:sp>
        <p:nvSpPr>
          <p:cNvPr id="43" name="Text 2">
            <a:extLst>
              <a:ext uri="{FF2B5EF4-FFF2-40B4-BE49-F238E27FC236}">
                <a16:creationId xmlns:a16="http://schemas.microsoft.com/office/drawing/2014/main" id="{A742CC06-271C-8A14-EE0E-4886B7BFD265}"/>
              </a:ext>
            </a:extLst>
          </p:cNvPr>
          <p:cNvSpPr>
            <a:spLocks noGrp="1"/>
          </p:cNvSpPr>
          <p:nvPr/>
        </p:nvSpPr>
        <p:spPr>
          <a:xfrm>
            <a:off x="548640" y="6492240"/>
            <a:ext cx="11091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defPPr algn="r">
              <a:defRPr sz="1050">
                <a:solidFill>
                  <a:srgbClr val="757575"/>
                </a:solidFill>
                <a:latin typeface="Arial"/>
                <a:ea typeface="Arial"/>
                <a:cs typeface="Arial"/>
              </a:defRPr>
            </a:defPPr>
          </a:lstStyle>
          <a:p>
            <a:pPr algn="r">
              <a:buNone/>
              <a:tabLst>
                <a:tab pos="0" algn="l"/>
              </a:tabLst>
              <a:defRPr sz="1050">
                <a:solidFill>
                  <a:srgbClr val="757575"/>
                </a:solidFill>
                <a:latin typeface="Arial"/>
                <a:ea typeface="Arial"/>
                <a:cs typeface="Arial"/>
              </a:defRPr>
            </a:pPr>
            <a:r>
              <a:rPr sz="1050" b="0" u="none" strike="noStrike">
                <a:solidFill>
                  <a:srgbClr val="757575"/>
                </a:solidFill>
                <a:latin typeface="Arial"/>
                <a:ea typeface="Arial"/>
                <a:cs typeface="Arial"/>
              </a:rPr>
              <a:t>DAW — Tema 3: Publicación y ejecución de aplicaciones web</a:t>
            </a:r>
            <a:endParaRPr sz="1050" b="0" u="none" strike="noStrike">
              <a:solidFill>
                <a:srgbClr val="000000"/>
              </a:solidFill>
              <a:latin typeface="Arial"/>
              <a:ea typeface="Arial"/>
              <a:cs typeface="Arial"/>
            </a:endParaRPr>
          </a:p>
        </p:txBody>
      </p:sp>
      <p:sp>
        <p:nvSpPr>
          <p:cNvPr id="45" name="Shape 0">
            <a:extLst>
              <a:ext uri="{FF2B5EF4-FFF2-40B4-BE49-F238E27FC236}">
                <a16:creationId xmlns:a16="http://schemas.microsoft.com/office/drawing/2014/main" id="{6EA75EBC-A260-30AE-F0D3-DA414F41C6C8}"/>
              </a:ext>
            </a:extLst>
          </p:cNvPr>
          <p:cNvSpPr>
            <a:spLocks noGrp="1"/>
          </p:cNvSpPr>
          <p:nvPr/>
        </p:nvSpPr>
        <p:spPr>
          <a:xfrm>
            <a:off x="0" y="0"/>
            <a:ext cx="12188520" cy="776880"/>
          </a:xfrm>
          <a:prstGeom prst="rect">
            <a:avLst/>
          </a:prstGeom>
          <a:solidFill>
            <a:srgbClr val="004D40"/>
          </a:solidFill>
          <a:ln w="12700">
            <a:solidFill>
              <a:srgbClr val="004D4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strike="noStrike">
              <a:solidFill>
                <a:srgbClr val="FFFFFF"/>
              </a:solidFill>
              <a:latin typeface="Arial"/>
              <a:ea typeface="Arial"/>
              <a:cs typeface="Arial"/>
            </a:endParaRPr>
          </a:p>
        </p:txBody>
      </p:sp>
      <p:sp>
        <p:nvSpPr>
          <p:cNvPr id="47" name="Text 1">
            <a:extLst>
              <a:ext uri="{FF2B5EF4-FFF2-40B4-BE49-F238E27FC236}">
                <a16:creationId xmlns:a16="http://schemas.microsoft.com/office/drawing/2014/main" id="{A6130689-1879-EB68-E5CC-55B4B8D469DE}"/>
              </a:ext>
            </a:extLst>
          </p:cNvPr>
          <p:cNvSpPr>
            <a:spLocks noGrp="1"/>
          </p:cNvSpPr>
          <p:nvPr/>
        </p:nvSpPr>
        <p:spPr>
          <a:xfrm>
            <a:off x="384120" y="18360"/>
            <a:ext cx="1142064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defPPr>
              <a:defRPr sz="2500" b="1">
                <a:solidFill>
                  <a:srgbClr val="FFFFFF"/>
                </a:solidFill>
                <a:latin typeface="Arial"/>
                <a:ea typeface="Arial"/>
                <a:cs typeface="Arial"/>
              </a:defRPr>
            </a:defPPr>
          </a:lstStyle>
          <a:p>
            <a:pPr defTabSz="914400">
              <a:lnSpc>
                <a:spcPct val="100000"/>
              </a:lnSpc>
              <a:buNone/>
              <a:tabLst>
                <a:tab pos="0" algn="l"/>
              </a:tabLst>
              <a:defRPr sz="2500" b="1">
                <a:solidFill>
                  <a:srgbClr val="FFFFFF"/>
                </a:solidFill>
                <a:latin typeface="Arial"/>
                <a:ea typeface="Arial"/>
                <a:cs typeface="Arial"/>
              </a:defRPr>
            </a:pPr>
            <a:r>
              <a:rPr sz="2500" b="1" u="none" strike="noStrike">
                <a:solidFill>
                  <a:srgbClr val="FFFFFF"/>
                </a:solidFill>
                <a:latin typeface="Arial"/>
                <a:ea typeface="Arial"/>
                <a:cs typeface="Arial"/>
              </a:rPr>
              <a:t>Reenvío al grupo y límites de los intentos</a:t>
            </a:r>
          </a:p>
        </p:txBody>
      </p:sp>
      <p:sp>
        <p:nvSpPr>
          <p:cNvPr id="48" name="location /api/ {&#10;    proxy_pass http://b">
            <a:extLst>
              <a:ext uri="{FF2B5EF4-FFF2-40B4-BE49-F238E27FC236}">
                <a16:creationId xmlns:a16="http://schemas.microsoft.com/office/drawing/2014/main" id="{BE6220C6-C45D-4640-BB14-4D554ED893F7}"/>
              </a:ext>
            </a:extLst>
          </p:cNvPr>
          <p:cNvSpPr>
            <a:spLocks noGrp="1"/>
          </p:cNvSpPr>
          <p:nvPr/>
        </p:nvSpPr>
        <p:spPr>
          <a:xfrm>
            <a:off x="914400" y="1209675"/>
            <a:ext cx="10382250" cy="3409950"/>
          </a:xfrm>
          <a:prstGeom prst="roundRect">
            <a:avLst>
              <a:gd name="adj" fmla="val 2235"/>
            </a:avLst>
          </a:prstGeom>
          <a:solidFill>
            <a:srgbClr val="F6F8FA"/>
          </a:solidFill>
          <a:ln w="9525">
            <a:solidFill>
              <a:srgbClr val="AFD2C9"/>
            </a:solidFill>
          </a:ln>
        </p:spPr>
        <p:txBody>
          <a:bodyPr lIns="171450" tIns="171450" rIns="171450" bIns="171450" anchor="t"/>
          <a:lstStyle>
            <a:defPPr algn="l">
              <a:defRPr sz="1725" b="0">
                <a:solidFill>
                  <a:srgbClr val="18365F"/>
                </a:solidFill>
                <a:latin typeface="Courier New"/>
                <a:ea typeface="Courier New"/>
                <a:cs typeface="Courier New"/>
              </a:defRPr>
            </a:defPPr>
          </a:lstStyle>
          <a:p>
            <a:pPr algn="l">
              <a:defRPr sz="1725" b="0">
                <a:solidFill>
                  <a:srgbClr val="18365F"/>
                </a:solidFill>
                <a:latin typeface="Courier New"/>
                <a:ea typeface="Courier New"/>
                <a:cs typeface="Courier New"/>
              </a:defRPr>
            </a:pPr>
            <a:r>
              <a:rPr sz="1725" b="0">
                <a:solidFill>
                  <a:srgbClr val="18365F"/>
                </a:solidFill>
                <a:latin typeface="Courier New"/>
                <a:ea typeface="Courier New"/>
                <a:cs typeface="Courier New"/>
              </a:rPr>
              <a:t>location /api/ {</a:t>
            </a:r>
          </a:p>
          <a:p>
            <a:pPr algn="l">
              <a:defRPr sz="1725" b="0">
                <a:solidFill>
                  <a:srgbClr val="18365F"/>
                </a:solidFill>
                <a:latin typeface="Courier New"/>
                <a:ea typeface="Courier New"/>
                <a:cs typeface="Courier New"/>
              </a:defRPr>
            </a:pPr>
            <a:r>
              <a:rPr sz="1725" b="0">
                <a:solidFill>
                  <a:srgbClr val="18365F"/>
                </a:solidFill>
                <a:latin typeface="Courier New"/>
                <a:ea typeface="Courier New"/>
                <a:cs typeface="Courier New"/>
              </a:rPr>
              <a:t>    proxy_pass http://backend_pool;</a:t>
            </a:r>
          </a:p>
          <a:p>
            <a:endParaRPr sz="1725" b="0">
              <a:solidFill>
                <a:srgbClr val="18365F"/>
              </a:solidFill>
              <a:latin typeface="Courier New"/>
              <a:ea typeface="Courier New"/>
              <a:cs typeface="Courier New"/>
            </a:endParaRPr>
          </a:p>
          <a:p>
            <a:pPr algn="l">
              <a:defRPr sz="1725" b="0">
                <a:solidFill>
                  <a:srgbClr val="18365F"/>
                </a:solidFill>
                <a:latin typeface="Courier New"/>
                <a:ea typeface="Courier New"/>
                <a:cs typeface="Courier New"/>
              </a:defRPr>
            </a:pPr>
            <a:r>
              <a:rPr sz="1725" b="0">
                <a:solidFill>
                  <a:srgbClr val="18365F"/>
                </a:solidFill>
                <a:latin typeface="Courier New"/>
                <a:ea typeface="Courier New"/>
                <a:cs typeface="Courier New"/>
              </a:rPr>
              <a:t>    proxy_connect_timeout 2s;</a:t>
            </a:r>
          </a:p>
          <a:p>
            <a:pPr algn="l">
              <a:defRPr sz="1725" b="0">
                <a:solidFill>
                  <a:srgbClr val="18365F"/>
                </a:solidFill>
                <a:latin typeface="Courier New"/>
                <a:ea typeface="Courier New"/>
                <a:cs typeface="Courier New"/>
              </a:defRPr>
            </a:pPr>
            <a:r>
              <a:rPr sz="1725" b="0">
                <a:solidFill>
                  <a:srgbClr val="18365F"/>
                </a:solidFill>
                <a:latin typeface="Courier New"/>
                <a:ea typeface="Courier New"/>
                <a:cs typeface="Courier New"/>
              </a:rPr>
              <a:t>    proxy_next_upstream error timeout;</a:t>
            </a:r>
          </a:p>
          <a:p>
            <a:pPr algn="l">
              <a:defRPr sz="1725" b="0">
                <a:solidFill>
                  <a:srgbClr val="18365F"/>
                </a:solidFill>
                <a:latin typeface="Courier New"/>
                <a:ea typeface="Courier New"/>
                <a:cs typeface="Courier New"/>
              </a:defRPr>
            </a:pPr>
            <a:r>
              <a:rPr sz="1725" b="0">
                <a:solidFill>
                  <a:srgbClr val="18365F"/>
                </a:solidFill>
                <a:latin typeface="Courier New"/>
                <a:ea typeface="Courier New"/>
                <a:cs typeface="Courier New"/>
              </a:rPr>
              <a:t>    proxy_next_upstream_tries 3;</a:t>
            </a:r>
          </a:p>
          <a:p>
            <a:endParaRPr sz="1725" b="0">
              <a:solidFill>
                <a:srgbClr val="18365F"/>
              </a:solidFill>
              <a:latin typeface="Courier New"/>
              <a:ea typeface="Courier New"/>
              <a:cs typeface="Courier New"/>
            </a:endParaRPr>
          </a:p>
          <a:p>
            <a:pPr algn="l">
              <a:defRPr sz="1725" b="0">
                <a:solidFill>
                  <a:srgbClr val="18365F"/>
                </a:solidFill>
                <a:latin typeface="Courier New"/>
                <a:ea typeface="Courier New"/>
                <a:cs typeface="Courier New"/>
              </a:defRPr>
            </a:pPr>
            <a:r>
              <a:rPr sz="1725" b="0">
                <a:solidFill>
                  <a:srgbClr val="18365F"/>
                </a:solidFill>
                <a:latin typeface="Courier New"/>
                <a:ea typeface="Courier New"/>
                <a:cs typeface="Courier New"/>
              </a:rPr>
              <a:t>    # Aquí se añaden las cabeceras reenviadas.</a:t>
            </a:r>
          </a:p>
          <a:p>
            <a:pPr algn="l">
              <a:defRPr sz="1725" b="0">
                <a:solidFill>
                  <a:srgbClr val="18365F"/>
                </a:solidFill>
                <a:latin typeface="Courier New"/>
                <a:ea typeface="Courier New"/>
                <a:cs typeface="Courier New"/>
              </a:defRPr>
            </a:pPr>
            <a:r>
              <a:rPr sz="1725" b="0">
                <a:solidFill>
                  <a:srgbClr val="18365F"/>
                </a:solidFill>
                <a:latin typeface="Courier New"/>
                <a:ea typeface="Courier New"/>
                <a:cs typeface="Courier New"/>
              </a:rPr>
              <a:t>}</a:t>
            </a:r>
          </a:p>
        </p:txBody>
      </p:sp>
      <p:sp>
        <p:nvSpPr>
          <p:cNvPr id="49" name="Máximo de tres intentos en total, inclui">
            <a:extLst>
              <a:ext uri="{FF2B5EF4-FFF2-40B4-BE49-F238E27FC236}">
                <a16:creationId xmlns:a16="http://schemas.microsoft.com/office/drawing/2014/main" id="{E9621C77-B299-4189-BFF6-DFA96A04A815}"/>
              </a:ext>
            </a:extLst>
          </p:cNvPr>
          <p:cNvSpPr>
            <a:spLocks noGrp="1"/>
          </p:cNvSpPr>
          <p:nvPr/>
        </p:nvSpPr>
        <p:spPr>
          <a:xfrm>
            <a:off x="1047750" y="4895850"/>
            <a:ext cx="10096500" cy="342900"/>
          </a:xfrm>
          <a:prstGeom prst="rect">
            <a:avLst/>
          </a:prstGeom>
          <a:noFill/>
          <a:ln w="0">
            <a:noFill/>
          </a:ln>
        </p:spPr>
        <p:txBody>
          <a:bodyPr lIns="0" tIns="0" rIns="0" bIns="0" anchor="t"/>
          <a:lstStyle>
            <a:defPPr algn="l">
              <a:defRPr sz="1800" b="0">
                <a:solidFill>
                  <a:srgbClr val="313A44"/>
                </a:solidFill>
                <a:latin typeface="Arial"/>
                <a:ea typeface="Arial"/>
                <a:cs typeface="Arial"/>
              </a:defRPr>
            </a:defPPr>
          </a:lstStyle>
          <a:p>
            <a:pPr algn="l">
              <a:defRPr sz="1800" b="0">
                <a:solidFill>
                  <a:srgbClr val="313A44"/>
                </a:solidFill>
                <a:latin typeface="Arial"/>
                <a:ea typeface="Arial"/>
                <a:cs typeface="Arial"/>
              </a:defRPr>
            </a:pPr>
            <a:r>
              <a:rPr sz="1800" b="0">
                <a:solidFill>
                  <a:srgbClr val="313A44"/>
                </a:solidFill>
                <a:latin typeface="Arial"/>
                <a:ea typeface="Arial"/>
                <a:cs typeface="Arial"/>
              </a:rPr>
              <a:t>Máximo de tres intentos en total, incluido el inicial.</a:t>
            </a:r>
          </a:p>
        </p:txBody>
      </p:sp>
    </p:spTree>
    <p:extLst>
      <p:ext uri="{BB962C8B-B14F-4D97-AF65-F5344CB8AC3E}">
        <p14:creationId xmlns:p14="http://schemas.microsoft.com/office/powerpoint/2010/main" val="29370857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34">
            <a:extLst>
              <a:ext uri="{FF2B5EF4-FFF2-40B4-BE49-F238E27FC236}">
                <a16:creationId xmlns:a16="http://schemas.microsoft.com/office/drawing/2014/main" id="{847ED172-986B-1F4B-A572-EC07E15E9547}"/>
              </a:ext>
            </a:extLst>
          </p:cNvPr>
          <p:cNvSpPr>
            <a:spLocks noGrp="1"/>
          </p:cNvSpPr>
          <p:nvPr/>
        </p:nvSpPr>
        <p:spPr>
          <a:xfrm>
            <a:off x="11734495" y="6601968"/>
            <a:ext cx="256032" cy="114300"/>
          </a:xfrm>
          <a:prstGeom prst="rect">
            <a:avLst/>
          </a:prstGeom>
          <a:noFill/>
        </p:spPr>
        <p:txBody>
          <a:bodyPr wrap="square" lIns="0" tIns="0" rIns="0" bIns="0" anchor="t">
            <a:spAutoFit/>
          </a:bodyPr>
          <a:lstStyle>
            <a:defPPr>
              <a:defRPr sz="750">
                <a:solidFill>
                  <a:srgbClr val="737C84"/>
                </a:solidFill>
                <a:latin typeface="Arial"/>
                <a:ea typeface="Arial"/>
                <a:cs typeface="Arial"/>
              </a:defRPr>
            </a:defPPr>
          </a:lstStyle>
          <a:p>
            <a:pPr algn="r">
              <a:buNone/>
              <a:defRPr sz="750">
                <a:solidFill>
                  <a:srgbClr val="737C84"/>
                </a:solidFill>
                <a:latin typeface="Arial"/>
                <a:ea typeface="Arial"/>
                <a:cs typeface="Arial"/>
              </a:defRPr>
            </a:pPr>
            <a:r>
              <a:rPr sz="750" b="0" i="0">
                <a:solidFill>
                  <a:srgbClr val="737C84"/>
                </a:solidFill>
                <a:latin typeface="Arial"/>
                <a:ea typeface="Arial"/>
                <a:cs typeface="Arial"/>
              </a:rPr>
              <a:t>14</a:t>
            </a:r>
          </a:p>
        </p:txBody>
      </p:sp>
      <p:sp>
        <p:nvSpPr>
          <p:cNvPr id="43" name="Text 2">
            <a:extLst>
              <a:ext uri="{FF2B5EF4-FFF2-40B4-BE49-F238E27FC236}">
                <a16:creationId xmlns:a16="http://schemas.microsoft.com/office/drawing/2014/main" id="{A742CC06-271C-8A14-EE0E-4886B7BFD265}"/>
              </a:ext>
            </a:extLst>
          </p:cNvPr>
          <p:cNvSpPr>
            <a:spLocks noGrp="1"/>
          </p:cNvSpPr>
          <p:nvPr/>
        </p:nvSpPr>
        <p:spPr>
          <a:xfrm>
            <a:off x="548640" y="6492240"/>
            <a:ext cx="11091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defPPr algn="r">
              <a:defRPr sz="1050">
                <a:solidFill>
                  <a:srgbClr val="757575"/>
                </a:solidFill>
                <a:latin typeface="Arial"/>
                <a:ea typeface="Arial"/>
                <a:cs typeface="Arial"/>
              </a:defRPr>
            </a:defPPr>
          </a:lstStyle>
          <a:p>
            <a:pPr algn="r">
              <a:buNone/>
              <a:tabLst>
                <a:tab pos="0" algn="l"/>
              </a:tabLst>
              <a:defRPr sz="1050">
                <a:solidFill>
                  <a:srgbClr val="757575"/>
                </a:solidFill>
                <a:latin typeface="Arial"/>
                <a:ea typeface="Arial"/>
                <a:cs typeface="Arial"/>
              </a:defRPr>
            </a:pPr>
            <a:r>
              <a:rPr sz="1050" b="0" u="none" strike="noStrike">
                <a:solidFill>
                  <a:srgbClr val="757575"/>
                </a:solidFill>
                <a:latin typeface="Arial"/>
                <a:ea typeface="Arial"/>
                <a:cs typeface="Arial"/>
              </a:rPr>
              <a:t>DAW — Tema 3: Publicación y ejecución de aplicaciones web</a:t>
            </a:r>
            <a:endParaRPr sz="1050" b="0" u="none" strike="noStrike">
              <a:solidFill>
                <a:srgbClr val="000000"/>
              </a:solidFill>
              <a:latin typeface="Arial"/>
              <a:ea typeface="Arial"/>
              <a:cs typeface="Arial"/>
            </a:endParaRPr>
          </a:p>
        </p:txBody>
      </p:sp>
      <p:sp>
        <p:nvSpPr>
          <p:cNvPr id="45" name="Shape 0">
            <a:extLst>
              <a:ext uri="{FF2B5EF4-FFF2-40B4-BE49-F238E27FC236}">
                <a16:creationId xmlns:a16="http://schemas.microsoft.com/office/drawing/2014/main" id="{6EA75EBC-A260-30AE-F0D3-DA414F41C6C8}"/>
              </a:ext>
            </a:extLst>
          </p:cNvPr>
          <p:cNvSpPr>
            <a:spLocks noGrp="1"/>
          </p:cNvSpPr>
          <p:nvPr/>
        </p:nvSpPr>
        <p:spPr>
          <a:xfrm>
            <a:off x="0" y="0"/>
            <a:ext cx="12188520" cy="776880"/>
          </a:xfrm>
          <a:prstGeom prst="rect">
            <a:avLst/>
          </a:prstGeom>
          <a:solidFill>
            <a:srgbClr val="004D40"/>
          </a:solidFill>
          <a:ln w="12700">
            <a:solidFill>
              <a:srgbClr val="004D4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strike="noStrike">
              <a:solidFill>
                <a:srgbClr val="FFFFFF"/>
              </a:solidFill>
              <a:latin typeface="Arial"/>
              <a:ea typeface="Arial"/>
              <a:cs typeface="Arial"/>
            </a:endParaRPr>
          </a:p>
        </p:txBody>
      </p:sp>
      <p:sp>
        <p:nvSpPr>
          <p:cNvPr id="47" name="Text 1">
            <a:extLst>
              <a:ext uri="{FF2B5EF4-FFF2-40B4-BE49-F238E27FC236}">
                <a16:creationId xmlns:a16="http://schemas.microsoft.com/office/drawing/2014/main" id="{A6130689-1879-EB68-E5CC-55B4B8D469DE}"/>
              </a:ext>
            </a:extLst>
          </p:cNvPr>
          <p:cNvSpPr>
            <a:spLocks noGrp="1"/>
          </p:cNvSpPr>
          <p:nvPr/>
        </p:nvSpPr>
        <p:spPr>
          <a:xfrm>
            <a:off x="384120" y="18360"/>
            <a:ext cx="1142064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defPPr>
              <a:defRPr sz="2500" b="1">
                <a:solidFill>
                  <a:srgbClr val="FFFFFF"/>
                </a:solidFill>
                <a:latin typeface="Arial"/>
                <a:ea typeface="Arial"/>
                <a:cs typeface="Arial"/>
              </a:defRPr>
            </a:defPPr>
          </a:lstStyle>
          <a:p>
            <a:pPr defTabSz="914400">
              <a:lnSpc>
                <a:spcPct val="100000"/>
              </a:lnSpc>
              <a:buNone/>
              <a:tabLst>
                <a:tab pos="0" algn="l"/>
              </a:tabLst>
              <a:defRPr sz="2500" b="1">
                <a:solidFill>
                  <a:srgbClr val="FFFFFF"/>
                </a:solidFill>
                <a:latin typeface="Arial"/>
                <a:ea typeface="Arial"/>
                <a:cs typeface="Arial"/>
              </a:defRPr>
            </a:pPr>
            <a:r>
              <a:rPr sz="2500" b="1" u="none" strike="noStrike">
                <a:solidFill>
                  <a:srgbClr val="FFFFFF"/>
                </a:solidFill>
                <a:latin typeface="Arial"/>
                <a:ea typeface="Arial"/>
                <a:cs typeface="Arial"/>
              </a:rPr>
              <a:t>Balanceo y detección pasiva de fallos</a:t>
            </a:r>
          </a:p>
        </p:txBody>
      </p:sp>
      <p:pic>
        <p:nvPicPr>
          <p:cNvPr id="48" name="Imagen 47">
            <a:extLst>
              <a:ext uri="{FF2B5EF4-FFF2-40B4-BE49-F238E27FC236}">
                <a16:creationId xmlns:a16="http://schemas.microsoft.com/office/drawing/2014/main" id="{8098B23A-0F93-4733-9949-390752713FF6}"/>
              </a:ext>
            </a:extLst>
          </p:cNvPr>
          <p:cNvPicPr>
            <a:picLocks noChangeAspect="1"/>
          </p:cNvPicPr>
          <p:nvPr/>
        </p:nvPicPr>
        <p:blipFill>
          <a:blip r:embed="rId3"/>
          <a:stretch/>
        </p:blipFill>
        <p:spPr>
          <a:xfrm>
            <a:off x="1357186" y="942975"/>
            <a:ext cx="9477628" cy="5334000"/>
          </a:xfrm>
          <a:prstGeom prst="rect">
            <a:avLst/>
          </a:prstGeom>
        </p:spPr>
      </p:pic>
    </p:spTree>
    <p:extLst>
      <p:ext uri="{BB962C8B-B14F-4D97-AF65-F5344CB8AC3E}">
        <p14:creationId xmlns:p14="http://schemas.microsoft.com/office/powerpoint/2010/main" val="29370857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Shape 18">
            <a:extLst>
              <a:ext uri="{FF2B5EF4-FFF2-40B4-BE49-F238E27FC236}">
                <a16:creationId xmlns:a16="http://schemas.microsoft.com/office/drawing/2014/main" id="{A21D1190-F64E-B2BC-A6FE-78AF0EBF8949}"/>
              </a:ext>
            </a:extLst>
          </p:cNvPr>
          <p:cNvSpPr>
            <a:spLocks noGrp="1"/>
          </p:cNvSpPr>
          <p:nvPr/>
        </p:nvSpPr>
        <p:spPr>
          <a:xfrm>
            <a:off x="860282" y="5463540"/>
            <a:ext cx="10718044" cy="594000"/>
          </a:xfrm>
          <a:prstGeom prst="roundRect">
            <a:avLst>
              <a:gd name="adj" fmla="val 12308"/>
            </a:avLst>
          </a:prstGeom>
          <a:solidFill>
            <a:srgbClr val="FFFDE7"/>
          </a:solidFill>
          <a:ln w="16510">
            <a:solidFill>
              <a:srgbClr val="00ACC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strike="noStrike">
              <a:solidFill>
                <a:srgbClr val="000000"/>
              </a:solidFill>
              <a:latin typeface="Arial"/>
              <a:ea typeface="Arial"/>
              <a:cs typeface="Arial"/>
            </a:endParaRPr>
          </a:p>
        </p:txBody>
      </p:sp>
      <p:sp>
        <p:nvSpPr>
          <p:cNvPr id="33" name="TextBox 32">
            <a:extLst>
              <a:ext uri="{FF2B5EF4-FFF2-40B4-BE49-F238E27FC236}">
                <a16:creationId xmlns:a16="http://schemas.microsoft.com/office/drawing/2014/main" id="{31F66DA7-F80E-EED7-7362-A84C5F1E2B57}"/>
              </a:ext>
            </a:extLst>
          </p:cNvPr>
          <p:cNvSpPr>
            <a:spLocks noGrp="1"/>
          </p:cNvSpPr>
          <p:nvPr/>
        </p:nvSpPr>
        <p:spPr>
          <a:xfrm>
            <a:off x="937260" y="5578670"/>
            <a:ext cx="10564088" cy="213360"/>
          </a:xfrm>
          <a:prstGeom prst="rect">
            <a:avLst/>
          </a:prstGeom>
          <a:noFill/>
        </p:spPr>
        <p:txBody>
          <a:bodyPr wrap="square" lIns="0" tIns="0" rIns="0" bIns="0" anchor="ctr">
            <a:spAutoFit/>
          </a:bodyPr>
          <a:lstStyle>
            <a:defPPr algn="ctr">
              <a:defRPr sz="1400">
                <a:solidFill>
                  <a:srgbClr val="18365F"/>
                </a:solidFill>
                <a:latin typeface="Arial"/>
                <a:ea typeface="Arial"/>
                <a:cs typeface="Arial"/>
              </a:defRPr>
            </a:defPPr>
          </a:lstStyle>
          <a:p>
            <a:pPr algn="ctr">
              <a:buNone/>
              <a:defRPr sz="1400">
                <a:solidFill>
                  <a:srgbClr val="18365F"/>
                </a:solidFill>
                <a:latin typeface="Arial"/>
                <a:ea typeface="Arial"/>
                <a:cs typeface="Arial"/>
              </a:defRPr>
            </a:pPr>
            <a:r>
              <a:rPr sz="1400">
                <a:solidFill>
                  <a:srgbClr val="18365F"/>
                </a:solidFill>
                <a:latin typeface="Arial"/>
                <a:ea typeface="Arial"/>
                <a:cs typeface="Arial"/>
              </a:rPr>
              <a:t>Varias réplicas reducen algunos fallos, pero no garantizan que toda petición tenga éxito.</a:t>
            </a:r>
          </a:p>
        </p:txBody>
      </p:sp>
      <p:sp>
        <p:nvSpPr>
          <p:cNvPr id="35" name="TextBox 34">
            <a:extLst>
              <a:ext uri="{FF2B5EF4-FFF2-40B4-BE49-F238E27FC236}">
                <a16:creationId xmlns:a16="http://schemas.microsoft.com/office/drawing/2014/main" id="{847ED172-986B-1F4B-A572-EC07E15E9547}"/>
              </a:ext>
            </a:extLst>
          </p:cNvPr>
          <p:cNvSpPr>
            <a:spLocks noGrp="1"/>
          </p:cNvSpPr>
          <p:nvPr/>
        </p:nvSpPr>
        <p:spPr>
          <a:xfrm>
            <a:off x="11734495" y="6601968"/>
            <a:ext cx="256032" cy="114300"/>
          </a:xfrm>
          <a:prstGeom prst="rect">
            <a:avLst/>
          </a:prstGeom>
          <a:noFill/>
        </p:spPr>
        <p:txBody>
          <a:bodyPr wrap="square" lIns="0" tIns="0" rIns="0" bIns="0" anchor="t">
            <a:spAutoFit/>
          </a:bodyPr>
          <a:lstStyle>
            <a:defPPr>
              <a:defRPr sz="750">
                <a:solidFill>
                  <a:srgbClr val="737C84"/>
                </a:solidFill>
                <a:latin typeface="Arial"/>
                <a:ea typeface="Arial"/>
                <a:cs typeface="Arial"/>
              </a:defRPr>
            </a:defPPr>
          </a:lstStyle>
          <a:p>
            <a:pPr algn="r">
              <a:buNone/>
              <a:defRPr sz="750">
                <a:solidFill>
                  <a:srgbClr val="737C84"/>
                </a:solidFill>
                <a:latin typeface="Arial"/>
                <a:ea typeface="Arial"/>
                <a:cs typeface="Arial"/>
              </a:defRPr>
            </a:pPr>
            <a:r>
              <a:rPr sz="750" b="0" i="0">
                <a:solidFill>
                  <a:srgbClr val="737C84"/>
                </a:solidFill>
                <a:latin typeface="Arial"/>
                <a:ea typeface="Arial"/>
                <a:cs typeface="Arial"/>
              </a:rPr>
              <a:t>15</a:t>
            </a:r>
          </a:p>
        </p:txBody>
      </p:sp>
      <p:sp>
        <p:nvSpPr>
          <p:cNvPr id="43" name="Text 2">
            <a:extLst>
              <a:ext uri="{FF2B5EF4-FFF2-40B4-BE49-F238E27FC236}">
                <a16:creationId xmlns:a16="http://schemas.microsoft.com/office/drawing/2014/main" id="{A742CC06-271C-8A14-EE0E-4886B7BFD265}"/>
              </a:ext>
            </a:extLst>
          </p:cNvPr>
          <p:cNvSpPr>
            <a:spLocks noGrp="1"/>
          </p:cNvSpPr>
          <p:nvPr/>
        </p:nvSpPr>
        <p:spPr>
          <a:xfrm>
            <a:off x="548640" y="6492240"/>
            <a:ext cx="11091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defPPr algn="r">
              <a:defRPr sz="1050">
                <a:solidFill>
                  <a:srgbClr val="757575"/>
                </a:solidFill>
                <a:latin typeface="Arial"/>
                <a:ea typeface="Arial"/>
                <a:cs typeface="Arial"/>
              </a:defRPr>
            </a:defPPr>
          </a:lstStyle>
          <a:p>
            <a:pPr algn="r">
              <a:buNone/>
              <a:tabLst>
                <a:tab pos="0" algn="l"/>
              </a:tabLst>
              <a:defRPr sz="1050">
                <a:solidFill>
                  <a:srgbClr val="757575"/>
                </a:solidFill>
                <a:latin typeface="Arial"/>
                <a:ea typeface="Arial"/>
                <a:cs typeface="Arial"/>
              </a:defRPr>
            </a:pPr>
            <a:r>
              <a:rPr sz="1050" b="0" u="none" strike="noStrike">
                <a:solidFill>
                  <a:srgbClr val="757575"/>
                </a:solidFill>
                <a:latin typeface="Arial"/>
                <a:ea typeface="Arial"/>
                <a:cs typeface="Arial"/>
              </a:rPr>
              <a:t>DAW — Tema 3: Publicación y ejecución de aplicaciones web</a:t>
            </a:r>
            <a:endParaRPr sz="1050" b="0" u="none" strike="noStrike">
              <a:solidFill>
                <a:srgbClr val="000000"/>
              </a:solidFill>
              <a:latin typeface="Arial"/>
              <a:ea typeface="Arial"/>
              <a:cs typeface="Arial"/>
            </a:endParaRPr>
          </a:p>
        </p:txBody>
      </p:sp>
      <p:sp>
        <p:nvSpPr>
          <p:cNvPr id="45" name="Shape 0">
            <a:extLst>
              <a:ext uri="{FF2B5EF4-FFF2-40B4-BE49-F238E27FC236}">
                <a16:creationId xmlns:a16="http://schemas.microsoft.com/office/drawing/2014/main" id="{6EA75EBC-A260-30AE-F0D3-DA414F41C6C8}"/>
              </a:ext>
            </a:extLst>
          </p:cNvPr>
          <p:cNvSpPr>
            <a:spLocks noGrp="1"/>
          </p:cNvSpPr>
          <p:nvPr/>
        </p:nvSpPr>
        <p:spPr>
          <a:xfrm>
            <a:off x="0" y="0"/>
            <a:ext cx="12188520" cy="776880"/>
          </a:xfrm>
          <a:prstGeom prst="rect">
            <a:avLst/>
          </a:prstGeom>
          <a:solidFill>
            <a:srgbClr val="004D40"/>
          </a:solidFill>
          <a:ln w="12700">
            <a:solidFill>
              <a:srgbClr val="004D4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strike="noStrike">
              <a:solidFill>
                <a:srgbClr val="FFFFFF"/>
              </a:solidFill>
              <a:latin typeface="Arial"/>
              <a:ea typeface="Arial"/>
              <a:cs typeface="Arial"/>
            </a:endParaRPr>
          </a:p>
        </p:txBody>
      </p:sp>
      <p:sp>
        <p:nvSpPr>
          <p:cNvPr id="47" name="Text 1">
            <a:extLst>
              <a:ext uri="{FF2B5EF4-FFF2-40B4-BE49-F238E27FC236}">
                <a16:creationId xmlns:a16="http://schemas.microsoft.com/office/drawing/2014/main" id="{A6130689-1879-EB68-E5CC-55B4B8D469DE}"/>
              </a:ext>
            </a:extLst>
          </p:cNvPr>
          <p:cNvSpPr>
            <a:spLocks noGrp="1"/>
          </p:cNvSpPr>
          <p:nvPr/>
        </p:nvSpPr>
        <p:spPr>
          <a:xfrm>
            <a:off x="384120" y="18360"/>
            <a:ext cx="1142064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defPPr>
              <a:defRPr sz="2500" b="1">
                <a:solidFill>
                  <a:srgbClr val="FFFFFF"/>
                </a:solidFill>
                <a:latin typeface="Arial"/>
                <a:ea typeface="Arial"/>
                <a:cs typeface="Arial"/>
              </a:defRPr>
            </a:defPPr>
          </a:lstStyle>
          <a:p>
            <a:pPr defTabSz="914400">
              <a:lnSpc>
                <a:spcPct val="100000"/>
              </a:lnSpc>
              <a:buNone/>
              <a:tabLst>
                <a:tab pos="0" algn="l"/>
              </a:tabLst>
              <a:defRPr sz="2500" b="1">
                <a:solidFill>
                  <a:srgbClr val="FFFFFF"/>
                </a:solidFill>
                <a:latin typeface="Arial"/>
                <a:ea typeface="Arial"/>
                <a:cs typeface="Arial"/>
              </a:defRPr>
            </a:pPr>
            <a:r>
              <a:rPr sz="2500" b="1" u="none" strike="noStrike">
                <a:solidFill>
                  <a:srgbClr val="FFFFFF"/>
                </a:solidFill>
                <a:latin typeface="Arial"/>
                <a:ea typeface="Arial"/>
                <a:cs typeface="Arial"/>
              </a:rPr>
              <a:t>Límites de la recuperación ante fallos</a:t>
            </a:r>
          </a:p>
        </p:txBody>
      </p:sp>
      <p:sp>
        <p:nvSpPr>
          <p:cNvPr id="48" name="Rectángulo redondeado 47">
            <a:extLst>
              <a:ext uri="{FF2B5EF4-FFF2-40B4-BE49-F238E27FC236}">
                <a16:creationId xmlns:a16="http://schemas.microsoft.com/office/drawing/2014/main" id="{696529B8-D574-43A0-8EAD-339B87EDEEA7}"/>
              </a:ext>
            </a:extLst>
          </p:cNvPr>
          <p:cNvSpPr>
            <a:spLocks noGrp="1"/>
          </p:cNvSpPr>
          <p:nvPr/>
        </p:nvSpPr>
        <p:spPr>
          <a:xfrm>
            <a:off x="914400" y="1381125"/>
            <a:ext cx="4895850" cy="3495675"/>
          </a:xfrm>
          <a:prstGeom prst="roundRect">
            <a:avLst>
              <a:gd name="adj" fmla="val 2180"/>
            </a:avLst>
          </a:prstGeom>
          <a:solidFill>
            <a:srgbClr val="E9F1FA"/>
          </a:solidFill>
          <a:ln w="9525">
            <a:solidFill>
              <a:srgbClr val="AFD2C9"/>
            </a:solidFill>
          </a:ln>
        </p:spPr>
        <p:txBody>
          <a:bodyPr lIns="171450" tIns="171450" rIns="171450" bIns="171450" anchor="t"/>
          <a:lstStyle>
            <a:defPPr algn="l">
              <a:defRPr sz="1650" b="0">
                <a:solidFill>
                  <a:srgbClr val="313A44"/>
                </a:solidFill>
                <a:latin typeface="Arial"/>
                <a:ea typeface="Arial"/>
                <a:cs typeface="Arial"/>
              </a:defRPr>
            </a:defPPr>
          </a:lstStyle>
          <a:p>
            <a:endParaRPr/>
          </a:p>
        </p:txBody>
      </p:sp>
      <p:sp>
        <p:nvSpPr>
          <p:cNvPr id="49" name="Rectángulo 48">
            <a:extLst>
              <a:ext uri="{FF2B5EF4-FFF2-40B4-BE49-F238E27FC236}">
                <a16:creationId xmlns:a16="http://schemas.microsoft.com/office/drawing/2014/main" id="{07D3656B-541E-44F9-96AA-87DBDBF125DD}"/>
              </a:ext>
            </a:extLst>
          </p:cNvPr>
          <p:cNvSpPr>
            <a:spLocks noGrp="1"/>
          </p:cNvSpPr>
          <p:nvPr/>
        </p:nvSpPr>
        <p:spPr>
          <a:xfrm>
            <a:off x="914400" y="1381125"/>
            <a:ext cx="4895850" cy="400050"/>
          </a:xfrm>
          <a:prstGeom prst="rect">
            <a:avLst/>
          </a:prstGeom>
          <a:solidFill>
            <a:srgbClr val="3B82F6"/>
          </a:solidFill>
          <a:ln w="0">
            <a:noFill/>
          </a:ln>
        </p:spPr>
        <p:txBody>
          <a:bodyPr/>
          <a:lstStyle/>
          <a:p>
            <a:endParaRPr lang="es-ES"/>
          </a:p>
        </p:txBody>
      </p:sp>
      <p:sp>
        <p:nvSpPr>
          <p:cNvPr id="50" name="Reintentos condicionados">
            <a:extLst>
              <a:ext uri="{FF2B5EF4-FFF2-40B4-BE49-F238E27FC236}">
                <a16:creationId xmlns:a16="http://schemas.microsoft.com/office/drawing/2014/main" id="{5F9EB644-77DC-450A-8616-695C212EAA01}"/>
              </a:ext>
            </a:extLst>
          </p:cNvPr>
          <p:cNvSpPr>
            <a:spLocks noGrp="1"/>
          </p:cNvSpPr>
          <p:nvPr/>
        </p:nvSpPr>
        <p:spPr>
          <a:xfrm>
            <a:off x="1066800" y="1466850"/>
            <a:ext cx="4591050" cy="285750"/>
          </a:xfrm>
          <a:prstGeom prst="rect">
            <a:avLst/>
          </a:prstGeom>
          <a:noFill/>
          <a:ln w="0">
            <a:noFill/>
          </a:ln>
        </p:spPr>
        <p:txBody>
          <a:bodyPr lIns="0" tIns="0" rIns="0" bIns="0" anchor="t"/>
          <a:lstStyle>
            <a:defPPr algn="l">
              <a:defRPr sz="1650" b="1">
                <a:solidFill>
                  <a:srgbClr val="FFFFFF"/>
                </a:solidFill>
                <a:latin typeface="Arial"/>
                <a:ea typeface="Arial"/>
                <a:cs typeface="Arial"/>
              </a:defRPr>
            </a:defPPr>
          </a:lstStyle>
          <a:p>
            <a:pPr algn="l">
              <a:defRPr sz="1650" b="1">
                <a:solidFill>
                  <a:srgbClr val="FFFFFF"/>
                </a:solidFill>
                <a:latin typeface="Arial"/>
                <a:ea typeface="Arial"/>
                <a:cs typeface="Arial"/>
              </a:defRPr>
            </a:pPr>
            <a:r>
              <a:rPr sz="1650" b="1">
                <a:solidFill>
                  <a:srgbClr val="FFFFFF"/>
                </a:solidFill>
                <a:latin typeface="Arial"/>
                <a:ea typeface="Arial"/>
                <a:cs typeface="Arial"/>
              </a:rPr>
              <a:t>Reintentos condicionados</a:t>
            </a:r>
          </a:p>
        </p:txBody>
      </p:sp>
      <p:sp>
        <p:nvSpPr>
          <p:cNvPr id="51" name="Solo antes de enviar respuesta al client">
            <a:extLst>
              <a:ext uri="{FF2B5EF4-FFF2-40B4-BE49-F238E27FC236}">
                <a16:creationId xmlns:a16="http://schemas.microsoft.com/office/drawing/2014/main" id="{7227A535-1CAD-4842-9EB8-10C3CF30B9DB}"/>
              </a:ext>
            </a:extLst>
          </p:cNvPr>
          <p:cNvSpPr>
            <a:spLocks noGrp="1"/>
          </p:cNvSpPr>
          <p:nvPr/>
        </p:nvSpPr>
        <p:spPr>
          <a:xfrm>
            <a:off x="1123950" y="1971675"/>
            <a:ext cx="4476750" cy="2752725"/>
          </a:xfrm>
          <a:prstGeom prst="rect">
            <a:avLst/>
          </a:prstGeom>
          <a:noFill/>
          <a:ln w="0">
            <a:noFill/>
          </a:ln>
        </p:spPr>
        <p:txBody>
          <a:bodyPr lIns="0" tIns="0" rIns="0" bIns="0" anchor="t"/>
          <a:lstStyle>
            <a:defPPr algn="l">
              <a:defRPr sz="1650" b="0">
                <a:solidFill>
                  <a:srgbClr val="313A44"/>
                </a:solidFill>
                <a:latin typeface="Arial"/>
                <a:ea typeface="Arial"/>
                <a:cs typeface="Arial"/>
              </a:defRPr>
            </a:defPPr>
          </a:lstStyle>
          <a:p>
            <a:pPr algn="l">
              <a:defRPr sz="1650" b="0">
                <a:solidFill>
                  <a:srgbClr val="313A44"/>
                </a:solidFill>
                <a:latin typeface="Arial"/>
                <a:ea typeface="Arial"/>
                <a:cs typeface="Arial"/>
              </a:defRPr>
            </a:pPr>
            <a:r>
              <a:rPr sz="1650" b="0">
                <a:solidFill>
                  <a:srgbClr val="313A44"/>
                </a:solidFill>
                <a:latin typeface="Arial"/>
                <a:ea typeface="Arial"/>
                <a:cs typeface="Arial"/>
              </a:rPr>
              <a:t>Solo antes de enviar respuesta al cliente.</a:t>
            </a:r>
          </a:p>
          <a:p>
            <a:endParaRPr sz="1650" b="0">
              <a:solidFill>
                <a:srgbClr val="313A44"/>
              </a:solidFill>
              <a:latin typeface="Arial"/>
              <a:ea typeface="Arial"/>
              <a:cs typeface="Arial"/>
            </a:endParaRPr>
          </a:p>
          <a:p>
            <a:pPr algn="l">
              <a:defRPr sz="1650" b="0">
                <a:solidFill>
                  <a:srgbClr val="313A44"/>
                </a:solidFill>
                <a:latin typeface="Arial"/>
                <a:ea typeface="Arial"/>
                <a:cs typeface="Arial"/>
              </a:defRPr>
            </a:pPr>
            <a:r>
              <a:rPr sz="1650" b="0">
                <a:solidFill>
                  <a:srgbClr val="313A44"/>
                </a:solidFill>
                <a:latin typeface="Arial"/>
                <a:ea typeface="Arial"/>
                <a:cs typeface="Arial"/>
              </a:rPr>
              <a:t>Un POST ya enviado normalmente no se repite en otro backend.</a:t>
            </a:r>
          </a:p>
          <a:p>
            <a:endParaRPr sz="1650" b="0">
              <a:solidFill>
                <a:srgbClr val="313A44"/>
              </a:solidFill>
              <a:latin typeface="Arial"/>
              <a:ea typeface="Arial"/>
              <a:cs typeface="Arial"/>
            </a:endParaRPr>
          </a:p>
          <a:p>
            <a:pPr algn="l">
              <a:defRPr sz="1650" b="0">
                <a:solidFill>
                  <a:srgbClr val="313A44"/>
                </a:solidFill>
                <a:latin typeface="Arial"/>
                <a:ea typeface="Arial"/>
                <a:cs typeface="Arial"/>
              </a:defRPr>
            </a:pPr>
            <a:r>
              <a:rPr sz="1650" b="0">
                <a:solidFill>
                  <a:srgbClr val="313A44"/>
                </a:solidFill>
                <a:latin typeface="Arial"/>
                <a:ea typeface="Arial"/>
                <a:cs typeface="Arial"/>
              </a:rPr>
              <a:t>error timeout no incluye por sí solo HTTP 500 o 503.</a:t>
            </a:r>
          </a:p>
        </p:txBody>
      </p:sp>
      <p:sp>
        <p:nvSpPr>
          <p:cNvPr id="52" name="Rectángulo redondeado 51">
            <a:extLst>
              <a:ext uri="{FF2B5EF4-FFF2-40B4-BE49-F238E27FC236}">
                <a16:creationId xmlns:a16="http://schemas.microsoft.com/office/drawing/2014/main" id="{E5DBD9E7-9756-46BC-A556-91594F3BE2A7}"/>
              </a:ext>
            </a:extLst>
          </p:cNvPr>
          <p:cNvSpPr>
            <a:spLocks noGrp="1"/>
          </p:cNvSpPr>
          <p:nvPr/>
        </p:nvSpPr>
        <p:spPr>
          <a:xfrm>
            <a:off x="6381750" y="1381125"/>
            <a:ext cx="4895850" cy="3495675"/>
          </a:xfrm>
          <a:prstGeom prst="roundRect">
            <a:avLst>
              <a:gd name="adj" fmla="val 2180"/>
            </a:avLst>
          </a:prstGeom>
          <a:solidFill>
            <a:srgbClr val="E8F6F0"/>
          </a:solidFill>
          <a:ln w="9525">
            <a:solidFill>
              <a:srgbClr val="AFD2C9"/>
            </a:solidFill>
          </a:ln>
        </p:spPr>
        <p:txBody>
          <a:bodyPr lIns="171450" tIns="171450" rIns="171450" bIns="171450" anchor="t"/>
          <a:lstStyle>
            <a:defPPr algn="l">
              <a:defRPr sz="1650" b="0">
                <a:solidFill>
                  <a:srgbClr val="313A44"/>
                </a:solidFill>
                <a:latin typeface="Arial"/>
                <a:ea typeface="Arial"/>
                <a:cs typeface="Arial"/>
              </a:defRPr>
            </a:defPPr>
          </a:lstStyle>
          <a:p>
            <a:endParaRPr/>
          </a:p>
        </p:txBody>
      </p:sp>
      <p:sp>
        <p:nvSpPr>
          <p:cNvPr id="53" name="Rectángulo 52">
            <a:extLst>
              <a:ext uri="{FF2B5EF4-FFF2-40B4-BE49-F238E27FC236}">
                <a16:creationId xmlns:a16="http://schemas.microsoft.com/office/drawing/2014/main" id="{E8D900C6-FD8E-44C4-BF46-8C5696F883FC}"/>
              </a:ext>
            </a:extLst>
          </p:cNvPr>
          <p:cNvSpPr>
            <a:spLocks noGrp="1"/>
          </p:cNvSpPr>
          <p:nvPr/>
        </p:nvSpPr>
        <p:spPr>
          <a:xfrm>
            <a:off x="6381750" y="1381125"/>
            <a:ext cx="4895850" cy="400050"/>
          </a:xfrm>
          <a:prstGeom prst="rect">
            <a:avLst/>
          </a:prstGeom>
          <a:solidFill>
            <a:srgbClr val="004D40"/>
          </a:solidFill>
          <a:ln w="0">
            <a:noFill/>
          </a:ln>
        </p:spPr>
        <p:txBody>
          <a:bodyPr/>
          <a:lstStyle/>
          <a:p>
            <a:endParaRPr lang="es-ES"/>
          </a:p>
        </p:txBody>
      </p:sp>
      <p:sp>
        <p:nvSpPr>
          <p:cNvPr id="54" name="Exclusión temporal">
            <a:extLst>
              <a:ext uri="{FF2B5EF4-FFF2-40B4-BE49-F238E27FC236}">
                <a16:creationId xmlns:a16="http://schemas.microsoft.com/office/drawing/2014/main" id="{12AD5109-D400-41F4-87CF-00783544DDEC}"/>
              </a:ext>
            </a:extLst>
          </p:cNvPr>
          <p:cNvSpPr>
            <a:spLocks noGrp="1"/>
          </p:cNvSpPr>
          <p:nvPr/>
        </p:nvSpPr>
        <p:spPr>
          <a:xfrm>
            <a:off x="6534150" y="1466850"/>
            <a:ext cx="4591050" cy="285750"/>
          </a:xfrm>
          <a:prstGeom prst="rect">
            <a:avLst/>
          </a:prstGeom>
          <a:noFill/>
          <a:ln w="0">
            <a:noFill/>
          </a:ln>
        </p:spPr>
        <p:txBody>
          <a:bodyPr lIns="0" tIns="0" rIns="0" bIns="0" anchor="t"/>
          <a:lstStyle>
            <a:defPPr algn="l">
              <a:defRPr sz="1650" b="1">
                <a:solidFill>
                  <a:srgbClr val="FFFFFF"/>
                </a:solidFill>
                <a:latin typeface="Arial"/>
                <a:ea typeface="Arial"/>
                <a:cs typeface="Arial"/>
              </a:defRPr>
            </a:defPPr>
          </a:lstStyle>
          <a:p>
            <a:pPr algn="l">
              <a:defRPr sz="1650" b="1">
                <a:solidFill>
                  <a:srgbClr val="FFFFFF"/>
                </a:solidFill>
                <a:latin typeface="Arial"/>
                <a:ea typeface="Arial"/>
                <a:cs typeface="Arial"/>
              </a:defRPr>
            </a:pPr>
            <a:r>
              <a:rPr sz="1650" b="1">
                <a:solidFill>
                  <a:srgbClr val="FFFFFF"/>
                </a:solidFill>
                <a:latin typeface="Arial"/>
                <a:ea typeface="Arial"/>
                <a:cs typeface="Arial"/>
              </a:rPr>
              <a:t>Exclusión temporal</a:t>
            </a:r>
          </a:p>
        </p:txBody>
      </p:sp>
      <p:sp>
        <p:nvSpPr>
          <p:cNvPr id="55" name="max_fails y fail_timeout controlan los f">
            <a:extLst>
              <a:ext uri="{FF2B5EF4-FFF2-40B4-BE49-F238E27FC236}">
                <a16:creationId xmlns:a16="http://schemas.microsoft.com/office/drawing/2014/main" id="{D9BE347D-1F12-475F-8C99-1DACB8F11207}"/>
              </a:ext>
            </a:extLst>
          </p:cNvPr>
          <p:cNvSpPr>
            <a:spLocks noGrp="1"/>
          </p:cNvSpPr>
          <p:nvPr/>
        </p:nvSpPr>
        <p:spPr>
          <a:xfrm>
            <a:off x="6591300" y="1971675"/>
            <a:ext cx="4476750" cy="2752725"/>
          </a:xfrm>
          <a:prstGeom prst="rect">
            <a:avLst/>
          </a:prstGeom>
          <a:noFill/>
          <a:ln w="0">
            <a:noFill/>
          </a:ln>
        </p:spPr>
        <p:txBody>
          <a:bodyPr lIns="0" tIns="0" rIns="0" bIns="0" anchor="t"/>
          <a:lstStyle>
            <a:defPPr algn="l">
              <a:defRPr sz="1650" b="0">
                <a:solidFill>
                  <a:srgbClr val="313A44"/>
                </a:solidFill>
                <a:latin typeface="Arial"/>
                <a:ea typeface="Arial"/>
                <a:cs typeface="Arial"/>
              </a:defRPr>
            </a:defPPr>
          </a:lstStyle>
          <a:p>
            <a:pPr algn="l">
              <a:defRPr sz="1650" b="0">
                <a:solidFill>
                  <a:srgbClr val="313A44"/>
                </a:solidFill>
                <a:latin typeface="Arial"/>
                <a:ea typeface="Arial"/>
                <a:cs typeface="Arial"/>
              </a:defRPr>
            </a:pPr>
            <a:r>
              <a:rPr sz="1650" b="0">
                <a:solidFill>
                  <a:srgbClr val="313A44"/>
                </a:solidFill>
                <a:latin typeface="Arial"/>
                <a:ea typeface="Arial"/>
                <a:cs typeface="Arial"/>
              </a:rPr>
              <a:t>max_fails y fail_timeout controlan los fallos pasivos.</a:t>
            </a:r>
          </a:p>
          <a:p>
            <a:endParaRPr sz="1650" b="0">
              <a:solidFill>
                <a:srgbClr val="313A44"/>
              </a:solidFill>
              <a:latin typeface="Arial"/>
              <a:ea typeface="Arial"/>
              <a:cs typeface="Arial"/>
            </a:endParaRPr>
          </a:p>
          <a:p>
            <a:pPr algn="l">
              <a:defRPr sz="1650" b="0">
                <a:solidFill>
                  <a:srgbClr val="313A44"/>
                </a:solidFill>
                <a:latin typeface="Arial"/>
                <a:ea typeface="Arial"/>
                <a:cs typeface="Arial"/>
              </a:defRPr>
            </a:pPr>
            <a:r>
              <a:rPr sz="1650" b="0">
                <a:solidFill>
                  <a:srgbClr val="313A44"/>
                </a:solidFill>
                <a:latin typeface="Arial"/>
                <a:ea typeface="Arial"/>
                <a:cs typeface="Arial"/>
              </a:rPr>
              <a:t>Valores predeterminados: 1 fallo y 10 segundos.</a:t>
            </a:r>
          </a:p>
          <a:p>
            <a:endParaRPr sz="1650" b="0">
              <a:solidFill>
                <a:srgbClr val="313A44"/>
              </a:solidFill>
              <a:latin typeface="Arial"/>
              <a:ea typeface="Arial"/>
              <a:cs typeface="Arial"/>
            </a:endParaRPr>
          </a:p>
          <a:p>
            <a:pPr algn="l">
              <a:defRPr sz="1650" b="0">
                <a:solidFill>
                  <a:srgbClr val="313A44"/>
                </a:solidFill>
                <a:latin typeface="Arial"/>
                <a:ea typeface="Arial"/>
                <a:cs typeface="Arial"/>
              </a:defRPr>
            </a:pPr>
            <a:r>
              <a:rPr sz="1650" b="0">
                <a:solidFill>
                  <a:srgbClr val="313A44"/>
                </a:solidFill>
                <a:latin typeface="Arial"/>
                <a:ea typeface="Arial"/>
                <a:cs typeface="Arial"/>
              </a:rPr>
              <a:t>Actualizar DNS no demuestra que la réplica esté preparada.</a:t>
            </a:r>
          </a:p>
        </p:txBody>
      </p:sp>
    </p:spTree>
    <p:extLst>
      <p:ext uri="{BB962C8B-B14F-4D97-AF65-F5344CB8AC3E}">
        <p14:creationId xmlns:p14="http://schemas.microsoft.com/office/powerpoint/2010/main" val="29370857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Shape 18">
            <a:extLst>
              <a:ext uri="{FF2B5EF4-FFF2-40B4-BE49-F238E27FC236}">
                <a16:creationId xmlns:a16="http://schemas.microsoft.com/office/drawing/2014/main" id="{A21D1190-F64E-B2BC-A6FE-78AF0EBF8949}"/>
              </a:ext>
            </a:extLst>
          </p:cNvPr>
          <p:cNvSpPr>
            <a:spLocks noGrp="1"/>
          </p:cNvSpPr>
          <p:nvPr/>
        </p:nvSpPr>
        <p:spPr>
          <a:xfrm>
            <a:off x="860282" y="5463540"/>
            <a:ext cx="10718044" cy="594000"/>
          </a:xfrm>
          <a:prstGeom prst="roundRect">
            <a:avLst>
              <a:gd name="adj" fmla="val 12308"/>
            </a:avLst>
          </a:prstGeom>
          <a:solidFill>
            <a:srgbClr val="FFFDE7"/>
          </a:solidFill>
          <a:ln w="16510">
            <a:solidFill>
              <a:srgbClr val="00ACC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strike="noStrike">
              <a:solidFill>
                <a:srgbClr val="000000"/>
              </a:solidFill>
              <a:latin typeface="Arial"/>
              <a:ea typeface="Arial"/>
              <a:cs typeface="Arial"/>
            </a:endParaRPr>
          </a:p>
        </p:txBody>
      </p:sp>
      <p:sp>
        <p:nvSpPr>
          <p:cNvPr id="33" name="TextBox 32">
            <a:extLst>
              <a:ext uri="{FF2B5EF4-FFF2-40B4-BE49-F238E27FC236}">
                <a16:creationId xmlns:a16="http://schemas.microsoft.com/office/drawing/2014/main" id="{31F66DA7-F80E-EED7-7362-A84C5F1E2B57}"/>
              </a:ext>
            </a:extLst>
          </p:cNvPr>
          <p:cNvSpPr>
            <a:spLocks noGrp="1"/>
          </p:cNvSpPr>
          <p:nvPr/>
        </p:nvSpPr>
        <p:spPr>
          <a:xfrm>
            <a:off x="937260" y="5578670"/>
            <a:ext cx="10564088" cy="213360"/>
          </a:xfrm>
          <a:prstGeom prst="rect">
            <a:avLst/>
          </a:prstGeom>
          <a:noFill/>
        </p:spPr>
        <p:txBody>
          <a:bodyPr wrap="square" lIns="0" tIns="0" rIns="0" bIns="0" anchor="ctr">
            <a:spAutoFit/>
          </a:bodyPr>
          <a:lstStyle>
            <a:defPPr algn="ctr">
              <a:defRPr sz="1400">
                <a:solidFill>
                  <a:srgbClr val="18365F"/>
                </a:solidFill>
                <a:latin typeface="Arial"/>
                <a:ea typeface="Arial"/>
                <a:cs typeface="Arial"/>
              </a:defRPr>
            </a:defPPr>
          </a:lstStyle>
          <a:p>
            <a:pPr algn="ctr">
              <a:buNone/>
              <a:defRPr sz="1400">
                <a:solidFill>
                  <a:srgbClr val="18365F"/>
                </a:solidFill>
                <a:latin typeface="Arial"/>
                <a:ea typeface="Arial"/>
                <a:cs typeface="Arial"/>
              </a:defRPr>
            </a:pPr>
            <a:r>
              <a:rPr sz="1400">
                <a:solidFill>
                  <a:srgbClr val="18365F"/>
                </a:solidFill>
                <a:latin typeface="Arial"/>
                <a:ea typeface="Arial"/>
                <a:cs typeface="Arial"/>
              </a:rPr>
              <a:t>El estado unhealthy no retira automáticamente una réplica de este Nginx.</a:t>
            </a:r>
          </a:p>
        </p:txBody>
      </p:sp>
      <p:sp>
        <p:nvSpPr>
          <p:cNvPr id="35" name="TextBox 34">
            <a:extLst>
              <a:ext uri="{FF2B5EF4-FFF2-40B4-BE49-F238E27FC236}">
                <a16:creationId xmlns:a16="http://schemas.microsoft.com/office/drawing/2014/main" id="{847ED172-986B-1F4B-A572-EC07E15E9547}"/>
              </a:ext>
            </a:extLst>
          </p:cNvPr>
          <p:cNvSpPr>
            <a:spLocks noGrp="1"/>
          </p:cNvSpPr>
          <p:nvPr/>
        </p:nvSpPr>
        <p:spPr>
          <a:xfrm>
            <a:off x="11734495" y="6601968"/>
            <a:ext cx="256032" cy="114300"/>
          </a:xfrm>
          <a:prstGeom prst="rect">
            <a:avLst/>
          </a:prstGeom>
          <a:noFill/>
        </p:spPr>
        <p:txBody>
          <a:bodyPr wrap="square" lIns="0" tIns="0" rIns="0" bIns="0" anchor="t">
            <a:spAutoFit/>
          </a:bodyPr>
          <a:lstStyle>
            <a:defPPr>
              <a:defRPr sz="750">
                <a:solidFill>
                  <a:srgbClr val="737C84"/>
                </a:solidFill>
                <a:latin typeface="Arial"/>
                <a:ea typeface="Arial"/>
                <a:cs typeface="Arial"/>
              </a:defRPr>
            </a:defPPr>
          </a:lstStyle>
          <a:p>
            <a:pPr algn="r">
              <a:buNone/>
              <a:defRPr sz="750">
                <a:solidFill>
                  <a:srgbClr val="737C84"/>
                </a:solidFill>
                <a:latin typeface="Arial"/>
                <a:ea typeface="Arial"/>
                <a:cs typeface="Arial"/>
              </a:defRPr>
            </a:pPr>
            <a:r>
              <a:rPr sz="750" b="0" i="0">
                <a:solidFill>
                  <a:srgbClr val="737C84"/>
                </a:solidFill>
                <a:latin typeface="Arial"/>
                <a:ea typeface="Arial"/>
                <a:cs typeface="Arial"/>
              </a:rPr>
              <a:t>16</a:t>
            </a:r>
          </a:p>
        </p:txBody>
      </p:sp>
      <p:sp>
        <p:nvSpPr>
          <p:cNvPr id="43" name="Text 2">
            <a:extLst>
              <a:ext uri="{FF2B5EF4-FFF2-40B4-BE49-F238E27FC236}">
                <a16:creationId xmlns:a16="http://schemas.microsoft.com/office/drawing/2014/main" id="{A742CC06-271C-8A14-EE0E-4886B7BFD265}"/>
              </a:ext>
            </a:extLst>
          </p:cNvPr>
          <p:cNvSpPr>
            <a:spLocks noGrp="1"/>
          </p:cNvSpPr>
          <p:nvPr/>
        </p:nvSpPr>
        <p:spPr>
          <a:xfrm>
            <a:off x="548640" y="6492240"/>
            <a:ext cx="11091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defPPr algn="r">
              <a:defRPr sz="1050">
                <a:solidFill>
                  <a:srgbClr val="757575"/>
                </a:solidFill>
                <a:latin typeface="Arial"/>
                <a:ea typeface="Arial"/>
                <a:cs typeface="Arial"/>
              </a:defRPr>
            </a:defPPr>
          </a:lstStyle>
          <a:p>
            <a:pPr algn="r">
              <a:buNone/>
              <a:tabLst>
                <a:tab pos="0" algn="l"/>
              </a:tabLst>
              <a:defRPr sz="1050">
                <a:solidFill>
                  <a:srgbClr val="757575"/>
                </a:solidFill>
                <a:latin typeface="Arial"/>
                <a:ea typeface="Arial"/>
                <a:cs typeface="Arial"/>
              </a:defRPr>
            </a:pPr>
            <a:r>
              <a:rPr sz="1050" b="0" u="none" strike="noStrike">
                <a:solidFill>
                  <a:srgbClr val="757575"/>
                </a:solidFill>
                <a:latin typeface="Arial"/>
                <a:ea typeface="Arial"/>
                <a:cs typeface="Arial"/>
              </a:rPr>
              <a:t>DAW — Tema 3: Publicación y ejecución de aplicaciones web</a:t>
            </a:r>
            <a:endParaRPr sz="1050" b="0" u="none" strike="noStrike">
              <a:solidFill>
                <a:srgbClr val="000000"/>
              </a:solidFill>
              <a:latin typeface="Arial"/>
              <a:ea typeface="Arial"/>
              <a:cs typeface="Arial"/>
            </a:endParaRPr>
          </a:p>
        </p:txBody>
      </p:sp>
      <p:sp>
        <p:nvSpPr>
          <p:cNvPr id="45" name="Shape 0">
            <a:extLst>
              <a:ext uri="{FF2B5EF4-FFF2-40B4-BE49-F238E27FC236}">
                <a16:creationId xmlns:a16="http://schemas.microsoft.com/office/drawing/2014/main" id="{6EA75EBC-A260-30AE-F0D3-DA414F41C6C8}"/>
              </a:ext>
            </a:extLst>
          </p:cNvPr>
          <p:cNvSpPr>
            <a:spLocks noGrp="1"/>
          </p:cNvSpPr>
          <p:nvPr/>
        </p:nvSpPr>
        <p:spPr>
          <a:xfrm>
            <a:off x="0" y="0"/>
            <a:ext cx="12188520" cy="776880"/>
          </a:xfrm>
          <a:prstGeom prst="rect">
            <a:avLst/>
          </a:prstGeom>
          <a:solidFill>
            <a:srgbClr val="004D40"/>
          </a:solidFill>
          <a:ln w="12700">
            <a:solidFill>
              <a:srgbClr val="004D4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strike="noStrike">
              <a:solidFill>
                <a:srgbClr val="FFFFFF"/>
              </a:solidFill>
              <a:latin typeface="Arial"/>
              <a:ea typeface="Arial"/>
              <a:cs typeface="Arial"/>
            </a:endParaRPr>
          </a:p>
        </p:txBody>
      </p:sp>
      <p:sp>
        <p:nvSpPr>
          <p:cNvPr id="47" name="Text 1">
            <a:extLst>
              <a:ext uri="{FF2B5EF4-FFF2-40B4-BE49-F238E27FC236}">
                <a16:creationId xmlns:a16="http://schemas.microsoft.com/office/drawing/2014/main" id="{A6130689-1879-EB68-E5CC-55B4B8D469DE}"/>
              </a:ext>
            </a:extLst>
          </p:cNvPr>
          <p:cNvSpPr>
            <a:spLocks noGrp="1"/>
          </p:cNvSpPr>
          <p:nvPr/>
        </p:nvSpPr>
        <p:spPr>
          <a:xfrm>
            <a:off x="384120" y="18360"/>
            <a:ext cx="1142064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defPPr>
              <a:defRPr sz="2500" b="1">
                <a:solidFill>
                  <a:srgbClr val="FFFFFF"/>
                </a:solidFill>
                <a:latin typeface="Arial"/>
                <a:ea typeface="Arial"/>
                <a:cs typeface="Arial"/>
              </a:defRPr>
            </a:defPPr>
          </a:lstStyle>
          <a:p>
            <a:pPr defTabSz="914400">
              <a:lnSpc>
                <a:spcPct val="100000"/>
              </a:lnSpc>
              <a:buNone/>
              <a:tabLst>
                <a:tab pos="0" algn="l"/>
              </a:tabLst>
              <a:defRPr sz="2500" b="1">
                <a:solidFill>
                  <a:srgbClr val="FFFFFF"/>
                </a:solidFill>
                <a:latin typeface="Arial"/>
                <a:ea typeface="Arial"/>
                <a:cs typeface="Arial"/>
              </a:defRPr>
            </a:pPr>
            <a:r>
              <a:rPr sz="2500" b="1" u="none" strike="noStrike">
                <a:solidFill>
                  <a:srgbClr val="FFFFFF"/>
                </a:solidFill>
                <a:latin typeface="Arial"/>
                <a:ea typeface="Arial"/>
                <a:cs typeface="Arial"/>
              </a:rPr>
              <a:t>Healthcheck y selección del destino HTTP</a:t>
            </a:r>
          </a:p>
        </p:txBody>
      </p:sp>
      <p:sp>
        <p:nvSpPr>
          <p:cNvPr id="48" name="Rectángulo redondeado 47">
            <a:extLst>
              <a:ext uri="{FF2B5EF4-FFF2-40B4-BE49-F238E27FC236}">
                <a16:creationId xmlns:a16="http://schemas.microsoft.com/office/drawing/2014/main" id="{0E24F071-B82A-40E8-B729-FD799538238A}"/>
              </a:ext>
            </a:extLst>
          </p:cNvPr>
          <p:cNvSpPr>
            <a:spLocks noGrp="1"/>
          </p:cNvSpPr>
          <p:nvPr/>
        </p:nvSpPr>
        <p:spPr>
          <a:xfrm>
            <a:off x="914400" y="1381125"/>
            <a:ext cx="4895850" cy="3495675"/>
          </a:xfrm>
          <a:prstGeom prst="roundRect">
            <a:avLst>
              <a:gd name="adj" fmla="val 2180"/>
            </a:avLst>
          </a:prstGeom>
          <a:solidFill>
            <a:srgbClr val="E9F1FA"/>
          </a:solidFill>
          <a:ln w="9525">
            <a:solidFill>
              <a:srgbClr val="AFD2C9"/>
            </a:solidFill>
          </a:ln>
        </p:spPr>
        <p:txBody>
          <a:bodyPr lIns="171450" tIns="171450" rIns="171450" bIns="171450" anchor="t"/>
          <a:lstStyle>
            <a:defPPr algn="l">
              <a:defRPr sz="1650" b="0">
                <a:solidFill>
                  <a:srgbClr val="313A44"/>
                </a:solidFill>
                <a:latin typeface="Arial"/>
                <a:ea typeface="Arial"/>
                <a:cs typeface="Arial"/>
              </a:defRPr>
            </a:defPPr>
          </a:lstStyle>
          <a:p>
            <a:endParaRPr/>
          </a:p>
        </p:txBody>
      </p:sp>
      <p:sp>
        <p:nvSpPr>
          <p:cNvPr id="49" name="Rectángulo 48">
            <a:extLst>
              <a:ext uri="{FF2B5EF4-FFF2-40B4-BE49-F238E27FC236}">
                <a16:creationId xmlns:a16="http://schemas.microsoft.com/office/drawing/2014/main" id="{27774A6B-817E-4445-B9A3-786D471FE019}"/>
              </a:ext>
            </a:extLst>
          </p:cNvPr>
          <p:cNvSpPr>
            <a:spLocks noGrp="1"/>
          </p:cNvSpPr>
          <p:nvPr/>
        </p:nvSpPr>
        <p:spPr>
          <a:xfrm>
            <a:off x="914400" y="1381125"/>
            <a:ext cx="4895850" cy="400050"/>
          </a:xfrm>
          <a:prstGeom prst="rect">
            <a:avLst/>
          </a:prstGeom>
          <a:solidFill>
            <a:srgbClr val="3B82F6"/>
          </a:solidFill>
          <a:ln w="0">
            <a:noFill/>
          </a:ln>
        </p:spPr>
        <p:txBody>
          <a:bodyPr/>
          <a:lstStyle/>
          <a:p>
            <a:endParaRPr lang="es-ES"/>
          </a:p>
        </p:txBody>
      </p:sp>
      <p:sp>
        <p:nvSpPr>
          <p:cNvPr id="50" name="Docker y Compose">
            <a:extLst>
              <a:ext uri="{FF2B5EF4-FFF2-40B4-BE49-F238E27FC236}">
                <a16:creationId xmlns:a16="http://schemas.microsoft.com/office/drawing/2014/main" id="{AC7087DB-C275-41FE-A252-905CE7F9C26F}"/>
              </a:ext>
            </a:extLst>
          </p:cNvPr>
          <p:cNvSpPr>
            <a:spLocks noGrp="1"/>
          </p:cNvSpPr>
          <p:nvPr/>
        </p:nvSpPr>
        <p:spPr>
          <a:xfrm>
            <a:off x="1066800" y="1466850"/>
            <a:ext cx="4591050" cy="285750"/>
          </a:xfrm>
          <a:prstGeom prst="rect">
            <a:avLst/>
          </a:prstGeom>
          <a:noFill/>
          <a:ln w="0">
            <a:noFill/>
          </a:ln>
        </p:spPr>
        <p:txBody>
          <a:bodyPr lIns="0" tIns="0" rIns="0" bIns="0" anchor="t"/>
          <a:lstStyle>
            <a:defPPr algn="l">
              <a:defRPr sz="1650" b="1">
                <a:solidFill>
                  <a:srgbClr val="FFFFFF"/>
                </a:solidFill>
                <a:latin typeface="Arial"/>
                <a:ea typeface="Arial"/>
                <a:cs typeface="Arial"/>
              </a:defRPr>
            </a:defPPr>
          </a:lstStyle>
          <a:p>
            <a:pPr algn="l">
              <a:defRPr sz="1650" b="1">
                <a:solidFill>
                  <a:srgbClr val="FFFFFF"/>
                </a:solidFill>
                <a:latin typeface="Arial"/>
                <a:ea typeface="Arial"/>
                <a:cs typeface="Arial"/>
              </a:defRPr>
            </a:pPr>
            <a:r>
              <a:rPr sz="1650" b="1">
                <a:solidFill>
                  <a:srgbClr val="FFFFFF"/>
                </a:solidFill>
                <a:latin typeface="Arial"/>
                <a:ea typeface="Arial"/>
                <a:cs typeface="Arial"/>
              </a:rPr>
              <a:t>Docker y Compose</a:t>
            </a:r>
          </a:p>
        </p:txBody>
      </p:sp>
      <p:sp>
        <p:nvSpPr>
          <p:cNvPr id="51" name="Docker ejecuta una comprobación periódic">
            <a:extLst>
              <a:ext uri="{FF2B5EF4-FFF2-40B4-BE49-F238E27FC236}">
                <a16:creationId xmlns:a16="http://schemas.microsoft.com/office/drawing/2014/main" id="{A578BA97-16FD-4E6B-8134-8BD20B791D94}"/>
              </a:ext>
            </a:extLst>
          </p:cNvPr>
          <p:cNvSpPr>
            <a:spLocks noGrp="1"/>
          </p:cNvSpPr>
          <p:nvPr/>
        </p:nvSpPr>
        <p:spPr>
          <a:xfrm>
            <a:off x="1123950" y="1971675"/>
            <a:ext cx="4476750" cy="2752725"/>
          </a:xfrm>
          <a:prstGeom prst="rect">
            <a:avLst/>
          </a:prstGeom>
          <a:noFill/>
          <a:ln w="0">
            <a:noFill/>
          </a:ln>
        </p:spPr>
        <p:txBody>
          <a:bodyPr lIns="0" tIns="0" rIns="0" bIns="0" anchor="t"/>
          <a:lstStyle>
            <a:defPPr algn="l">
              <a:defRPr sz="1650" b="0">
                <a:solidFill>
                  <a:srgbClr val="313A44"/>
                </a:solidFill>
                <a:latin typeface="Arial"/>
                <a:ea typeface="Arial"/>
                <a:cs typeface="Arial"/>
              </a:defRPr>
            </a:defPPr>
          </a:lstStyle>
          <a:p>
            <a:pPr algn="l">
              <a:defRPr sz="1650" b="0">
                <a:solidFill>
                  <a:srgbClr val="313A44"/>
                </a:solidFill>
                <a:latin typeface="Arial"/>
                <a:ea typeface="Arial"/>
                <a:cs typeface="Arial"/>
              </a:defRPr>
            </a:pPr>
            <a:r>
              <a:rPr sz="1650" b="0">
                <a:solidFill>
                  <a:srgbClr val="313A44"/>
                </a:solidFill>
                <a:latin typeface="Arial"/>
                <a:ea typeface="Arial"/>
                <a:cs typeface="Arial"/>
              </a:rPr>
              <a:t>Docker ejecuta una comprobación periódica.</a:t>
            </a:r>
          </a:p>
          <a:p>
            <a:endParaRPr sz="1650" b="0">
              <a:solidFill>
                <a:srgbClr val="313A44"/>
              </a:solidFill>
              <a:latin typeface="Arial"/>
              <a:ea typeface="Arial"/>
              <a:cs typeface="Arial"/>
            </a:endParaRPr>
          </a:p>
          <a:p>
            <a:pPr algn="l">
              <a:defRPr sz="1650" b="0">
                <a:solidFill>
                  <a:srgbClr val="313A44"/>
                </a:solidFill>
                <a:latin typeface="Arial"/>
                <a:ea typeface="Arial"/>
                <a:cs typeface="Arial"/>
              </a:defRPr>
            </a:pPr>
            <a:r>
              <a:rPr sz="1650" b="0">
                <a:solidFill>
                  <a:srgbClr val="313A44"/>
                </a:solidFill>
                <a:latin typeface="Arial"/>
                <a:ea typeface="Arial"/>
                <a:cs typeface="Arial"/>
              </a:rPr>
              <a:t>Compose puede usar service_healthy para coordinar el arranque.</a:t>
            </a:r>
          </a:p>
          <a:p>
            <a:endParaRPr sz="1650" b="0">
              <a:solidFill>
                <a:srgbClr val="313A44"/>
              </a:solidFill>
              <a:latin typeface="Arial"/>
              <a:ea typeface="Arial"/>
              <a:cs typeface="Arial"/>
            </a:endParaRPr>
          </a:p>
          <a:p>
            <a:pPr algn="l">
              <a:defRPr sz="1650" b="0">
                <a:solidFill>
                  <a:srgbClr val="313A44"/>
                </a:solidFill>
                <a:latin typeface="Arial"/>
                <a:ea typeface="Arial"/>
                <a:cs typeface="Arial"/>
              </a:defRPr>
            </a:pPr>
            <a:r>
              <a:rPr sz="1650" b="0">
                <a:solidFill>
                  <a:srgbClr val="313A44"/>
                </a:solidFill>
                <a:latin typeface="Arial"/>
                <a:ea typeface="Arial"/>
                <a:cs typeface="Arial"/>
              </a:rPr>
              <a:t>El estado no provoca por sí solo un reinicio.</a:t>
            </a:r>
          </a:p>
        </p:txBody>
      </p:sp>
      <p:sp>
        <p:nvSpPr>
          <p:cNvPr id="52" name="Rectángulo redondeado 51">
            <a:extLst>
              <a:ext uri="{FF2B5EF4-FFF2-40B4-BE49-F238E27FC236}">
                <a16:creationId xmlns:a16="http://schemas.microsoft.com/office/drawing/2014/main" id="{67D85DBA-4117-4828-9B4A-E632FBD69DD3}"/>
              </a:ext>
            </a:extLst>
          </p:cNvPr>
          <p:cNvSpPr>
            <a:spLocks noGrp="1"/>
          </p:cNvSpPr>
          <p:nvPr/>
        </p:nvSpPr>
        <p:spPr>
          <a:xfrm>
            <a:off x="6381750" y="1381125"/>
            <a:ext cx="4895850" cy="3495675"/>
          </a:xfrm>
          <a:prstGeom prst="roundRect">
            <a:avLst>
              <a:gd name="adj" fmla="val 2180"/>
            </a:avLst>
          </a:prstGeom>
          <a:solidFill>
            <a:srgbClr val="E8F6F0"/>
          </a:solidFill>
          <a:ln w="9525">
            <a:solidFill>
              <a:srgbClr val="AFD2C9"/>
            </a:solidFill>
          </a:ln>
        </p:spPr>
        <p:txBody>
          <a:bodyPr lIns="171450" tIns="171450" rIns="171450" bIns="171450" anchor="t"/>
          <a:lstStyle>
            <a:defPPr algn="l">
              <a:defRPr sz="1650" b="0">
                <a:solidFill>
                  <a:srgbClr val="313A44"/>
                </a:solidFill>
                <a:latin typeface="Arial"/>
                <a:ea typeface="Arial"/>
                <a:cs typeface="Arial"/>
              </a:defRPr>
            </a:defPPr>
          </a:lstStyle>
          <a:p>
            <a:endParaRPr/>
          </a:p>
        </p:txBody>
      </p:sp>
      <p:sp>
        <p:nvSpPr>
          <p:cNvPr id="53" name="Rectángulo 52">
            <a:extLst>
              <a:ext uri="{FF2B5EF4-FFF2-40B4-BE49-F238E27FC236}">
                <a16:creationId xmlns:a16="http://schemas.microsoft.com/office/drawing/2014/main" id="{5B3E8485-F649-48AF-9AA2-886A7292B74C}"/>
              </a:ext>
            </a:extLst>
          </p:cNvPr>
          <p:cNvSpPr>
            <a:spLocks noGrp="1"/>
          </p:cNvSpPr>
          <p:nvPr/>
        </p:nvSpPr>
        <p:spPr>
          <a:xfrm>
            <a:off x="6381750" y="1381125"/>
            <a:ext cx="4895850" cy="400050"/>
          </a:xfrm>
          <a:prstGeom prst="rect">
            <a:avLst/>
          </a:prstGeom>
          <a:solidFill>
            <a:srgbClr val="004D40"/>
          </a:solidFill>
          <a:ln w="0">
            <a:noFill/>
          </a:ln>
        </p:spPr>
        <p:txBody>
          <a:bodyPr/>
          <a:lstStyle/>
          <a:p>
            <a:endParaRPr lang="es-ES"/>
          </a:p>
        </p:txBody>
      </p:sp>
      <p:sp>
        <p:nvSpPr>
          <p:cNvPr id="54" name="Nginx en este ejemplo">
            <a:extLst>
              <a:ext uri="{FF2B5EF4-FFF2-40B4-BE49-F238E27FC236}">
                <a16:creationId xmlns:a16="http://schemas.microsoft.com/office/drawing/2014/main" id="{76B674FE-DC5E-4A1B-9996-5709E09B2F6B}"/>
              </a:ext>
            </a:extLst>
          </p:cNvPr>
          <p:cNvSpPr>
            <a:spLocks noGrp="1"/>
          </p:cNvSpPr>
          <p:nvPr/>
        </p:nvSpPr>
        <p:spPr>
          <a:xfrm>
            <a:off x="6534150" y="1466850"/>
            <a:ext cx="4591050" cy="285750"/>
          </a:xfrm>
          <a:prstGeom prst="rect">
            <a:avLst/>
          </a:prstGeom>
          <a:noFill/>
          <a:ln w="0">
            <a:noFill/>
          </a:ln>
        </p:spPr>
        <p:txBody>
          <a:bodyPr lIns="0" tIns="0" rIns="0" bIns="0" anchor="t"/>
          <a:lstStyle>
            <a:defPPr algn="l">
              <a:defRPr sz="1650" b="1">
                <a:solidFill>
                  <a:srgbClr val="FFFFFF"/>
                </a:solidFill>
                <a:latin typeface="Arial"/>
                <a:ea typeface="Arial"/>
                <a:cs typeface="Arial"/>
              </a:defRPr>
            </a:defPPr>
          </a:lstStyle>
          <a:p>
            <a:pPr algn="l">
              <a:defRPr sz="1650" b="1">
                <a:solidFill>
                  <a:srgbClr val="FFFFFF"/>
                </a:solidFill>
                <a:latin typeface="Arial"/>
                <a:ea typeface="Arial"/>
                <a:cs typeface="Arial"/>
              </a:defRPr>
            </a:pPr>
            <a:r>
              <a:rPr sz="1650" b="1">
                <a:solidFill>
                  <a:srgbClr val="FFFFFF"/>
                </a:solidFill>
                <a:latin typeface="Arial"/>
                <a:ea typeface="Arial"/>
                <a:cs typeface="Arial"/>
              </a:rPr>
              <a:t>Nginx en este ejemplo</a:t>
            </a:r>
          </a:p>
        </p:txBody>
      </p:sp>
      <p:sp>
        <p:nvSpPr>
          <p:cNvPr id="55" name="Selecciona el destino de cada petición.&#10;">
            <a:extLst>
              <a:ext uri="{FF2B5EF4-FFF2-40B4-BE49-F238E27FC236}">
                <a16:creationId xmlns:a16="http://schemas.microsoft.com/office/drawing/2014/main" id="{09ABEBF7-10C5-4B5D-BA34-149C2CEF9AFD}"/>
              </a:ext>
            </a:extLst>
          </p:cNvPr>
          <p:cNvSpPr>
            <a:spLocks noGrp="1"/>
          </p:cNvSpPr>
          <p:nvPr/>
        </p:nvSpPr>
        <p:spPr>
          <a:xfrm>
            <a:off x="6591300" y="1971675"/>
            <a:ext cx="4476750" cy="2752725"/>
          </a:xfrm>
          <a:prstGeom prst="rect">
            <a:avLst/>
          </a:prstGeom>
          <a:noFill/>
          <a:ln w="0">
            <a:noFill/>
          </a:ln>
        </p:spPr>
        <p:txBody>
          <a:bodyPr lIns="0" tIns="0" rIns="0" bIns="0" anchor="t"/>
          <a:lstStyle>
            <a:defPPr algn="l">
              <a:defRPr sz="1650" b="0">
                <a:solidFill>
                  <a:srgbClr val="313A44"/>
                </a:solidFill>
                <a:latin typeface="Arial"/>
                <a:ea typeface="Arial"/>
                <a:cs typeface="Arial"/>
              </a:defRPr>
            </a:defPPr>
          </a:lstStyle>
          <a:p>
            <a:pPr algn="l">
              <a:defRPr sz="1650" b="0">
                <a:solidFill>
                  <a:srgbClr val="313A44"/>
                </a:solidFill>
                <a:latin typeface="Arial"/>
                <a:ea typeface="Arial"/>
                <a:cs typeface="Arial"/>
              </a:defRPr>
            </a:pPr>
            <a:r>
              <a:rPr sz="1650" b="0">
                <a:solidFill>
                  <a:srgbClr val="313A44"/>
                </a:solidFill>
                <a:latin typeface="Arial"/>
                <a:ea typeface="Arial"/>
                <a:cs typeface="Arial"/>
              </a:rPr>
              <a:t>Selecciona el destino de cada petición.</a:t>
            </a:r>
          </a:p>
          <a:p>
            <a:endParaRPr sz="1650" b="0">
              <a:solidFill>
                <a:srgbClr val="313A44"/>
              </a:solidFill>
              <a:latin typeface="Arial"/>
              <a:ea typeface="Arial"/>
              <a:cs typeface="Arial"/>
            </a:endParaRPr>
          </a:p>
          <a:p>
            <a:pPr algn="l">
              <a:defRPr sz="1650" b="0">
                <a:solidFill>
                  <a:srgbClr val="313A44"/>
                </a:solidFill>
                <a:latin typeface="Arial"/>
                <a:ea typeface="Arial"/>
                <a:cs typeface="Arial"/>
              </a:defRPr>
            </a:pPr>
            <a:r>
              <a:rPr sz="1650" b="0">
                <a:solidFill>
                  <a:srgbClr val="313A44"/>
                </a:solidFill>
                <a:latin typeface="Arial"/>
                <a:ea typeface="Arial"/>
                <a:cs typeface="Arial"/>
              </a:rPr>
              <a:t>Detecta fallos al tramitar tráfico real.</a:t>
            </a:r>
          </a:p>
          <a:p>
            <a:endParaRPr sz="1650" b="0">
              <a:solidFill>
                <a:srgbClr val="313A44"/>
              </a:solidFill>
              <a:latin typeface="Arial"/>
              <a:ea typeface="Arial"/>
              <a:cs typeface="Arial"/>
            </a:endParaRPr>
          </a:p>
          <a:p>
            <a:pPr algn="l">
              <a:defRPr sz="1650" b="0">
                <a:solidFill>
                  <a:srgbClr val="313A44"/>
                </a:solidFill>
                <a:latin typeface="Arial"/>
                <a:ea typeface="Arial"/>
                <a:cs typeface="Arial"/>
              </a:defRPr>
            </a:pPr>
            <a:r>
              <a:rPr sz="1650" b="0">
                <a:solidFill>
                  <a:srgbClr val="313A44"/>
                </a:solidFill>
                <a:latin typeface="Arial"/>
                <a:ea typeface="Arial"/>
                <a:cs typeface="Arial"/>
              </a:rPr>
              <a:t>Puede excluir temporalmente un destino y probar otro.</a:t>
            </a:r>
          </a:p>
        </p:txBody>
      </p:sp>
    </p:spTree>
    <p:extLst>
      <p:ext uri="{BB962C8B-B14F-4D97-AF65-F5344CB8AC3E}">
        <p14:creationId xmlns:p14="http://schemas.microsoft.com/office/powerpoint/2010/main" val="29370857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34">
            <a:extLst>
              <a:ext uri="{FF2B5EF4-FFF2-40B4-BE49-F238E27FC236}">
                <a16:creationId xmlns:a16="http://schemas.microsoft.com/office/drawing/2014/main" id="{847ED172-986B-1F4B-A572-EC07E15E9547}"/>
              </a:ext>
            </a:extLst>
          </p:cNvPr>
          <p:cNvSpPr>
            <a:spLocks noGrp="1"/>
          </p:cNvSpPr>
          <p:nvPr/>
        </p:nvSpPr>
        <p:spPr>
          <a:xfrm>
            <a:off x="11734495" y="6601968"/>
            <a:ext cx="256032" cy="114300"/>
          </a:xfrm>
          <a:prstGeom prst="rect">
            <a:avLst/>
          </a:prstGeom>
          <a:noFill/>
        </p:spPr>
        <p:txBody>
          <a:bodyPr wrap="square" lIns="0" tIns="0" rIns="0" bIns="0" anchor="t">
            <a:spAutoFit/>
          </a:bodyPr>
          <a:lstStyle>
            <a:defPPr>
              <a:defRPr sz="750">
                <a:solidFill>
                  <a:srgbClr val="737C84"/>
                </a:solidFill>
                <a:latin typeface="Arial"/>
                <a:ea typeface="Arial"/>
                <a:cs typeface="Arial"/>
              </a:defRPr>
            </a:defPPr>
          </a:lstStyle>
          <a:p>
            <a:pPr algn="r">
              <a:buNone/>
              <a:defRPr sz="750">
                <a:solidFill>
                  <a:srgbClr val="737C84"/>
                </a:solidFill>
                <a:latin typeface="Arial"/>
                <a:ea typeface="Arial"/>
                <a:cs typeface="Arial"/>
              </a:defRPr>
            </a:pPr>
            <a:r>
              <a:rPr sz="750" b="0" i="0">
                <a:solidFill>
                  <a:srgbClr val="737C84"/>
                </a:solidFill>
                <a:latin typeface="Arial"/>
                <a:ea typeface="Arial"/>
                <a:cs typeface="Arial"/>
              </a:rPr>
              <a:t>17</a:t>
            </a:r>
          </a:p>
        </p:txBody>
      </p:sp>
      <p:sp>
        <p:nvSpPr>
          <p:cNvPr id="43" name="Text 2">
            <a:extLst>
              <a:ext uri="{FF2B5EF4-FFF2-40B4-BE49-F238E27FC236}">
                <a16:creationId xmlns:a16="http://schemas.microsoft.com/office/drawing/2014/main" id="{A742CC06-271C-8A14-EE0E-4886B7BFD265}"/>
              </a:ext>
            </a:extLst>
          </p:cNvPr>
          <p:cNvSpPr>
            <a:spLocks noGrp="1"/>
          </p:cNvSpPr>
          <p:nvPr/>
        </p:nvSpPr>
        <p:spPr>
          <a:xfrm>
            <a:off x="548640" y="6492240"/>
            <a:ext cx="11091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defPPr algn="r">
              <a:defRPr sz="1050">
                <a:solidFill>
                  <a:srgbClr val="757575"/>
                </a:solidFill>
                <a:latin typeface="Arial"/>
                <a:ea typeface="Arial"/>
                <a:cs typeface="Arial"/>
              </a:defRPr>
            </a:defPPr>
          </a:lstStyle>
          <a:p>
            <a:pPr algn="r">
              <a:buNone/>
              <a:tabLst>
                <a:tab pos="0" algn="l"/>
              </a:tabLst>
              <a:defRPr sz="1050">
                <a:solidFill>
                  <a:srgbClr val="757575"/>
                </a:solidFill>
                <a:latin typeface="Arial"/>
                <a:ea typeface="Arial"/>
                <a:cs typeface="Arial"/>
              </a:defRPr>
            </a:pPr>
            <a:r>
              <a:rPr sz="1050" b="0" u="none" strike="noStrike">
                <a:solidFill>
                  <a:srgbClr val="757575"/>
                </a:solidFill>
                <a:latin typeface="Arial"/>
                <a:ea typeface="Arial"/>
                <a:cs typeface="Arial"/>
              </a:rPr>
              <a:t>DAW — Tema 3: Publicación y ejecución de aplicaciones web</a:t>
            </a:r>
            <a:endParaRPr sz="1050" b="0" u="none" strike="noStrike">
              <a:solidFill>
                <a:srgbClr val="000000"/>
              </a:solidFill>
              <a:latin typeface="Arial"/>
              <a:ea typeface="Arial"/>
              <a:cs typeface="Arial"/>
            </a:endParaRPr>
          </a:p>
        </p:txBody>
      </p:sp>
      <p:sp>
        <p:nvSpPr>
          <p:cNvPr id="45" name="Shape 0">
            <a:extLst>
              <a:ext uri="{FF2B5EF4-FFF2-40B4-BE49-F238E27FC236}">
                <a16:creationId xmlns:a16="http://schemas.microsoft.com/office/drawing/2014/main" id="{6EA75EBC-A260-30AE-F0D3-DA414F41C6C8}"/>
              </a:ext>
            </a:extLst>
          </p:cNvPr>
          <p:cNvSpPr>
            <a:spLocks noGrp="1"/>
          </p:cNvSpPr>
          <p:nvPr/>
        </p:nvSpPr>
        <p:spPr>
          <a:xfrm>
            <a:off x="0" y="0"/>
            <a:ext cx="12188520" cy="776880"/>
          </a:xfrm>
          <a:prstGeom prst="rect">
            <a:avLst/>
          </a:prstGeom>
          <a:solidFill>
            <a:srgbClr val="004D40"/>
          </a:solidFill>
          <a:ln w="12700">
            <a:solidFill>
              <a:srgbClr val="004D4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strike="noStrike">
              <a:solidFill>
                <a:srgbClr val="FFFFFF"/>
              </a:solidFill>
              <a:latin typeface="Arial"/>
              <a:ea typeface="Arial"/>
              <a:cs typeface="Arial"/>
            </a:endParaRPr>
          </a:p>
        </p:txBody>
      </p:sp>
      <p:sp>
        <p:nvSpPr>
          <p:cNvPr id="47" name="Text 1">
            <a:extLst>
              <a:ext uri="{FF2B5EF4-FFF2-40B4-BE49-F238E27FC236}">
                <a16:creationId xmlns:a16="http://schemas.microsoft.com/office/drawing/2014/main" id="{A6130689-1879-EB68-E5CC-55B4B8D469DE}"/>
              </a:ext>
            </a:extLst>
          </p:cNvPr>
          <p:cNvSpPr>
            <a:spLocks noGrp="1"/>
          </p:cNvSpPr>
          <p:nvPr/>
        </p:nvSpPr>
        <p:spPr>
          <a:xfrm>
            <a:off x="384120" y="18360"/>
            <a:ext cx="1142064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defPPr>
              <a:defRPr sz="2500" b="1">
                <a:solidFill>
                  <a:srgbClr val="FFFFFF"/>
                </a:solidFill>
                <a:latin typeface="Arial"/>
                <a:ea typeface="Arial"/>
                <a:cs typeface="Arial"/>
              </a:defRPr>
            </a:defPPr>
          </a:lstStyle>
          <a:p>
            <a:pPr defTabSz="914400">
              <a:lnSpc>
                <a:spcPct val="100000"/>
              </a:lnSpc>
              <a:buNone/>
              <a:tabLst>
                <a:tab pos="0" algn="l"/>
              </a:tabLst>
              <a:defRPr sz="2500" b="1">
                <a:solidFill>
                  <a:srgbClr val="FFFFFF"/>
                </a:solidFill>
                <a:latin typeface="Arial"/>
                <a:ea typeface="Arial"/>
                <a:cs typeface="Arial"/>
              </a:defRPr>
            </a:pPr>
            <a:r>
              <a:rPr sz="2500" b="1" u="none" strike="noStrike">
                <a:solidFill>
                  <a:srgbClr val="FFFFFF"/>
                </a:solidFill>
                <a:latin typeface="Arial"/>
                <a:ea typeface="Arial"/>
                <a:cs typeface="Arial"/>
              </a:rPr>
              <a:t>Archivos locales y almacenamiento compartido</a:t>
            </a:r>
          </a:p>
        </p:txBody>
      </p:sp>
      <p:pic>
        <p:nvPicPr>
          <p:cNvPr id="48" name="Imagen 47">
            <a:extLst>
              <a:ext uri="{FF2B5EF4-FFF2-40B4-BE49-F238E27FC236}">
                <a16:creationId xmlns:a16="http://schemas.microsoft.com/office/drawing/2014/main" id="{785D4998-7860-4887-B60F-DAF19E8F4A09}"/>
              </a:ext>
            </a:extLst>
          </p:cNvPr>
          <p:cNvPicPr>
            <a:picLocks noChangeAspect="1"/>
          </p:cNvPicPr>
          <p:nvPr/>
        </p:nvPicPr>
        <p:blipFill>
          <a:blip r:embed="rId3"/>
          <a:stretch/>
        </p:blipFill>
        <p:spPr>
          <a:xfrm>
            <a:off x="1357186" y="942975"/>
            <a:ext cx="9477628" cy="5334000"/>
          </a:xfrm>
          <a:prstGeom prst="rect">
            <a:avLst/>
          </a:prstGeom>
        </p:spPr>
      </p:pic>
    </p:spTree>
    <p:extLst>
      <p:ext uri="{BB962C8B-B14F-4D97-AF65-F5344CB8AC3E}">
        <p14:creationId xmlns:p14="http://schemas.microsoft.com/office/powerpoint/2010/main" val="29370857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Shape 18">
            <a:extLst>
              <a:ext uri="{FF2B5EF4-FFF2-40B4-BE49-F238E27FC236}">
                <a16:creationId xmlns:a16="http://schemas.microsoft.com/office/drawing/2014/main" id="{A21D1190-F64E-B2BC-A6FE-78AF0EBF8949}"/>
              </a:ext>
            </a:extLst>
          </p:cNvPr>
          <p:cNvSpPr>
            <a:spLocks noGrp="1"/>
          </p:cNvSpPr>
          <p:nvPr/>
        </p:nvSpPr>
        <p:spPr>
          <a:xfrm>
            <a:off x="860282" y="5463540"/>
            <a:ext cx="10718044" cy="594000"/>
          </a:xfrm>
          <a:prstGeom prst="roundRect">
            <a:avLst>
              <a:gd name="adj" fmla="val 12308"/>
            </a:avLst>
          </a:prstGeom>
          <a:solidFill>
            <a:srgbClr val="FFFDE7"/>
          </a:solidFill>
          <a:ln w="16510">
            <a:solidFill>
              <a:srgbClr val="00ACC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strike="noStrike">
              <a:solidFill>
                <a:srgbClr val="000000"/>
              </a:solidFill>
              <a:latin typeface="Arial"/>
              <a:ea typeface="Arial"/>
              <a:cs typeface="Arial"/>
            </a:endParaRPr>
          </a:p>
        </p:txBody>
      </p:sp>
      <p:sp>
        <p:nvSpPr>
          <p:cNvPr id="33" name="TextBox 32">
            <a:extLst>
              <a:ext uri="{FF2B5EF4-FFF2-40B4-BE49-F238E27FC236}">
                <a16:creationId xmlns:a16="http://schemas.microsoft.com/office/drawing/2014/main" id="{31F66DA7-F80E-EED7-7362-A84C5F1E2B57}"/>
              </a:ext>
            </a:extLst>
          </p:cNvPr>
          <p:cNvSpPr>
            <a:spLocks noGrp="1"/>
          </p:cNvSpPr>
          <p:nvPr/>
        </p:nvSpPr>
        <p:spPr>
          <a:xfrm>
            <a:off x="937260" y="5578670"/>
            <a:ext cx="10564088" cy="213360"/>
          </a:xfrm>
          <a:prstGeom prst="rect">
            <a:avLst/>
          </a:prstGeom>
          <a:noFill/>
        </p:spPr>
        <p:txBody>
          <a:bodyPr wrap="square" lIns="0" tIns="0" rIns="0" bIns="0" anchor="ctr">
            <a:spAutoFit/>
          </a:bodyPr>
          <a:lstStyle>
            <a:defPPr algn="ctr">
              <a:defRPr sz="1400">
                <a:solidFill>
                  <a:srgbClr val="18365F"/>
                </a:solidFill>
                <a:latin typeface="Arial"/>
                <a:ea typeface="Arial"/>
                <a:cs typeface="Arial"/>
              </a:defRPr>
            </a:defPPr>
          </a:lstStyle>
          <a:p>
            <a:pPr algn="ctr">
              <a:buNone/>
              <a:defRPr sz="1400">
                <a:solidFill>
                  <a:srgbClr val="18365F"/>
                </a:solidFill>
                <a:latin typeface="Arial"/>
                <a:ea typeface="Arial"/>
                <a:cs typeface="Arial"/>
              </a:defRPr>
            </a:pPr>
            <a:r>
              <a:rPr sz="1400">
                <a:solidFill>
                  <a:srgbClr val="18365F"/>
                </a:solidFill>
                <a:latin typeface="Arial"/>
                <a:ea typeface="Arial"/>
                <a:cs typeface="Arial"/>
              </a:rPr>
              <a:t>Cada réplica monta el mismo volumen en la ruta que utiliza la aplicación.</a:t>
            </a:r>
          </a:p>
        </p:txBody>
      </p:sp>
      <p:sp>
        <p:nvSpPr>
          <p:cNvPr id="35" name="TextBox 34">
            <a:extLst>
              <a:ext uri="{FF2B5EF4-FFF2-40B4-BE49-F238E27FC236}">
                <a16:creationId xmlns:a16="http://schemas.microsoft.com/office/drawing/2014/main" id="{847ED172-986B-1F4B-A572-EC07E15E9547}"/>
              </a:ext>
            </a:extLst>
          </p:cNvPr>
          <p:cNvSpPr>
            <a:spLocks noGrp="1"/>
          </p:cNvSpPr>
          <p:nvPr/>
        </p:nvSpPr>
        <p:spPr>
          <a:xfrm>
            <a:off x="11734495" y="6601968"/>
            <a:ext cx="256032" cy="114300"/>
          </a:xfrm>
          <a:prstGeom prst="rect">
            <a:avLst/>
          </a:prstGeom>
          <a:noFill/>
        </p:spPr>
        <p:txBody>
          <a:bodyPr wrap="square" lIns="0" tIns="0" rIns="0" bIns="0" anchor="t">
            <a:spAutoFit/>
          </a:bodyPr>
          <a:lstStyle>
            <a:defPPr>
              <a:defRPr sz="750">
                <a:solidFill>
                  <a:srgbClr val="737C84"/>
                </a:solidFill>
                <a:latin typeface="Arial"/>
                <a:ea typeface="Arial"/>
                <a:cs typeface="Arial"/>
              </a:defRPr>
            </a:defPPr>
          </a:lstStyle>
          <a:p>
            <a:pPr algn="r">
              <a:buNone/>
              <a:defRPr sz="750">
                <a:solidFill>
                  <a:srgbClr val="737C84"/>
                </a:solidFill>
                <a:latin typeface="Arial"/>
                <a:ea typeface="Arial"/>
                <a:cs typeface="Arial"/>
              </a:defRPr>
            </a:pPr>
            <a:r>
              <a:rPr sz="750" b="0" i="0">
                <a:solidFill>
                  <a:srgbClr val="737C84"/>
                </a:solidFill>
                <a:latin typeface="Arial"/>
                <a:ea typeface="Arial"/>
                <a:cs typeface="Arial"/>
              </a:rPr>
              <a:t>18</a:t>
            </a:r>
          </a:p>
        </p:txBody>
      </p:sp>
      <p:sp>
        <p:nvSpPr>
          <p:cNvPr id="43" name="Text 2">
            <a:extLst>
              <a:ext uri="{FF2B5EF4-FFF2-40B4-BE49-F238E27FC236}">
                <a16:creationId xmlns:a16="http://schemas.microsoft.com/office/drawing/2014/main" id="{A742CC06-271C-8A14-EE0E-4886B7BFD265}"/>
              </a:ext>
            </a:extLst>
          </p:cNvPr>
          <p:cNvSpPr>
            <a:spLocks noGrp="1"/>
          </p:cNvSpPr>
          <p:nvPr/>
        </p:nvSpPr>
        <p:spPr>
          <a:xfrm>
            <a:off x="548640" y="6492240"/>
            <a:ext cx="11091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defPPr algn="r">
              <a:defRPr sz="1050">
                <a:solidFill>
                  <a:srgbClr val="757575"/>
                </a:solidFill>
                <a:latin typeface="Arial"/>
                <a:ea typeface="Arial"/>
                <a:cs typeface="Arial"/>
              </a:defRPr>
            </a:defPPr>
          </a:lstStyle>
          <a:p>
            <a:pPr algn="r">
              <a:buNone/>
              <a:tabLst>
                <a:tab pos="0" algn="l"/>
              </a:tabLst>
              <a:defRPr sz="1050">
                <a:solidFill>
                  <a:srgbClr val="757575"/>
                </a:solidFill>
                <a:latin typeface="Arial"/>
                <a:ea typeface="Arial"/>
                <a:cs typeface="Arial"/>
              </a:defRPr>
            </a:pPr>
            <a:r>
              <a:rPr sz="1050" b="0" u="none" strike="noStrike">
                <a:solidFill>
                  <a:srgbClr val="757575"/>
                </a:solidFill>
                <a:latin typeface="Arial"/>
                <a:ea typeface="Arial"/>
                <a:cs typeface="Arial"/>
              </a:rPr>
              <a:t>DAW — Tema 3: Publicación y ejecución de aplicaciones web</a:t>
            </a:r>
            <a:endParaRPr sz="1050" b="0" u="none" strike="noStrike">
              <a:solidFill>
                <a:srgbClr val="000000"/>
              </a:solidFill>
              <a:latin typeface="Arial"/>
              <a:ea typeface="Arial"/>
              <a:cs typeface="Arial"/>
            </a:endParaRPr>
          </a:p>
        </p:txBody>
      </p:sp>
      <p:sp>
        <p:nvSpPr>
          <p:cNvPr id="45" name="Shape 0">
            <a:extLst>
              <a:ext uri="{FF2B5EF4-FFF2-40B4-BE49-F238E27FC236}">
                <a16:creationId xmlns:a16="http://schemas.microsoft.com/office/drawing/2014/main" id="{6EA75EBC-A260-30AE-F0D3-DA414F41C6C8}"/>
              </a:ext>
            </a:extLst>
          </p:cNvPr>
          <p:cNvSpPr>
            <a:spLocks noGrp="1"/>
          </p:cNvSpPr>
          <p:nvPr/>
        </p:nvSpPr>
        <p:spPr>
          <a:xfrm>
            <a:off x="0" y="0"/>
            <a:ext cx="12188520" cy="776880"/>
          </a:xfrm>
          <a:prstGeom prst="rect">
            <a:avLst/>
          </a:prstGeom>
          <a:solidFill>
            <a:srgbClr val="004D40"/>
          </a:solidFill>
          <a:ln w="12700">
            <a:solidFill>
              <a:srgbClr val="004D4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strike="noStrike">
              <a:solidFill>
                <a:srgbClr val="FFFFFF"/>
              </a:solidFill>
              <a:latin typeface="Arial"/>
              <a:ea typeface="Arial"/>
              <a:cs typeface="Arial"/>
            </a:endParaRPr>
          </a:p>
        </p:txBody>
      </p:sp>
      <p:sp>
        <p:nvSpPr>
          <p:cNvPr id="47" name="Text 1">
            <a:extLst>
              <a:ext uri="{FF2B5EF4-FFF2-40B4-BE49-F238E27FC236}">
                <a16:creationId xmlns:a16="http://schemas.microsoft.com/office/drawing/2014/main" id="{A6130689-1879-EB68-E5CC-55B4B8D469DE}"/>
              </a:ext>
            </a:extLst>
          </p:cNvPr>
          <p:cNvSpPr>
            <a:spLocks noGrp="1"/>
          </p:cNvSpPr>
          <p:nvPr/>
        </p:nvSpPr>
        <p:spPr>
          <a:xfrm>
            <a:off x="384120" y="18360"/>
            <a:ext cx="1142064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defPPr>
              <a:defRPr sz="2500" b="1">
                <a:solidFill>
                  <a:srgbClr val="FFFFFF"/>
                </a:solidFill>
                <a:latin typeface="Arial"/>
                <a:ea typeface="Arial"/>
                <a:cs typeface="Arial"/>
              </a:defRPr>
            </a:defPPr>
          </a:lstStyle>
          <a:p>
            <a:pPr defTabSz="914400">
              <a:lnSpc>
                <a:spcPct val="100000"/>
              </a:lnSpc>
              <a:buNone/>
              <a:tabLst>
                <a:tab pos="0" algn="l"/>
              </a:tabLst>
              <a:defRPr sz="2500" b="1">
                <a:solidFill>
                  <a:srgbClr val="FFFFFF"/>
                </a:solidFill>
                <a:latin typeface="Arial"/>
                <a:ea typeface="Arial"/>
                <a:cs typeface="Arial"/>
              </a:defRPr>
            </a:pPr>
            <a:r>
              <a:rPr sz="2500" b="1" u="none" strike="noStrike">
                <a:solidFill>
                  <a:srgbClr val="FFFFFF"/>
                </a:solidFill>
                <a:latin typeface="Arial"/>
                <a:ea typeface="Arial"/>
                <a:cs typeface="Arial"/>
              </a:rPr>
              <a:t>Montaje del volumen común</a:t>
            </a:r>
          </a:p>
        </p:txBody>
      </p:sp>
      <p:sp>
        <p:nvSpPr>
          <p:cNvPr id="48" name="services:&#10;  app-1:&#10;    volumes:&#10;      - ">
            <a:extLst>
              <a:ext uri="{FF2B5EF4-FFF2-40B4-BE49-F238E27FC236}">
                <a16:creationId xmlns:a16="http://schemas.microsoft.com/office/drawing/2014/main" id="{D612231A-A3A8-4EE5-811C-115737DC2056}"/>
              </a:ext>
            </a:extLst>
          </p:cNvPr>
          <p:cNvSpPr>
            <a:spLocks noGrp="1"/>
          </p:cNvSpPr>
          <p:nvPr/>
        </p:nvSpPr>
        <p:spPr>
          <a:xfrm>
            <a:off x="914400" y="1104900"/>
            <a:ext cx="10382250" cy="4143375"/>
          </a:xfrm>
          <a:prstGeom prst="roundRect">
            <a:avLst>
              <a:gd name="adj" fmla="val 1839"/>
            </a:avLst>
          </a:prstGeom>
          <a:solidFill>
            <a:srgbClr val="F6F8FA"/>
          </a:solidFill>
          <a:ln w="9525">
            <a:solidFill>
              <a:srgbClr val="AFD2C9"/>
            </a:solidFill>
          </a:ln>
        </p:spPr>
        <p:txBody>
          <a:bodyPr lIns="171450" tIns="171450" rIns="171450" bIns="171450" anchor="t"/>
          <a:lstStyle>
            <a:defPPr algn="l">
              <a:defRPr sz="1575" b="0">
                <a:solidFill>
                  <a:srgbClr val="18365F"/>
                </a:solidFill>
                <a:latin typeface="Courier New"/>
                <a:ea typeface="Courier New"/>
                <a:cs typeface="Courier New"/>
              </a:defRPr>
            </a:defPPr>
          </a:lstStyle>
          <a:p>
            <a:pPr algn="l">
              <a:defRPr sz="1575" b="0">
                <a:solidFill>
                  <a:srgbClr val="18365F"/>
                </a:solidFill>
                <a:latin typeface="Courier New"/>
                <a:ea typeface="Courier New"/>
                <a:cs typeface="Courier New"/>
              </a:defRPr>
            </a:pPr>
            <a:r>
              <a:rPr sz="1575" b="0">
                <a:solidFill>
                  <a:srgbClr val="18365F"/>
                </a:solidFill>
                <a:latin typeface="Courier New"/>
                <a:ea typeface="Courier New"/>
                <a:cs typeface="Courier New"/>
              </a:rPr>
              <a:t>services:</a:t>
            </a:r>
          </a:p>
          <a:p>
            <a:pPr algn="l">
              <a:defRPr sz="1575" b="0">
                <a:solidFill>
                  <a:srgbClr val="18365F"/>
                </a:solidFill>
                <a:latin typeface="Courier New"/>
                <a:ea typeface="Courier New"/>
                <a:cs typeface="Courier New"/>
              </a:defRPr>
            </a:pPr>
            <a:r>
              <a:rPr sz="1575" b="0">
                <a:solidFill>
                  <a:srgbClr val="18365F"/>
                </a:solidFill>
                <a:latin typeface="Courier New"/>
                <a:ea typeface="Courier New"/>
                <a:cs typeface="Courier New"/>
              </a:rPr>
              <a:t>  app-1:</a:t>
            </a:r>
          </a:p>
          <a:p>
            <a:pPr algn="l">
              <a:defRPr sz="1575" b="0">
                <a:solidFill>
                  <a:srgbClr val="18365F"/>
                </a:solidFill>
                <a:latin typeface="Courier New"/>
                <a:ea typeface="Courier New"/>
                <a:cs typeface="Courier New"/>
              </a:defRPr>
            </a:pPr>
            <a:r>
              <a:rPr sz="1575" b="0">
                <a:solidFill>
                  <a:srgbClr val="18365F"/>
                </a:solidFill>
                <a:latin typeface="Courier New"/>
                <a:ea typeface="Courier New"/>
                <a:cs typeface="Courier New"/>
              </a:rPr>
              <a:t>    volumes:</a:t>
            </a:r>
          </a:p>
          <a:p>
            <a:pPr algn="l">
              <a:defRPr sz="1575" b="0">
                <a:solidFill>
                  <a:srgbClr val="18365F"/>
                </a:solidFill>
                <a:latin typeface="Courier New"/>
                <a:ea typeface="Courier New"/>
                <a:cs typeface="Courier New"/>
              </a:defRPr>
            </a:pPr>
            <a:r>
              <a:rPr sz="1575" b="0">
                <a:solidFill>
                  <a:srgbClr val="18365F"/>
                </a:solidFill>
                <a:latin typeface="Courier New"/>
                <a:ea typeface="Courier New"/>
                <a:cs typeface="Courier New"/>
              </a:rPr>
              <a:t>      - uploads-compartidos:/data/uploads</a:t>
            </a:r>
          </a:p>
          <a:p>
            <a:pPr algn="l">
              <a:defRPr sz="1575" b="0">
                <a:solidFill>
                  <a:srgbClr val="18365F"/>
                </a:solidFill>
                <a:latin typeface="Courier New"/>
                <a:ea typeface="Courier New"/>
                <a:cs typeface="Courier New"/>
              </a:defRPr>
            </a:pPr>
            <a:r>
              <a:rPr sz="1575" b="0">
                <a:solidFill>
                  <a:srgbClr val="18365F"/>
                </a:solidFill>
                <a:latin typeface="Courier New"/>
                <a:ea typeface="Courier New"/>
                <a:cs typeface="Courier New"/>
              </a:rPr>
              <a:t>  app-2:</a:t>
            </a:r>
          </a:p>
          <a:p>
            <a:pPr algn="l">
              <a:defRPr sz="1575" b="0">
                <a:solidFill>
                  <a:srgbClr val="18365F"/>
                </a:solidFill>
                <a:latin typeface="Courier New"/>
                <a:ea typeface="Courier New"/>
                <a:cs typeface="Courier New"/>
              </a:defRPr>
            </a:pPr>
            <a:r>
              <a:rPr sz="1575" b="0">
                <a:solidFill>
                  <a:srgbClr val="18365F"/>
                </a:solidFill>
                <a:latin typeface="Courier New"/>
                <a:ea typeface="Courier New"/>
                <a:cs typeface="Courier New"/>
              </a:rPr>
              <a:t>    volumes:</a:t>
            </a:r>
          </a:p>
          <a:p>
            <a:pPr algn="l">
              <a:defRPr sz="1575" b="0">
                <a:solidFill>
                  <a:srgbClr val="18365F"/>
                </a:solidFill>
                <a:latin typeface="Courier New"/>
                <a:ea typeface="Courier New"/>
                <a:cs typeface="Courier New"/>
              </a:defRPr>
            </a:pPr>
            <a:r>
              <a:rPr sz="1575" b="0">
                <a:solidFill>
                  <a:srgbClr val="18365F"/>
                </a:solidFill>
                <a:latin typeface="Courier New"/>
                <a:ea typeface="Courier New"/>
                <a:cs typeface="Courier New"/>
              </a:rPr>
              <a:t>      - uploads-compartidos:/data/uploads</a:t>
            </a:r>
          </a:p>
          <a:p>
            <a:pPr algn="l">
              <a:defRPr sz="1575" b="0">
                <a:solidFill>
                  <a:srgbClr val="18365F"/>
                </a:solidFill>
                <a:latin typeface="Courier New"/>
                <a:ea typeface="Courier New"/>
                <a:cs typeface="Courier New"/>
              </a:defRPr>
            </a:pPr>
            <a:r>
              <a:rPr sz="1575" b="0">
                <a:solidFill>
                  <a:srgbClr val="18365F"/>
                </a:solidFill>
                <a:latin typeface="Courier New"/>
                <a:ea typeface="Courier New"/>
                <a:cs typeface="Courier New"/>
              </a:rPr>
              <a:t>  app-3:</a:t>
            </a:r>
          </a:p>
          <a:p>
            <a:pPr algn="l">
              <a:defRPr sz="1575" b="0">
                <a:solidFill>
                  <a:srgbClr val="18365F"/>
                </a:solidFill>
                <a:latin typeface="Courier New"/>
                <a:ea typeface="Courier New"/>
                <a:cs typeface="Courier New"/>
              </a:defRPr>
            </a:pPr>
            <a:r>
              <a:rPr sz="1575" b="0">
                <a:solidFill>
                  <a:srgbClr val="18365F"/>
                </a:solidFill>
                <a:latin typeface="Courier New"/>
                <a:ea typeface="Courier New"/>
                <a:cs typeface="Courier New"/>
              </a:rPr>
              <a:t>    volumes:</a:t>
            </a:r>
          </a:p>
          <a:p>
            <a:pPr algn="l">
              <a:defRPr sz="1575" b="0">
                <a:solidFill>
                  <a:srgbClr val="18365F"/>
                </a:solidFill>
                <a:latin typeface="Courier New"/>
                <a:ea typeface="Courier New"/>
                <a:cs typeface="Courier New"/>
              </a:defRPr>
            </a:pPr>
            <a:r>
              <a:rPr sz="1575" b="0">
                <a:solidFill>
                  <a:srgbClr val="18365F"/>
                </a:solidFill>
                <a:latin typeface="Courier New"/>
                <a:ea typeface="Courier New"/>
                <a:cs typeface="Courier New"/>
              </a:rPr>
              <a:t>      - uploads-compartidos:/data/uploads</a:t>
            </a:r>
          </a:p>
          <a:p>
            <a:endParaRPr sz="1575" b="0">
              <a:solidFill>
                <a:srgbClr val="18365F"/>
              </a:solidFill>
              <a:latin typeface="Courier New"/>
              <a:ea typeface="Courier New"/>
              <a:cs typeface="Courier New"/>
            </a:endParaRPr>
          </a:p>
          <a:p>
            <a:pPr algn="l">
              <a:defRPr sz="1575" b="0">
                <a:solidFill>
                  <a:srgbClr val="18365F"/>
                </a:solidFill>
                <a:latin typeface="Courier New"/>
                <a:ea typeface="Courier New"/>
                <a:cs typeface="Courier New"/>
              </a:defRPr>
            </a:pPr>
            <a:r>
              <a:rPr sz="1575" b="0">
                <a:solidFill>
                  <a:srgbClr val="18365F"/>
                </a:solidFill>
                <a:latin typeface="Courier New"/>
                <a:ea typeface="Courier New"/>
                <a:cs typeface="Courier New"/>
              </a:rPr>
              <a:t>volumes:</a:t>
            </a:r>
          </a:p>
          <a:p>
            <a:pPr algn="l">
              <a:defRPr sz="1575" b="0">
                <a:solidFill>
                  <a:srgbClr val="18365F"/>
                </a:solidFill>
                <a:latin typeface="Courier New"/>
                <a:ea typeface="Courier New"/>
                <a:cs typeface="Courier New"/>
              </a:defRPr>
            </a:pPr>
            <a:r>
              <a:rPr sz="1575" b="0">
                <a:solidFill>
                  <a:srgbClr val="18365F"/>
                </a:solidFill>
                <a:latin typeface="Courier New"/>
                <a:ea typeface="Courier New"/>
                <a:cs typeface="Courier New"/>
              </a:rPr>
              <a:t>  uploads-compartidos:</a:t>
            </a:r>
          </a:p>
        </p:txBody>
      </p:sp>
    </p:spTree>
    <p:extLst>
      <p:ext uri="{BB962C8B-B14F-4D97-AF65-F5344CB8AC3E}">
        <p14:creationId xmlns:p14="http://schemas.microsoft.com/office/powerpoint/2010/main" val="29370857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Shape 18">
            <a:extLst>
              <a:ext uri="{FF2B5EF4-FFF2-40B4-BE49-F238E27FC236}">
                <a16:creationId xmlns:a16="http://schemas.microsoft.com/office/drawing/2014/main" id="{A21D1190-F64E-B2BC-A6FE-78AF0EBF8949}"/>
              </a:ext>
            </a:extLst>
          </p:cNvPr>
          <p:cNvSpPr>
            <a:spLocks noGrp="1"/>
          </p:cNvSpPr>
          <p:nvPr/>
        </p:nvSpPr>
        <p:spPr>
          <a:xfrm>
            <a:off x="860282" y="5463540"/>
            <a:ext cx="10718044" cy="594000"/>
          </a:xfrm>
          <a:prstGeom prst="roundRect">
            <a:avLst>
              <a:gd name="adj" fmla="val 12308"/>
            </a:avLst>
          </a:prstGeom>
          <a:solidFill>
            <a:srgbClr val="FFFDE7"/>
          </a:solidFill>
          <a:ln w="16510">
            <a:solidFill>
              <a:srgbClr val="00ACC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strike="noStrike">
              <a:solidFill>
                <a:srgbClr val="000000"/>
              </a:solidFill>
              <a:latin typeface="Arial"/>
              <a:ea typeface="Arial"/>
              <a:cs typeface="Arial"/>
            </a:endParaRPr>
          </a:p>
        </p:txBody>
      </p:sp>
      <p:sp>
        <p:nvSpPr>
          <p:cNvPr id="33" name="TextBox 32">
            <a:extLst>
              <a:ext uri="{FF2B5EF4-FFF2-40B4-BE49-F238E27FC236}">
                <a16:creationId xmlns:a16="http://schemas.microsoft.com/office/drawing/2014/main" id="{31F66DA7-F80E-EED7-7362-A84C5F1E2B57}"/>
              </a:ext>
            </a:extLst>
          </p:cNvPr>
          <p:cNvSpPr>
            <a:spLocks noGrp="1"/>
          </p:cNvSpPr>
          <p:nvPr/>
        </p:nvSpPr>
        <p:spPr>
          <a:xfrm>
            <a:off x="937260" y="5578670"/>
            <a:ext cx="10564088" cy="213360"/>
          </a:xfrm>
          <a:prstGeom prst="rect">
            <a:avLst/>
          </a:prstGeom>
          <a:noFill/>
        </p:spPr>
        <p:txBody>
          <a:bodyPr wrap="square" lIns="0" tIns="0" rIns="0" bIns="0" anchor="ctr">
            <a:spAutoFit/>
          </a:bodyPr>
          <a:lstStyle>
            <a:defPPr algn="ctr">
              <a:defRPr sz="1400">
                <a:solidFill>
                  <a:srgbClr val="18365F"/>
                </a:solidFill>
                <a:latin typeface="Arial"/>
                <a:ea typeface="Arial"/>
                <a:cs typeface="Arial"/>
              </a:defRPr>
            </a:defPPr>
          </a:lstStyle>
          <a:p>
            <a:pPr algn="ctr">
              <a:buNone/>
              <a:defRPr sz="1400">
                <a:solidFill>
                  <a:srgbClr val="18365F"/>
                </a:solidFill>
                <a:latin typeface="Arial"/>
                <a:ea typeface="Arial"/>
                <a:cs typeface="Arial"/>
              </a:defRPr>
            </a:pPr>
            <a:r>
              <a:rPr sz="1400">
                <a:solidFill>
                  <a:srgbClr val="18365F"/>
                </a:solidFill>
                <a:latin typeface="Arial"/>
                <a:ea typeface="Arial"/>
                <a:cs typeface="Arial"/>
              </a:rPr>
              <a:t>El estado que necesita cualquier réplica debe estar accesible desde todas ellas.</a:t>
            </a:r>
          </a:p>
        </p:txBody>
      </p:sp>
      <p:sp>
        <p:nvSpPr>
          <p:cNvPr id="35" name="TextBox 34">
            <a:extLst>
              <a:ext uri="{FF2B5EF4-FFF2-40B4-BE49-F238E27FC236}">
                <a16:creationId xmlns:a16="http://schemas.microsoft.com/office/drawing/2014/main" id="{847ED172-986B-1F4B-A572-EC07E15E9547}"/>
              </a:ext>
            </a:extLst>
          </p:cNvPr>
          <p:cNvSpPr>
            <a:spLocks noGrp="1"/>
          </p:cNvSpPr>
          <p:nvPr/>
        </p:nvSpPr>
        <p:spPr>
          <a:xfrm>
            <a:off x="11734495" y="6601968"/>
            <a:ext cx="256032" cy="114300"/>
          </a:xfrm>
          <a:prstGeom prst="rect">
            <a:avLst/>
          </a:prstGeom>
          <a:noFill/>
        </p:spPr>
        <p:txBody>
          <a:bodyPr wrap="square" lIns="0" tIns="0" rIns="0" bIns="0" anchor="t">
            <a:spAutoFit/>
          </a:bodyPr>
          <a:lstStyle>
            <a:defPPr>
              <a:defRPr sz="750">
                <a:solidFill>
                  <a:srgbClr val="737C84"/>
                </a:solidFill>
                <a:latin typeface="Arial"/>
                <a:ea typeface="Arial"/>
                <a:cs typeface="Arial"/>
              </a:defRPr>
            </a:defPPr>
          </a:lstStyle>
          <a:p>
            <a:pPr algn="r">
              <a:buNone/>
              <a:defRPr sz="750">
                <a:solidFill>
                  <a:srgbClr val="737C84"/>
                </a:solidFill>
                <a:latin typeface="Arial"/>
                <a:ea typeface="Arial"/>
                <a:cs typeface="Arial"/>
              </a:defRPr>
            </a:pPr>
            <a:r>
              <a:rPr sz="750" b="0" i="0">
                <a:solidFill>
                  <a:srgbClr val="737C84"/>
                </a:solidFill>
                <a:latin typeface="Arial"/>
                <a:ea typeface="Arial"/>
                <a:cs typeface="Arial"/>
              </a:rPr>
              <a:t>19</a:t>
            </a:r>
          </a:p>
        </p:txBody>
      </p:sp>
      <p:sp>
        <p:nvSpPr>
          <p:cNvPr id="43" name="Text 2">
            <a:extLst>
              <a:ext uri="{FF2B5EF4-FFF2-40B4-BE49-F238E27FC236}">
                <a16:creationId xmlns:a16="http://schemas.microsoft.com/office/drawing/2014/main" id="{A742CC06-271C-8A14-EE0E-4886B7BFD265}"/>
              </a:ext>
            </a:extLst>
          </p:cNvPr>
          <p:cNvSpPr>
            <a:spLocks noGrp="1"/>
          </p:cNvSpPr>
          <p:nvPr/>
        </p:nvSpPr>
        <p:spPr>
          <a:xfrm>
            <a:off x="548640" y="6492240"/>
            <a:ext cx="11091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defPPr algn="r">
              <a:defRPr sz="1050">
                <a:solidFill>
                  <a:srgbClr val="757575"/>
                </a:solidFill>
                <a:latin typeface="Arial"/>
                <a:ea typeface="Arial"/>
                <a:cs typeface="Arial"/>
              </a:defRPr>
            </a:defPPr>
          </a:lstStyle>
          <a:p>
            <a:pPr algn="r">
              <a:buNone/>
              <a:tabLst>
                <a:tab pos="0" algn="l"/>
              </a:tabLst>
              <a:defRPr sz="1050">
                <a:solidFill>
                  <a:srgbClr val="757575"/>
                </a:solidFill>
                <a:latin typeface="Arial"/>
                <a:ea typeface="Arial"/>
                <a:cs typeface="Arial"/>
              </a:defRPr>
            </a:pPr>
            <a:r>
              <a:rPr sz="1050" b="0" u="none" strike="noStrike">
                <a:solidFill>
                  <a:srgbClr val="757575"/>
                </a:solidFill>
                <a:latin typeface="Arial"/>
                <a:ea typeface="Arial"/>
                <a:cs typeface="Arial"/>
              </a:rPr>
              <a:t>DAW — Tema 3: Publicación y ejecución de aplicaciones web</a:t>
            </a:r>
            <a:endParaRPr sz="1050" b="0" u="none" strike="noStrike">
              <a:solidFill>
                <a:srgbClr val="000000"/>
              </a:solidFill>
              <a:latin typeface="Arial"/>
              <a:ea typeface="Arial"/>
              <a:cs typeface="Arial"/>
            </a:endParaRPr>
          </a:p>
        </p:txBody>
      </p:sp>
      <p:sp>
        <p:nvSpPr>
          <p:cNvPr id="45" name="Shape 0">
            <a:extLst>
              <a:ext uri="{FF2B5EF4-FFF2-40B4-BE49-F238E27FC236}">
                <a16:creationId xmlns:a16="http://schemas.microsoft.com/office/drawing/2014/main" id="{6EA75EBC-A260-30AE-F0D3-DA414F41C6C8}"/>
              </a:ext>
            </a:extLst>
          </p:cNvPr>
          <p:cNvSpPr>
            <a:spLocks noGrp="1"/>
          </p:cNvSpPr>
          <p:nvPr/>
        </p:nvSpPr>
        <p:spPr>
          <a:xfrm>
            <a:off x="0" y="0"/>
            <a:ext cx="12188520" cy="776880"/>
          </a:xfrm>
          <a:prstGeom prst="rect">
            <a:avLst/>
          </a:prstGeom>
          <a:solidFill>
            <a:srgbClr val="004D40"/>
          </a:solidFill>
          <a:ln w="12700">
            <a:solidFill>
              <a:srgbClr val="004D4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strike="noStrike">
              <a:solidFill>
                <a:srgbClr val="FFFFFF"/>
              </a:solidFill>
              <a:latin typeface="Arial"/>
              <a:ea typeface="Arial"/>
              <a:cs typeface="Arial"/>
            </a:endParaRPr>
          </a:p>
        </p:txBody>
      </p:sp>
      <p:sp>
        <p:nvSpPr>
          <p:cNvPr id="47" name="Text 1">
            <a:extLst>
              <a:ext uri="{FF2B5EF4-FFF2-40B4-BE49-F238E27FC236}">
                <a16:creationId xmlns:a16="http://schemas.microsoft.com/office/drawing/2014/main" id="{A6130689-1879-EB68-E5CC-55B4B8D469DE}"/>
              </a:ext>
            </a:extLst>
          </p:cNvPr>
          <p:cNvSpPr>
            <a:spLocks noGrp="1"/>
          </p:cNvSpPr>
          <p:nvPr/>
        </p:nvSpPr>
        <p:spPr>
          <a:xfrm>
            <a:off x="384120" y="18360"/>
            <a:ext cx="1142064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defPPr>
              <a:defRPr sz="2500" b="1">
                <a:solidFill>
                  <a:srgbClr val="FFFFFF"/>
                </a:solidFill>
                <a:latin typeface="Arial"/>
                <a:ea typeface="Arial"/>
                <a:cs typeface="Arial"/>
              </a:defRPr>
            </a:defPPr>
          </a:lstStyle>
          <a:p>
            <a:pPr defTabSz="914400">
              <a:lnSpc>
                <a:spcPct val="100000"/>
              </a:lnSpc>
              <a:buNone/>
              <a:tabLst>
                <a:tab pos="0" algn="l"/>
              </a:tabLst>
              <a:defRPr sz="2500" b="1">
                <a:solidFill>
                  <a:srgbClr val="FFFFFF"/>
                </a:solidFill>
                <a:latin typeface="Arial"/>
                <a:ea typeface="Arial"/>
                <a:cs typeface="Arial"/>
              </a:defRPr>
            </a:pPr>
            <a:r>
              <a:rPr sz="2500" b="1" u="none" strike="noStrike">
                <a:solidFill>
                  <a:srgbClr val="FFFFFF"/>
                </a:solidFill>
                <a:latin typeface="Arial"/>
                <a:ea typeface="Arial"/>
                <a:cs typeface="Arial"/>
              </a:rPr>
              <a:t>Condiciones del almacenamiento compartido</a:t>
            </a:r>
          </a:p>
        </p:txBody>
      </p:sp>
      <p:sp>
        <p:nvSpPr>
          <p:cNvPr id="48" name="Rectángulo redondeado 47">
            <a:extLst>
              <a:ext uri="{FF2B5EF4-FFF2-40B4-BE49-F238E27FC236}">
                <a16:creationId xmlns:a16="http://schemas.microsoft.com/office/drawing/2014/main" id="{3BDC8E0B-D18A-45F1-BE9E-CA2B1B8475CD}"/>
              </a:ext>
            </a:extLst>
          </p:cNvPr>
          <p:cNvSpPr>
            <a:spLocks noGrp="1"/>
          </p:cNvSpPr>
          <p:nvPr/>
        </p:nvSpPr>
        <p:spPr>
          <a:xfrm>
            <a:off x="914400" y="1381125"/>
            <a:ext cx="4895850" cy="3495675"/>
          </a:xfrm>
          <a:prstGeom prst="roundRect">
            <a:avLst>
              <a:gd name="adj" fmla="val 2180"/>
            </a:avLst>
          </a:prstGeom>
          <a:solidFill>
            <a:srgbClr val="E9F1FA"/>
          </a:solidFill>
          <a:ln w="9525">
            <a:solidFill>
              <a:srgbClr val="AFD2C9"/>
            </a:solidFill>
          </a:ln>
        </p:spPr>
        <p:txBody>
          <a:bodyPr lIns="171450" tIns="171450" rIns="171450" bIns="171450" anchor="t"/>
          <a:lstStyle>
            <a:defPPr algn="l">
              <a:defRPr sz="1650" b="0">
                <a:solidFill>
                  <a:srgbClr val="313A44"/>
                </a:solidFill>
                <a:latin typeface="Arial"/>
                <a:ea typeface="Arial"/>
                <a:cs typeface="Arial"/>
              </a:defRPr>
            </a:defPPr>
          </a:lstStyle>
          <a:p>
            <a:endParaRPr/>
          </a:p>
        </p:txBody>
      </p:sp>
      <p:sp>
        <p:nvSpPr>
          <p:cNvPr id="49" name="Rectángulo 48">
            <a:extLst>
              <a:ext uri="{FF2B5EF4-FFF2-40B4-BE49-F238E27FC236}">
                <a16:creationId xmlns:a16="http://schemas.microsoft.com/office/drawing/2014/main" id="{7911CDA4-3B39-4F9F-A62B-26AE315A7326}"/>
              </a:ext>
            </a:extLst>
          </p:cNvPr>
          <p:cNvSpPr>
            <a:spLocks noGrp="1"/>
          </p:cNvSpPr>
          <p:nvPr/>
        </p:nvSpPr>
        <p:spPr>
          <a:xfrm>
            <a:off x="914400" y="1381125"/>
            <a:ext cx="4895850" cy="400050"/>
          </a:xfrm>
          <a:prstGeom prst="rect">
            <a:avLst/>
          </a:prstGeom>
          <a:solidFill>
            <a:srgbClr val="3B82F6"/>
          </a:solidFill>
          <a:ln w="0">
            <a:noFill/>
          </a:ln>
        </p:spPr>
        <p:txBody>
          <a:bodyPr/>
          <a:lstStyle/>
          <a:p>
            <a:endParaRPr lang="es-ES"/>
          </a:p>
        </p:txBody>
      </p:sp>
      <p:sp>
        <p:nvSpPr>
          <p:cNvPr id="50" name="Dentro del mismo host">
            <a:extLst>
              <a:ext uri="{FF2B5EF4-FFF2-40B4-BE49-F238E27FC236}">
                <a16:creationId xmlns:a16="http://schemas.microsoft.com/office/drawing/2014/main" id="{5688D2CB-CC37-4ADD-8CC8-42394027BF69}"/>
              </a:ext>
            </a:extLst>
          </p:cNvPr>
          <p:cNvSpPr>
            <a:spLocks noGrp="1"/>
          </p:cNvSpPr>
          <p:nvPr/>
        </p:nvSpPr>
        <p:spPr>
          <a:xfrm>
            <a:off x="1066800" y="1466850"/>
            <a:ext cx="4591050" cy="285750"/>
          </a:xfrm>
          <a:prstGeom prst="rect">
            <a:avLst/>
          </a:prstGeom>
          <a:noFill/>
          <a:ln w="0">
            <a:noFill/>
          </a:ln>
        </p:spPr>
        <p:txBody>
          <a:bodyPr lIns="0" tIns="0" rIns="0" bIns="0" anchor="t"/>
          <a:lstStyle>
            <a:defPPr algn="l">
              <a:defRPr sz="1650" b="1">
                <a:solidFill>
                  <a:srgbClr val="FFFFFF"/>
                </a:solidFill>
                <a:latin typeface="Arial"/>
                <a:ea typeface="Arial"/>
                <a:cs typeface="Arial"/>
              </a:defRPr>
            </a:defPPr>
          </a:lstStyle>
          <a:p>
            <a:pPr algn="l">
              <a:defRPr sz="1650" b="1">
                <a:solidFill>
                  <a:srgbClr val="FFFFFF"/>
                </a:solidFill>
                <a:latin typeface="Arial"/>
                <a:ea typeface="Arial"/>
                <a:cs typeface="Arial"/>
              </a:defRPr>
            </a:pPr>
            <a:r>
              <a:rPr sz="1650" b="1">
                <a:solidFill>
                  <a:srgbClr val="FFFFFF"/>
                </a:solidFill>
                <a:latin typeface="Arial"/>
                <a:ea typeface="Arial"/>
                <a:cs typeface="Arial"/>
              </a:rPr>
              <a:t>Dentro del mismo host</a:t>
            </a:r>
          </a:p>
        </p:txBody>
      </p:sp>
      <p:sp>
        <p:nvSpPr>
          <p:cNvPr id="51" name="El volumen local común permite ver los m">
            <a:extLst>
              <a:ext uri="{FF2B5EF4-FFF2-40B4-BE49-F238E27FC236}">
                <a16:creationId xmlns:a16="http://schemas.microsoft.com/office/drawing/2014/main" id="{FCF941F3-16EF-4F4C-A345-C73509C67B30}"/>
              </a:ext>
            </a:extLst>
          </p:cNvPr>
          <p:cNvSpPr>
            <a:spLocks noGrp="1"/>
          </p:cNvSpPr>
          <p:nvPr/>
        </p:nvSpPr>
        <p:spPr>
          <a:xfrm>
            <a:off x="1123950" y="1971675"/>
            <a:ext cx="4476750" cy="2752725"/>
          </a:xfrm>
          <a:prstGeom prst="rect">
            <a:avLst/>
          </a:prstGeom>
          <a:noFill/>
          <a:ln w="0">
            <a:noFill/>
          </a:ln>
        </p:spPr>
        <p:txBody>
          <a:bodyPr lIns="0" tIns="0" rIns="0" bIns="0" anchor="t"/>
          <a:lstStyle>
            <a:defPPr algn="l">
              <a:defRPr sz="1650" b="0">
                <a:solidFill>
                  <a:srgbClr val="313A44"/>
                </a:solidFill>
                <a:latin typeface="Arial"/>
                <a:ea typeface="Arial"/>
                <a:cs typeface="Arial"/>
              </a:defRPr>
            </a:defPPr>
          </a:lstStyle>
          <a:p>
            <a:pPr algn="l">
              <a:defRPr sz="1650" b="0">
                <a:solidFill>
                  <a:srgbClr val="313A44"/>
                </a:solidFill>
                <a:latin typeface="Arial"/>
                <a:ea typeface="Arial"/>
                <a:cs typeface="Arial"/>
              </a:defRPr>
            </a:pPr>
            <a:r>
              <a:rPr sz="1650" b="0">
                <a:solidFill>
                  <a:srgbClr val="313A44"/>
                </a:solidFill>
                <a:latin typeface="Arial"/>
                <a:ea typeface="Arial"/>
                <a:cs typeface="Arial"/>
              </a:rPr>
              <a:t>El volumen local común permite ver los mismos archivos.</a:t>
            </a:r>
          </a:p>
          <a:p>
            <a:endParaRPr sz="1650" b="0">
              <a:solidFill>
                <a:srgbClr val="313A44"/>
              </a:solidFill>
              <a:latin typeface="Arial"/>
              <a:ea typeface="Arial"/>
              <a:cs typeface="Arial"/>
            </a:endParaRPr>
          </a:p>
          <a:p>
            <a:pPr algn="l">
              <a:defRPr sz="1650" b="0">
                <a:solidFill>
                  <a:srgbClr val="313A44"/>
                </a:solidFill>
                <a:latin typeface="Arial"/>
                <a:ea typeface="Arial"/>
                <a:cs typeface="Arial"/>
              </a:defRPr>
            </a:pPr>
            <a:r>
              <a:rPr sz="1650" b="0">
                <a:solidFill>
                  <a:srgbClr val="313A44"/>
                </a:solidFill>
                <a:latin typeface="Arial"/>
                <a:ea typeface="Arial"/>
                <a:cs typeface="Arial"/>
              </a:rPr>
              <a:t>La aplicación necesita permisos adecuados.</a:t>
            </a:r>
          </a:p>
          <a:p>
            <a:endParaRPr sz="1650" b="0">
              <a:solidFill>
                <a:srgbClr val="313A44"/>
              </a:solidFill>
              <a:latin typeface="Arial"/>
              <a:ea typeface="Arial"/>
              <a:cs typeface="Arial"/>
            </a:endParaRPr>
          </a:p>
          <a:p>
            <a:pPr algn="l">
              <a:defRPr sz="1650" b="0">
                <a:solidFill>
                  <a:srgbClr val="313A44"/>
                </a:solidFill>
                <a:latin typeface="Arial"/>
                <a:ea typeface="Arial"/>
                <a:cs typeface="Arial"/>
              </a:defRPr>
            </a:pPr>
            <a:r>
              <a:rPr sz="1650" b="0">
                <a:solidFill>
                  <a:srgbClr val="313A44"/>
                </a:solidFill>
                <a:latin typeface="Arial"/>
                <a:ea typeface="Arial"/>
                <a:cs typeface="Arial"/>
              </a:rPr>
              <a:t>Debe gestionar escrituras simultáneas.</a:t>
            </a:r>
          </a:p>
        </p:txBody>
      </p:sp>
      <p:sp>
        <p:nvSpPr>
          <p:cNvPr id="52" name="Rectángulo redondeado 51">
            <a:extLst>
              <a:ext uri="{FF2B5EF4-FFF2-40B4-BE49-F238E27FC236}">
                <a16:creationId xmlns:a16="http://schemas.microsoft.com/office/drawing/2014/main" id="{9E45B326-10BA-4E47-8AB3-8B8DA4980B5C}"/>
              </a:ext>
            </a:extLst>
          </p:cNvPr>
          <p:cNvSpPr>
            <a:spLocks noGrp="1"/>
          </p:cNvSpPr>
          <p:nvPr/>
        </p:nvSpPr>
        <p:spPr>
          <a:xfrm>
            <a:off x="6381750" y="1381125"/>
            <a:ext cx="4895850" cy="3495675"/>
          </a:xfrm>
          <a:prstGeom prst="roundRect">
            <a:avLst>
              <a:gd name="adj" fmla="val 2180"/>
            </a:avLst>
          </a:prstGeom>
          <a:solidFill>
            <a:srgbClr val="E8F6F0"/>
          </a:solidFill>
          <a:ln w="9525">
            <a:solidFill>
              <a:srgbClr val="AFD2C9"/>
            </a:solidFill>
          </a:ln>
        </p:spPr>
        <p:txBody>
          <a:bodyPr lIns="171450" tIns="171450" rIns="171450" bIns="171450" anchor="t"/>
          <a:lstStyle>
            <a:defPPr algn="l">
              <a:defRPr sz="1650" b="0">
                <a:solidFill>
                  <a:srgbClr val="313A44"/>
                </a:solidFill>
                <a:latin typeface="Arial"/>
                <a:ea typeface="Arial"/>
                <a:cs typeface="Arial"/>
              </a:defRPr>
            </a:defPPr>
          </a:lstStyle>
          <a:p>
            <a:endParaRPr/>
          </a:p>
        </p:txBody>
      </p:sp>
      <p:sp>
        <p:nvSpPr>
          <p:cNvPr id="53" name="Rectángulo 52">
            <a:extLst>
              <a:ext uri="{FF2B5EF4-FFF2-40B4-BE49-F238E27FC236}">
                <a16:creationId xmlns:a16="http://schemas.microsoft.com/office/drawing/2014/main" id="{8A90F08F-352C-4CA2-92F6-DB7763062538}"/>
              </a:ext>
            </a:extLst>
          </p:cNvPr>
          <p:cNvSpPr>
            <a:spLocks noGrp="1"/>
          </p:cNvSpPr>
          <p:nvPr/>
        </p:nvSpPr>
        <p:spPr>
          <a:xfrm>
            <a:off x="6381750" y="1381125"/>
            <a:ext cx="4895850" cy="400050"/>
          </a:xfrm>
          <a:prstGeom prst="rect">
            <a:avLst/>
          </a:prstGeom>
          <a:solidFill>
            <a:srgbClr val="004D40"/>
          </a:solidFill>
          <a:ln w="0">
            <a:noFill/>
          </a:ln>
        </p:spPr>
        <p:txBody>
          <a:bodyPr/>
          <a:lstStyle/>
          <a:p>
            <a:endParaRPr lang="es-ES"/>
          </a:p>
        </p:txBody>
      </p:sp>
      <p:sp>
        <p:nvSpPr>
          <p:cNvPr id="54" name="Cuando hay varios hosts">
            <a:extLst>
              <a:ext uri="{FF2B5EF4-FFF2-40B4-BE49-F238E27FC236}">
                <a16:creationId xmlns:a16="http://schemas.microsoft.com/office/drawing/2014/main" id="{E0029EB6-AB54-4DE6-8378-CFA3A8A97E00}"/>
              </a:ext>
            </a:extLst>
          </p:cNvPr>
          <p:cNvSpPr>
            <a:spLocks noGrp="1"/>
          </p:cNvSpPr>
          <p:nvPr/>
        </p:nvSpPr>
        <p:spPr>
          <a:xfrm>
            <a:off x="6534150" y="1466850"/>
            <a:ext cx="4591050" cy="285750"/>
          </a:xfrm>
          <a:prstGeom prst="rect">
            <a:avLst/>
          </a:prstGeom>
          <a:noFill/>
          <a:ln w="0">
            <a:noFill/>
          </a:ln>
        </p:spPr>
        <p:txBody>
          <a:bodyPr lIns="0" tIns="0" rIns="0" bIns="0" anchor="t"/>
          <a:lstStyle>
            <a:defPPr algn="l">
              <a:defRPr sz="1650" b="1">
                <a:solidFill>
                  <a:srgbClr val="FFFFFF"/>
                </a:solidFill>
                <a:latin typeface="Arial"/>
                <a:ea typeface="Arial"/>
                <a:cs typeface="Arial"/>
              </a:defRPr>
            </a:defPPr>
          </a:lstStyle>
          <a:p>
            <a:pPr algn="l">
              <a:defRPr sz="1650" b="1">
                <a:solidFill>
                  <a:srgbClr val="FFFFFF"/>
                </a:solidFill>
                <a:latin typeface="Arial"/>
                <a:ea typeface="Arial"/>
                <a:cs typeface="Arial"/>
              </a:defRPr>
            </a:pPr>
            <a:r>
              <a:rPr sz="1650" b="1">
                <a:solidFill>
                  <a:srgbClr val="FFFFFF"/>
                </a:solidFill>
                <a:latin typeface="Arial"/>
                <a:ea typeface="Arial"/>
                <a:cs typeface="Arial"/>
              </a:rPr>
              <a:t>Cuando hay varios hosts</a:t>
            </a:r>
          </a:p>
        </p:txBody>
      </p:sp>
      <p:sp>
        <p:nvSpPr>
          <p:cNvPr id="55" name="Un volumen local no se comparte entre má">
            <a:extLst>
              <a:ext uri="{FF2B5EF4-FFF2-40B4-BE49-F238E27FC236}">
                <a16:creationId xmlns:a16="http://schemas.microsoft.com/office/drawing/2014/main" id="{2D16940D-82B9-410B-AC91-7347F577B444}"/>
              </a:ext>
            </a:extLst>
          </p:cNvPr>
          <p:cNvSpPr>
            <a:spLocks noGrp="1"/>
          </p:cNvSpPr>
          <p:nvPr/>
        </p:nvSpPr>
        <p:spPr>
          <a:xfrm>
            <a:off x="6591300" y="1971675"/>
            <a:ext cx="4476750" cy="2752725"/>
          </a:xfrm>
          <a:prstGeom prst="rect">
            <a:avLst/>
          </a:prstGeom>
          <a:noFill/>
          <a:ln w="0">
            <a:noFill/>
          </a:ln>
        </p:spPr>
        <p:txBody>
          <a:bodyPr lIns="0" tIns="0" rIns="0" bIns="0" anchor="t"/>
          <a:lstStyle>
            <a:defPPr algn="l">
              <a:defRPr sz="1650" b="0">
                <a:solidFill>
                  <a:srgbClr val="313A44"/>
                </a:solidFill>
                <a:latin typeface="Arial"/>
                <a:ea typeface="Arial"/>
                <a:cs typeface="Arial"/>
              </a:defRPr>
            </a:defPPr>
          </a:lstStyle>
          <a:p>
            <a:pPr algn="l">
              <a:defRPr sz="1650" b="0">
                <a:solidFill>
                  <a:srgbClr val="313A44"/>
                </a:solidFill>
                <a:latin typeface="Arial"/>
                <a:ea typeface="Arial"/>
                <a:cs typeface="Arial"/>
              </a:defRPr>
            </a:pPr>
            <a:r>
              <a:rPr sz="1650" b="0">
                <a:solidFill>
                  <a:srgbClr val="313A44"/>
                </a:solidFill>
                <a:latin typeface="Arial"/>
                <a:ea typeface="Arial"/>
                <a:cs typeface="Arial"/>
              </a:rPr>
              <a:t>Un volumen local no se comparte entre máquinas.</a:t>
            </a:r>
          </a:p>
          <a:p>
            <a:endParaRPr sz="1650" b="0">
              <a:solidFill>
                <a:srgbClr val="313A44"/>
              </a:solidFill>
              <a:latin typeface="Arial"/>
              <a:ea typeface="Arial"/>
              <a:cs typeface="Arial"/>
            </a:endParaRPr>
          </a:p>
          <a:p>
            <a:pPr algn="l">
              <a:defRPr sz="1650" b="0">
                <a:solidFill>
                  <a:srgbClr val="313A44"/>
                </a:solidFill>
                <a:latin typeface="Arial"/>
                <a:ea typeface="Arial"/>
                <a:cs typeface="Arial"/>
              </a:defRPr>
            </a:pPr>
            <a:r>
              <a:rPr sz="1650" b="0">
                <a:solidFill>
                  <a:srgbClr val="313A44"/>
                </a:solidFill>
                <a:latin typeface="Arial"/>
                <a:ea typeface="Arial"/>
                <a:cs typeface="Arial"/>
              </a:rPr>
              <a:t>Se necesita almacenamiento de red u objetos.</a:t>
            </a:r>
          </a:p>
          <a:p>
            <a:endParaRPr sz="1650" b="0">
              <a:solidFill>
                <a:srgbClr val="313A44"/>
              </a:solidFill>
              <a:latin typeface="Arial"/>
              <a:ea typeface="Arial"/>
              <a:cs typeface="Arial"/>
            </a:endParaRPr>
          </a:p>
          <a:p>
            <a:pPr algn="l">
              <a:defRPr sz="1650" b="0">
                <a:solidFill>
                  <a:srgbClr val="313A44"/>
                </a:solidFill>
                <a:latin typeface="Arial"/>
                <a:ea typeface="Arial"/>
                <a:cs typeface="Arial"/>
              </a:defRPr>
            </a:pPr>
            <a:r>
              <a:rPr sz="1650" b="0">
                <a:solidFill>
                  <a:srgbClr val="313A44"/>
                </a:solidFill>
                <a:latin typeface="Arial"/>
                <a:ea typeface="Arial"/>
                <a:cs typeface="Arial"/>
              </a:rPr>
              <a:t>Compartir almacenamiento no sustituye las copias de seguridad.</a:t>
            </a:r>
          </a:p>
        </p:txBody>
      </p:sp>
    </p:spTree>
    <p:extLst>
      <p:ext uri="{BB962C8B-B14F-4D97-AF65-F5344CB8AC3E}">
        <p14:creationId xmlns:p14="http://schemas.microsoft.com/office/powerpoint/2010/main" val="29370857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Shape 18">
            <a:extLst>
              <a:ext uri="{FF2B5EF4-FFF2-40B4-BE49-F238E27FC236}">
                <a16:creationId xmlns:a16="http://schemas.microsoft.com/office/drawing/2014/main" id="{A21D1190-F64E-B2BC-A6FE-78AF0EBF8949}"/>
              </a:ext>
            </a:extLst>
          </p:cNvPr>
          <p:cNvSpPr>
            <a:spLocks noGrp="1"/>
          </p:cNvSpPr>
          <p:nvPr/>
        </p:nvSpPr>
        <p:spPr>
          <a:xfrm>
            <a:off x="860282" y="5463540"/>
            <a:ext cx="10718044" cy="594000"/>
          </a:xfrm>
          <a:prstGeom prst="roundRect">
            <a:avLst>
              <a:gd name="adj" fmla="val 12308"/>
            </a:avLst>
          </a:prstGeom>
          <a:solidFill>
            <a:srgbClr val="FFFDE7"/>
          </a:solidFill>
          <a:ln w="16510">
            <a:solidFill>
              <a:srgbClr val="00ACC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strike="noStrike">
              <a:solidFill>
                <a:srgbClr val="000000"/>
              </a:solidFill>
              <a:latin typeface="Arial"/>
              <a:ea typeface="Arial"/>
              <a:cs typeface="Arial"/>
            </a:endParaRPr>
          </a:p>
        </p:txBody>
      </p:sp>
      <p:sp>
        <p:nvSpPr>
          <p:cNvPr id="33" name="TextBox 32">
            <a:extLst>
              <a:ext uri="{FF2B5EF4-FFF2-40B4-BE49-F238E27FC236}">
                <a16:creationId xmlns:a16="http://schemas.microsoft.com/office/drawing/2014/main" id="{31F66DA7-F80E-EED7-7362-A84C5F1E2B57}"/>
              </a:ext>
            </a:extLst>
          </p:cNvPr>
          <p:cNvSpPr>
            <a:spLocks noGrp="1"/>
          </p:cNvSpPr>
          <p:nvPr/>
        </p:nvSpPr>
        <p:spPr>
          <a:xfrm>
            <a:off x="937260" y="5578670"/>
            <a:ext cx="10564088" cy="213360"/>
          </a:xfrm>
          <a:prstGeom prst="rect">
            <a:avLst/>
          </a:prstGeom>
          <a:noFill/>
        </p:spPr>
        <p:txBody>
          <a:bodyPr wrap="square" lIns="0" tIns="0" rIns="0" bIns="0" anchor="ctr">
            <a:spAutoFit/>
          </a:bodyPr>
          <a:lstStyle>
            <a:defPPr algn="ctr">
              <a:defRPr sz="1400">
                <a:solidFill>
                  <a:srgbClr val="18365F"/>
                </a:solidFill>
                <a:latin typeface="Arial"/>
                <a:ea typeface="Arial"/>
                <a:cs typeface="Arial"/>
              </a:defRPr>
            </a:defPPr>
          </a:lstStyle>
          <a:p>
            <a:pPr algn="ctr">
              <a:buNone/>
              <a:defRPr sz="1400">
                <a:solidFill>
                  <a:srgbClr val="18365F"/>
                </a:solidFill>
                <a:latin typeface="Arial"/>
                <a:ea typeface="Arial"/>
                <a:cs typeface="Arial"/>
              </a:defRPr>
            </a:pPr>
            <a:r>
              <a:rPr sz="1400">
                <a:solidFill>
                  <a:srgbClr val="18365F"/>
                </a:solidFill>
                <a:latin typeface="Arial"/>
                <a:ea typeface="Arial"/>
                <a:cs typeface="Arial"/>
              </a:rPr>
              <a:t>Siguiente sesión: HTTPS y control de acceso en Nginx.</a:t>
            </a:r>
          </a:p>
        </p:txBody>
      </p:sp>
      <p:sp>
        <p:nvSpPr>
          <p:cNvPr id="35" name="TextBox 34">
            <a:extLst>
              <a:ext uri="{FF2B5EF4-FFF2-40B4-BE49-F238E27FC236}">
                <a16:creationId xmlns:a16="http://schemas.microsoft.com/office/drawing/2014/main" id="{847ED172-986B-1F4B-A572-EC07E15E9547}"/>
              </a:ext>
            </a:extLst>
          </p:cNvPr>
          <p:cNvSpPr>
            <a:spLocks noGrp="1"/>
          </p:cNvSpPr>
          <p:nvPr/>
        </p:nvSpPr>
        <p:spPr>
          <a:xfrm>
            <a:off x="11734495" y="6601968"/>
            <a:ext cx="256032" cy="114300"/>
          </a:xfrm>
          <a:prstGeom prst="rect">
            <a:avLst/>
          </a:prstGeom>
          <a:noFill/>
        </p:spPr>
        <p:txBody>
          <a:bodyPr wrap="square" lIns="0" tIns="0" rIns="0" bIns="0" anchor="t">
            <a:spAutoFit/>
          </a:bodyPr>
          <a:lstStyle>
            <a:defPPr>
              <a:defRPr sz="750">
                <a:solidFill>
                  <a:srgbClr val="737C84"/>
                </a:solidFill>
                <a:latin typeface="Arial"/>
                <a:ea typeface="Arial"/>
                <a:cs typeface="Arial"/>
              </a:defRPr>
            </a:defPPr>
          </a:lstStyle>
          <a:p>
            <a:pPr algn="r">
              <a:buNone/>
              <a:defRPr sz="750">
                <a:solidFill>
                  <a:srgbClr val="737C84"/>
                </a:solidFill>
                <a:latin typeface="Arial"/>
                <a:ea typeface="Arial"/>
                <a:cs typeface="Arial"/>
              </a:defRPr>
            </a:pPr>
            <a:r>
              <a:rPr sz="750" b="0" i="0">
                <a:solidFill>
                  <a:srgbClr val="737C84"/>
                </a:solidFill>
                <a:latin typeface="Arial"/>
                <a:ea typeface="Arial"/>
                <a:cs typeface="Arial"/>
              </a:rPr>
              <a:t>20</a:t>
            </a:r>
          </a:p>
        </p:txBody>
      </p:sp>
      <p:sp>
        <p:nvSpPr>
          <p:cNvPr id="43" name="Text 2">
            <a:extLst>
              <a:ext uri="{FF2B5EF4-FFF2-40B4-BE49-F238E27FC236}">
                <a16:creationId xmlns:a16="http://schemas.microsoft.com/office/drawing/2014/main" id="{A742CC06-271C-8A14-EE0E-4886B7BFD265}"/>
              </a:ext>
            </a:extLst>
          </p:cNvPr>
          <p:cNvSpPr>
            <a:spLocks noGrp="1"/>
          </p:cNvSpPr>
          <p:nvPr/>
        </p:nvSpPr>
        <p:spPr>
          <a:xfrm>
            <a:off x="548640" y="6492240"/>
            <a:ext cx="11091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defPPr algn="r">
              <a:defRPr sz="1050">
                <a:solidFill>
                  <a:srgbClr val="757575"/>
                </a:solidFill>
                <a:latin typeface="Arial"/>
                <a:ea typeface="Arial"/>
                <a:cs typeface="Arial"/>
              </a:defRPr>
            </a:defPPr>
          </a:lstStyle>
          <a:p>
            <a:pPr algn="r">
              <a:buNone/>
              <a:tabLst>
                <a:tab pos="0" algn="l"/>
              </a:tabLst>
              <a:defRPr sz="1050">
                <a:solidFill>
                  <a:srgbClr val="757575"/>
                </a:solidFill>
                <a:latin typeface="Arial"/>
                <a:ea typeface="Arial"/>
                <a:cs typeface="Arial"/>
              </a:defRPr>
            </a:pPr>
            <a:r>
              <a:rPr sz="1050" b="0" u="none" strike="noStrike">
                <a:solidFill>
                  <a:srgbClr val="757575"/>
                </a:solidFill>
                <a:latin typeface="Arial"/>
                <a:ea typeface="Arial"/>
                <a:cs typeface="Arial"/>
              </a:rPr>
              <a:t>DAW — Tema 3: Publicación y ejecución de aplicaciones web</a:t>
            </a:r>
            <a:endParaRPr sz="1050" b="0" u="none" strike="noStrike">
              <a:solidFill>
                <a:srgbClr val="000000"/>
              </a:solidFill>
              <a:latin typeface="Arial"/>
              <a:ea typeface="Arial"/>
              <a:cs typeface="Arial"/>
            </a:endParaRPr>
          </a:p>
        </p:txBody>
      </p:sp>
      <p:sp>
        <p:nvSpPr>
          <p:cNvPr id="45" name="Shape 0">
            <a:extLst>
              <a:ext uri="{FF2B5EF4-FFF2-40B4-BE49-F238E27FC236}">
                <a16:creationId xmlns:a16="http://schemas.microsoft.com/office/drawing/2014/main" id="{6EA75EBC-A260-30AE-F0D3-DA414F41C6C8}"/>
              </a:ext>
            </a:extLst>
          </p:cNvPr>
          <p:cNvSpPr>
            <a:spLocks noGrp="1"/>
          </p:cNvSpPr>
          <p:nvPr/>
        </p:nvSpPr>
        <p:spPr>
          <a:xfrm>
            <a:off x="0" y="0"/>
            <a:ext cx="12188520" cy="776880"/>
          </a:xfrm>
          <a:prstGeom prst="rect">
            <a:avLst/>
          </a:prstGeom>
          <a:solidFill>
            <a:srgbClr val="004D40"/>
          </a:solidFill>
          <a:ln w="12700">
            <a:solidFill>
              <a:srgbClr val="004D4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strike="noStrike">
              <a:solidFill>
                <a:srgbClr val="FFFFFF"/>
              </a:solidFill>
              <a:latin typeface="Arial"/>
              <a:ea typeface="Arial"/>
              <a:cs typeface="Arial"/>
            </a:endParaRPr>
          </a:p>
        </p:txBody>
      </p:sp>
      <p:sp>
        <p:nvSpPr>
          <p:cNvPr id="47" name="Text 1">
            <a:extLst>
              <a:ext uri="{FF2B5EF4-FFF2-40B4-BE49-F238E27FC236}">
                <a16:creationId xmlns:a16="http://schemas.microsoft.com/office/drawing/2014/main" id="{A6130689-1879-EB68-E5CC-55B4B8D469DE}"/>
              </a:ext>
            </a:extLst>
          </p:cNvPr>
          <p:cNvSpPr>
            <a:spLocks noGrp="1"/>
          </p:cNvSpPr>
          <p:nvPr/>
        </p:nvSpPr>
        <p:spPr>
          <a:xfrm>
            <a:off x="384120" y="18360"/>
            <a:ext cx="1142064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defPPr>
              <a:defRPr sz="2500" b="1">
                <a:solidFill>
                  <a:srgbClr val="FFFFFF"/>
                </a:solidFill>
                <a:latin typeface="Arial"/>
                <a:ea typeface="Arial"/>
                <a:cs typeface="Arial"/>
              </a:defRPr>
            </a:defPPr>
          </a:lstStyle>
          <a:p>
            <a:pPr defTabSz="914400">
              <a:lnSpc>
                <a:spcPct val="100000"/>
              </a:lnSpc>
              <a:buNone/>
              <a:tabLst>
                <a:tab pos="0" algn="l"/>
              </a:tabLst>
              <a:defRPr sz="2500" b="1">
                <a:solidFill>
                  <a:srgbClr val="FFFFFF"/>
                </a:solidFill>
                <a:latin typeface="Arial"/>
                <a:ea typeface="Arial"/>
                <a:cs typeface="Arial"/>
              </a:defRPr>
            </a:pPr>
            <a:r>
              <a:rPr sz="2500" b="1" u="none" strike="noStrike">
                <a:solidFill>
                  <a:srgbClr val="FFFFFF"/>
                </a:solidFill>
                <a:latin typeface="Arial"/>
                <a:ea typeface="Arial"/>
                <a:cs typeface="Arial"/>
              </a:rPr>
              <a:t>Una entrada pública y sus límites</a:t>
            </a:r>
          </a:p>
        </p:txBody>
      </p:sp>
      <p:sp>
        <p:nvSpPr>
          <p:cNvPr id="48" name="Rectángulo redondeado 47">
            <a:extLst>
              <a:ext uri="{FF2B5EF4-FFF2-40B4-BE49-F238E27FC236}">
                <a16:creationId xmlns:a16="http://schemas.microsoft.com/office/drawing/2014/main" id="{37408000-C18E-4E5E-BFCA-3B48C8A10CF5}"/>
              </a:ext>
            </a:extLst>
          </p:cNvPr>
          <p:cNvSpPr>
            <a:spLocks noGrp="1"/>
          </p:cNvSpPr>
          <p:nvPr/>
        </p:nvSpPr>
        <p:spPr>
          <a:xfrm>
            <a:off x="914400" y="1381125"/>
            <a:ext cx="4895850" cy="3495675"/>
          </a:xfrm>
          <a:prstGeom prst="roundRect">
            <a:avLst>
              <a:gd name="adj" fmla="val 2180"/>
            </a:avLst>
          </a:prstGeom>
          <a:solidFill>
            <a:srgbClr val="E9F1FA"/>
          </a:solidFill>
          <a:ln w="9525">
            <a:solidFill>
              <a:srgbClr val="AFD2C9"/>
            </a:solidFill>
          </a:ln>
        </p:spPr>
        <p:txBody>
          <a:bodyPr lIns="171450" tIns="171450" rIns="171450" bIns="171450" anchor="t"/>
          <a:lstStyle>
            <a:defPPr algn="l">
              <a:defRPr sz="1650" b="0">
                <a:solidFill>
                  <a:srgbClr val="313A44"/>
                </a:solidFill>
                <a:latin typeface="Arial"/>
                <a:ea typeface="Arial"/>
                <a:cs typeface="Arial"/>
              </a:defRPr>
            </a:defPPr>
          </a:lstStyle>
          <a:p>
            <a:endParaRPr/>
          </a:p>
        </p:txBody>
      </p:sp>
      <p:sp>
        <p:nvSpPr>
          <p:cNvPr id="49" name="Rectángulo 48">
            <a:extLst>
              <a:ext uri="{FF2B5EF4-FFF2-40B4-BE49-F238E27FC236}">
                <a16:creationId xmlns:a16="http://schemas.microsoft.com/office/drawing/2014/main" id="{301E46A8-0826-4B0F-A592-D6DDC7FF9057}"/>
              </a:ext>
            </a:extLst>
          </p:cNvPr>
          <p:cNvSpPr>
            <a:spLocks noGrp="1"/>
          </p:cNvSpPr>
          <p:nvPr/>
        </p:nvSpPr>
        <p:spPr>
          <a:xfrm>
            <a:off x="914400" y="1381125"/>
            <a:ext cx="4895850" cy="400050"/>
          </a:xfrm>
          <a:prstGeom prst="rect">
            <a:avLst/>
          </a:prstGeom>
          <a:solidFill>
            <a:srgbClr val="3B82F6"/>
          </a:solidFill>
          <a:ln w="0">
            <a:noFill/>
          </a:ln>
        </p:spPr>
        <p:txBody>
          <a:bodyPr/>
          <a:lstStyle/>
          <a:p>
            <a:endParaRPr lang="es-ES"/>
          </a:p>
        </p:txBody>
      </p:sp>
      <p:sp>
        <p:nvSpPr>
          <p:cNvPr id="50" name="Política común de entrada">
            <a:extLst>
              <a:ext uri="{FF2B5EF4-FFF2-40B4-BE49-F238E27FC236}">
                <a16:creationId xmlns:a16="http://schemas.microsoft.com/office/drawing/2014/main" id="{CA2187D1-0D89-4696-A62A-16757623A658}"/>
              </a:ext>
            </a:extLst>
          </p:cNvPr>
          <p:cNvSpPr>
            <a:spLocks noGrp="1"/>
          </p:cNvSpPr>
          <p:nvPr/>
        </p:nvSpPr>
        <p:spPr>
          <a:xfrm>
            <a:off x="1066800" y="1466850"/>
            <a:ext cx="4591050" cy="285750"/>
          </a:xfrm>
          <a:prstGeom prst="rect">
            <a:avLst/>
          </a:prstGeom>
          <a:noFill/>
          <a:ln w="0">
            <a:noFill/>
          </a:ln>
        </p:spPr>
        <p:txBody>
          <a:bodyPr lIns="0" tIns="0" rIns="0" bIns="0" anchor="t"/>
          <a:lstStyle>
            <a:defPPr algn="l">
              <a:defRPr sz="1650" b="1">
                <a:solidFill>
                  <a:srgbClr val="FFFFFF"/>
                </a:solidFill>
                <a:latin typeface="Arial"/>
                <a:ea typeface="Arial"/>
                <a:cs typeface="Arial"/>
              </a:defRPr>
            </a:defPPr>
          </a:lstStyle>
          <a:p>
            <a:pPr algn="l">
              <a:defRPr sz="1650" b="1">
                <a:solidFill>
                  <a:srgbClr val="FFFFFF"/>
                </a:solidFill>
                <a:latin typeface="Arial"/>
                <a:ea typeface="Arial"/>
                <a:cs typeface="Arial"/>
              </a:defRPr>
            </a:pPr>
            <a:r>
              <a:rPr sz="1650" b="1">
                <a:solidFill>
                  <a:srgbClr val="FFFFFF"/>
                </a:solidFill>
                <a:latin typeface="Arial"/>
                <a:ea typeface="Arial"/>
                <a:cs typeface="Arial"/>
              </a:rPr>
              <a:t>Política común de entrada</a:t>
            </a:r>
          </a:p>
        </p:txBody>
      </p:sp>
      <p:sp>
        <p:nvSpPr>
          <p:cNvPr id="51" name="Nginx concentra el tráfico público.&#10;&#10;Las">
            <a:extLst>
              <a:ext uri="{FF2B5EF4-FFF2-40B4-BE49-F238E27FC236}">
                <a16:creationId xmlns:a16="http://schemas.microsoft.com/office/drawing/2014/main" id="{314900C4-6076-47DB-AC65-1683E278AFD3}"/>
              </a:ext>
            </a:extLst>
          </p:cNvPr>
          <p:cNvSpPr>
            <a:spLocks noGrp="1"/>
          </p:cNvSpPr>
          <p:nvPr/>
        </p:nvSpPr>
        <p:spPr>
          <a:xfrm>
            <a:off x="1123950" y="1971675"/>
            <a:ext cx="4476750" cy="2752725"/>
          </a:xfrm>
          <a:prstGeom prst="rect">
            <a:avLst/>
          </a:prstGeom>
          <a:noFill/>
          <a:ln w="0">
            <a:noFill/>
          </a:ln>
        </p:spPr>
        <p:txBody>
          <a:bodyPr lIns="0" tIns="0" rIns="0" bIns="0" anchor="t"/>
          <a:lstStyle>
            <a:defPPr algn="l">
              <a:defRPr sz="1650" b="0">
                <a:solidFill>
                  <a:srgbClr val="313A44"/>
                </a:solidFill>
                <a:latin typeface="Arial"/>
                <a:ea typeface="Arial"/>
                <a:cs typeface="Arial"/>
              </a:defRPr>
            </a:defPPr>
          </a:lstStyle>
          <a:p>
            <a:pPr algn="l">
              <a:defRPr sz="1650" b="0">
                <a:solidFill>
                  <a:srgbClr val="313A44"/>
                </a:solidFill>
                <a:latin typeface="Arial"/>
                <a:ea typeface="Arial"/>
                <a:cs typeface="Arial"/>
              </a:defRPr>
            </a:pPr>
            <a:r>
              <a:rPr sz="1650" b="0">
                <a:solidFill>
                  <a:srgbClr val="313A44"/>
                </a:solidFill>
                <a:latin typeface="Arial"/>
                <a:ea typeface="Arial"/>
                <a:cs typeface="Arial"/>
              </a:rPr>
              <a:t>Nginx concentra el tráfico público.</a:t>
            </a:r>
          </a:p>
          <a:p>
            <a:endParaRPr sz="1650" b="0">
              <a:solidFill>
                <a:srgbClr val="313A44"/>
              </a:solidFill>
              <a:latin typeface="Arial"/>
              <a:ea typeface="Arial"/>
              <a:cs typeface="Arial"/>
            </a:endParaRPr>
          </a:p>
          <a:p>
            <a:pPr algn="l">
              <a:defRPr sz="1650" b="0">
                <a:solidFill>
                  <a:srgbClr val="313A44"/>
                </a:solidFill>
                <a:latin typeface="Arial"/>
                <a:ea typeface="Arial"/>
                <a:cs typeface="Arial"/>
              </a:defRPr>
            </a:pPr>
            <a:r>
              <a:rPr sz="1650" b="0">
                <a:solidFill>
                  <a:srgbClr val="313A44"/>
                </a:solidFill>
                <a:latin typeface="Arial"/>
                <a:ea typeface="Arial"/>
                <a:cs typeface="Arial"/>
              </a:rPr>
              <a:t>Las réplicas y la base de datos se comunican por la red interna.</a:t>
            </a:r>
          </a:p>
          <a:p>
            <a:endParaRPr sz="1650" b="0">
              <a:solidFill>
                <a:srgbClr val="313A44"/>
              </a:solidFill>
              <a:latin typeface="Arial"/>
              <a:ea typeface="Arial"/>
              <a:cs typeface="Arial"/>
            </a:endParaRPr>
          </a:p>
          <a:p>
            <a:pPr algn="l">
              <a:defRPr sz="1650" b="0">
                <a:solidFill>
                  <a:srgbClr val="313A44"/>
                </a:solidFill>
                <a:latin typeface="Arial"/>
                <a:ea typeface="Arial"/>
                <a:cs typeface="Arial"/>
              </a:defRPr>
            </a:pPr>
            <a:r>
              <a:rPr sz="1650" b="0">
                <a:solidFill>
                  <a:srgbClr val="313A44"/>
                </a:solidFill>
                <a:latin typeface="Arial"/>
                <a:ea typeface="Arial"/>
                <a:cs typeface="Arial"/>
              </a:rPr>
              <a:t>TLS y registros pueden centralizarse.</a:t>
            </a:r>
          </a:p>
        </p:txBody>
      </p:sp>
      <p:sp>
        <p:nvSpPr>
          <p:cNvPr id="52" name="Rectángulo redondeado 51">
            <a:extLst>
              <a:ext uri="{FF2B5EF4-FFF2-40B4-BE49-F238E27FC236}">
                <a16:creationId xmlns:a16="http://schemas.microsoft.com/office/drawing/2014/main" id="{2C5B12A1-7A49-4074-AE96-D83F191DD8E2}"/>
              </a:ext>
            </a:extLst>
          </p:cNvPr>
          <p:cNvSpPr>
            <a:spLocks noGrp="1"/>
          </p:cNvSpPr>
          <p:nvPr/>
        </p:nvSpPr>
        <p:spPr>
          <a:xfrm>
            <a:off x="6381750" y="1381125"/>
            <a:ext cx="4895850" cy="3495675"/>
          </a:xfrm>
          <a:prstGeom prst="roundRect">
            <a:avLst>
              <a:gd name="adj" fmla="val 2180"/>
            </a:avLst>
          </a:prstGeom>
          <a:solidFill>
            <a:srgbClr val="E8F6F0"/>
          </a:solidFill>
          <a:ln w="9525">
            <a:solidFill>
              <a:srgbClr val="AFD2C9"/>
            </a:solidFill>
          </a:ln>
        </p:spPr>
        <p:txBody>
          <a:bodyPr lIns="171450" tIns="171450" rIns="171450" bIns="171450" anchor="t"/>
          <a:lstStyle>
            <a:defPPr algn="l">
              <a:defRPr sz="1650" b="0">
                <a:solidFill>
                  <a:srgbClr val="313A44"/>
                </a:solidFill>
                <a:latin typeface="Arial"/>
                <a:ea typeface="Arial"/>
                <a:cs typeface="Arial"/>
              </a:defRPr>
            </a:defPPr>
          </a:lstStyle>
          <a:p>
            <a:endParaRPr/>
          </a:p>
        </p:txBody>
      </p:sp>
      <p:sp>
        <p:nvSpPr>
          <p:cNvPr id="53" name="Rectángulo 52">
            <a:extLst>
              <a:ext uri="{FF2B5EF4-FFF2-40B4-BE49-F238E27FC236}">
                <a16:creationId xmlns:a16="http://schemas.microsoft.com/office/drawing/2014/main" id="{E2CB02E4-010D-4FBD-BF24-B1A2C0513D44}"/>
              </a:ext>
            </a:extLst>
          </p:cNvPr>
          <p:cNvSpPr>
            <a:spLocks noGrp="1"/>
          </p:cNvSpPr>
          <p:nvPr/>
        </p:nvSpPr>
        <p:spPr>
          <a:xfrm>
            <a:off x="6381750" y="1381125"/>
            <a:ext cx="4895850" cy="400050"/>
          </a:xfrm>
          <a:prstGeom prst="rect">
            <a:avLst/>
          </a:prstGeom>
          <a:solidFill>
            <a:srgbClr val="004D40"/>
          </a:solidFill>
          <a:ln w="0">
            <a:noFill/>
          </a:ln>
        </p:spPr>
        <p:txBody>
          <a:bodyPr/>
          <a:lstStyle/>
          <a:p>
            <a:endParaRPr lang="es-ES"/>
          </a:p>
        </p:txBody>
      </p:sp>
      <p:sp>
        <p:nvSpPr>
          <p:cNvPr id="54" name="Disponibilidad del conjunto">
            <a:extLst>
              <a:ext uri="{FF2B5EF4-FFF2-40B4-BE49-F238E27FC236}">
                <a16:creationId xmlns:a16="http://schemas.microsoft.com/office/drawing/2014/main" id="{7C501B7E-9E0B-4681-AE2C-DF116A12ED64}"/>
              </a:ext>
            </a:extLst>
          </p:cNvPr>
          <p:cNvSpPr>
            <a:spLocks noGrp="1"/>
          </p:cNvSpPr>
          <p:nvPr/>
        </p:nvSpPr>
        <p:spPr>
          <a:xfrm>
            <a:off x="6534150" y="1466850"/>
            <a:ext cx="4591050" cy="285750"/>
          </a:xfrm>
          <a:prstGeom prst="rect">
            <a:avLst/>
          </a:prstGeom>
          <a:noFill/>
          <a:ln w="0">
            <a:noFill/>
          </a:ln>
        </p:spPr>
        <p:txBody>
          <a:bodyPr lIns="0" tIns="0" rIns="0" bIns="0" anchor="t"/>
          <a:lstStyle>
            <a:defPPr algn="l">
              <a:defRPr sz="1650" b="1">
                <a:solidFill>
                  <a:srgbClr val="FFFFFF"/>
                </a:solidFill>
                <a:latin typeface="Arial"/>
                <a:ea typeface="Arial"/>
                <a:cs typeface="Arial"/>
              </a:defRPr>
            </a:defPPr>
          </a:lstStyle>
          <a:p>
            <a:pPr algn="l">
              <a:defRPr sz="1650" b="1">
                <a:solidFill>
                  <a:srgbClr val="FFFFFF"/>
                </a:solidFill>
                <a:latin typeface="Arial"/>
                <a:ea typeface="Arial"/>
                <a:cs typeface="Arial"/>
              </a:defRPr>
            </a:pPr>
            <a:r>
              <a:rPr sz="1650" b="1">
                <a:solidFill>
                  <a:srgbClr val="FFFFFF"/>
                </a:solidFill>
                <a:latin typeface="Arial"/>
                <a:ea typeface="Arial"/>
                <a:cs typeface="Arial"/>
              </a:rPr>
              <a:t>Disponibilidad del conjunto</a:t>
            </a:r>
          </a:p>
        </p:txBody>
      </p:sp>
      <p:sp>
        <p:nvSpPr>
          <p:cNvPr id="55" name="Varias réplicas de app no hacen redundan">
            <a:extLst>
              <a:ext uri="{FF2B5EF4-FFF2-40B4-BE49-F238E27FC236}">
                <a16:creationId xmlns:a16="http://schemas.microsoft.com/office/drawing/2014/main" id="{A426CAA7-3751-4093-8FA8-565818500EAE}"/>
              </a:ext>
            </a:extLst>
          </p:cNvPr>
          <p:cNvSpPr>
            <a:spLocks noGrp="1"/>
          </p:cNvSpPr>
          <p:nvPr/>
        </p:nvSpPr>
        <p:spPr>
          <a:xfrm>
            <a:off x="6591300" y="1971675"/>
            <a:ext cx="4476750" cy="2752725"/>
          </a:xfrm>
          <a:prstGeom prst="rect">
            <a:avLst/>
          </a:prstGeom>
          <a:noFill/>
          <a:ln w="0">
            <a:noFill/>
          </a:ln>
        </p:spPr>
        <p:txBody>
          <a:bodyPr lIns="0" tIns="0" rIns="0" bIns="0" anchor="t"/>
          <a:lstStyle>
            <a:defPPr algn="l">
              <a:defRPr sz="1650" b="0">
                <a:solidFill>
                  <a:srgbClr val="313A44"/>
                </a:solidFill>
                <a:latin typeface="Arial"/>
                <a:ea typeface="Arial"/>
                <a:cs typeface="Arial"/>
              </a:defRPr>
            </a:defPPr>
          </a:lstStyle>
          <a:p>
            <a:pPr algn="l">
              <a:defRPr sz="1650" b="0">
                <a:solidFill>
                  <a:srgbClr val="313A44"/>
                </a:solidFill>
                <a:latin typeface="Arial"/>
                <a:ea typeface="Arial"/>
                <a:cs typeface="Arial"/>
              </a:defRPr>
            </a:pPr>
            <a:r>
              <a:rPr sz="1650" b="0">
                <a:solidFill>
                  <a:srgbClr val="313A44"/>
                </a:solidFill>
                <a:latin typeface="Arial"/>
                <a:ea typeface="Arial"/>
                <a:cs typeface="Arial"/>
              </a:rPr>
              <a:t>Varias réplicas de app no hacen redundante todo el sistema.</a:t>
            </a:r>
          </a:p>
          <a:p>
            <a:endParaRPr sz="1650" b="0">
              <a:solidFill>
                <a:srgbClr val="313A44"/>
              </a:solidFill>
              <a:latin typeface="Arial"/>
              <a:ea typeface="Arial"/>
              <a:cs typeface="Arial"/>
            </a:endParaRPr>
          </a:p>
          <a:p>
            <a:pPr algn="l">
              <a:defRPr sz="1650" b="0">
                <a:solidFill>
                  <a:srgbClr val="313A44"/>
                </a:solidFill>
                <a:latin typeface="Arial"/>
                <a:ea typeface="Arial"/>
                <a:cs typeface="Arial"/>
              </a:defRPr>
            </a:pPr>
            <a:r>
              <a:rPr sz="1650" b="0">
                <a:solidFill>
                  <a:srgbClr val="313A44"/>
                </a:solidFill>
                <a:latin typeface="Arial"/>
                <a:ea typeface="Arial"/>
                <a:cs typeface="Arial"/>
              </a:rPr>
              <a:t>Un único proxy, host o servidor de base de datos puede seguir siendo un punto único de fallo.</a:t>
            </a:r>
          </a:p>
        </p:txBody>
      </p:sp>
    </p:spTree>
    <p:extLst>
      <p:ext uri="{BB962C8B-B14F-4D97-AF65-F5344CB8AC3E}">
        <p14:creationId xmlns:p14="http://schemas.microsoft.com/office/powerpoint/2010/main" val="29370857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Shape 18">
            <a:extLst>
              <a:ext uri="{FF2B5EF4-FFF2-40B4-BE49-F238E27FC236}">
                <a16:creationId xmlns:a16="http://schemas.microsoft.com/office/drawing/2014/main" id="{A21D1190-F64E-B2BC-A6FE-78AF0EBF8949}"/>
              </a:ext>
            </a:extLst>
          </p:cNvPr>
          <p:cNvSpPr>
            <a:spLocks noGrp="1"/>
          </p:cNvSpPr>
          <p:nvPr/>
        </p:nvSpPr>
        <p:spPr>
          <a:xfrm>
            <a:off x="860282" y="5463540"/>
            <a:ext cx="10718044" cy="594000"/>
          </a:xfrm>
          <a:prstGeom prst="roundRect">
            <a:avLst>
              <a:gd name="adj" fmla="val 12308"/>
            </a:avLst>
          </a:prstGeom>
          <a:solidFill>
            <a:srgbClr val="FFFDE7"/>
          </a:solidFill>
          <a:ln w="16510">
            <a:solidFill>
              <a:srgbClr val="00ACC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strike="noStrike">
              <a:solidFill>
                <a:srgbClr val="000000"/>
              </a:solidFill>
              <a:latin typeface="Arial"/>
              <a:ea typeface="Arial"/>
              <a:cs typeface="Arial"/>
            </a:endParaRPr>
          </a:p>
        </p:txBody>
      </p:sp>
      <p:sp>
        <p:nvSpPr>
          <p:cNvPr id="33" name="TextBox 32">
            <a:extLst>
              <a:ext uri="{FF2B5EF4-FFF2-40B4-BE49-F238E27FC236}">
                <a16:creationId xmlns:a16="http://schemas.microsoft.com/office/drawing/2014/main" id="{31F66DA7-F80E-EED7-7362-A84C5F1E2B57}"/>
              </a:ext>
            </a:extLst>
          </p:cNvPr>
          <p:cNvSpPr>
            <a:spLocks noGrp="1"/>
          </p:cNvSpPr>
          <p:nvPr/>
        </p:nvSpPr>
        <p:spPr>
          <a:xfrm>
            <a:off x="937260" y="5578670"/>
            <a:ext cx="10564088" cy="213360"/>
          </a:xfrm>
          <a:prstGeom prst="rect">
            <a:avLst/>
          </a:prstGeom>
          <a:noFill/>
        </p:spPr>
        <p:txBody>
          <a:bodyPr wrap="square" lIns="0" tIns="0" rIns="0" bIns="0" anchor="ctr">
            <a:spAutoFit/>
          </a:bodyPr>
          <a:lstStyle>
            <a:defPPr algn="ctr">
              <a:defRPr sz="1400">
                <a:solidFill>
                  <a:srgbClr val="18365F"/>
                </a:solidFill>
                <a:latin typeface="Arial"/>
                <a:ea typeface="Arial"/>
                <a:cs typeface="Arial"/>
              </a:defRPr>
            </a:defPPr>
          </a:lstStyle>
          <a:p>
            <a:pPr algn="ctr">
              <a:buNone/>
              <a:defRPr sz="1400">
                <a:solidFill>
                  <a:srgbClr val="18365F"/>
                </a:solidFill>
                <a:latin typeface="Arial"/>
                <a:ea typeface="Arial"/>
                <a:cs typeface="Arial"/>
              </a:defRPr>
            </a:pPr>
            <a:r>
              <a:rPr sz="1400">
                <a:solidFill>
                  <a:srgbClr val="18365F"/>
                </a:solidFill>
                <a:latin typeface="Arial"/>
                <a:ea typeface="Arial"/>
                <a:cs typeface="Arial"/>
              </a:rPr>
              <a:t>En la actividad aplicaremos el patrón a varias réplicas de una aplicación.</a:t>
            </a:r>
          </a:p>
        </p:txBody>
      </p:sp>
      <p:sp>
        <p:nvSpPr>
          <p:cNvPr id="35" name="TextBox 34">
            <a:extLst>
              <a:ext uri="{FF2B5EF4-FFF2-40B4-BE49-F238E27FC236}">
                <a16:creationId xmlns:a16="http://schemas.microsoft.com/office/drawing/2014/main" id="{847ED172-986B-1F4B-A572-EC07E15E9547}"/>
              </a:ext>
            </a:extLst>
          </p:cNvPr>
          <p:cNvSpPr>
            <a:spLocks noGrp="1"/>
          </p:cNvSpPr>
          <p:nvPr/>
        </p:nvSpPr>
        <p:spPr>
          <a:xfrm>
            <a:off x="11734495" y="6601968"/>
            <a:ext cx="256032" cy="114300"/>
          </a:xfrm>
          <a:prstGeom prst="rect">
            <a:avLst/>
          </a:prstGeom>
          <a:noFill/>
        </p:spPr>
        <p:txBody>
          <a:bodyPr wrap="square" lIns="0" tIns="0" rIns="0" bIns="0" anchor="t">
            <a:spAutoFit/>
          </a:bodyPr>
          <a:lstStyle>
            <a:defPPr>
              <a:defRPr sz="750">
                <a:solidFill>
                  <a:srgbClr val="737C84"/>
                </a:solidFill>
                <a:latin typeface="Arial"/>
                <a:ea typeface="Arial"/>
                <a:cs typeface="Arial"/>
              </a:defRPr>
            </a:defPPr>
          </a:lstStyle>
          <a:p>
            <a:pPr algn="r">
              <a:buNone/>
              <a:defRPr sz="750">
                <a:solidFill>
                  <a:srgbClr val="737C84"/>
                </a:solidFill>
                <a:latin typeface="Arial"/>
                <a:ea typeface="Arial"/>
                <a:cs typeface="Arial"/>
              </a:defRPr>
            </a:pPr>
            <a:r>
              <a:rPr sz="750" b="0" i="0">
                <a:solidFill>
                  <a:srgbClr val="737C84"/>
                </a:solidFill>
                <a:latin typeface="Arial"/>
                <a:ea typeface="Arial"/>
                <a:cs typeface="Arial"/>
              </a:rPr>
              <a:t>21</a:t>
            </a:r>
          </a:p>
        </p:txBody>
      </p:sp>
      <p:sp>
        <p:nvSpPr>
          <p:cNvPr id="43" name="Text 2">
            <a:extLst>
              <a:ext uri="{FF2B5EF4-FFF2-40B4-BE49-F238E27FC236}">
                <a16:creationId xmlns:a16="http://schemas.microsoft.com/office/drawing/2014/main" id="{A742CC06-271C-8A14-EE0E-4886B7BFD265}"/>
              </a:ext>
            </a:extLst>
          </p:cNvPr>
          <p:cNvSpPr>
            <a:spLocks noGrp="1"/>
          </p:cNvSpPr>
          <p:nvPr/>
        </p:nvSpPr>
        <p:spPr>
          <a:xfrm>
            <a:off x="548640" y="6492240"/>
            <a:ext cx="11091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defPPr algn="r">
              <a:defRPr sz="1050">
                <a:solidFill>
                  <a:srgbClr val="757575"/>
                </a:solidFill>
                <a:latin typeface="Arial"/>
                <a:ea typeface="Arial"/>
                <a:cs typeface="Arial"/>
              </a:defRPr>
            </a:defPPr>
          </a:lstStyle>
          <a:p>
            <a:pPr algn="r">
              <a:buNone/>
              <a:tabLst>
                <a:tab pos="0" algn="l"/>
              </a:tabLst>
              <a:defRPr sz="1050">
                <a:solidFill>
                  <a:srgbClr val="757575"/>
                </a:solidFill>
                <a:latin typeface="Arial"/>
                <a:ea typeface="Arial"/>
                <a:cs typeface="Arial"/>
              </a:defRPr>
            </a:pPr>
            <a:r>
              <a:rPr sz="1050" b="0" u="none" strike="noStrike">
                <a:solidFill>
                  <a:srgbClr val="757575"/>
                </a:solidFill>
                <a:latin typeface="Arial"/>
                <a:ea typeface="Arial"/>
                <a:cs typeface="Arial"/>
              </a:rPr>
              <a:t>DAW — Tema 3: Publicación y ejecución de aplicaciones web</a:t>
            </a:r>
            <a:endParaRPr sz="1050" b="0" u="none" strike="noStrike">
              <a:solidFill>
                <a:srgbClr val="000000"/>
              </a:solidFill>
              <a:latin typeface="Arial"/>
              <a:ea typeface="Arial"/>
              <a:cs typeface="Arial"/>
            </a:endParaRPr>
          </a:p>
        </p:txBody>
      </p:sp>
      <p:sp>
        <p:nvSpPr>
          <p:cNvPr id="45" name="Shape 0">
            <a:extLst>
              <a:ext uri="{FF2B5EF4-FFF2-40B4-BE49-F238E27FC236}">
                <a16:creationId xmlns:a16="http://schemas.microsoft.com/office/drawing/2014/main" id="{6EA75EBC-A260-30AE-F0D3-DA414F41C6C8}"/>
              </a:ext>
            </a:extLst>
          </p:cNvPr>
          <p:cNvSpPr>
            <a:spLocks noGrp="1"/>
          </p:cNvSpPr>
          <p:nvPr/>
        </p:nvSpPr>
        <p:spPr>
          <a:xfrm>
            <a:off x="0" y="0"/>
            <a:ext cx="12188520" cy="776880"/>
          </a:xfrm>
          <a:prstGeom prst="rect">
            <a:avLst/>
          </a:prstGeom>
          <a:solidFill>
            <a:srgbClr val="004D40"/>
          </a:solidFill>
          <a:ln w="12700">
            <a:solidFill>
              <a:srgbClr val="004D4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strike="noStrike">
              <a:solidFill>
                <a:srgbClr val="FFFFFF"/>
              </a:solidFill>
              <a:latin typeface="Arial"/>
              <a:ea typeface="Arial"/>
              <a:cs typeface="Arial"/>
            </a:endParaRPr>
          </a:p>
        </p:txBody>
      </p:sp>
      <p:sp>
        <p:nvSpPr>
          <p:cNvPr id="47" name="Text 1">
            <a:extLst>
              <a:ext uri="{FF2B5EF4-FFF2-40B4-BE49-F238E27FC236}">
                <a16:creationId xmlns:a16="http://schemas.microsoft.com/office/drawing/2014/main" id="{A6130689-1879-EB68-E5CC-55B4B8D469DE}"/>
              </a:ext>
            </a:extLst>
          </p:cNvPr>
          <p:cNvSpPr>
            <a:spLocks noGrp="1"/>
          </p:cNvSpPr>
          <p:nvPr/>
        </p:nvSpPr>
        <p:spPr>
          <a:xfrm>
            <a:off x="384120" y="18360"/>
            <a:ext cx="1142064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defPPr>
              <a:defRPr sz="2500" b="1">
                <a:solidFill>
                  <a:srgbClr val="FFFFFF"/>
                </a:solidFill>
                <a:latin typeface="Arial"/>
                <a:ea typeface="Arial"/>
                <a:cs typeface="Arial"/>
              </a:defRPr>
            </a:defPPr>
          </a:lstStyle>
          <a:p>
            <a:pPr defTabSz="914400">
              <a:lnSpc>
                <a:spcPct val="100000"/>
              </a:lnSpc>
              <a:buNone/>
              <a:tabLst>
                <a:tab pos="0" algn="l"/>
              </a:tabLst>
              <a:defRPr sz="2500" b="1">
                <a:solidFill>
                  <a:srgbClr val="FFFFFF"/>
                </a:solidFill>
                <a:latin typeface="Arial"/>
                <a:ea typeface="Arial"/>
                <a:cs typeface="Arial"/>
              </a:defRPr>
            </a:pPr>
            <a:r>
              <a:rPr sz="2500" b="1" u="none" strike="noStrike">
                <a:solidFill>
                  <a:srgbClr val="FFFFFF"/>
                </a:solidFill>
                <a:latin typeface="Arial"/>
                <a:ea typeface="Arial"/>
                <a:cs typeface="Arial"/>
              </a:rPr>
              <a:t>Cierre de la sesión</a:t>
            </a:r>
          </a:p>
        </p:txBody>
      </p:sp>
      <p:sp>
        <p:nvSpPr>
          <p:cNvPr id="48" name="Qué debemos poder explicar y comprobar">
            <a:extLst>
              <a:ext uri="{FF2B5EF4-FFF2-40B4-BE49-F238E27FC236}">
                <a16:creationId xmlns:a16="http://schemas.microsoft.com/office/drawing/2014/main" id="{0E4E69A3-D5A9-4EE0-93C1-2F6CB7BE2D65}"/>
              </a:ext>
            </a:extLst>
          </p:cNvPr>
          <p:cNvSpPr>
            <a:spLocks noGrp="1"/>
          </p:cNvSpPr>
          <p:nvPr/>
        </p:nvSpPr>
        <p:spPr>
          <a:xfrm>
            <a:off x="914400" y="1085850"/>
            <a:ext cx="10382250" cy="504825"/>
          </a:xfrm>
          <a:prstGeom prst="rect">
            <a:avLst/>
          </a:prstGeom>
          <a:noFill/>
          <a:ln w="0">
            <a:noFill/>
          </a:ln>
        </p:spPr>
        <p:txBody>
          <a:bodyPr lIns="0" tIns="0" rIns="0" bIns="0" anchor="t"/>
          <a:lstStyle>
            <a:defPPr algn="ctr">
              <a:defRPr sz="2175" b="1">
                <a:solidFill>
                  <a:srgbClr val="004D40"/>
                </a:solidFill>
                <a:latin typeface="Arial"/>
                <a:ea typeface="Arial"/>
                <a:cs typeface="Arial"/>
              </a:defRPr>
            </a:defPPr>
          </a:lstStyle>
          <a:p>
            <a:pPr algn="ctr">
              <a:defRPr sz="2175" b="1">
                <a:solidFill>
                  <a:srgbClr val="004D40"/>
                </a:solidFill>
                <a:latin typeface="Arial"/>
                <a:ea typeface="Arial"/>
                <a:cs typeface="Arial"/>
              </a:defRPr>
            </a:pPr>
            <a:r>
              <a:rPr sz="2175" b="1">
                <a:solidFill>
                  <a:srgbClr val="004D40"/>
                </a:solidFill>
                <a:latin typeface="Arial"/>
                <a:ea typeface="Arial"/>
                <a:cs typeface="Arial"/>
              </a:rPr>
              <a:t>Qué debemos poder explicar y comprobar</a:t>
            </a:r>
          </a:p>
        </p:txBody>
      </p:sp>
      <p:sp>
        <p:nvSpPr>
          <p:cNvPr id="49" name="Qué ruta recibe el backend y qué cabecer">
            <a:extLst>
              <a:ext uri="{FF2B5EF4-FFF2-40B4-BE49-F238E27FC236}">
                <a16:creationId xmlns:a16="http://schemas.microsoft.com/office/drawing/2014/main" id="{79728294-E040-4E71-BCAB-A1087C69B409}"/>
              </a:ext>
            </a:extLst>
          </p:cNvPr>
          <p:cNvSpPr>
            <a:spLocks noGrp="1"/>
          </p:cNvSpPr>
          <p:nvPr/>
        </p:nvSpPr>
        <p:spPr>
          <a:xfrm>
            <a:off x="914400" y="1924050"/>
            <a:ext cx="10382250" cy="3238500"/>
          </a:xfrm>
          <a:prstGeom prst="roundRect">
            <a:avLst>
              <a:gd name="adj" fmla="val 2353"/>
            </a:avLst>
          </a:prstGeom>
          <a:solidFill>
            <a:srgbClr val="FFFFFF"/>
          </a:solidFill>
          <a:ln w="9525">
            <a:solidFill>
              <a:srgbClr val="DCE2E6"/>
            </a:solidFill>
          </a:ln>
        </p:spPr>
        <p:txBody>
          <a:bodyPr lIns="171450" tIns="171450" rIns="171450" bIns="171450" anchor="t"/>
          <a:lstStyle>
            <a:defPPr algn="l">
              <a:defRPr sz="1875" b="0">
                <a:solidFill>
                  <a:srgbClr val="313A44"/>
                </a:solidFill>
                <a:latin typeface="Arial"/>
                <a:ea typeface="Arial"/>
                <a:cs typeface="Arial"/>
              </a:defRPr>
            </a:defPPr>
          </a:lstStyle>
          <a:p>
            <a:pPr algn="l">
              <a:defRPr sz="1875" b="0">
                <a:solidFill>
                  <a:srgbClr val="313A44"/>
                </a:solidFill>
                <a:latin typeface="Arial"/>
                <a:ea typeface="Arial"/>
                <a:cs typeface="Arial"/>
              </a:defRPr>
            </a:pPr>
            <a:r>
              <a:rPr sz="1875" b="0">
                <a:solidFill>
                  <a:srgbClr val="313A44"/>
                </a:solidFill>
                <a:latin typeface="Arial"/>
                <a:ea typeface="Arial"/>
                <a:cs typeface="Arial"/>
              </a:rPr>
              <a:t>Qué ruta recibe el backend y qué cabeceras necesita.</a:t>
            </a:r>
          </a:p>
          <a:p>
            <a:endParaRPr sz="1875" b="0">
              <a:solidFill>
                <a:srgbClr val="313A44"/>
              </a:solidFill>
              <a:latin typeface="Arial"/>
              <a:ea typeface="Arial"/>
              <a:cs typeface="Arial"/>
            </a:endParaRPr>
          </a:p>
          <a:p>
            <a:pPr algn="l">
              <a:defRPr sz="1875" b="0">
                <a:solidFill>
                  <a:srgbClr val="313A44"/>
                </a:solidFill>
                <a:latin typeface="Arial"/>
                <a:ea typeface="Arial"/>
                <a:cs typeface="Arial"/>
              </a:defRPr>
            </a:pPr>
            <a:r>
              <a:rPr sz="1875" b="0">
                <a:solidFill>
                  <a:srgbClr val="313A44"/>
                </a:solidFill>
                <a:latin typeface="Arial"/>
                <a:ea typeface="Arial"/>
                <a:cs typeface="Arial"/>
              </a:rPr>
              <a:t>Cómo se reparten las peticiones y se actualizan las IP.</a:t>
            </a:r>
          </a:p>
          <a:p>
            <a:endParaRPr sz="1875" b="0">
              <a:solidFill>
                <a:srgbClr val="313A44"/>
              </a:solidFill>
              <a:latin typeface="Arial"/>
              <a:ea typeface="Arial"/>
              <a:cs typeface="Arial"/>
            </a:endParaRPr>
          </a:p>
          <a:p>
            <a:pPr algn="l">
              <a:defRPr sz="1875" b="0">
                <a:solidFill>
                  <a:srgbClr val="313A44"/>
                </a:solidFill>
                <a:latin typeface="Arial"/>
                <a:ea typeface="Arial"/>
                <a:cs typeface="Arial"/>
              </a:defRPr>
            </a:pPr>
            <a:r>
              <a:rPr sz="1875" b="0">
                <a:solidFill>
                  <a:srgbClr val="313A44"/>
                </a:solidFill>
                <a:latin typeface="Arial"/>
                <a:ea typeface="Arial"/>
                <a:cs typeface="Arial"/>
              </a:rPr>
              <a:t>Cuándo puede reintentarse una petición y qué límites tiene.</a:t>
            </a:r>
          </a:p>
          <a:p>
            <a:endParaRPr sz="1875" b="0">
              <a:solidFill>
                <a:srgbClr val="313A44"/>
              </a:solidFill>
              <a:latin typeface="Arial"/>
              <a:ea typeface="Arial"/>
              <a:cs typeface="Arial"/>
            </a:endParaRPr>
          </a:p>
          <a:p>
            <a:pPr algn="l">
              <a:defRPr sz="1875" b="0">
                <a:solidFill>
                  <a:srgbClr val="313A44"/>
                </a:solidFill>
                <a:latin typeface="Arial"/>
                <a:ea typeface="Arial"/>
                <a:cs typeface="Arial"/>
              </a:defRPr>
            </a:pPr>
            <a:r>
              <a:rPr sz="1875" b="0">
                <a:solidFill>
                  <a:srgbClr val="313A44"/>
                </a:solidFill>
                <a:latin typeface="Arial"/>
                <a:ea typeface="Arial"/>
                <a:cs typeface="Arial"/>
              </a:rPr>
              <a:t>Por qué un archivo local falta en otra réplica.</a:t>
            </a:r>
          </a:p>
          <a:p>
            <a:endParaRPr sz="1875" b="0">
              <a:solidFill>
                <a:srgbClr val="313A44"/>
              </a:solidFill>
              <a:latin typeface="Arial"/>
              <a:ea typeface="Arial"/>
              <a:cs typeface="Arial"/>
            </a:endParaRPr>
          </a:p>
          <a:p>
            <a:pPr algn="l">
              <a:defRPr sz="1875" b="0">
                <a:solidFill>
                  <a:srgbClr val="313A44"/>
                </a:solidFill>
                <a:latin typeface="Arial"/>
                <a:ea typeface="Arial"/>
                <a:cs typeface="Arial"/>
              </a:defRPr>
            </a:pPr>
            <a:r>
              <a:rPr sz="1875" b="0">
                <a:solidFill>
                  <a:srgbClr val="313A44"/>
                </a:solidFill>
                <a:latin typeface="Arial"/>
                <a:ea typeface="Arial"/>
                <a:cs typeface="Arial"/>
              </a:rPr>
              <a:t>Qué resuelve un volumen compartido dentro de un mismo host.</a:t>
            </a:r>
          </a:p>
        </p:txBody>
      </p:sp>
    </p:spTree>
    <p:extLst>
      <p:ext uri="{BB962C8B-B14F-4D97-AF65-F5344CB8AC3E}">
        <p14:creationId xmlns:p14="http://schemas.microsoft.com/office/powerpoint/2010/main" val="29370857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2526</Words>
  <Application>Microsoft Macintosh PowerPoint</Application>
  <DocSecurity>0</DocSecurity>
  <PresentationFormat>Panorámica</PresentationFormat>
  <Paragraphs>294</Paragraphs>
  <Slides>21</Slides>
  <Notes>21</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21</vt:i4>
      </vt:variant>
    </vt:vector>
  </HeadingPairs>
  <TitlesOfParts>
    <vt:vector size="25" baseType="lpstr">
      <vt:lpstr>Arial</vt:lpstr>
      <vt:lpstr>Calibri</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ROIG AGUILAR, ALEJANDRO</cp:lastModifiedBy>
  <cp:revision>1</cp:revision>
  <dcterms:created xsi:type="dcterms:W3CDTF">2026-10-14T11:47:23Z</dcterms:created>
  <dcterms:modified xsi:type="dcterms:W3CDTF">2026-10-14T18:22:59Z</dcterms:modified>
</cp:coreProperties>
</file>