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A7DF6F0-ABD3-451A-A9BE-8ED507C693A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5425B9-D673-4A4D-89C7-5CC6072028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7AEE3-9666-420C-A666-34FF68939D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3DBF55-6098-4D71-A7EB-25284CEED7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59D50-4BE8-460F-8E77-E63ED03FBF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51675-8040-4FDF-9589-263C44AD3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25072-D16B-48FD-A185-0F1EA53CE2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97E454-5791-4435-91EB-EC7DD3DEFC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F1CF0-8616-4FBE-92AD-D883B6E933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10CE73-3CA1-4EB5-8DE0-E41D9C1D7D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25B00E-44A4-43F2-85BD-06C5E5E51E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9007BD-791F-430E-AA72-923E5BE463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653600" y="0"/>
            <a:ext cx="453492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/mnt/data/cover_vertical_teal.png"/>
          <p:cNvPicPr/>
          <p:nvPr/>
        </p:nvPicPr>
        <p:blipFill>
          <a:blip r:embed="rId3"/>
          <a:srcRect r="14077"/>
          <a:stretch/>
        </p:blipFill>
        <p:spPr>
          <a:xfrm>
            <a:off x="7653600" y="0"/>
            <a:ext cx="38858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548640" y="567000"/>
            <a:ext cx="6811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2DFDB"/>
                </a:solidFill>
                <a:effectLst/>
                <a:uFillTx/>
                <a:latin typeface="Arial"/>
                <a:ea typeface="Arial"/>
              </a:rPr>
              <a:t>DESPLIEGUE DE APLICACIONES WEB  —  CURSO 2026/2027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48640" y="1783080"/>
            <a:ext cx="64918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Despliegue de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Aplicaciones Web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0" y="5120640"/>
            <a:ext cx="7946136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Presentación del módulo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Características del módulo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1097280" y="1298520"/>
            <a:ext cx="2590920" cy="65808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225440" y="1362600"/>
            <a:ext cx="2334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3688560" y="1298520"/>
            <a:ext cx="7375320" cy="65808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3816720" y="1362600"/>
            <a:ext cx="71190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Información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097280" y="1956960"/>
            <a:ext cx="2590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243440" y="2030040"/>
            <a:ext cx="2298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3688560" y="1956960"/>
            <a:ext cx="7375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3835080" y="2030040"/>
            <a:ext cx="708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0614 · Despliegue de Aplicaciones 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1097280" y="2615040"/>
            <a:ext cx="2590920" cy="6580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1243440" y="2688480"/>
            <a:ext cx="2298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Curso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3688560" y="2615040"/>
            <a:ext cx="7375320" cy="6580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3835080" y="2688480"/>
            <a:ext cx="708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2.º CFGS Desarrollo de Aplicaciones 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1097280" y="3273480"/>
            <a:ext cx="2590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1243440" y="3346560"/>
            <a:ext cx="2298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Duración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3688560" y="3273480"/>
            <a:ext cx="7375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3835080" y="3346560"/>
            <a:ext cx="708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100 horas </a:t>
            </a:r>
            <a:r>
              <a:rPr lang="en-US" dirty="0">
                <a:solidFill>
                  <a:srgbClr val="212121"/>
                </a:solidFill>
                <a:latin typeface="Arial"/>
                <a:ea typeface="Arial"/>
              </a:rPr>
              <a:t>(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33 </a:t>
            </a:r>
            <a:r>
              <a:rPr lang="en-US" sz="18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semanas</a:t>
            </a: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× 3 horas)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1097280" y="3931920"/>
            <a:ext cx="2590920" cy="6580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1243440" y="4005000"/>
            <a:ext cx="2298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Normativa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3688560" y="3931920"/>
            <a:ext cx="7375320" cy="65808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3835080" y="4005000"/>
            <a:ext cx="708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Real Decreto 450/2023, que actualiza el Real Decreto 686/2010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1097280" y="4590360"/>
            <a:ext cx="25909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1243440" y="4663440"/>
            <a:ext cx="2298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Horario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5"/>
          <p:cNvSpPr/>
          <p:nvPr/>
        </p:nvSpPr>
        <p:spPr>
          <a:xfrm>
            <a:off x="3688560" y="4590360"/>
            <a:ext cx="737532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3835080" y="4663440"/>
            <a:ext cx="70826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Viernes de 10:05 a 13:15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No desplegamos solo archivos: desplegamos procesos reproducibles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/mnt/data/de_archivos_manuales_a_procesos_reproducibles.png"/>
          <p:cNvPicPr/>
          <p:nvPr/>
        </p:nvPicPr>
        <p:blipFill>
          <a:blip r:embed="rId3"/>
          <a:stretch/>
        </p:blipFill>
        <p:spPr>
          <a:xfrm>
            <a:off x="2118600" y="1051560"/>
            <a:ext cx="7960680" cy="44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Shape 3"/>
          <p:cNvSpPr/>
          <p:nvPr/>
        </p:nvSpPr>
        <p:spPr>
          <a:xfrm>
            <a:off x="1005840" y="5742360"/>
            <a:ext cx="10149480" cy="50256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207080" y="5824800"/>
            <a:ext cx="974700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Objetivo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camino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desde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código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hasta el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usuario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pueda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entenderse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repetirse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comprobarse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729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mejorarse</a:t>
            </a:r>
            <a:r>
              <a:rPr lang="en-US" sz="1729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72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Resultados de aprendizaje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42729E4-1DF6-DC08-1AD4-A96052BABF50}"/>
              </a:ext>
            </a:extLst>
          </p:cNvPr>
          <p:cNvGrpSpPr/>
          <p:nvPr/>
        </p:nvGrpSpPr>
        <p:grpSpPr>
          <a:xfrm>
            <a:off x="800640" y="1115964"/>
            <a:ext cx="10589400" cy="3337200"/>
            <a:chOff x="703080" y="1042812"/>
            <a:chExt cx="10589400" cy="3337200"/>
          </a:xfrm>
        </p:grpSpPr>
        <p:sp>
          <p:nvSpPr>
            <p:cNvPr id="106" name="Shape 4"/>
            <p:cNvSpPr/>
            <p:nvPr/>
          </p:nvSpPr>
          <p:spPr>
            <a:xfrm>
              <a:off x="703800" y="1042812"/>
              <a:ext cx="3599640" cy="667080"/>
            </a:xfrm>
            <a:prstGeom prst="rect">
              <a:avLst/>
            </a:prstGeom>
            <a:solidFill>
              <a:srgbClr val="00897B"/>
            </a:solidFill>
            <a:ln w="9525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Text 5"/>
            <p:cNvSpPr/>
            <p:nvPr/>
          </p:nvSpPr>
          <p:spPr>
            <a:xfrm>
              <a:off x="831960" y="1106892"/>
              <a:ext cx="3343680" cy="53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RA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Shape 6"/>
            <p:cNvSpPr/>
            <p:nvPr/>
          </p:nvSpPr>
          <p:spPr>
            <a:xfrm>
              <a:off x="4304160" y="1042812"/>
              <a:ext cx="6988320" cy="667080"/>
            </a:xfrm>
            <a:prstGeom prst="rect">
              <a:avLst/>
            </a:prstGeom>
            <a:solidFill>
              <a:srgbClr val="00897B"/>
            </a:solidFill>
            <a:ln w="9525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 7"/>
            <p:cNvSpPr/>
            <p:nvPr/>
          </p:nvSpPr>
          <p:spPr>
            <a:xfrm>
              <a:off x="4431960" y="1106892"/>
              <a:ext cx="6732360" cy="53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Aplicación en el módulo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Shape 8"/>
            <p:cNvSpPr/>
            <p:nvPr/>
          </p:nvSpPr>
          <p:spPr>
            <a:xfrm>
              <a:off x="703800" y="1710252"/>
              <a:ext cx="3599640" cy="667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 9"/>
            <p:cNvSpPr/>
            <p:nvPr/>
          </p:nvSpPr>
          <p:spPr>
            <a:xfrm>
              <a:off x="849600" y="1783332"/>
              <a:ext cx="3307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RA1 · </a:t>
              </a:r>
              <a:r>
                <a:rPr lang="en-US" sz="1600" b="1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Arquitecturas</a:t>
              </a: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web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Shape 10"/>
            <p:cNvSpPr/>
            <p:nvPr/>
          </p:nvSpPr>
          <p:spPr>
            <a:xfrm>
              <a:off x="4303440" y="1710252"/>
              <a:ext cx="6988320" cy="667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 11"/>
            <p:cNvSpPr/>
            <p:nvPr/>
          </p:nvSpPr>
          <p:spPr>
            <a:xfrm>
              <a:off x="4450320" y="1783332"/>
              <a:ext cx="669564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u="none" strike="noStrike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Observar sistemas, entender HTTP y decidir unidades de despliegue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Shape 12"/>
            <p:cNvSpPr/>
            <p:nvPr/>
          </p:nvSpPr>
          <p:spPr>
            <a:xfrm>
              <a:off x="703080" y="2377692"/>
              <a:ext cx="3599640" cy="667080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 13"/>
            <p:cNvSpPr/>
            <p:nvPr/>
          </p:nvSpPr>
          <p:spPr>
            <a:xfrm>
              <a:off x="850320" y="2451132"/>
              <a:ext cx="3307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RA2 · </a:t>
              </a:r>
              <a:r>
                <a:rPr lang="en-US" sz="1600" b="1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Servidores</a:t>
              </a: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web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Shape 14"/>
            <p:cNvSpPr/>
            <p:nvPr/>
          </p:nvSpPr>
          <p:spPr>
            <a:xfrm>
              <a:off x="4303440" y="2377692"/>
              <a:ext cx="6988320" cy="667080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 15"/>
            <p:cNvSpPr/>
            <p:nvPr/>
          </p:nvSpPr>
          <p:spPr>
            <a:xfrm>
              <a:off x="4450320" y="2451132"/>
              <a:ext cx="669564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u="none" strike="noStrike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Nginx, hosts virtuales, HTTPS, acceso, caché y logs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Shape 16"/>
            <p:cNvSpPr/>
            <p:nvPr/>
          </p:nvSpPr>
          <p:spPr>
            <a:xfrm>
              <a:off x="703800" y="3045492"/>
              <a:ext cx="3599640" cy="667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 17"/>
            <p:cNvSpPr/>
            <p:nvPr/>
          </p:nvSpPr>
          <p:spPr>
            <a:xfrm>
              <a:off x="849600" y="3118572"/>
              <a:ext cx="3307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RA3 · </a:t>
              </a:r>
              <a:r>
                <a:rPr lang="en-US" sz="1600" b="1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Servidores</a:t>
              </a: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de </a:t>
              </a:r>
              <a:r>
                <a:rPr lang="en-US" sz="1600" b="1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aplicaciones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Shape 18"/>
            <p:cNvSpPr/>
            <p:nvPr/>
          </p:nvSpPr>
          <p:spPr>
            <a:xfrm>
              <a:off x="4303440" y="3045492"/>
              <a:ext cx="6988320" cy="667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 19"/>
            <p:cNvSpPr/>
            <p:nvPr/>
          </p:nvSpPr>
          <p:spPr>
            <a:xfrm>
              <a:off x="4450320" y="3118572"/>
              <a:ext cx="669564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Tomcat 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embebido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/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externo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, proxy, 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sesiones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, 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seguridad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y 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rendimiento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20"/>
            <p:cNvSpPr/>
            <p:nvPr/>
          </p:nvSpPr>
          <p:spPr>
            <a:xfrm>
              <a:off x="703080" y="3712932"/>
              <a:ext cx="3599640" cy="667080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 21"/>
            <p:cNvSpPr/>
            <p:nvPr/>
          </p:nvSpPr>
          <p:spPr>
            <a:xfrm>
              <a:off x="850320" y="3786012"/>
              <a:ext cx="330732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RA6 · </a:t>
              </a:r>
              <a:r>
                <a:rPr lang="en-US" sz="1600" b="1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Documentación</a:t>
              </a:r>
              <a:r>
                <a:rPr lang="en-US" sz="1600" b="1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, Git e IC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Shape 22"/>
            <p:cNvSpPr/>
            <p:nvPr/>
          </p:nvSpPr>
          <p:spPr>
            <a:xfrm>
              <a:off x="4303440" y="3712932"/>
              <a:ext cx="6988320" cy="667080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rgbClr val="E0E0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 23"/>
            <p:cNvSpPr/>
            <p:nvPr/>
          </p:nvSpPr>
          <p:spPr>
            <a:xfrm>
              <a:off x="4450320" y="3786012"/>
              <a:ext cx="6695640" cy="52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Repositorio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, Markdown, PR, checks, </a:t>
              </a:r>
              <a:r>
                <a:rPr lang="en-US" sz="160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imágenes</a:t>
              </a:r>
              <a:r>
                <a:rPr lang="en-US" sz="160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y pipelines</a:t>
              </a:r>
              <a:endPara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Shape 24"/>
          <p:cNvSpPr/>
          <p:nvPr/>
        </p:nvSpPr>
        <p:spPr>
          <a:xfrm>
            <a:off x="914400" y="5303520"/>
            <a:ext cx="10332360" cy="67644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1115640" y="5385960"/>
            <a:ext cx="99298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RA4 y RA5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trabajarán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FE: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transferencia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archivos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DNS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servicios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directorio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Temas del módulo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621720" y="1078920"/>
            <a:ext cx="2957400" cy="566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749880" y="1143000"/>
            <a:ext cx="2701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3579480" y="1078920"/>
            <a:ext cx="5586480" cy="566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3707640" y="1143000"/>
            <a:ext cx="5330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 construimos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9166320" y="1078920"/>
            <a:ext cx="2409480" cy="566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9294480" y="1143000"/>
            <a:ext cx="2153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Foco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621720" y="1645920"/>
            <a:ext cx="2957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768240" y="1719000"/>
            <a:ext cx="266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1 · Punto de </a:t>
            </a:r>
            <a:r>
              <a:rPr lang="en-US" sz="140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partida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3579480" y="1645920"/>
            <a:ext cx="5586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3725640" y="1719000"/>
            <a:ext cx="529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Arquitectura, HTTP y repositorios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9166320" y="1645920"/>
            <a:ext cx="2409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9312480" y="1719000"/>
            <a:ext cx="2117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Trazabilidad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621720" y="2212920"/>
            <a:ext cx="295740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768240" y="2286000"/>
            <a:ext cx="266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2 · </a:t>
            </a:r>
            <a:r>
              <a:rPr lang="en-US" sz="140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Virtualización</a:t>
            </a:r>
            <a:r>
              <a:rPr lang="en-US" sz="140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40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contenedores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7"/>
          <p:cNvSpPr/>
          <p:nvPr/>
        </p:nvSpPr>
        <p:spPr>
          <a:xfrm>
            <a:off x="3579480" y="2212920"/>
            <a:ext cx="558648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3725640" y="2286000"/>
            <a:ext cx="529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Contenedores, imágenes y ejecución multicontenedor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9166320" y="2212920"/>
            <a:ext cx="240948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9312480" y="2286000"/>
            <a:ext cx="2117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Reproducibilidad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1"/>
          <p:cNvSpPr/>
          <p:nvPr/>
        </p:nvSpPr>
        <p:spPr>
          <a:xfrm>
            <a:off x="621720" y="2779920"/>
            <a:ext cx="2957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768240" y="2853000"/>
            <a:ext cx="266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3 · Publicación y ejecución web</a:t>
            </a:r>
            <a:endParaRPr lang="en-US" sz="1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3579480" y="2779920"/>
            <a:ext cx="5586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3725640" y="2853000"/>
            <a:ext cx="529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Nginx, DNS, HTTPS, logs, sesiones y rendimiento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5"/>
          <p:cNvSpPr/>
          <p:nvPr/>
        </p:nvSpPr>
        <p:spPr>
          <a:xfrm>
            <a:off x="9166320" y="2779920"/>
            <a:ext cx="2409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9312480" y="2853000"/>
            <a:ext cx="2117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Publicación y operación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7"/>
          <p:cNvSpPr/>
          <p:nvPr/>
        </p:nvSpPr>
        <p:spPr>
          <a:xfrm>
            <a:off x="621720" y="3346560"/>
            <a:ext cx="295740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768240" y="3420000"/>
            <a:ext cx="266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4 · CI/CD</a:t>
            </a:r>
            <a:endParaRPr lang="en-US" sz="1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9"/>
          <p:cNvSpPr/>
          <p:nvPr/>
        </p:nvSpPr>
        <p:spPr>
          <a:xfrm>
            <a:off x="3579480" y="3346560"/>
            <a:ext cx="558648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0"/>
          <p:cNvSpPr/>
          <p:nvPr/>
        </p:nvSpPr>
        <p:spPr>
          <a:xfrm>
            <a:off x="3725640" y="3420000"/>
            <a:ext cx="529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Validar, construir, publicar y desplegar con pipelines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1"/>
          <p:cNvSpPr/>
          <p:nvPr/>
        </p:nvSpPr>
        <p:spPr>
          <a:xfrm>
            <a:off x="9166320" y="3346560"/>
            <a:ext cx="2409480" cy="566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2"/>
          <p:cNvSpPr/>
          <p:nvPr/>
        </p:nvSpPr>
        <p:spPr>
          <a:xfrm>
            <a:off x="9312480" y="3420000"/>
            <a:ext cx="2117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Automatización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3"/>
          <p:cNvSpPr/>
          <p:nvPr/>
        </p:nvSpPr>
        <p:spPr>
          <a:xfrm>
            <a:off x="621720" y="3913560"/>
            <a:ext cx="2957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4"/>
          <p:cNvSpPr/>
          <p:nvPr/>
        </p:nvSpPr>
        <p:spPr>
          <a:xfrm>
            <a:off x="768240" y="3986640"/>
            <a:ext cx="26647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5 · Orquestación</a:t>
            </a:r>
            <a:endParaRPr lang="en-US" sz="140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5"/>
          <p:cNvSpPr/>
          <p:nvPr/>
        </p:nvSpPr>
        <p:spPr>
          <a:xfrm>
            <a:off x="3579480" y="3913560"/>
            <a:ext cx="5586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6"/>
          <p:cNvSpPr/>
          <p:nvPr/>
        </p:nvSpPr>
        <p:spPr>
          <a:xfrm>
            <a:off x="3725640" y="3986640"/>
            <a:ext cx="5293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Kubernetes, actualizaciones y despliegue declarativo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7"/>
          <p:cNvSpPr/>
          <p:nvPr/>
        </p:nvSpPr>
        <p:spPr>
          <a:xfrm>
            <a:off x="9166320" y="3913560"/>
            <a:ext cx="240948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8"/>
          <p:cNvSpPr/>
          <p:nvPr/>
        </p:nvSpPr>
        <p:spPr>
          <a:xfrm>
            <a:off x="9312480" y="3986640"/>
            <a:ext cx="2117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Escalado y resiliencia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9"/>
          <p:cNvSpPr/>
          <p:nvPr/>
        </p:nvSpPr>
        <p:spPr>
          <a:xfrm>
            <a:off x="804600" y="5285160"/>
            <a:ext cx="1883160" cy="621360"/>
          </a:xfrm>
          <a:prstGeom prst="roundRect">
            <a:avLst>
              <a:gd name="adj" fmla="val 11765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0"/>
          <p:cNvSpPr/>
          <p:nvPr/>
        </p:nvSpPr>
        <p:spPr>
          <a:xfrm>
            <a:off x="896040" y="534924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Versionar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1"/>
          <p:cNvSpPr/>
          <p:nvPr/>
        </p:nvSpPr>
        <p:spPr>
          <a:xfrm>
            <a:off x="2697480" y="533088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2"/>
          <p:cNvSpPr/>
          <p:nvPr/>
        </p:nvSpPr>
        <p:spPr>
          <a:xfrm>
            <a:off x="2980800" y="5285160"/>
            <a:ext cx="1883160" cy="621360"/>
          </a:xfrm>
          <a:prstGeom prst="roundRect">
            <a:avLst>
              <a:gd name="adj" fmla="val 11765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3"/>
          <p:cNvSpPr/>
          <p:nvPr/>
        </p:nvSpPr>
        <p:spPr>
          <a:xfrm>
            <a:off x="3072240" y="534924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Reproducir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4"/>
          <p:cNvSpPr/>
          <p:nvPr/>
        </p:nvSpPr>
        <p:spPr>
          <a:xfrm>
            <a:off x="4873680" y="533088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5"/>
          <p:cNvSpPr/>
          <p:nvPr/>
        </p:nvSpPr>
        <p:spPr>
          <a:xfrm>
            <a:off x="5157360" y="5285160"/>
            <a:ext cx="1883160" cy="621360"/>
          </a:xfrm>
          <a:prstGeom prst="roundRect">
            <a:avLst>
              <a:gd name="adj" fmla="val 11765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6"/>
          <p:cNvSpPr/>
          <p:nvPr/>
        </p:nvSpPr>
        <p:spPr>
          <a:xfrm>
            <a:off x="5248800" y="534924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Publicar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7"/>
          <p:cNvSpPr/>
          <p:nvPr/>
        </p:nvSpPr>
        <p:spPr>
          <a:xfrm>
            <a:off x="7049880" y="533088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8"/>
          <p:cNvSpPr/>
          <p:nvPr/>
        </p:nvSpPr>
        <p:spPr>
          <a:xfrm>
            <a:off x="7333560" y="5285160"/>
            <a:ext cx="1883160" cy="621360"/>
          </a:xfrm>
          <a:prstGeom prst="roundRect">
            <a:avLst>
              <a:gd name="adj" fmla="val 11765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9"/>
          <p:cNvSpPr/>
          <p:nvPr/>
        </p:nvSpPr>
        <p:spPr>
          <a:xfrm>
            <a:off x="7425000" y="534924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Automatizar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0"/>
          <p:cNvSpPr/>
          <p:nvPr/>
        </p:nvSpPr>
        <p:spPr>
          <a:xfrm>
            <a:off x="9226440" y="5330880"/>
            <a:ext cx="2739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1"/>
          <p:cNvSpPr/>
          <p:nvPr/>
        </p:nvSpPr>
        <p:spPr>
          <a:xfrm>
            <a:off x="9509760" y="5285160"/>
            <a:ext cx="1883160" cy="621360"/>
          </a:xfrm>
          <a:prstGeom prst="roundRect">
            <a:avLst>
              <a:gd name="adj" fmla="val 11765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2"/>
          <p:cNvSpPr/>
          <p:nvPr/>
        </p:nvSpPr>
        <p:spPr>
          <a:xfrm>
            <a:off x="9601200" y="5349240"/>
            <a:ext cx="1700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Orquestar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Relación RA × temas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548640" y="960120"/>
            <a:ext cx="1109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Un mismo tema puede aportar evidencias de varios RA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841320" y="1444680"/>
            <a:ext cx="5458320" cy="575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969120" y="1508760"/>
            <a:ext cx="520236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6300000" y="1444680"/>
            <a:ext cx="1259280" cy="575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6427800" y="1508760"/>
            <a:ext cx="10033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7559640" y="1444680"/>
            <a:ext cx="1259280" cy="575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7687440" y="1508760"/>
            <a:ext cx="10033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8819280" y="1444680"/>
            <a:ext cx="1259280" cy="575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8947080" y="1508760"/>
            <a:ext cx="10033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10078920" y="1444680"/>
            <a:ext cx="1259280" cy="575640"/>
          </a:xfrm>
          <a:prstGeom prst="rect">
            <a:avLst/>
          </a:prstGeom>
          <a:solidFill>
            <a:srgbClr val="00897B"/>
          </a:solidFill>
          <a:ln w="952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10206720" y="1508760"/>
            <a:ext cx="100332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RA6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841320" y="2020680"/>
            <a:ext cx="54583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987480" y="2094120"/>
            <a:ext cx="516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1 · Punto de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partida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6"/>
          <p:cNvSpPr/>
          <p:nvPr/>
        </p:nvSpPr>
        <p:spPr>
          <a:xfrm>
            <a:off x="6300000" y="202068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6446160" y="2094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8"/>
          <p:cNvSpPr/>
          <p:nvPr/>
        </p:nvSpPr>
        <p:spPr>
          <a:xfrm>
            <a:off x="7559640" y="202068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9"/>
          <p:cNvSpPr/>
          <p:nvPr/>
        </p:nvSpPr>
        <p:spPr>
          <a:xfrm>
            <a:off x="7705800" y="2094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8819280" y="202068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8965440" y="2094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10078920" y="202068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3"/>
          <p:cNvSpPr/>
          <p:nvPr/>
        </p:nvSpPr>
        <p:spPr>
          <a:xfrm>
            <a:off x="10225080" y="2094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4"/>
          <p:cNvSpPr/>
          <p:nvPr/>
        </p:nvSpPr>
        <p:spPr>
          <a:xfrm>
            <a:off x="841320" y="2597040"/>
            <a:ext cx="545832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5"/>
          <p:cNvSpPr/>
          <p:nvPr/>
        </p:nvSpPr>
        <p:spPr>
          <a:xfrm>
            <a:off x="987480" y="2670120"/>
            <a:ext cx="516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2 · Virtualización y contenedores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6300000" y="2597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6446160" y="2670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8"/>
          <p:cNvSpPr/>
          <p:nvPr/>
        </p:nvSpPr>
        <p:spPr>
          <a:xfrm>
            <a:off x="7559640" y="2597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9"/>
          <p:cNvSpPr/>
          <p:nvPr/>
        </p:nvSpPr>
        <p:spPr>
          <a:xfrm>
            <a:off x="7705800" y="2670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0"/>
          <p:cNvSpPr/>
          <p:nvPr/>
        </p:nvSpPr>
        <p:spPr>
          <a:xfrm>
            <a:off x="8819280" y="2597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8965440" y="2670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2"/>
          <p:cNvSpPr/>
          <p:nvPr/>
        </p:nvSpPr>
        <p:spPr>
          <a:xfrm>
            <a:off x="10078920" y="2597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3"/>
          <p:cNvSpPr/>
          <p:nvPr/>
        </p:nvSpPr>
        <p:spPr>
          <a:xfrm>
            <a:off x="10225080" y="2670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4"/>
          <p:cNvSpPr/>
          <p:nvPr/>
        </p:nvSpPr>
        <p:spPr>
          <a:xfrm>
            <a:off x="841320" y="3173040"/>
            <a:ext cx="54583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5"/>
          <p:cNvSpPr/>
          <p:nvPr/>
        </p:nvSpPr>
        <p:spPr>
          <a:xfrm>
            <a:off x="987480" y="3246120"/>
            <a:ext cx="516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3 · Publicación y ejecución web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6"/>
          <p:cNvSpPr/>
          <p:nvPr/>
        </p:nvSpPr>
        <p:spPr>
          <a:xfrm>
            <a:off x="6300000" y="3173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7"/>
          <p:cNvSpPr/>
          <p:nvPr/>
        </p:nvSpPr>
        <p:spPr>
          <a:xfrm>
            <a:off x="6446160" y="3246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8"/>
          <p:cNvSpPr/>
          <p:nvPr/>
        </p:nvSpPr>
        <p:spPr>
          <a:xfrm>
            <a:off x="7559640" y="3173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9"/>
          <p:cNvSpPr/>
          <p:nvPr/>
        </p:nvSpPr>
        <p:spPr>
          <a:xfrm>
            <a:off x="7705800" y="3246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0"/>
          <p:cNvSpPr/>
          <p:nvPr/>
        </p:nvSpPr>
        <p:spPr>
          <a:xfrm>
            <a:off x="8819280" y="3173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1"/>
          <p:cNvSpPr/>
          <p:nvPr/>
        </p:nvSpPr>
        <p:spPr>
          <a:xfrm>
            <a:off x="8965440" y="3246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2"/>
          <p:cNvSpPr/>
          <p:nvPr/>
        </p:nvSpPr>
        <p:spPr>
          <a:xfrm>
            <a:off x="10078920" y="3173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3"/>
          <p:cNvSpPr/>
          <p:nvPr/>
        </p:nvSpPr>
        <p:spPr>
          <a:xfrm>
            <a:off x="10225080" y="3246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44"/>
          <p:cNvSpPr/>
          <p:nvPr/>
        </p:nvSpPr>
        <p:spPr>
          <a:xfrm>
            <a:off x="841320" y="3749040"/>
            <a:ext cx="545832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5"/>
          <p:cNvSpPr/>
          <p:nvPr/>
        </p:nvSpPr>
        <p:spPr>
          <a:xfrm>
            <a:off x="987480" y="3822120"/>
            <a:ext cx="516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4 · CI/CD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6"/>
          <p:cNvSpPr/>
          <p:nvPr/>
        </p:nvSpPr>
        <p:spPr>
          <a:xfrm>
            <a:off x="6300000" y="3749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7"/>
          <p:cNvSpPr/>
          <p:nvPr/>
        </p:nvSpPr>
        <p:spPr>
          <a:xfrm>
            <a:off x="6446160" y="3822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8"/>
          <p:cNvSpPr/>
          <p:nvPr/>
        </p:nvSpPr>
        <p:spPr>
          <a:xfrm>
            <a:off x="7559640" y="3749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9"/>
          <p:cNvSpPr/>
          <p:nvPr/>
        </p:nvSpPr>
        <p:spPr>
          <a:xfrm>
            <a:off x="7705800" y="3822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0"/>
          <p:cNvSpPr/>
          <p:nvPr/>
        </p:nvSpPr>
        <p:spPr>
          <a:xfrm>
            <a:off x="8819280" y="3749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1"/>
          <p:cNvSpPr/>
          <p:nvPr/>
        </p:nvSpPr>
        <p:spPr>
          <a:xfrm>
            <a:off x="8965440" y="3822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2"/>
          <p:cNvSpPr/>
          <p:nvPr/>
        </p:nvSpPr>
        <p:spPr>
          <a:xfrm>
            <a:off x="10078920" y="3749040"/>
            <a:ext cx="1259280" cy="57564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3"/>
          <p:cNvSpPr/>
          <p:nvPr/>
        </p:nvSpPr>
        <p:spPr>
          <a:xfrm>
            <a:off x="10225080" y="3822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4"/>
          <p:cNvSpPr/>
          <p:nvPr/>
        </p:nvSpPr>
        <p:spPr>
          <a:xfrm>
            <a:off x="841320" y="4325040"/>
            <a:ext cx="545832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5"/>
          <p:cNvSpPr/>
          <p:nvPr/>
        </p:nvSpPr>
        <p:spPr>
          <a:xfrm>
            <a:off x="987480" y="4398120"/>
            <a:ext cx="5165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5 · Orquestación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6"/>
          <p:cNvSpPr/>
          <p:nvPr/>
        </p:nvSpPr>
        <p:spPr>
          <a:xfrm>
            <a:off x="6300000" y="4325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7"/>
          <p:cNvSpPr/>
          <p:nvPr/>
        </p:nvSpPr>
        <p:spPr>
          <a:xfrm>
            <a:off x="6446160" y="4398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8"/>
          <p:cNvSpPr/>
          <p:nvPr/>
        </p:nvSpPr>
        <p:spPr>
          <a:xfrm>
            <a:off x="7559640" y="4325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9"/>
          <p:cNvSpPr/>
          <p:nvPr/>
        </p:nvSpPr>
        <p:spPr>
          <a:xfrm>
            <a:off x="7705800" y="4398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60"/>
          <p:cNvSpPr/>
          <p:nvPr/>
        </p:nvSpPr>
        <p:spPr>
          <a:xfrm>
            <a:off x="8819280" y="4325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1"/>
          <p:cNvSpPr/>
          <p:nvPr/>
        </p:nvSpPr>
        <p:spPr>
          <a:xfrm>
            <a:off x="8965440" y="4398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2"/>
          <p:cNvSpPr/>
          <p:nvPr/>
        </p:nvSpPr>
        <p:spPr>
          <a:xfrm>
            <a:off x="10078920" y="4325040"/>
            <a:ext cx="1259280" cy="5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3"/>
          <p:cNvSpPr/>
          <p:nvPr/>
        </p:nvSpPr>
        <p:spPr>
          <a:xfrm>
            <a:off x="10225080" y="4398120"/>
            <a:ext cx="96660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4"/>
          <p:cNvSpPr/>
          <p:nvPr/>
        </p:nvSpPr>
        <p:spPr>
          <a:xfrm>
            <a:off x="914400" y="5504760"/>
            <a:ext cx="10332360" cy="62136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5"/>
          <p:cNvSpPr/>
          <p:nvPr/>
        </p:nvSpPr>
        <p:spPr>
          <a:xfrm>
            <a:off x="1115640" y="5586840"/>
            <a:ext cx="9929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Tema 5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actúa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como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integración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del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módulo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puede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aportar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evidencias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recuperar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RA </a:t>
            </a:r>
            <a:r>
              <a:rPr lang="en-US" sz="172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pendientes</a:t>
            </a:r>
            <a:r>
              <a:rPr lang="en-US" sz="172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Cómo trabajaremos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713160" y="111564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804600" y="11797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Teoría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breve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2642760" y="1161360"/>
            <a:ext cx="2739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2926080" y="111564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3017520" y="11797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Práctica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guiada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4855320" y="1161360"/>
            <a:ext cx="2739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5139000" y="111564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5230440" y="11797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Evidencias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7068240" y="1161360"/>
            <a:ext cx="2739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7351920" y="111564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7443360" y="11797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Pull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Request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9281160" y="1161360"/>
            <a:ext cx="2739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9564480" y="1115640"/>
            <a:ext cx="1919880" cy="785880"/>
          </a:xfrm>
          <a:prstGeom prst="roundRect">
            <a:avLst>
              <a:gd name="adj" fmla="val 9302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9655920" y="11797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Revisión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7"/>
          <p:cNvSpPr/>
          <p:nvPr/>
        </p:nvSpPr>
        <p:spPr>
          <a:xfrm>
            <a:off x="804600" y="2487240"/>
            <a:ext cx="5138640" cy="2514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8"/>
          <p:cNvSpPr/>
          <p:nvPr/>
        </p:nvSpPr>
        <p:spPr>
          <a:xfrm>
            <a:off x="804600" y="248724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1005840" y="254196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clase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1042560" y="3163680"/>
            <a:ext cx="4663080" cy="176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Conceptos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clave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Ejemplos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mínimos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Comandos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esenciales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Diagnóstico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errores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frecuentes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6245280" y="2487240"/>
            <a:ext cx="5138640" cy="2514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6245280" y="248724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6446520" y="254196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 el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repositorio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6483240" y="3163680"/>
            <a:ext cx="4663080" cy="176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versionada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Actividad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Markdown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Capturas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enlazadas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hacia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main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5"/>
          <p:cNvSpPr/>
          <p:nvPr/>
        </p:nvSpPr>
        <p:spPr>
          <a:xfrm>
            <a:off x="914400" y="5577840"/>
            <a:ext cx="10332360" cy="54828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1115640" y="5660280"/>
            <a:ext cx="9929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60" b="0" u="none" strike="noStrike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La práctica no será una lista de comandos: tendrás que configurar, comprobar, justificar y documentar.</a:t>
            </a:r>
            <a:endParaRPr lang="en-US" sz="1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Evaluación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804600" y="1207080"/>
            <a:ext cx="5138640" cy="39315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804600" y="120708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005840" y="126180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Qué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valora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042560" y="1883520"/>
            <a:ext cx="4663080" cy="31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Repositorio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completo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ordenado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Actividades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evidencias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reales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funcional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Explicación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decisiones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Correcciones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incorporadas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Uso </a:t>
            </a:r>
            <a:r>
              <a:rPr lang="en-US" b="0" u="none" strike="noStrike" dirty="0" err="1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responsable</a:t>
            </a:r>
            <a:r>
              <a:rPr lang="en-US" b="0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 de IA</a:t>
            </a:r>
            <a:endParaRPr lang="en-US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6245280" y="1207080"/>
            <a:ext cx="5138640" cy="39315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6245280" y="120708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6446520" y="126180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Regla de progreso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6483240" y="1883520"/>
            <a:ext cx="4663080" cy="31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Cada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práctica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parte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la anterior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Los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errores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diagnostican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Código e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infraestructura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reproducibles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entrega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final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vive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Git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914400" y="5687640"/>
            <a:ext cx="10332360" cy="51156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1115640" y="5769720"/>
            <a:ext cx="99298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evalúa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lo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que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sabes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implantar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justificar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documentar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; no la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memorización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aislada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600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comandos</a:t>
            </a:r>
            <a:r>
              <a:rPr lang="en-US" sz="1600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¿Cómo se calcula la nota?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548640" y="951120"/>
            <a:ext cx="11094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Peso de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los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RA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C4ACAD6-53C9-E769-7BF0-2ADB1CE1DF57}"/>
              </a:ext>
            </a:extLst>
          </p:cNvPr>
          <p:cNvGrpSpPr/>
          <p:nvPr/>
        </p:nvGrpSpPr>
        <p:grpSpPr>
          <a:xfrm>
            <a:off x="1478280" y="1777266"/>
            <a:ext cx="8887680" cy="712800"/>
            <a:chOff x="777240" y="1481400"/>
            <a:chExt cx="8887680" cy="712800"/>
          </a:xfrm>
        </p:grpSpPr>
        <p:sp>
          <p:nvSpPr>
            <p:cNvPr id="238" name="Shape 4"/>
            <p:cNvSpPr/>
            <p:nvPr/>
          </p:nvSpPr>
          <p:spPr>
            <a:xfrm>
              <a:off x="777240" y="1481400"/>
              <a:ext cx="1508400" cy="712800"/>
            </a:xfrm>
            <a:prstGeom prst="roundRect">
              <a:avLst>
                <a:gd name="adj" fmla="val 10256"/>
              </a:avLst>
            </a:prstGeom>
            <a:solidFill>
              <a:srgbClr val="E0F2F1"/>
            </a:solidFill>
            <a:ln w="1524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 5"/>
            <p:cNvSpPr/>
            <p:nvPr/>
          </p:nvSpPr>
          <p:spPr>
            <a:xfrm>
              <a:off x="822960" y="1554480"/>
              <a:ext cx="141696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RA1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20 %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Shape 6"/>
            <p:cNvSpPr/>
            <p:nvPr/>
          </p:nvSpPr>
          <p:spPr>
            <a:xfrm>
              <a:off x="2541960" y="1481400"/>
              <a:ext cx="1508400" cy="712800"/>
            </a:xfrm>
            <a:prstGeom prst="roundRect">
              <a:avLst>
                <a:gd name="adj" fmla="val 10256"/>
              </a:avLst>
            </a:prstGeom>
            <a:solidFill>
              <a:srgbClr val="E0F2F1"/>
            </a:solidFill>
            <a:ln w="1524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 7"/>
            <p:cNvSpPr/>
            <p:nvPr/>
          </p:nvSpPr>
          <p:spPr>
            <a:xfrm>
              <a:off x="2587680" y="1554480"/>
              <a:ext cx="141696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RA2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20 %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Shape 8"/>
            <p:cNvSpPr/>
            <p:nvPr/>
          </p:nvSpPr>
          <p:spPr>
            <a:xfrm>
              <a:off x="4306680" y="1481400"/>
              <a:ext cx="1508400" cy="712800"/>
            </a:xfrm>
            <a:prstGeom prst="roundRect">
              <a:avLst>
                <a:gd name="adj" fmla="val 10256"/>
              </a:avLst>
            </a:prstGeom>
            <a:solidFill>
              <a:srgbClr val="E0F2F1"/>
            </a:solidFill>
            <a:ln w="1524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Text 9"/>
            <p:cNvSpPr/>
            <p:nvPr/>
          </p:nvSpPr>
          <p:spPr>
            <a:xfrm>
              <a:off x="4352400" y="1554480"/>
              <a:ext cx="141696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RA3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20 %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Shape 10"/>
            <p:cNvSpPr/>
            <p:nvPr/>
          </p:nvSpPr>
          <p:spPr>
            <a:xfrm>
              <a:off x="6071760" y="1481400"/>
              <a:ext cx="868320" cy="712800"/>
            </a:xfrm>
            <a:prstGeom prst="roundRect">
              <a:avLst>
                <a:gd name="adj" fmla="val 10256"/>
              </a:avLst>
            </a:prstGeom>
            <a:solidFill>
              <a:srgbClr val="E0F7FA"/>
            </a:solidFill>
            <a:ln w="1524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Text 11"/>
            <p:cNvSpPr/>
            <p:nvPr/>
          </p:nvSpPr>
          <p:spPr>
            <a:xfrm>
              <a:off x="6117480" y="1554480"/>
              <a:ext cx="77688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RA4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10 %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Shape 12"/>
            <p:cNvSpPr/>
            <p:nvPr/>
          </p:nvSpPr>
          <p:spPr>
            <a:xfrm>
              <a:off x="7113960" y="1481400"/>
              <a:ext cx="868320" cy="712800"/>
            </a:xfrm>
            <a:prstGeom prst="roundRect">
              <a:avLst>
                <a:gd name="adj" fmla="val 10256"/>
              </a:avLst>
            </a:prstGeom>
            <a:solidFill>
              <a:srgbClr val="E0F7FA"/>
            </a:solidFill>
            <a:ln w="1524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 13"/>
            <p:cNvSpPr/>
            <p:nvPr/>
          </p:nvSpPr>
          <p:spPr>
            <a:xfrm>
              <a:off x="7159680" y="1554480"/>
              <a:ext cx="77688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RA5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 dirty="0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10 %</a:t>
              </a:r>
              <a:endParaRPr lang="en-US" sz="17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Shape 14"/>
            <p:cNvSpPr/>
            <p:nvPr/>
          </p:nvSpPr>
          <p:spPr>
            <a:xfrm>
              <a:off x="8156520" y="1481400"/>
              <a:ext cx="1508400" cy="712800"/>
            </a:xfrm>
            <a:prstGeom prst="roundRect">
              <a:avLst>
                <a:gd name="adj" fmla="val 10256"/>
              </a:avLst>
            </a:prstGeom>
            <a:solidFill>
              <a:srgbClr val="E0F2F1"/>
            </a:solidFill>
            <a:ln w="1524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Text 15"/>
            <p:cNvSpPr/>
            <p:nvPr/>
          </p:nvSpPr>
          <p:spPr>
            <a:xfrm>
              <a:off x="8202240" y="1554480"/>
              <a:ext cx="141696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RA6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700" b="1" u="none" strike="noStrike">
                  <a:solidFill>
                    <a:srgbClr val="004D40"/>
                  </a:solidFill>
                  <a:effectLst/>
                  <a:uFillTx/>
                  <a:latin typeface="Arial"/>
                  <a:ea typeface="Arial"/>
                </a:rPr>
                <a:t>20 %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80D0276-CDE6-4ED4-8336-E3603F4028AB}"/>
              </a:ext>
            </a:extLst>
          </p:cNvPr>
          <p:cNvGrpSpPr/>
          <p:nvPr/>
        </p:nvGrpSpPr>
        <p:grpSpPr>
          <a:xfrm>
            <a:off x="847560" y="3086604"/>
            <a:ext cx="10496880" cy="2212560"/>
            <a:chOff x="891720" y="2821140"/>
            <a:chExt cx="10496880" cy="2212560"/>
          </a:xfrm>
        </p:grpSpPr>
        <p:sp>
          <p:nvSpPr>
            <p:cNvPr id="253" name="Shape 19"/>
            <p:cNvSpPr/>
            <p:nvPr/>
          </p:nvSpPr>
          <p:spPr>
            <a:xfrm>
              <a:off x="891720" y="2821140"/>
              <a:ext cx="5074560" cy="2212560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Shape 20"/>
            <p:cNvSpPr/>
            <p:nvPr/>
          </p:nvSpPr>
          <p:spPr>
            <a:xfrm>
              <a:off x="891720" y="2821140"/>
              <a:ext cx="5074560" cy="475200"/>
            </a:xfrm>
            <a:prstGeom prst="rect">
              <a:avLst/>
            </a:prstGeom>
            <a:solidFill>
              <a:srgbClr val="00897B"/>
            </a:solidFill>
            <a:ln w="1270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Text 21"/>
            <p:cNvSpPr/>
            <p:nvPr/>
          </p:nvSpPr>
          <p:spPr>
            <a:xfrm>
              <a:off x="1092960" y="2875860"/>
              <a:ext cx="467208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Para aprobar</a:t>
              </a:r>
              <a:endParaRPr lang="en-US" sz="1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 22"/>
            <p:cNvSpPr/>
            <p:nvPr/>
          </p:nvSpPr>
          <p:spPr>
            <a:xfrm>
              <a:off x="1129320" y="3497940"/>
              <a:ext cx="4571640" cy="14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Todos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los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RA ≥ 5.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Si un RA no se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supera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, </a:t>
              </a: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el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módulo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no se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supera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.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Shape 23"/>
            <p:cNvSpPr/>
            <p:nvPr/>
          </p:nvSpPr>
          <p:spPr>
            <a:xfrm>
              <a:off x="6314040" y="2821140"/>
              <a:ext cx="5074560" cy="2212560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Shape 24"/>
            <p:cNvSpPr/>
            <p:nvPr/>
          </p:nvSpPr>
          <p:spPr>
            <a:xfrm>
              <a:off x="6314040" y="2821140"/>
              <a:ext cx="5074560" cy="475200"/>
            </a:xfrm>
            <a:prstGeom prst="rect">
              <a:avLst/>
            </a:prstGeom>
            <a:solidFill>
              <a:srgbClr val="00897B"/>
            </a:solidFill>
            <a:ln w="12700">
              <a:solidFill>
                <a:srgbClr val="00897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Text 25"/>
            <p:cNvSpPr/>
            <p:nvPr/>
          </p:nvSpPr>
          <p:spPr>
            <a:xfrm>
              <a:off x="6515280" y="2875860"/>
              <a:ext cx="4672080" cy="38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50" b="1" u="none" strike="noStrike" dirty="0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Nota de </a:t>
              </a:r>
              <a:r>
                <a:rPr lang="en-US" sz="1850" b="1" u="none" strike="noStrike" dirty="0" err="1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cada</a:t>
              </a:r>
              <a:r>
                <a:rPr lang="en-US" sz="1850" b="1" u="none" strike="noStrike" dirty="0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 RA</a:t>
              </a:r>
              <a:endParaRPr lang="en-US" sz="1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Text 26"/>
            <p:cNvSpPr/>
            <p:nvPr/>
          </p:nvSpPr>
          <p:spPr>
            <a:xfrm>
              <a:off x="6551640" y="3497940"/>
              <a:ext cx="4599000" cy="14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80 % Examen / Proyecto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20 %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Actividades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Nota RA =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suma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ponderada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de sus </a:t>
              </a:r>
              <a:r>
                <a:rPr lang="en-US" sz="1820" b="0" u="none" strike="noStrike" dirty="0" err="1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instrumentos</a:t>
              </a:r>
              <a:r>
                <a:rPr lang="en-US" sz="1820" b="0" u="none" strike="noStrike" dirty="0">
                  <a:solidFill>
                    <a:srgbClr val="212121"/>
                  </a:solidFill>
                  <a:effectLst/>
                  <a:uFillTx/>
                  <a:latin typeface="Arial"/>
                  <a:ea typeface="Arial"/>
                </a:rPr>
                <a:t>.</a:t>
              </a:r>
              <a:endParaRPr lang="en-US" sz="182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Escaparate será el hilo conductor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548640" y="987480"/>
            <a:ext cx="11094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Irá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cambiando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 el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2200" b="1" u="none" strike="noStrike" dirty="0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, no la idea de </a:t>
            </a:r>
            <a:r>
              <a:rPr lang="en-US" sz="22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producto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804600" y="1572840"/>
            <a:ext cx="5138640" cy="30628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804600" y="157284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1005840" y="162756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Primera versión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1042560" y="2249280"/>
            <a:ext cx="4663080" cy="23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Monolito Spring Boot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Frontend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integrado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Configuración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externa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6245280" y="1572840"/>
            <a:ext cx="5138640" cy="30628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6245280" y="1572840"/>
            <a:ext cx="5138640" cy="475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6446520" y="1627560"/>
            <a:ext cx="47361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Evolución durante el módulo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6483240" y="2249280"/>
            <a:ext cx="4663080" cy="231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Separaremos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piezas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Añadiremos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Nginx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Mediremos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observaremos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Automatizaremos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con CI/CD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Orquestaremos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despliegues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2"/>
          <p:cNvSpPr/>
          <p:nvPr/>
        </p:nvSpPr>
        <p:spPr>
          <a:xfrm>
            <a:off x="914400" y="5413320"/>
            <a:ext cx="10332360" cy="63972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1115640" y="5495400"/>
            <a:ext cx="99298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El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problema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interesante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no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será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programar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la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aplicación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sino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desplegarla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cada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vez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mejor</a:t>
            </a:r>
            <a:r>
              <a:rPr lang="en-U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1219140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384120" y="18360"/>
            <a:ext cx="11423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Repositorio y materiales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548640" y="649224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 de Aplicaciones Web — Presentación del módulo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548640" y="969120"/>
            <a:ext cx="11094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Apuntes, actividades y entregas vivirán en torno al repositorio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960120" y="1691640"/>
            <a:ext cx="10268280" cy="731160"/>
          </a:xfrm>
          <a:prstGeom prst="rect">
            <a:avLst/>
          </a:prstGeom>
          <a:solidFill>
            <a:srgbClr val="E0F7FA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1161360" y="1774080"/>
            <a:ext cx="98661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https://alejandroroig.github.io/despliegue-daw/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6"/>
          <p:cNvSpPr/>
          <p:nvPr/>
        </p:nvSpPr>
        <p:spPr>
          <a:xfrm>
            <a:off x="960120" y="3063240"/>
            <a:ext cx="1786320" cy="749520"/>
          </a:xfrm>
          <a:prstGeom prst="roundRect">
            <a:avLst>
              <a:gd name="adj" fmla="val 9756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1005840" y="3127320"/>
            <a:ext cx="1649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Leer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2756160" y="31089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3039480" y="3063240"/>
            <a:ext cx="1832040" cy="749520"/>
          </a:xfrm>
          <a:prstGeom prst="roundRect">
            <a:avLst>
              <a:gd name="adj" fmla="val 9756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3130920" y="3127320"/>
            <a:ext cx="1649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Hacer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4881240" y="31089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5164560" y="3063240"/>
            <a:ext cx="1832040" cy="749520"/>
          </a:xfrm>
          <a:prstGeom prst="roundRect">
            <a:avLst>
              <a:gd name="adj" fmla="val 9756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3"/>
          <p:cNvSpPr/>
          <p:nvPr/>
        </p:nvSpPr>
        <p:spPr>
          <a:xfrm>
            <a:off x="5256000" y="3127320"/>
            <a:ext cx="1649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Documentar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7005960" y="31089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5"/>
          <p:cNvSpPr/>
          <p:nvPr/>
        </p:nvSpPr>
        <p:spPr>
          <a:xfrm>
            <a:off x="7289640" y="3063240"/>
            <a:ext cx="1832040" cy="749520"/>
          </a:xfrm>
          <a:prstGeom prst="roundRect">
            <a:avLst>
              <a:gd name="adj" fmla="val 9756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7381080" y="3127320"/>
            <a:ext cx="1649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7"/>
          <p:cNvSpPr/>
          <p:nvPr/>
        </p:nvSpPr>
        <p:spPr>
          <a:xfrm>
            <a:off x="9131040" y="3108960"/>
            <a:ext cx="2739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897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8"/>
          <p:cNvSpPr/>
          <p:nvPr/>
        </p:nvSpPr>
        <p:spPr>
          <a:xfrm>
            <a:off x="9414720" y="3063240"/>
            <a:ext cx="1832040" cy="749520"/>
          </a:xfrm>
          <a:prstGeom prst="roundRect">
            <a:avLst>
              <a:gd name="adj" fmla="val 9756"/>
            </a:avLst>
          </a:prstGeom>
          <a:solidFill>
            <a:srgbClr val="E0F2F1"/>
          </a:solidFill>
          <a:ln w="14605">
            <a:solidFill>
              <a:srgbClr val="00897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9506160" y="3127320"/>
            <a:ext cx="16491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004D40"/>
                </a:solidFill>
                <a:effectLst/>
                <a:uFillTx/>
                <a:latin typeface="Arial"/>
                <a:ea typeface="Arial"/>
              </a:rPr>
              <a:t>Revisar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2">
            <a:extLst>
              <a:ext uri="{FF2B5EF4-FFF2-40B4-BE49-F238E27FC236}">
                <a16:creationId xmlns:a16="http://schemas.microsoft.com/office/drawing/2014/main" id="{66876F92-CFAB-2B20-E1AB-9BED1721C3FE}"/>
              </a:ext>
            </a:extLst>
          </p:cNvPr>
          <p:cNvSpPr/>
          <p:nvPr/>
        </p:nvSpPr>
        <p:spPr>
          <a:xfrm>
            <a:off x="960120" y="4626936"/>
            <a:ext cx="10268280" cy="639720"/>
          </a:xfrm>
          <a:prstGeom prst="rect">
            <a:avLst/>
          </a:prstGeom>
          <a:solidFill>
            <a:srgbClr val="FFFDE7"/>
          </a:solidFill>
          <a:ln w="1524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5361F920-9A22-D00E-E660-EF4DAB855A55}"/>
              </a:ext>
            </a:extLst>
          </p:cNvPr>
          <p:cNvSpPr/>
          <p:nvPr/>
        </p:nvSpPr>
        <p:spPr>
          <a:xfrm>
            <a:off x="1159579" y="4709016"/>
            <a:ext cx="9868296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Usaremos GitHub para el repositorio de trabajo y </a:t>
            </a:r>
            <a:r>
              <a:rPr lang="es-ES" b="0" u="none" strike="noStrike" dirty="0" err="1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Aules</a:t>
            </a:r>
            <a:r>
              <a:rPr lang="es-ES" b="0" u="none" strike="noStrike" dirty="0">
                <a:solidFill>
                  <a:srgbClr val="212121"/>
                </a:solidFill>
                <a:effectLst/>
                <a:uFillTx/>
                <a:latin typeface="Arial"/>
                <a:ea typeface="Arial"/>
              </a:rPr>
              <a:t> para las indicaciones oficiales del grupo.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726</Words>
  <Application>Microsoft Office PowerPoint</Application>
  <PresentationFormat>Panorámica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Álvaro Falomir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ROIG AGUILAR, ALEJANDRO</cp:lastModifiedBy>
  <cp:revision>1</cp:revision>
  <dcterms:modified xsi:type="dcterms:W3CDTF">2026-09-10T22:49:07Z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2026-09-10T22:23:35Z</dcterms:created>
  <dc:creator>Despliegue de Aplicaciones Web</dc:creator>
  <dc:description/>
  <dc:language>en-US</dc:language>
  <cp:lastModifiedBy>Despliegue de Aplicaciones Web</cp:lastModifiedBy>
  <dcterms:modified xsi:type="dcterms:W3CDTF">2026-09-10T22:23:35Z</dcterms:modified>
  <cp:revision>1</cp:revision>
  <dc:subject>Presentación del módulo</dc:subject>
  <dc:title>Despliegue de Aplicaciones Web - Presentación del módulo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