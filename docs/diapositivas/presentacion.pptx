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8" r:id="rId10"/>
    <p:sldId id="264" r:id="rId11"/>
    <p:sldId id="267" r:id="rId12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A305A-52D6-4264-BF33-AF027C8489A4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2FE2485-812C-4961-95DD-1EB9B403A11B}">
      <dgm:prSet phldrT="[Texto]" phldr="0"/>
      <dgm:spPr>
        <a:solidFill>
          <a:schemeClr val="tx2"/>
        </a:solidFill>
      </dgm:spPr>
      <dgm:t>
        <a:bodyPr/>
        <a:lstStyle/>
        <a:p>
          <a:r>
            <a:rPr lang="es-ES" dirty="0"/>
            <a:t>RA1 20%</a:t>
          </a:r>
        </a:p>
      </dgm:t>
    </dgm:pt>
    <dgm:pt modelId="{9C159C8C-C713-45EE-8DCE-7209F91A64F6}" type="parTrans" cxnId="{5FD2A982-8590-4B2A-89DA-BFAF83AFF15F}">
      <dgm:prSet/>
      <dgm:spPr/>
      <dgm:t>
        <a:bodyPr/>
        <a:lstStyle/>
        <a:p>
          <a:endParaRPr lang="es-ES"/>
        </a:p>
      </dgm:t>
    </dgm:pt>
    <dgm:pt modelId="{CD84ED17-3EBE-4806-A94C-9100F142D7E6}" type="sibTrans" cxnId="{5FD2A982-8590-4B2A-89DA-BFAF83AFF15F}">
      <dgm:prSet/>
      <dgm:spPr/>
      <dgm:t>
        <a:bodyPr/>
        <a:lstStyle/>
        <a:p>
          <a:endParaRPr lang="es-ES"/>
        </a:p>
      </dgm:t>
    </dgm:pt>
    <dgm:pt modelId="{6AB999E6-960E-43A4-84A2-18A9B2060FCD}">
      <dgm:prSet phldrT="[Texto]" phldr="0"/>
      <dgm:spPr/>
      <dgm:t>
        <a:bodyPr/>
        <a:lstStyle/>
        <a:p>
          <a:r>
            <a:rPr lang="es-ES" dirty="0"/>
            <a:t>RA2 20%</a:t>
          </a:r>
        </a:p>
      </dgm:t>
    </dgm:pt>
    <dgm:pt modelId="{7B31F65F-876B-44F9-BBBC-E8287292BC2F}" type="parTrans" cxnId="{8FA668CD-FBB7-446C-A093-F4F571A668E9}">
      <dgm:prSet/>
      <dgm:spPr/>
      <dgm:t>
        <a:bodyPr/>
        <a:lstStyle/>
        <a:p>
          <a:endParaRPr lang="es-ES"/>
        </a:p>
      </dgm:t>
    </dgm:pt>
    <dgm:pt modelId="{EB3A08D5-A47F-4D81-AEDA-777F25BABEF1}" type="sibTrans" cxnId="{8FA668CD-FBB7-446C-A093-F4F571A668E9}">
      <dgm:prSet/>
      <dgm:spPr/>
      <dgm:t>
        <a:bodyPr/>
        <a:lstStyle/>
        <a:p>
          <a:endParaRPr lang="es-ES"/>
        </a:p>
      </dgm:t>
    </dgm:pt>
    <dgm:pt modelId="{A18C0B7A-F6B8-464B-A347-35DF7E479160}">
      <dgm:prSet phldrT="[Texto]" phldr="0"/>
      <dgm:spPr/>
      <dgm:t>
        <a:bodyPr/>
        <a:lstStyle/>
        <a:p>
          <a:r>
            <a:rPr lang="es-ES" dirty="0"/>
            <a:t>RA3 20%</a:t>
          </a:r>
        </a:p>
      </dgm:t>
    </dgm:pt>
    <dgm:pt modelId="{0CF7FF38-00A0-41AA-930A-63F554126D86}" type="parTrans" cxnId="{6369B6E2-1ACB-4A77-ABBD-E2EAC348DA79}">
      <dgm:prSet/>
      <dgm:spPr/>
      <dgm:t>
        <a:bodyPr/>
        <a:lstStyle/>
        <a:p>
          <a:endParaRPr lang="es-ES"/>
        </a:p>
      </dgm:t>
    </dgm:pt>
    <dgm:pt modelId="{DA6B0577-72B7-45DA-BE4C-359B7699A0D9}" type="sibTrans" cxnId="{6369B6E2-1ACB-4A77-ABBD-E2EAC348DA79}">
      <dgm:prSet/>
      <dgm:spPr/>
      <dgm:t>
        <a:bodyPr/>
        <a:lstStyle/>
        <a:p>
          <a:endParaRPr lang="es-ES"/>
        </a:p>
      </dgm:t>
    </dgm:pt>
    <dgm:pt modelId="{C47808F7-C5D1-4EEE-B9B5-DA8AB735E489}">
      <dgm:prSet phldrT="[Texto]" phldr="0"/>
      <dgm:spPr/>
      <dgm:t>
        <a:bodyPr/>
        <a:lstStyle/>
        <a:p>
          <a:r>
            <a:rPr lang="es-ES" dirty="0"/>
            <a:t>RA4 10%</a:t>
          </a:r>
        </a:p>
      </dgm:t>
    </dgm:pt>
    <dgm:pt modelId="{66B80285-95A0-44FF-96E2-41F344F4B8E0}" type="parTrans" cxnId="{74F898C2-0A0A-406C-8BA9-5A6742988BB0}">
      <dgm:prSet/>
      <dgm:spPr/>
      <dgm:t>
        <a:bodyPr/>
        <a:lstStyle/>
        <a:p>
          <a:endParaRPr lang="es-ES"/>
        </a:p>
      </dgm:t>
    </dgm:pt>
    <dgm:pt modelId="{A9EF5FBE-B664-4880-AD71-456EBF34EE06}" type="sibTrans" cxnId="{74F898C2-0A0A-406C-8BA9-5A6742988BB0}">
      <dgm:prSet/>
      <dgm:spPr/>
      <dgm:t>
        <a:bodyPr/>
        <a:lstStyle/>
        <a:p>
          <a:endParaRPr lang="es-ES"/>
        </a:p>
      </dgm:t>
    </dgm:pt>
    <dgm:pt modelId="{55C0FCC9-38A5-48B3-A786-85D010ADF873}">
      <dgm:prSet phldrT="[Texto]" phldr="0"/>
      <dgm:spPr/>
      <dgm:t>
        <a:bodyPr/>
        <a:lstStyle/>
        <a:p>
          <a:r>
            <a:rPr lang="es-ES" dirty="0"/>
            <a:t>RA5 10%</a:t>
          </a:r>
        </a:p>
      </dgm:t>
    </dgm:pt>
    <dgm:pt modelId="{C92483C5-E9C2-44F8-8B33-6E5E2CCA93C0}" type="parTrans" cxnId="{E9AFD909-06DB-4CAD-8832-E4B973FCFC2D}">
      <dgm:prSet/>
      <dgm:spPr/>
      <dgm:t>
        <a:bodyPr/>
        <a:lstStyle/>
        <a:p>
          <a:endParaRPr lang="es-ES"/>
        </a:p>
      </dgm:t>
    </dgm:pt>
    <dgm:pt modelId="{FCB93019-5B97-4034-8357-06CF1B36C5E5}" type="sibTrans" cxnId="{E9AFD909-06DB-4CAD-8832-E4B973FCFC2D}">
      <dgm:prSet/>
      <dgm:spPr/>
      <dgm:t>
        <a:bodyPr/>
        <a:lstStyle/>
        <a:p>
          <a:endParaRPr lang="es-ES"/>
        </a:p>
      </dgm:t>
    </dgm:pt>
    <dgm:pt modelId="{3F6E52D0-DE96-43FD-8FF5-A8E10A35A09A}">
      <dgm:prSet phldrT="[Texto]" phldr="0"/>
      <dgm:spPr/>
      <dgm:t>
        <a:bodyPr/>
        <a:lstStyle/>
        <a:p>
          <a:r>
            <a:rPr lang="es-ES"/>
            <a:t>RA6 20</a:t>
          </a:r>
          <a:r>
            <a:rPr lang="es-ES" dirty="0"/>
            <a:t>%</a:t>
          </a:r>
        </a:p>
      </dgm:t>
    </dgm:pt>
    <dgm:pt modelId="{C462F4B7-77EC-4BB6-BAFC-DE3CF5314877}" type="parTrans" cxnId="{C73056DB-800B-46CF-B660-85DC592C34A6}">
      <dgm:prSet/>
      <dgm:spPr/>
      <dgm:t>
        <a:bodyPr/>
        <a:lstStyle/>
        <a:p>
          <a:endParaRPr lang="es-ES"/>
        </a:p>
      </dgm:t>
    </dgm:pt>
    <dgm:pt modelId="{14B0AF5D-C44D-420F-B48E-0A6B0B0136C5}" type="sibTrans" cxnId="{C73056DB-800B-46CF-B660-85DC592C34A6}">
      <dgm:prSet/>
      <dgm:spPr/>
      <dgm:t>
        <a:bodyPr/>
        <a:lstStyle/>
        <a:p>
          <a:endParaRPr lang="es-ES"/>
        </a:p>
      </dgm:t>
    </dgm:pt>
    <dgm:pt modelId="{FF7233D3-63D5-4748-8560-639244C742A5}" type="pres">
      <dgm:prSet presAssocID="{B18A305A-52D6-4264-BF33-AF027C8489A4}" presName="compositeShape" presStyleCnt="0">
        <dgm:presLayoutVars>
          <dgm:chMax val="7"/>
          <dgm:dir/>
          <dgm:resizeHandles val="exact"/>
        </dgm:presLayoutVars>
      </dgm:prSet>
      <dgm:spPr/>
    </dgm:pt>
    <dgm:pt modelId="{5339C3D4-3174-44AD-863B-F7F4C062A97A}" type="pres">
      <dgm:prSet presAssocID="{B18A305A-52D6-4264-BF33-AF027C8489A4}" presName="wedge1" presStyleLbl="node1" presStyleIdx="0" presStyleCnt="6" custLinFactNeighborX="-2982" custLinFactNeighborY="5164"/>
      <dgm:spPr/>
    </dgm:pt>
    <dgm:pt modelId="{BE8CFBAC-E9EB-4BDC-B91D-106826BA3499}" type="pres">
      <dgm:prSet presAssocID="{B18A305A-52D6-4264-BF33-AF027C8489A4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D7CDFBB-E3D7-4512-A25B-8C87F300DAD3}" type="pres">
      <dgm:prSet presAssocID="{B18A305A-52D6-4264-BF33-AF027C8489A4}" presName="wedge2" presStyleLbl="node1" presStyleIdx="1" presStyleCnt="6"/>
      <dgm:spPr/>
    </dgm:pt>
    <dgm:pt modelId="{03F988A6-D482-4E6B-AC8A-44BCD66CD3C4}" type="pres">
      <dgm:prSet presAssocID="{B18A305A-52D6-4264-BF33-AF027C8489A4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C3E2CD3-7D2C-4307-BC94-4B2A50D66CA5}" type="pres">
      <dgm:prSet presAssocID="{B18A305A-52D6-4264-BF33-AF027C8489A4}" presName="wedge3" presStyleLbl="node1" presStyleIdx="2" presStyleCnt="6"/>
      <dgm:spPr/>
    </dgm:pt>
    <dgm:pt modelId="{586B5798-182E-4C76-B935-40762B12FEF6}" type="pres">
      <dgm:prSet presAssocID="{B18A305A-52D6-4264-BF33-AF027C8489A4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1A34F58D-BF81-4348-A3F3-BEC4470B77A5}" type="pres">
      <dgm:prSet presAssocID="{B18A305A-52D6-4264-BF33-AF027C8489A4}" presName="wedge4" presStyleLbl="node1" presStyleIdx="3" presStyleCnt="6" custLinFactNeighborX="-4005" custLinFactNeighborY="3533"/>
      <dgm:spPr/>
    </dgm:pt>
    <dgm:pt modelId="{74D6848C-2118-4295-9ECE-0FBE215EF96D}" type="pres">
      <dgm:prSet presAssocID="{B18A305A-52D6-4264-BF33-AF027C8489A4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F0D4AE26-6B03-4420-A6B3-554F433DE69E}" type="pres">
      <dgm:prSet presAssocID="{B18A305A-52D6-4264-BF33-AF027C8489A4}" presName="wedge5" presStyleLbl="node1" presStyleIdx="4" presStyleCnt="6" custLinFactNeighborX="-6046" custLinFactNeighborY="507"/>
      <dgm:spPr/>
    </dgm:pt>
    <dgm:pt modelId="{21C3D78A-CEB6-4F14-BB1C-EC520870394D}" type="pres">
      <dgm:prSet presAssocID="{B18A305A-52D6-4264-BF33-AF027C8489A4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B21D592-9A29-4556-9B31-0F4A1EA512D4}" type="pres">
      <dgm:prSet presAssocID="{B18A305A-52D6-4264-BF33-AF027C8489A4}" presName="wedge6" presStyleLbl="node1" presStyleIdx="5" presStyleCnt="6"/>
      <dgm:spPr/>
    </dgm:pt>
    <dgm:pt modelId="{14CF72B1-D1FB-4CAA-A502-F97884F9B5BA}" type="pres">
      <dgm:prSet presAssocID="{B18A305A-52D6-4264-BF33-AF027C8489A4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9AFD909-06DB-4CAD-8832-E4B973FCFC2D}" srcId="{B18A305A-52D6-4264-BF33-AF027C8489A4}" destId="{55C0FCC9-38A5-48B3-A786-85D010ADF873}" srcOrd="4" destOrd="0" parTransId="{C92483C5-E9C2-44F8-8B33-6E5E2CCA93C0}" sibTransId="{FCB93019-5B97-4034-8357-06CF1B36C5E5}"/>
    <dgm:cxn modelId="{66118841-1443-4E31-BBE4-E35DE81272A4}" type="presOf" srcId="{C47808F7-C5D1-4EEE-B9B5-DA8AB735E489}" destId="{1A34F58D-BF81-4348-A3F3-BEC4470B77A5}" srcOrd="0" destOrd="0" presId="urn:microsoft.com/office/officeart/2005/8/layout/chart3"/>
    <dgm:cxn modelId="{FC7B1865-3ABD-4659-A324-8CB633B835EA}" type="presOf" srcId="{A2FE2485-812C-4961-95DD-1EB9B403A11B}" destId="{5339C3D4-3174-44AD-863B-F7F4C062A97A}" srcOrd="0" destOrd="0" presId="urn:microsoft.com/office/officeart/2005/8/layout/chart3"/>
    <dgm:cxn modelId="{BEEF4E74-552C-4D29-9186-F671C4E84AFD}" type="presOf" srcId="{B18A305A-52D6-4264-BF33-AF027C8489A4}" destId="{FF7233D3-63D5-4748-8560-639244C742A5}" srcOrd="0" destOrd="0" presId="urn:microsoft.com/office/officeart/2005/8/layout/chart3"/>
    <dgm:cxn modelId="{80A73958-8217-4F31-AFB7-E0308DA52FF6}" type="presOf" srcId="{A18C0B7A-F6B8-464B-A347-35DF7E479160}" destId="{586B5798-182E-4C76-B935-40762B12FEF6}" srcOrd="1" destOrd="0" presId="urn:microsoft.com/office/officeart/2005/8/layout/chart3"/>
    <dgm:cxn modelId="{5FD2A982-8590-4B2A-89DA-BFAF83AFF15F}" srcId="{B18A305A-52D6-4264-BF33-AF027C8489A4}" destId="{A2FE2485-812C-4961-95DD-1EB9B403A11B}" srcOrd="0" destOrd="0" parTransId="{9C159C8C-C713-45EE-8DCE-7209F91A64F6}" sibTransId="{CD84ED17-3EBE-4806-A94C-9100F142D7E6}"/>
    <dgm:cxn modelId="{A7D9838B-2374-4922-9040-D0D7CB58FE4F}" type="presOf" srcId="{55C0FCC9-38A5-48B3-A786-85D010ADF873}" destId="{21C3D78A-CEB6-4F14-BB1C-EC520870394D}" srcOrd="1" destOrd="0" presId="urn:microsoft.com/office/officeart/2005/8/layout/chart3"/>
    <dgm:cxn modelId="{53061F8C-6A7A-4BE9-8790-2CB26B2BC3DF}" type="presOf" srcId="{3F6E52D0-DE96-43FD-8FF5-A8E10A35A09A}" destId="{14CF72B1-D1FB-4CAA-A502-F97884F9B5BA}" srcOrd="1" destOrd="0" presId="urn:microsoft.com/office/officeart/2005/8/layout/chart3"/>
    <dgm:cxn modelId="{47C6549B-0CBE-4CEE-9C49-051FB96EA98D}" type="presOf" srcId="{C47808F7-C5D1-4EEE-B9B5-DA8AB735E489}" destId="{74D6848C-2118-4295-9ECE-0FBE215EF96D}" srcOrd="1" destOrd="0" presId="urn:microsoft.com/office/officeart/2005/8/layout/chart3"/>
    <dgm:cxn modelId="{1AFB4DA2-E1D5-42B3-BA55-6AB3346D52BC}" type="presOf" srcId="{55C0FCC9-38A5-48B3-A786-85D010ADF873}" destId="{F0D4AE26-6B03-4420-A6B3-554F433DE69E}" srcOrd="0" destOrd="0" presId="urn:microsoft.com/office/officeart/2005/8/layout/chart3"/>
    <dgm:cxn modelId="{DD11C6A2-9956-4BCC-8EED-35227496ACBE}" type="presOf" srcId="{A18C0B7A-F6B8-464B-A347-35DF7E479160}" destId="{BC3E2CD3-7D2C-4307-BC94-4B2A50D66CA5}" srcOrd="0" destOrd="0" presId="urn:microsoft.com/office/officeart/2005/8/layout/chart3"/>
    <dgm:cxn modelId="{858540A6-86DE-47DB-9F3E-70DCCCE3A47D}" type="presOf" srcId="{A2FE2485-812C-4961-95DD-1EB9B403A11B}" destId="{BE8CFBAC-E9EB-4BDC-B91D-106826BA3499}" srcOrd="1" destOrd="0" presId="urn:microsoft.com/office/officeart/2005/8/layout/chart3"/>
    <dgm:cxn modelId="{4839B1BE-7563-4A09-A202-B21EF7967CA4}" type="presOf" srcId="{6AB999E6-960E-43A4-84A2-18A9B2060FCD}" destId="{5D7CDFBB-E3D7-4512-A25B-8C87F300DAD3}" srcOrd="0" destOrd="0" presId="urn:microsoft.com/office/officeart/2005/8/layout/chart3"/>
    <dgm:cxn modelId="{74F898C2-0A0A-406C-8BA9-5A6742988BB0}" srcId="{B18A305A-52D6-4264-BF33-AF027C8489A4}" destId="{C47808F7-C5D1-4EEE-B9B5-DA8AB735E489}" srcOrd="3" destOrd="0" parTransId="{66B80285-95A0-44FF-96E2-41F344F4B8E0}" sibTransId="{A9EF5FBE-B664-4880-AD71-456EBF34EE06}"/>
    <dgm:cxn modelId="{8FA668CD-FBB7-446C-A093-F4F571A668E9}" srcId="{B18A305A-52D6-4264-BF33-AF027C8489A4}" destId="{6AB999E6-960E-43A4-84A2-18A9B2060FCD}" srcOrd="1" destOrd="0" parTransId="{7B31F65F-876B-44F9-BBBC-E8287292BC2F}" sibTransId="{EB3A08D5-A47F-4D81-AEDA-777F25BABEF1}"/>
    <dgm:cxn modelId="{C73056DB-800B-46CF-B660-85DC592C34A6}" srcId="{B18A305A-52D6-4264-BF33-AF027C8489A4}" destId="{3F6E52D0-DE96-43FD-8FF5-A8E10A35A09A}" srcOrd="5" destOrd="0" parTransId="{C462F4B7-77EC-4BB6-BAFC-DE3CF5314877}" sibTransId="{14B0AF5D-C44D-420F-B48E-0A6B0B0136C5}"/>
    <dgm:cxn modelId="{BF4245E0-693B-44AE-80AC-562F3E54067F}" type="presOf" srcId="{3F6E52D0-DE96-43FD-8FF5-A8E10A35A09A}" destId="{6B21D592-9A29-4556-9B31-0F4A1EA512D4}" srcOrd="0" destOrd="0" presId="urn:microsoft.com/office/officeart/2005/8/layout/chart3"/>
    <dgm:cxn modelId="{6369B6E2-1ACB-4A77-ABBD-E2EAC348DA79}" srcId="{B18A305A-52D6-4264-BF33-AF027C8489A4}" destId="{A18C0B7A-F6B8-464B-A347-35DF7E479160}" srcOrd="2" destOrd="0" parTransId="{0CF7FF38-00A0-41AA-930A-63F554126D86}" sibTransId="{DA6B0577-72B7-45DA-BE4C-359B7699A0D9}"/>
    <dgm:cxn modelId="{7F1716F6-AE6C-44FA-8812-9FAC6BAC241C}" type="presOf" srcId="{6AB999E6-960E-43A4-84A2-18A9B2060FCD}" destId="{03F988A6-D482-4E6B-AC8A-44BCD66CD3C4}" srcOrd="1" destOrd="0" presId="urn:microsoft.com/office/officeart/2005/8/layout/chart3"/>
    <dgm:cxn modelId="{5A66CECD-05E2-47BB-9691-438952C89AA3}" type="presParOf" srcId="{FF7233D3-63D5-4748-8560-639244C742A5}" destId="{5339C3D4-3174-44AD-863B-F7F4C062A97A}" srcOrd="0" destOrd="0" presId="urn:microsoft.com/office/officeart/2005/8/layout/chart3"/>
    <dgm:cxn modelId="{A4220DB8-BDBF-472C-867A-3C0EA172FA03}" type="presParOf" srcId="{FF7233D3-63D5-4748-8560-639244C742A5}" destId="{BE8CFBAC-E9EB-4BDC-B91D-106826BA3499}" srcOrd="1" destOrd="0" presId="urn:microsoft.com/office/officeart/2005/8/layout/chart3"/>
    <dgm:cxn modelId="{EB510F59-D723-47F2-8210-C4FA810B5BFD}" type="presParOf" srcId="{FF7233D3-63D5-4748-8560-639244C742A5}" destId="{5D7CDFBB-E3D7-4512-A25B-8C87F300DAD3}" srcOrd="2" destOrd="0" presId="urn:microsoft.com/office/officeart/2005/8/layout/chart3"/>
    <dgm:cxn modelId="{49CD48DE-2ADF-4470-8C88-756CB8047894}" type="presParOf" srcId="{FF7233D3-63D5-4748-8560-639244C742A5}" destId="{03F988A6-D482-4E6B-AC8A-44BCD66CD3C4}" srcOrd="3" destOrd="0" presId="urn:microsoft.com/office/officeart/2005/8/layout/chart3"/>
    <dgm:cxn modelId="{9A2706E5-7C03-44A4-9380-05C34CB1A273}" type="presParOf" srcId="{FF7233D3-63D5-4748-8560-639244C742A5}" destId="{BC3E2CD3-7D2C-4307-BC94-4B2A50D66CA5}" srcOrd="4" destOrd="0" presId="urn:microsoft.com/office/officeart/2005/8/layout/chart3"/>
    <dgm:cxn modelId="{0A72C1D0-1EC6-4A66-A367-8729220C48C1}" type="presParOf" srcId="{FF7233D3-63D5-4748-8560-639244C742A5}" destId="{586B5798-182E-4C76-B935-40762B12FEF6}" srcOrd="5" destOrd="0" presId="urn:microsoft.com/office/officeart/2005/8/layout/chart3"/>
    <dgm:cxn modelId="{A0B4C0DF-9A24-4E25-BFC5-B2D979498EAB}" type="presParOf" srcId="{FF7233D3-63D5-4748-8560-639244C742A5}" destId="{1A34F58D-BF81-4348-A3F3-BEC4470B77A5}" srcOrd="6" destOrd="0" presId="urn:microsoft.com/office/officeart/2005/8/layout/chart3"/>
    <dgm:cxn modelId="{FD8B805D-6A96-4005-A641-D656A8045344}" type="presParOf" srcId="{FF7233D3-63D5-4748-8560-639244C742A5}" destId="{74D6848C-2118-4295-9ECE-0FBE215EF96D}" srcOrd="7" destOrd="0" presId="urn:microsoft.com/office/officeart/2005/8/layout/chart3"/>
    <dgm:cxn modelId="{032D434F-770B-4749-8ADE-CB21C42800C7}" type="presParOf" srcId="{FF7233D3-63D5-4748-8560-639244C742A5}" destId="{F0D4AE26-6B03-4420-A6B3-554F433DE69E}" srcOrd="8" destOrd="0" presId="urn:microsoft.com/office/officeart/2005/8/layout/chart3"/>
    <dgm:cxn modelId="{1698F553-54BD-4B95-B8CC-6590413F14C3}" type="presParOf" srcId="{FF7233D3-63D5-4748-8560-639244C742A5}" destId="{21C3D78A-CEB6-4F14-BB1C-EC520870394D}" srcOrd="9" destOrd="0" presId="urn:microsoft.com/office/officeart/2005/8/layout/chart3"/>
    <dgm:cxn modelId="{4FED50D8-BAAC-4292-A983-806CFC88B7C0}" type="presParOf" srcId="{FF7233D3-63D5-4748-8560-639244C742A5}" destId="{6B21D592-9A29-4556-9B31-0F4A1EA512D4}" srcOrd="10" destOrd="0" presId="urn:microsoft.com/office/officeart/2005/8/layout/chart3"/>
    <dgm:cxn modelId="{D8C23E01-D0F0-48AB-BF05-AC5D9EC35F57}" type="presParOf" srcId="{FF7233D3-63D5-4748-8560-639244C742A5}" destId="{14CF72B1-D1FB-4CAA-A502-F97884F9B5BA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9C3D4-3174-44AD-863B-F7F4C062A97A}">
      <dsp:nvSpPr>
        <dsp:cNvPr id="0" name=""/>
        <dsp:cNvSpPr/>
      </dsp:nvSpPr>
      <dsp:spPr>
        <a:xfrm>
          <a:off x="1565051" y="308440"/>
          <a:ext cx="2546900" cy="2546900"/>
        </a:xfrm>
        <a:prstGeom prst="pie">
          <a:avLst>
            <a:gd name="adj1" fmla="val 16200000"/>
            <a:gd name="adj2" fmla="val 19800000"/>
          </a:avLst>
        </a:prstGeom>
        <a:solidFill>
          <a:schemeClr val="tx2"/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RA1 20%</a:t>
          </a:r>
        </a:p>
      </dsp:txBody>
      <dsp:txXfrm>
        <a:off x="2865789" y="581322"/>
        <a:ext cx="742845" cy="545764"/>
      </dsp:txXfrm>
    </dsp:sp>
    <dsp:sp modelId="{5D7CDFBB-E3D7-4512-A25B-8C87F300DAD3}">
      <dsp:nvSpPr>
        <dsp:cNvPr id="0" name=""/>
        <dsp:cNvSpPr/>
      </dsp:nvSpPr>
      <dsp:spPr>
        <a:xfrm>
          <a:off x="1565199" y="308205"/>
          <a:ext cx="2546900" cy="2546900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RA2 20%</a:t>
          </a:r>
        </a:p>
      </dsp:txBody>
      <dsp:txXfrm>
        <a:off x="3308613" y="1323933"/>
        <a:ext cx="770134" cy="515444"/>
      </dsp:txXfrm>
    </dsp:sp>
    <dsp:sp modelId="{BC3E2CD3-7D2C-4307-BC94-4B2A50D66CA5}">
      <dsp:nvSpPr>
        <dsp:cNvPr id="0" name=""/>
        <dsp:cNvSpPr/>
      </dsp:nvSpPr>
      <dsp:spPr>
        <a:xfrm>
          <a:off x="1565199" y="308205"/>
          <a:ext cx="2546900" cy="2546900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RA3 20%</a:t>
          </a:r>
        </a:p>
      </dsp:txBody>
      <dsp:txXfrm>
        <a:off x="2865937" y="2036458"/>
        <a:ext cx="742845" cy="545764"/>
      </dsp:txXfrm>
    </dsp:sp>
    <dsp:sp modelId="{1A34F58D-BF81-4348-A3F3-BEC4470B77A5}">
      <dsp:nvSpPr>
        <dsp:cNvPr id="0" name=""/>
        <dsp:cNvSpPr/>
      </dsp:nvSpPr>
      <dsp:spPr>
        <a:xfrm>
          <a:off x="1463196" y="398187"/>
          <a:ext cx="2546900" cy="2546900"/>
        </a:xfrm>
        <a:prstGeom prst="pie">
          <a:avLst>
            <a:gd name="adj1" fmla="val 5400000"/>
            <a:gd name="adj2" fmla="val 90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RA4 10%</a:t>
          </a:r>
        </a:p>
      </dsp:txBody>
      <dsp:txXfrm>
        <a:off x="1966512" y="2126440"/>
        <a:ext cx="742845" cy="545764"/>
      </dsp:txXfrm>
    </dsp:sp>
    <dsp:sp modelId="{F0D4AE26-6B03-4420-A6B3-554F433DE69E}">
      <dsp:nvSpPr>
        <dsp:cNvPr id="0" name=""/>
        <dsp:cNvSpPr/>
      </dsp:nvSpPr>
      <dsp:spPr>
        <a:xfrm>
          <a:off x="1411214" y="321118"/>
          <a:ext cx="2546900" cy="2546900"/>
        </a:xfrm>
        <a:prstGeom prst="pie">
          <a:avLst>
            <a:gd name="adj1" fmla="val 9000000"/>
            <a:gd name="adj2" fmla="val 126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RA5 10%</a:t>
          </a:r>
        </a:p>
      </dsp:txBody>
      <dsp:txXfrm>
        <a:off x="1450630" y="1336846"/>
        <a:ext cx="770134" cy="515444"/>
      </dsp:txXfrm>
    </dsp:sp>
    <dsp:sp modelId="{6B21D592-9A29-4556-9B31-0F4A1EA512D4}">
      <dsp:nvSpPr>
        <dsp:cNvPr id="0" name=""/>
        <dsp:cNvSpPr/>
      </dsp:nvSpPr>
      <dsp:spPr>
        <a:xfrm>
          <a:off x="1565199" y="308205"/>
          <a:ext cx="2546900" cy="2546900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RA6 20</a:t>
          </a:r>
          <a:r>
            <a:rPr lang="es-ES" sz="1600" kern="1200" dirty="0"/>
            <a:t>%</a:t>
          </a:r>
        </a:p>
      </dsp:txBody>
      <dsp:txXfrm>
        <a:off x="2068515" y="581087"/>
        <a:ext cx="742845" cy="545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A0E75E-1941-4BB0-B094-FF541B6BEAE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 el módulo como un cambio de foco: programar no basta; una aplicación debe poder ejecutarse de forma fiable para otros usuarios.</a:t>
            </a: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FAE20-6120-4FAF-9608-C6F2DC4AF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Completa duración u horario exacto si quieres personalizar la diapositiva antes de usarla.</a:t>
            </a: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9BABB-97DF-44D9-A686-8B7FB9AE9F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29BCBB-06AC-4104-9EC0-B39DA65FB3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912BC0-FA29-4014-B629-51287E3A8A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269E7F-6AB0-4094-9E73-057CC95D4A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FAC8AB-737C-402E-B6B3-593519C5B3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320FE1-7233-4B51-8DD5-B166DDA923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Ajusta porcentajes o normas oficiales según la programación didáctica definitiva.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FA4D43-C552-412C-A9DC-6C7876C0E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7A61-FEC7-C1CC-D1EA-35BC2B6F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>
            <a:extLst>
              <a:ext uri="{FF2B5EF4-FFF2-40B4-BE49-F238E27FC236}">
                <a16:creationId xmlns:a16="http://schemas.microsoft.com/office/drawing/2014/main" id="{78E5406C-F0F0-EF2A-49F7-7AE623EBF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>
            <a:extLst>
              <a:ext uri="{FF2B5EF4-FFF2-40B4-BE49-F238E27FC236}">
                <a16:creationId xmlns:a16="http://schemas.microsoft.com/office/drawing/2014/main" id="{C3E745EA-A138-1BB2-1517-4B2AE42726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Ajusta porcentajes o normas oficiales según la programación didáctica definitiva.</a:t>
            </a:r>
          </a:p>
        </p:txBody>
      </p:sp>
      <p:sp>
        <p:nvSpPr>
          <p:cNvPr id="216" name="PlaceHolder 3">
            <a:extLst>
              <a:ext uri="{FF2B5EF4-FFF2-40B4-BE49-F238E27FC236}">
                <a16:creationId xmlns:a16="http://schemas.microsoft.com/office/drawing/2014/main" id="{11702193-F756-1225-C2A2-2D5132494D2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FA4D43-C552-412C-A9DC-6C7876C0E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859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9D0FBE-C5DA-4DB9-8B5E-0059560D9F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FFC46F-988D-46B5-B713-4CD594136C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svg"/><Relationship Id="rId9" Type="http://schemas.microsoft.com/office/2007/relationships/diagramDrawing" Target="../diagrams/drawin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2" b="6192"/>
          <a:stretch/>
        </p:blipFill>
        <p:spPr>
          <a:xfrm>
            <a:off x="6321840" y="0"/>
            <a:ext cx="5870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Shape 1"/>
          <p:cNvSpPr/>
          <p:nvPr/>
        </p:nvSpPr>
        <p:spPr>
          <a:xfrm>
            <a:off x="6126480" y="0"/>
            <a:ext cx="319680" cy="6857640"/>
          </a:xfrm>
          <a:prstGeom prst="rect">
            <a:avLst/>
          </a:prstGeom>
          <a:solidFill>
            <a:srgbClr val="F7FAFF">
              <a:alpha val="90000"/>
            </a:srgbClr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67000" y="109728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7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Despliegue</a:t>
            </a:r>
            <a:r>
              <a:rPr lang="en-US" sz="37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de </a:t>
            </a:r>
            <a:r>
              <a:rPr lang="en-US" sz="37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Aplicaciones</a:t>
            </a:r>
            <a:r>
              <a:rPr lang="en-US" sz="37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Web</a:t>
            </a:r>
            <a:endParaRPr lang="en-US" sz="3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567000" y="2487240"/>
            <a:ext cx="1096920" cy="727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7000" y="278892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Presentación del </a:t>
            </a:r>
            <a:r>
              <a:rPr lang="en-US" sz="18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módulo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EAC143D-330A-B0E0-57EA-E0F204064FEE}"/>
              </a:ext>
            </a:extLst>
          </p:cNvPr>
          <p:cNvSpPr/>
          <p:nvPr/>
        </p:nvSpPr>
        <p:spPr>
          <a:xfrm>
            <a:off x="567000" y="548640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2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Despliegue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de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Aplicaciones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Web ·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Curso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2026-2027</a:t>
            </a:r>
            <a:r>
              <a:rPr lang="en-US" sz="1200" dirty="0">
                <a:solidFill>
                  <a:srgbClr val="5E6A83"/>
                </a:solidFill>
              </a:rPr>
              <a:t> </a:t>
            </a:r>
          </a:p>
          <a:p>
            <a:pPr>
              <a:lnSpc>
                <a:spcPct val="2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5E6A83"/>
                </a:solidFill>
              </a:rPr>
              <a:t>IES Álvaro </a:t>
            </a:r>
            <a:r>
              <a:rPr lang="en-US" sz="1200" dirty="0" err="1">
                <a:solidFill>
                  <a:srgbClr val="5E6A83"/>
                </a:solidFill>
              </a:rPr>
              <a:t>Falomir</a:t>
            </a:r>
            <a:r>
              <a:rPr lang="en-US" sz="1200" dirty="0">
                <a:solidFill>
                  <a:srgbClr val="5E6A83"/>
                </a:solidFill>
              </a:rPr>
              <a:t> · Alejandro Roig Aguilar</a:t>
            </a: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11480" y="174240"/>
            <a:ext cx="8960760" cy="63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Características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del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módulo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2/12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Table 0"/>
          <p:cNvGraphicFramePr/>
          <p:nvPr>
            <p:extLst>
              <p:ext uri="{D42A27DB-BD31-4B8C-83A1-F6EECF244321}">
                <p14:modId xmlns:p14="http://schemas.microsoft.com/office/powerpoint/2010/main" val="1016304725"/>
              </p:ext>
            </p:extLst>
          </p:nvPr>
        </p:nvGraphicFramePr>
        <p:xfrm>
          <a:off x="677880" y="2505600"/>
          <a:ext cx="10835640" cy="3085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Módulo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0614 - </a:t>
                      </a: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Despliegue</a:t>
                      </a: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de </a:t>
                      </a: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Aplicaciones</a:t>
                      </a: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Web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Curso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2º CFGS Desarrollo de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Aplicaciones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Web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Duración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100 horas (33 Semanas x 3 horas)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Normativa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s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Decreto 405/2023, que actualiza al Real Decreto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686/2010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Horario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Viernes de 10:15 a 13:30 (patio </a:t>
                      </a: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por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medio)</a:t>
                      </a: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044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11480" y="201240"/>
            <a:ext cx="1054862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No desplegamos solo archivos: desplegamos procesos reproducibles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3/12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/mnt/data/tema1_revision_visual_v2/img/despliegue-manual-reproducible.png"/>
          <p:cNvPicPr/>
          <p:nvPr/>
        </p:nvPicPr>
        <p:blipFill>
          <a:blip r:embed="rId3"/>
          <a:stretch/>
        </p:blipFill>
        <p:spPr>
          <a:xfrm>
            <a:off x="2547000" y="1143000"/>
            <a:ext cx="706716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8"/>
          <p:cNvSpPr/>
          <p:nvPr/>
        </p:nvSpPr>
        <p:spPr>
          <a:xfrm>
            <a:off x="904575" y="5629150"/>
            <a:ext cx="10382250" cy="4787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dirty="0" err="1">
                <a:solidFill>
                  <a:srgbClr val="0B1F4D"/>
                </a:solidFill>
              </a:rPr>
              <a:t>Objetivo</a:t>
            </a:r>
            <a:r>
              <a:rPr lang="en-US" sz="1600" b="1" dirty="0">
                <a:solidFill>
                  <a:srgbClr val="0B1F4D"/>
                </a:solidFill>
              </a:rPr>
              <a:t>: </a:t>
            </a:r>
            <a:r>
              <a:rPr lang="en-US" sz="1600" b="1" dirty="0" err="1">
                <a:solidFill>
                  <a:srgbClr val="0B1F4D"/>
                </a:solidFill>
              </a:rPr>
              <a:t>que</a:t>
            </a:r>
            <a:r>
              <a:rPr lang="en-US" sz="1600" b="1" dirty="0">
                <a:solidFill>
                  <a:srgbClr val="0B1F4D"/>
                </a:solidFill>
              </a:rPr>
              <a:t> el camino </a:t>
            </a:r>
            <a:r>
              <a:rPr lang="en-US" sz="1600" b="1" dirty="0" err="1">
                <a:solidFill>
                  <a:srgbClr val="0B1F4D"/>
                </a:solidFill>
              </a:rPr>
              <a:t>desde</a:t>
            </a:r>
            <a:r>
              <a:rPr lang="en-US" sz="1600" b="1" dirty="0">
                <a:solidFill>
                  <a:srgbClr val="0B1F4D"/>
                </a:solidFill>
              </a:rPr>
              <a:t> el </a:t>
            </a:r>
            <a:r>
              <a:rPr lang="en-US" sz="1600" b="1" dirty="0" err="1">
                <a:solidFill>
                  <a:srgbClr val="0B1F4D"/>
                </a:solidFill>
              </a:rPr>
              <a:t>código</a:t>
            </a:r>
            <a:r>
              <a:rPr lang="en-US" sz="1600" b="1" dirty="0">
                <a:solidFill>
                  <a:srgbClr val="0B1F4D"/>
                </a:solidFill>
              </a:rPr>
              <a:t> hasta el </a:t>
            </a:r>
            <a:r>
              <a:rPr lang="en-US" sz="1600" b="1" dirty="0" err="1">
                <a:solidFill>
                  <a:srgbClr val="0B1F4D"/>
                </a:solidFill>
              </a:rPr>
              <a:t>usuario</a:t>
            </a:r>
            <a:r>
              <a:rPr lang="en-US" sz="1600" b="1" dirty="0">
                <a:solidFill>
                  <a:srgbClr val="0B1F4D"/>
                </a:solidFill>
              </a:rPr>
              <a:t> </a:t>
            </a:r>
            <a:r>
              <a:rPr lang="en-US" sz="1600" b="1" dirty="0" err="1">
                <a:solidFill>
                  <a:srgbClr val="0B1F4D"/>
                </a:solidFill>
              </a:rPr>
              <a:t>pueda</a:t>
            </a:r>
            <a:r>
              <a:rPr lang="en-US" sz="1600" b="1" dirty="0">
                <a:solidFill>
                  <a:srgbClr val="0B1F4D"/>
                </a:solidFill>
              </a:rPr>
              <a:t> </a:t>
            </a:r>
            <a:r>
              <a:rPr lang="en-US" sz="1600" b="1" dirty="0" err="1">
                <a:solidFill>
                  <a:srgbClr val="0B1F4D"/>
                </a:solidFill>
              </a:rPr>
              <a:t>entenderse</a:t>
            </a:r>
            <a:r>
              <a:rPr lang="en-US" sz="1600" b="1" dirty="0">
                <a:solidFill>
                  <a:srgbClr val="0B1F4D"/>
                </a:solidFill>
              </a:rPr>
              <a:t>, </a:t>
            </a:r>
            <a:r>
              <a:rPr lang="en-US" sz="1600" b="1" dirty="0" err="1">
                <a:solidFill>
                  <a:srgbClr val="0B1F4D"/>
                </a:solidFill>
              </a:rPr>
              <a:t>repetirse</a:t>
            </a:r>
            <a:r>
              <a:rPr lang="en-US" sz="1600" b="1" dirty="0">
                <a:solidFill>
                  <a:srgbClr val="0B1F4D"/>
                </a:solidFill>
              </a:rPr>
              <a:t>, </a:t>
            </a:r>
            <a:r>
              <a:rPr lang="en-US" sz="1600" b="1" dirty="0" err="1">
                <a:solidFill>
                  <a:srgbClr val="0B1F4D"/>
                </a:solidFill>
              </a:rPr>
              <a:t>comprobarse</a:t>
            </a:r>
            <a:r>
              <a:rPr lang="en-US" sz="1600" b="1" dirty="0">
                <a:solidFill>
                  <a:srgbClr val="0B1F4D"/>
                </a:solidFill>
              </a:rPr>
              <a:t> y </a:t>
            </a:r>
            <a:r>
              <a:rPr lang="en-US" sz="1600" b="1" dirty="0" err="1">
                <a:solidFill>
                  <a:srgbClr val="0B1F4D"/>
                </a:solidFill>
              </a:rPr>
              <a:t>mejorarse</a:t>
            </a:r>
            <a:r>
              <a:rPr lang="en-US" sz="1600" b="1" dirty="0">
                <a:solidFill>
                  <a:srgbClr val="0B1F4D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F3EDFF"/>
          </a:solidFill>
          <a:ln w="12700">
            <a:solidFill>
              <a:srgbClr val="F3ED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11480" y="201240"/>
            <a:ext cx="896076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Resultados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de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aprendizaje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5/12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Table 0"/>
          <p:cNvGraphicFramePr/>
          <p:nvPr>
            <p:extLst>
              <p:ext uri="{D42A27DB-BD31-4B8C-83A1-F6EECF244321}">
                <p14:modId xmlns:p14="http://schemas.microsoft.com/office/powerpoint/2010/main" val="3634503534"/>
              </p:ext>
            </p:extLst>
          </p:nvPr>
        </p:nvGraphicFramePr>
        <p:xfrm>
          <a:off x="685800" y="1417320"/>
          <a:ext cx="10835640" cy="3519000"/>
        </p:xfrm>
        <a:graphic>
          <a:graphicData uri="http://schemas.openxmlformats.org/drawingml/2006/table">
            <a:tbl>
              <a:tblPr/>
              <a:tblGrid>
                <a:gridCol w="35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RA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Cómo lo aterrizamos en el módulo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RA1 · Arquitecturas web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Observar sistemas, entender HTTP y decidir unidades de despliegue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RA2 · Servidores web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Nginx, hosts virtuales, HTTPS, acceso, caché y logs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RA3 · Servidores de aplicaciones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Tomcat embebido/externo, proxy, sesiones, seguridad y rendimiento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RA6 ·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Documentación</a:t>
                      </a: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, Git e IC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Repositorio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, Markdown, PR, checks,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imágenes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pipelines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Text 7"/>
          <p:cNvSpPr/>
          <p:nvPr/>
        </p:nvSpPr>
        <p:spPr>
          <a:xfrm>
            <a:off x="914400" y="534924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</a:rPr>
              <a:t>En FE se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</a:rPr>
              <a:t>evaluarán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</a:rPr>
              <a:t> RA4 y RA5,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</a:rPr>
              <a:t>sobre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</a:rPr>
              <a:t>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</a:rPr>
              <a:t>t</a:t>
            </a:r>
            <a:r>
              <a:rPr lang="en-US" sz="1600" b="1" dirty="0" err="1">
                <a:solidFill>
                  <a:srgbClr val="17233D"/>
                </a:solidFill>
                <a:ea typeface="Aptos"/>
              </a:rPr>
              <a:t>ransferencia</a:t>
            </a:r>
            <a:r>
              <a:rPr lang="en-US" sz="1600" b="1" dirty="0">
                <a:solidFill>
                  <a:srgbClr val="17233D"/>
                </a:solidFill>
                <a:ea typeface="Aptos"/>
              </a:rPr>
              <a:t> de </a:t>
            </a:r>
            <a:r>
              <a:rPr lang="en-US" sz="1600" b="1" dirty="0" err="1">
                <a:solidFill>
                  <a:srgbClr val="17233D"/>
                </a:solidFill>
                <a:ea typeface="Aptos"/>
              </a:rPr>
              <a:t>archivos</a:t>
            </a:r>
            <a:r>
              <a:rPr lang="en-US" sz="1600" b="1" dirty="0">
                <a:solidFill>
                  <a:srgbClr val="0B1F4D"/>
                </a:solidFill>
                <a:ea typeface="Aptos"/>
              </a:rPr>
              <a:t>, DNS y </a:t>
            </a:r>
            <a:r>
              <a:rPr lang="en-US" sz="1600" b="1" dirty="0" err="1">
                <a:solidFill>
                  <a:srgbClr val="0B1F4D"/>
                </a:solidFill>
                <a:ea typeface="Aptos"/>
              </a:rPr>
              <a:t>servicios</a:t>
            </a:r>
            <a:r>
              <a:rPr lang="en-US" sz="1600" b="1" dirty="0">
                <a:solidFill>
                  <a:srgbClr val="0B1F4D"/>
                </a:solidFill>
                <a:ea typeface="Aptos"/>
              </a:rPr>
              <a:t> de </a:t>
            </a:r>
            <a:r>
              <a:rPr lang="en-US" sz="1600" b="1" dirty="0" err="1">
                <a:solidFill>
                  <a:srgbClr val="0B1F4D"/>
                </a:solidFill>
                <a:ea typeface="Aptos"/>
              </a:rPr>
              <a:t>directorio</a:t>
            </a:r>
            <a:r>
              <a:rPr lang="en-US" sz="1600" b="1" dirty="0">
                <a:solidFill>
                  <a:srgbClr val="0B1F4D"/>
                </a:solidFill>
                <a:ea typeface="Aptos"/>
              </a:rPr>
              <a:t>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11480" y="201240"/>
            <a:ext cx="896076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Temas del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módulo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4/12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Table 0"/>
          <p:cNvGraphicFramePr/>
          <p:nvPr>
            <p:extLst>
              <p:ext uri="{D42A27DB-BD31-4B8C-83A1-F6EECF244321}">
                <p14:modId xmlns:p14="http://schemas.microsoft.com/office/powerpoint/2010/main" val="2183555999"/>
              </p:ext>
            </p:extLst>
          </p:nvPr>
        </p:nvGraphicFramePr>
        <p:xfrm>
          <a:off x="411480" y="1143000"/>
          <a:ext cx="11384280" cy="3655060"/>
        </p:xfrm>
        <a:graphic>
          <a:graphicData uri="http://schemas.openxmlformats.org/drawingml/2006/table">
            <a:tbl>
              <a:tblPr/>
              <a:tblGrid>
                <a:gridCol w="291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0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Tema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Qué</a:t>
                      </a: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construimos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Foco principal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 · Punto de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partida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Arquitectura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, HTTP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repositorios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Trazabilidad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 ·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Virtualización</a:t>
                      </a: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contenedores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Contenedores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imágenes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ejecución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multicontenedor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Reproducibilidad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3 · </a:t>
                      </a:r>
                      <a:r>
                        <a:rPr lang="es-E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Publicación y ejecución de aplicaciones web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Nginx, DNS, HTTPS, logs,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sesiones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rendimiento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Publicación y operación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4 · CI/CD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Validar, construir, publicar y desplegar con pipelines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Automatización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5 ·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Orquestación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Kubernetes,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actualizaciones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despliegue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declarativo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Escalado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resiliencia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Shape 7"/>
          <p:cNvSpPr/>
          <p:nvPr/>
        </p:nvSpPr>
        <p:spPr>
          <a:xfrm>
            <a:off x="914400" y="525203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EAF4FF"/>
          </a:solidFill>
          <a:ln w="10160">
            <a:solidFill>
              <a:srgbClr val="0D62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969120" y="543491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Versionar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3002760" y="525203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0D62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3057840" y="543491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Reproducir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5091480" y="525203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0D62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146200" y="543491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Publicar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7179840" y="525203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0D62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7234560" y="543491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Automatizar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9268200" y="525203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0D62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9323280" y="543491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Orquestar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411480" y="201240"/>
            <a:ext cx="896076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Relación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RA ×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temas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6/12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0"/>
          <p:cNvGraphicFramePr/>
          <p:nvPr>
            <p:extLst>
              <p:ext uri="{D42A27DB-BD31-4B8C-83A1-F6EECF244321}">
                <p14:modId xmlns:p14="http://schemas.microsoft.com/office/powerpoint/2010/main" val="323401093"/>
              </p:ext>
            </p:extLst>
          </p:nvPr>
        </p:nvGraphicFramePr>
        <p:xfrm>
          <a:off x="914400" y="1325880"/>
          <a:ext cx="10241280" cy="411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Tema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RA1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RA2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RA3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RA6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1 · Punto de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partida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2 ·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Virtualización</a:t>
                      </a: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 y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contenedores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3 · </a:t>
                      </a:r>
                      <a:r>
                        <a:rPr lang="es-E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Publicación y ejecución de aplicaciones web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4 · CI/CD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 dirty="0">
                        <a:solidFill>
                          <a:schemeClr val="dk1"/>
                        </a:solidFill>
                        <a:effectLst/>
                        <a:uFillTx/>
                        <a:latin typeface="+mn-lt"/>
                        <a:ea typeface="Aptos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5 · </a:t>
                      </a:r>
                      <a:r>
                        <a:rPr lang="en-US" sz="1800" b="1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Orquestación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 cap="flat" cmpd="sng" algn="ctr">
                      <a:solidFill>
                        <a:srgbClr val="C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+mn-lt"/>
                          <a:ea typeface="Aptos"/>
                        </a:rPr>
                        <a:t>X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0" name="Text 7"/>
          <p:cNvSpPr/>
          <p:nvPr/>
        </p:nvSpPr>
        <p:spPr>
          <a:xfrm>
            <a:off x="914400" y="565092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La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evaluación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se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basa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en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lo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que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sabes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implantar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,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justificar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y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documentar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, no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en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memorizar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comandos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aislados</a:t>
            </a:r>
            <a:r>
              <a:rPr lang="en-US" sz="1600" b="1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411480" y="201240"/>
            <a:ext cx="896076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Cómo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trabajaremos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7/12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822960" y="1234440"/>
            <a:ext cx="2014920" cy="694440"/>
          </a:xfrm>
          <a:prstGeom prst="roundRect">
            <a:avLst>
              <a:gd name="adj" fmla="val 10526"/>
            </a:avLst>
          </a:prstGeom>
          <a:solidFill>
            <a:srgbClr val="EAF4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877680" y="1417320"/>
            <a:ext cx="1905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Teoría</a:t>
            </a: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breve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2948040" y="1234440"/>
            <a:ext cx="20149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3002760" y="1417320"/>
            <a:ext cx="1905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Práctica</a:t>
            </a: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guiada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5073120" y="1234440"/>
            <a:ext cx="20149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5127840" y="1417320"/>
            <a:ext cx="1905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Evidencias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7198200" y="1234440"/>
            <a:ext cx="20149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7252920" y="1417320"/>
            <a:ext cx="1905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Pull Request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9323280" y="1234440"/>
            <a:ext cx="20149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9378000" y="1417320"/>
            <a:ext cx="1905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Revisión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685800" y="2331720"/>
            <a:ext cx="525744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6263640" y="2331720"/>
            <a:ext cx="525744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914400" y="256032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En </a:t>
            </a:r>
            <a:r>
              <a:rPr lang="en-US" sz="21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clase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1005840" y="3200400"/>
            <a:ext cx="470880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Explicación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de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conceptos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clave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Ejemplos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mínimos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comandos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esenciales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Diagnóstico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de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errores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frecuentes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2" name="Text 21"/>
          <p:cNvSpPr/>
          <p:nvPr/>
        </p:nvSpPr>
        <p:spPr>
          <a:xfrm>
            <a:off x="6492240" y="256032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En el repositorio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6583680" y="3200400"/>
            <a:ext cx="470880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Configuración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versionada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Actividad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Markdown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Capturas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enlazadas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PR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hacia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main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411480" y="201240"/>
            <a:ext cx="89607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Evaluación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8/12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731520" y="1188720"/>
            <a:ext cx="516600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1005840" y="148140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Qué se valora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097280" y="1993320"/>
            <a:ext cx="452592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Repositorio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completo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ordenado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Actividades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con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evidencias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reales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Configuración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funcional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Explicación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de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decisiones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Correcciones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incorporadas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tras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revisión</a:t>
            </a:r>
            <a:endParaRPr lang="en-US" b="0" u="none" strike="noStrike" dirty="0">
              <a:solidFill>
                <a:srgbClr val="17233D"/>
              </a:solidFill>
              <a:effectLst/>
              <a:uFillTx/>
              <a:ea typeface="Aptos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>
                <a:solidFill>
                  <a:srgbClr val="C00000"/>
                </a:solidFill>
                <a:ea typeface="Aptos"/>
              </a:rPr>
              <a:t>Uso de IA </a:t>
            </a:r>
            <a:r>
              <a:rPr lang="en-US" b="1" dirty="0" err="1">
                <a:solidFill>
                  <a:srgbClr val="C00000"/>
                </a:solidFill>
                <a:ea typeface="Aptos"/>
              </a:rPr>
              <a:t>responsable</a:t>
            </a:r>
            <a:endParaRPr lang="en-US" b="1" u="none" strike="noStrike" dirty="0">
              <a:solidFill>
                <a:srgbClr val="C00000"/>
              </a:solidFill>
              <a:effectLst/>
              <a:uFillTx/>
              <a:ea typeface="Aptos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6263640" y="1188720"/>
            <a:ext cx="516600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6537960" y="148140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Regla de progreso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6629400" y="1993320"/>
            <a:ext cx="469265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Cada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práctica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parte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de la anterior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Los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errores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se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diagnostican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, no se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esconden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Código 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infraestructura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reproducirbles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La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entrega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final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vive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en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Git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B41C-F19D-F654-8F40-F7B8C444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>
            <a:extLst>
              <a:ext uri="{FF2B5EF4-FFF2-40B4-BE49-F238E27FC236}">
                <a16:creationId xmlns:a16="http://schemas.microsoft.com/office/drawing/2014/main" id="{6B1A4297-72C9-5778-E0FD-2A13399F5494}"/>
              </a:ext>
            </a:extLst>
          </p:cNvPr>
          <p:cNvSpPr/>
          <p:nvPr/>
        </p:nvSpPr>
        <p:spPr>
          <a:xfrm>
            <a:off x="60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>
            <a:extLst>
              <a:ext uri="{FF2B5EF4-FFF2-40B4-BE49-F238E27FC236}">
                <a16:creationId xmlns:a16="http://schemas.microsoft.com/office/drawing/2014/main" id="{7DD2B8E9-8ECA-358D-483C-0A1C74EC28B2}"/>
              </a:ext>
            </a:extLst>
          </p:cNvPr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">
            <a:extLst>
              <a:ext uri="{FF2B5EF4-FFF2-40B4-BE49-F238E27FC236}">
                <a16:creationId xmlns:a16="http://schemas.microsoft.com/office/drawing/2014/main" id="{76835758-4F4C-1237-34A1-73937C09DC72}"/>
              </a:ext>
            </a:extLst>
          </p:cNvPr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>
            <a:extLst>
              <a:ext uri="{FF2B5EF4-FFF2-40B4-BE49-F238E27FC236}">
                <a16:creationId xmlns:a16="http://schemas.microsoft.com/office/drawing/2014/main" id="{08A76180-23CE-1B4E-574C-39A27BDDD046}"/>
              </a:ext>
            </a:extLst>
          </p:cNvPr>
          <p:cNvSpPr/>
          <p:nvPr/>
        </p:nvSpPr>
        <p:spPr>
          <a:xfrm>
            <a:off x="411480" y="201240"/>
            <a:ext cx="89607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¿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Cómo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se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calcula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la nota?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>
            <a:extLst>
              <a:ext uri="{FF2B5EF4-FFF2-40B4-BE49-F238E27FC236}">
                <a16:creationId xmlns:a16="http://schemas.microsoft.com/office/drawing/2014/main" id="{30E6273F-7668-E8DF-C88C-A8433FD3245A}"/>
              </a:ext>
            </a:extLst>
          </p:cNvPr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>
            <a:extLst>
              <a:ext uri="{FF2B5EF4-FFF2-40B4-BE49-F238E27FC236}">
                <a16:creationId xmlns:a16="http://schemas.microsoft.com/office/drawing/2014/main" id="{E1E83CDE-140B-4114-EF2C-BD1C791BC9B3}"/>
              </a:ext>
            </a:extLst>
          </p:cNvPr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8/12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>
            <a:extLst>
              <a:ext uri="{FF2B5EF4-FFF2-40B4-BE49-F238E27FC236}">
                <a16:creationId xmlns:a16="http://schemas.microsoft.com/office/drawing/2014/main" id="{690A20F2-B973-BB1A-9C15-77914F0A1771}"/>
              </a:ext>
            </a:extLst>
          </p:cNvPr>
          <p:cNvSpPr/>
          <p:nvPr/>
        </p:nvSpPr>
        <p:spPr>
          <a:xfrm>
            <a:off x="731520" y="4433570"/>
            <a:ext cx="5166000" cy="180213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508B1A47-371D-B021-4A7C-05842129D3CA}"/>
              </a:ext>
            </a:extLst>
          </p:cNvPr>
          <p:cNvSpPr/>
          <p:nvPr/>
        </p:nvSpPr>
        <p:spPr>
          <a:xfrm>
            <a:off x="1005840" y="4726250"/>
            <a:ext cx="4617360" cy="1992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		Para </a:t>
            </a:r>
            <a:r>
              <a:rPr lang="en-US" sz="22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aprobar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>
            <a:extLst>
              <a:ext uri="{FF2B5EF4-FFF2-40B4-BE49-F238E27FC236}">
                <a16:creationId xmlns:a16="http://schemas.microsoft.com/office/drawing/2014/main" id="{8DBDE664-5611-5D44-1994-55C8B06A2EC4}"/>
              </a:ext>
            </a:extLst>
          </p:cNvPr>
          <p:cNvSpPr/>
          <p:nvPr/>
        </p:nvSpPr>
        <p:spPr>
          <a:xfrm>
            <a:off x="1097280" y="5238170"/>
            <a:ext cx="4525920" cy="69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Todos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los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RA </a:t>
            </a:r>
            <a:r>
              <a:rPr lang="es-ES" dirty="0"/>
              <a:t>≥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 5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Si un RA no se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supera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, el modulo no se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ea typeface="Aptos"/>
              </a:rPr>
              <a:t>supera</a:t>
            </a:r>
            <a:endParaRPr lang="en-US" b="1" u="none" strike="noStrike" dirty="0">
              <a:solidFill>
                <a:srgbClr val="C00000"/>
              </a:solidFill>
              <a:effectLst/>
              <a:uFillTx/>
              <a:ea typeface="Aptos"/>
            </a:endParaRPr>
          </a:p>
        </p:txBody>
      </p:sp>
      <p:sp>
        <p:nvSpPr>
          <p:cNvPr id="104" name="Shape 10">
            <a:extLst>
              <a:ext uri="{FF2B5EF4-FFF2-40B4-BE49-F238E27FC236}">
                <a16:creationId xmlns:a16="http://schemas.microsoft.com/office/drawing/2014/main" id="{789203AE-073D-4E5B-DCA8-8F35B235700B}"/>
              </a:ext>
            </a:extLst>
          </p:cNvPr>
          <p:cNvSpPr/>
          <p:nvPr/>
        </p:nvSpPr>
        <p:spPr>
          <a:xfrm>
            <a:off x="6263640" y="4433570"/>
            <a:ext cx="5166000" cy="180213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00923017-FB3A-E8AA-16C8-607F5618DE74}"/>
              </a:ext>
            </a:extLst>
          </p:cNvPr>
          <p:cNvSpPr/>
          <p:nvPr/>
        </p:nvSpPr>
        <p:spPr>
          <a:xfrm>
            <a:off x="6537960" y="4726250"/>
            <a:ext cx="4617360" cy="1992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dirty="0">
                <a:solidFill>
                  <a:srgbClr val="0B1F4D"/>
                </a:solidFill>
                <a:latin typeface="Aptos"/>
              </a:rPr>
              <a:t>		Nota de </a:t>
            </a:r>
            <a:r>
              <a:rPr lang="en-US" sz="2200" b="1" dirty="0" err="1">
                <a:solidFill>
                  <a:srgbClr val="0B1F4D"/>
                </a:solidFill>
                <a:latin typeface="Aptos"/>
              </a:rPr>
              <a:t>cada</a:t>
            </a:r>
            <a:r>
              <a:rPr lang="en-US" sz="2200" b="1" dirty="0">
                <a:solidFill>
                  <a:srgbClr val="0B1F4D"/>
                </a:solidFill>
                <a:latin typeface="Aptos"/>
              </a:rPr>
              <a:t> RA</a:t>
            </a:r>
          </a:p>
        </p:txBody>
      </p:sp>
      <p:sp>
        <p:nvSpPr>
          <p:cNvPr id="106" name="Text 12">
            <a:extLst>
              <a:ext uri="{FF2B5EF4-FFF2-40B4-BE49-F238E27FC236}">
                <a16:creationId xmlns:a16="http://schemas.microsoft.com/office/drawing/2014/main" id="{19F5EE2C-1D03-3CBC-37A8-2D0B3B1F9907}"/>
              </a:ext>
            </a:extLst>
          </p:cNvPr>
          <p:cNvSpPr/>
          <p:nvPr/>
        </p:nvSpPr>
        <p:spPr>
          <a:xfrm>
            <a:off x="6629400" y="5238170"/>
            <a:ext cx="4692650" cy="69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dirty="0">
                <a:solidFill>
                  <a:srgbClr val="17233D"/>
                </a:solidFill>
                <a:ea typeface="Aptos"/>
              </a:rPr>
              <a:t>80% Examen / Proyecto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ea typeface="Aptos"/>
              </a:rPr>
              <a:t>20% </a:t>
            </a:r>
            <a:r>
              <a:rPr lang="en-US" dirty="0" err="1">
                <a:solidFill>
                  <a:srgbClr val="17233D"/>
                </a:solidFill>
                <a:ea typeface="Aptos"/>
              </a:rPr>
              <a:t>Actividades</a:t>
            </a:r>
            <a:endParaRPr lang="en-US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pic>
        <p:nvPicPr>
          <p:cNvPr id="3" name="Gráfico 2" descr="Marca de verificación con relleno sólido">
            <a:extLst>
              <a:ext uri="{FF2B5EF4-FFF2-40B4-BE49-F238E27FC236}">
                <a16:creationId xmlns:a16="http://schemas.microsoft.com/office/drawing/2014/main" id="{19E148E3-21D3-69BE-09C8-CDD4C2397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4629040"/>
            <a:ext cx="435250" cy="435250"/>
          </a:xfrm>
          <a:prstGeom prst="rect">
            <a:avLst/>
          </a:prstGeom>
        </p:spPr>
      </p:pic>
      <p:pic>
        <p:nvPicPr>
          <p:cNvPr id="5" name="Gráfico 4" descr="Gráfico de barras con relleno sólido">
            <a:extLst>
              <a:ext uri="{FF2B5EF4-FFF2-40B4-BE49-F238E27FC236}">
                <a16:creationId xmlns:a16="http://schemas.microsoft.com/office/drawing/2014/main" id="{DEF84311-53AF-48CD-634B-5E921591A7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040" y="4632596"/>
            <a:ext cx="402014" cy="402014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E9CB81A1-08C8-8667-1535-ADA38D85B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979568"/>
              </p:ext>
            </p:extLst>
          </p:nvPr>
        </p:nvGraphicFramePr>
        <p:xfrm>
          <a:off x="3020970" y="1314606"/>
          <a:ext cx="5753100" cy="3032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45925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F3EDFF"/>
          </a:solidFill>
          <a:ln w="12700">
            <a:solidFill>
              <a:srgbClr val="F3ED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411480" y="201240"/>
            <a:ext cx="8960760" cy="5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Escaparate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será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el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hilo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conductor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9/12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0" descr="/mnt/data/capas_lógicas_y_despliegues_de_aplicaciones.png"/>
          <p:cNvPicPr/>
          <p:nvPr/>
        </p:nvPicPr>
        <p:blipFill>
          <a:blip r:embed="rId3"/>
          <a:stretch/>
        </p:blipFill>
        <p:spPr>
          <a:xfrm>
            <a:off x="586980" y="1161000"/>
            <a:ext cx="672048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hape 7"/>
          <p:cNvSpPr/>
          <p:nvPr/>
        </p:nvSpPr>
        <p:spPr>
          <a:xfrm>
            <a:off x="7653586" y="1224280"/>
            <a:ext cx="4007194" cy="4251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7882185" y="1525960"/>
            <a:ext cx="3426375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Irá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cambiando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el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despliegue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,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no la idea de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producto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7973625" y="2321560"/>
            <a:ext cx="3252129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Monolito Spring Boot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PostgreSQL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Frontend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integrado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y luego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estático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Nginx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como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puerta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de entrada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CI/CD y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despliegue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orquestado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201240"/>
            <a:ext cx="89607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Repositorio</a:t>
            </a:r>
            <a:r>
              <a:rPr lang="en-US" sz="28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y </a:t>
            </a:r>
            <a:r>
              <a:rPr lang="en-US" sz="28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materiales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Despliegue de Aplicaciones Web — Presentación del módulo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12/12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914400" y="1508760"/>
            <a:ext cx="10332360" cy="2742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1234440" y="181044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Apuntes, actividades y materiales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1234440" y="2606040"/>
            <a:ext cx="9692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D62D5"/>
                </a:solidFill>
                <a:effectLst/>
                <a:uFillTx/>
                <a:latin typeface="Aptos"/>
              </a:rPr>
              <a:t>https://alejandroroig.github.io/despliegue-daw/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1417320" y="3364920"/>
            <a:ext cx="9326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Usaremos GitHub para el repositorio de trabajo y Aules para las indicaciones oficiales del grupo.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1463040" y="4983480"/>
            <a:ext cx="1777320" cy="694440"/>
          </a:xfrm>
          <a:prstGeom prst="roundRect">
            <a:avLst>
              <a:gd name="adj" fmla="val 10526"/>
            </a:avLst>
          </a:prstGeom>
          <a:solidFill>
            <a:srgbClr val="EAF4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1517760" y="5166360"/>
            <a:ext cx="1667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Leer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3350520" y="4983480"/>
            <a:ext cx="17773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3405240" y="5166360"/>
            <a:ext cx="1667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Hacer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5237640" y="4983480"/>
            <a:ext cx="17773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292720" y="5166360"/>
            <a:ext cx="1667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Documentar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7125120" y="4983480"/>
            <a:ext cx="17773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7179840" y="5166360"/>
            <a:ext cx="1667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PR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9012240" y="4983480"/>
            <a:ext cx="177732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1987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9067320" y="5166360"/>
            <a:ext cx="1667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Revisar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732</Words>
  <Application>Microsoft Office PowerPoint</Application>
  <PresentationFormat>Panorámica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ROIG AGUILAR, ALEJANDRO</cp:lastModifiedBy>
  <cp:revision>2</cp:revision>
  <dcterms:modified xsi:type="dcterms:W3CDTF">2026-09-10T13:18:04Z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2026-09-10T07:29:27Z</dcterms:created>
  <dc:creator>Alejandro Roig Aguilar</dc:creator>
  <dc:description/>
  <dc:language>en-US</dc:language>
  <cp:lastModifiedBy>Alejandro Roig Aguilar</cp:lastModifiedBy>
  <dcterms:modified xsi:type="dcterms:W3CDTF">2026-09-10T07:29:27Z</dcterms:modified>
  <cp:revision>1</cp:revision>
  <dc:subject>Despliegue de Aplicaciones Web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