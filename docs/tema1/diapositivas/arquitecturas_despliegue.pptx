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3D4CEC6-A803-45AF-907A-4A08A9F646A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Abre con la idea central: en este módulo no basta con que el código funcione en el equipo del desarrollador. Queremos llevarlo de forma fiable a otros usuarios.</a:t>
            </a:r>
          </a:p>
        </p:txBody>
      </p:sp>
      <p:sp>
        <p:nvSpPr>
          <p:cNvPr id="2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104A26-0E7E-47F4-BD90-84BBBC6E3D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entres aún en Docker, Nginx o CI/CD. Presenta el problema: la aplicación necesita entorno, datos, configuración, red, seguridad y diagnóstico.</a:t>
            </a:r>
          </a:p>
        </p:txBody>
      </p:sp>
      <p:sp>
        <p:nvSpPr>
          <p:cNvPr id="23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770567-D6B7-441C-83FC-8E88046D0E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 la imagen para comparar dos mentalidades: pasos manuales que vive en una persona frente a proceso versionado, verificable y automatizable. Matiza que no todas las empresas usan lo mismo ni antes todo era FTP.</a:t>
            </a:r>
          </a:p>
        </p:txBody>
      </p:sp>
      <p:sp>
        <p:nvSpPr>
          <p:cNvPr id="23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9B6F56-D40B-4CA3-858B-6666F03439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 las propiedades como brújula del módulo. No hace falta desarrollar todas: solo que los estudiantes las reconozcan cuando aparezcan en las prácticas.</a:t>
            </a:r>
          </a:p>
        </p:txBody>
      </p:sp>
      <p:sp>
        <p:nvSpPr>
          <p:cNvPr id="2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117C04-8884-4CA5-964A-E9F8F646F9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Conecta con futuras variables de entorno, .env, Compose y secretos. La frase clave es: mismo artefacto, configuración externa.</a:t>
            </a:r>
          </a:p>
        </p:txBody>
      </p:sp>
      <p:sp>
        <p:nvSpPr>
          <p:cNvPr id="2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61BDBC-0BD7-4864-8113-B5CCC122F2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conviertas la diapositiva en una clase de HTTP. Presenta los códigos como pistas. Insiste en que un código no siempre dice la causa exacta.</a:t>
            </a:r>
          </a:p>
        </p:txBody>
      </p:sp>
      <p:sp>
        <p:nvSpPr>
          <p:cNvPr id="2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FBD680-0B31-4E6F-AB5D-6F9833D0B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Ejemplos: CSS estático aunque lo descargue el navegador; /api/productos dinámico aunque devuelva JSON parecido cada vez.</a:t>
            </a:r>
          </a:p>
        </p:txBody>
      </p:sp>
      <p:sp>
        <p:nvSpPr>
          <p:cNvPr id="2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6A0B2E-A278-48C9-807A-662A835638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Dedica tiempo a esta diapositiva. Pregunta: ¿cuántos servidores hacen falta para una app con tres capas? Respuesta: depende. Las capas son responsabilidades; los nodos son ejecución.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A0ECC6-B152-4C64-9C6C-E6B7757BAF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Evita el mensaje de que lo moderno son microservicios. Conecta con Escaparate como monolito que iremos desplegando profesionalmente.</a:t>
            </a:r>
          </a:p>
        </p:txBody>
      </p:sp>
      <p:sp>
        <p:nvSpPr>
          <p:cNvPr id="25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BB003C-9BF3-40E7-87D0-3FC68F537F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Conecta con futuras actividades: Docker para aplicación/runtime, Compose para datos/config, Nginx para estáticos, .env y secretos, logs para observar.</a:t>
            </a:r>
          </a:p>
        </p:txBody>
      </p:sp>
      <p:sp>
        <p:nvSpPr>
          <p:cNvPr id="25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BD358E-6DAF-49F9-B273-732EFD9A43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 Escaparate como recurso didáctico: la aplicación es pequeña para que el foco esté en el despliegue.</a:t>
            </a:r>
          </a:p>
        </p:txBody>
      </p:sp>
      <p:sp>
        <p:nvSpPr>
          <p:cNvPr id="25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3ADE53-B954-4F83-B905-5CC162FE11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expliques todas las herramientas. Usa la imagen como mapa mental: código, build, artefacto, despliegue, ejecución y observabilidad.</a:t>
            </a:r>
          </a:p>
        </p:txBody>
      </p:sp>
      <p:sp>
        <p:nvSpPr>
          <p:cNvPr id="26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FB42D0-14C7-4EBB-BB1A-D323985CD9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Explica que no están hackeando ni adivinando infraestructuras: están aprendiendo a separar lo que pueden demostrar de lo que solo parece probable.</a:t>
            </a:r>
          </a:p>
        </p:txBody>
      </p:sp>
      <p:sp>
        <p:nvSpPr>
          <p:cNvPr id="26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B9BAD6-AD3E-4BEA-AA9C-91AADA2BDE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Cierra conectando con la actividad: van a observar sistemas reales y a documentar evidencias sin sobrededucir.</a:t>
            </a:r>
          </a:p>
        </p:txBody>
      </p:sp>
      <p:sp>
        <p:nvSpPr>
          <p:cNvPr id="26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8622FD-59B8-4FB6-B7B8-CBBD0A6B8A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3084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3346" y="0"/>
            <a:ext cx="58701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Shape 1"/>
          <p:cNvSpPr/>
          <p:nvPr/>
        </p:nvSpPr>
        <p:spPr>
          <a:xfrm>
            <a:off x="6126480" y="0"/>
            <a:ext cx="319680" cy="6857640"/>
          </a:xfrm>
          <a:prstGeom prst="rect">
            <a:avLst/>
          </a:prstGeom>
          <a:solidFill>
            <a:srgbClr val="F7FAFF">
              <a:alpha val="90000"/>
            </a:srgbClr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567000" y="1097280"/>
            <a:ext cx="5303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7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Arquitecturas</a:t>
            </a:r>
            <a:r>
              <a:rPr lang="en-US" sz="37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web y </a:t>
            </a:r>
            <a:r>
              <a:rPr lang="en-US" sz="37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proceso</a:t>
            </a:r>
            <a:r>
              <a:rPr lang="en-US" sz="3700" b="1" u="none" strike="noStrike" dirty="0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 de </a:t>
            </a:r>
            <a:r>
              <a:rPr lang="en-US" sz="3700" b="1" u="none" strike="noStrike" dirty="0" err="1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despliegue</a:t>
            </a:r>
            <a:endParaRPr lang="en-US" sz="3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567000" y="2487240"/>
            <a:ext cx="1096920" cy="727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67000" y="2788920"/>
            <a:ext cx="49374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Tema 1 · Punto de </a:t>
            </a:r>
            <a:r>
              <a:rPr lang="en-US" sz="18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partida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567000" y="548640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2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Despliegue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de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Aplicaciones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Web ·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Curso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2026-2027</a:t>
            </a:r>
            <a:r>
              <a:rPr lang="en-US" sz="1200" dirty="0">
                <a:solidFill>
                  <a:srgbClr val="5E6A83"/>
                </a:solidFill>
              </a:rPr>
              <a:t> </a:t>
            </a:r>
          </a:p>
          <a:p>
            <a:pPr>
              <a:lnSpc>
                <a:spcPct val="20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5E6A83"/>
                </a:solidFill>
              </a:rPr>
              <a:t>IES Álvaro </a:t>
            </a:r>
            <a:r>
              <a:rPr lang="en-US" sz="1200" dirty="0" err="1">
                <a:solidFill>
                  <a:srgbClr val="5E6A83"/>
                </a:solidFill>
              </a:rPr>
              <a:t>Falomir</a:t>
            </a:r>
            <a:r>
              <a:rPr lang="en-US" sz="1200" dirty="0">
                <a:solidFill>
                  <a:srgbClr val="5E6A83"/>
                </a:solidFill>
              </a:rPr>
              <a:t> Alejandro Roig Aguilar</a:t>
            </a:r>
            <a:endParaRPr lang="en-US" sz="12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Objetivo de la sesión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Cambiar la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pregunta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: de “¿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funciona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?” a “¿se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puede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desplegar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?”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2/14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822960" y="1325880"/>
            <a:ext cx="5028840" cy="32914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1097280" y="1691640"/>
            <a:ext cx="4480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rgbClr val="D94848"/>
                </a:solidFill>
                <a:effectLst/>
                <a:uFillTx/>
                <a:latin typeface="Aptos"/>
              </a:rPr>
              <a:t>Funciona</a:t>
            </a:r>
            <a:r>
              <a:rPr lang="en-US" sz="2600" b="1" u="none" strike="noStrike" dirty="0">
                <a:solidFill>
                  <a:srgbClr val="D94848"/>
                </a:solidFill>
                <a:effectLst/>
                <a:uFillTx/>
                <a:latin typeface="Aptos"/>
              </a:rPr>
              <a:t> </a:t>
            </a:r>
            <a:r>
              <a:rPr lang="en-US" sz="2600" b="1" u="none" strike="noStrike" dirty="0" err="1">
                <a:solidFill>
                  <a:srgbClr val="D94848"/>
                </a:solidFill>
                <a:effectLst/>
                <a:uFillTx/>
                <a:latin typeface="Aptos"/>
              </a:rPr>
              <a:t>en</a:t>
            </a:r>
            <a:r>
              <a:rPr lang="en-US" sz="2600" b="1" u="none" strike="noStrike" dirty="0">
                <a:solidFill>
                  <a:srgbClr val="D94848"/>
                </a:solidFill>
                <a:effectLst/>
                <a:uFillTx/>
                <a:latin typeface="Aptos"/>
              </a:rPr>
              <a:t> mi </a:t>
            </a:r>
            <a:r>
              <a:rPr lang="en-US" sz="2600" b="1" u="none" strike="noStrike" dirty="0" err="1">
                <a:solidFill>
                  <a:srgbClr val="D94848"/>
                </a:solidFill>
                <a:effectLst/>
                <a:uFillTx/>
                <a:latin typeface="Aptos"/>
              </a:rPr>
              <a:t>equipo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1188720" y="2423160"/>
            <a:ext cx="42973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Dependencias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locales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Datos y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rutas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personales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Secretos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mal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ubicados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Pasos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recordados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de memoria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5806440" y="239580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0D62D5"/>
                </a:solidFill>
                <a:effectLst/>
                <a:uFillTx/>
                <a:latin typeface="Aptos"/>
              </a:rPr>
              <a:t>→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6400800" y="1325880"/>
            <a:ext cx="5028840" cy="32914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6675120" y="1691640"/>
            <a:ext cx="4480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Funciona para otros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6766560" y="2423160"/>
            <a:ext cx="42973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Proceso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repetible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Configuración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externa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Evidencias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y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diagnóstico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Actualizaciones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controladas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2037311" y="5253480"/>
            <a:ext cx="8117378" cy="502560"/>
          </a:xfrm>
          <a:prstGeom prst="roundRect">
            <a:avLst>
              <a:gd name="adj" fmla="val 22857"/>
            </a:avLst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2221920" y="5422320"/>
            <a:ext cx="776304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Idea clave: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desplegar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es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hacer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operativo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un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sistema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para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usuarios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reales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8F0"/>
          </a:solidFill>
          <a:ln w="12700">
            <a:solidFill>
              <a:srgbClr val="EAF8F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De desplegar archivos a desplegar procesos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Tecnologías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cambian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;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buenas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prácticas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permanecen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3/14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0" descr="/mnt/data/tema1_revision_visual_v2/img/despliegue-manual-reproducible.png"/>
          <p:cNvPicPr/>
          <p:nvPr/>
        </p:nvPicPr>
        <p:blipFill>
          <a:blip r:embed="rId3"/>
          <a:stretch/>
        </p:blipFill>
        <p:spPr>
          <a:xfrm>
            <a:off x="1546393" y="1051560"/>
            <a:ext cx="9099213" cy="5294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Qué buscamos en un despliegue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Siete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propiedades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que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iremos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construyendo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poco a poco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4/14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>
            <a:off x="594360" y="1143000"/>
            <a:ext cx="5074560" cy="804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795600" y="142817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Reproducible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2514600" y="1446530"/>
            <a:ext cx="288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mismo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procedimiento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,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resultado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equivalente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6126480" y="1143000"/>
            <a:ext cx="5074560" cy="804240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6327720" y="142817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Trazable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8046720" y="1446530"/>
            <a:ext cx="288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saber qué versión está funcionando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3"/>
          <p:cNvSpPr/>
          <p:nvPr/>
        </p:nvSpPr>
        <p:spPr>
          <a:xfrm>
            <a:off x="594360" y="2286000"/>
            <a:ext cx="5074560" cy="804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795600" y="257117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Configurable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2514600" y="2589530"/>
            <a:ext cx="288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mismo artefacto, distinta configuración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6126480" y="2286000"/>
            <a:ext cx="5074560" cy="804240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6327720" y="257117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Seguro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8046720" y="2589530"/>
            <a:ext cx="288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secretos fuera del código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594360" y="3429000"/>
            <a:ext cx="5074560" cy="804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795600" y="371417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Observable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2514600" y="3732530"/>
            <a:ext cx="288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estado, logs y métricas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6126480" y="3429000"/>
            <a:ext cx="5074560" cy="804240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6327720" y="371417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Escalable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8046720" y="3732530"/>
            <a:ext cx="288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capacidad ante carga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5"/>
          <p:cNvSpPr/>
          <p:nvPr/>
        </p:nvSpPr>
        <p:spPr>
          <a:xfrm>
            <a:off x="594360" y="4572000"/>
            <a:ext cx="5074560" cy="804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795600" y="485717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Actualizable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2514600" y="4875530"/>
            <a:ext cx="2880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cambiar y volver atrás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1706880" y="5770080"/>
            <a:ext cx="8778240" cy="438480"/>
          </a:xfrm>
          <a:prstGeom prst="roundRect">
            <a:avLst>
              <a:gd name="adj" fmla="val 22857"/>
            </a:avLst>
          </a:prstGeom>
          <a:solidFill>
            <a:srgbClr val="198754"/>
          </a:solidFill>
          <a:ln w="12700">
            <a:solidFill>
              <a:srgbClr val="198754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9"/>
          <p:cNvSpPr/>
          <p:nvPr/>
        </p:nvSpPr>
        <p:spPr>
          <a:xfrm>
            <a:off x="2039040" y="5906880"/>
            <a:ext cx="82659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No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todo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se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consigue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el primer día: el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módulo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las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va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incorporando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por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capas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F3EDFF"/>
          </a:solidFill>
          <a:ln w="12700">
            <a:solidFill>
              <a:srgbClr val="F3ED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Entornos: desarrollo, staging y producción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El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artefacto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debería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mantenerse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; la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configuración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cambia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5/14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777240" y="1325880"/>
            <a:ext cx="2033280" cy="694440"/>
          </a:xfrm>
          <a:prstGeom prst="roundRect">
            <a:avLst>
              <a:gd name="adj" fmla="val 10526"/>
            </a:avLst>
          </a:prstGeom>
          <a:solidFill>
            <a:srgbClr val="EAF4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831960" y="1508760"/>
            <a:ext cx="1923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Desarrollo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2920680" y="1325880"/>
            <a:ext cx="203328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2975400" y="1508760"/>
            <a:ext cx="1923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Staging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5064120" y="1325880"/>
            <a:ext cx="203328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5118840" y="1508760"/>
            <a:ext cx="1923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Producción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7207200" y="1325880"/>
            <a:ext cx="203328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7262280" y="1508760"/>
            <a:ext cx="1923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Monitorización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9350640" y="1325880"/>
            <a:ext cx="203328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9405360" y="1508760"/>
            <a:ext cx="1923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Feedback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Table 0"/>
          <p:cNvGraphicFramePr/>
          <p:nvPr>
            <p:extLst>
              <p:ext uri="{D42A27DB-BD31-4B8C-83A1-F6EECF244321}">
                <p14:modId xmlns:p14="http://schemas.microsoft.com/office/powerpoint/2010/main" val="1270965730"/>
              </p:ext>
            </p:extLst>
          </p:nvPr>
        </p:nvGraphicFramePr>
        <p:xfrm>
          <a:off x="777240" y="2743200"/>
          <a:ext cx="10607040" cy="2331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Entorno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Para qué sirve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Qué cambia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6F42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Desarrollo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trabajar rápido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datos de prueba, configuración local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Staging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validar antes de publicar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configuración parecida a producción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Producción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usuarios reales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datos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reales,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seguridad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y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disponibilidad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8" name="Text 17"/>
          <p:cNvSpPr/>
          <p:nvPr/>
        </p:nvSpPr>
        <p:spPr>
          <a:xfrm>
            <a:off x="914400" y="559620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Regla </a:t>
            </a:r>
            <a:r>
              <a:rPr lang="en-US" sz="16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práctica</a:t>
            </a: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: no recompiles la </a:t>
            </a:r>
            <a:r>
              <a:rPr lang="en-US" sz="16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aplicación</a:t>
            </a: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solo para </a:t>
            </a:r>
            <a:r>
              <a:rPr lang="en-US" sz="16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cambiar</a:t>
            </a: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una</a:t>
            </a: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contraseña</a:t>
            </a: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o </a:t>
            </a:r>
            <a:r>
              <a:rPr lang="en-US" sz="16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una</a:t>
            </a:r>
            <a:r>
              <a:rPr lang="en-US" sz="16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URL.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HTTP: el idioma del diagnóstico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No es solo para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programar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APIs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6/14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731520" y="1234440"/>
            <a:ext cx="5303160" cy="20570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1005840" y="150876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Petición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1051560" y="2011680"/>
            <a:ext cx="46630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GET /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productos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 HTTP/1.1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Host: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ejemplo.test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Accept: application/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json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5989320" y="196596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D62D5"/>
                </a:solidFill>
                <a:effectLst/>
                <a:uFillTx/>
                <a:latin typeface="Aptos"/>
              </a:rPr>
              <a:t>→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6492240" y="1234440"/>
            <a:ext cx="4937400" cy="20570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6766560" y="150876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Respuesta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6812280" y="2011680"/>
            <a:ext cx="42973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HTTP/1.1 200 OK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Content-Type: application/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json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 Mono"/>
                <a:ea typeface="Aptos Mono"/>
              </a:rPr>
              <a:t>Cache-Control: no-cache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3" name="Table 0"/>
          <p:cNvGraphicFramePr/>
          <p:nvPr>
            <p:extLst>
              <p:ext uri="{D42A27DB-BD31-4B8C-83A1-F6EECF244321}">
                <p14:modId xmlns:p14="http://schemas.microsoft.com/office/powerpoint/2010/main" val="3154049262"/>
              </p:ext>
            </p:extLst>
          </p:nvPr>
        </p:nvGraphicFramePr>
        <p:xfrm>
          <a:off x="1005840" y="3703320"/>
          <a:ext cx="1014984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Familia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Pista inicial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0B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2xx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atendido correctamente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3xx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redirección o nuevo destino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4xx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problema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con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petición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,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recurso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o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acceso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5xx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servidor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o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componente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intermedio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falla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8F0"/>
          </a:solidFill>
          <a:ln w="12700">
            <a:solidFill>
              <a:srgbClr val="EAF8F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Estático y dinámico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La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diferencia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no es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si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cambia,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sino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si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hay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que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ejecutar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lógica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7/14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640080" y="1463040"/>
            <a:ext cx="532620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6286680" y="1463040"/>
            <a:ext cx="532620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868680" y="1691640"/>
            <a:ext cx="4869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Contenido</a:t>
            </a:r>
            <a:r>
              <a:rPr lang="en-US" sz="21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</a:t>
            </a:r>
            <a:r>
              <a:rPr lang="en-US" sz="21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estático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960120" y="2331720"/>
            <a:ext cx="477756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HTML, CSS, JS,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imágenes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El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fichero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ya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existe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Un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servidor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web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puede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leerlo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y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entregarlo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Buen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candidato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a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caché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o CDN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6515280" y="1691640"/>
            <a:ext cx="4869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Contenido dinámico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6606720" y="2331720"/>
            <a:ext cx="477756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Se genera al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recibir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la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petición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Ejecuta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lógica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de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aplicación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Puede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consultar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bases de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datos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Depende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del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estado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del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sistema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Capas lógicas ≠ unidades de despliegue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Organizar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código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no decide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automáticamente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dónde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se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ejecuta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8/14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0" descr="/mnt/data/capas_lógicas_y_despliegues_de_aplicaciones.png"/>
          <p:cNvPicPr/>
          <p:nvPr/>
        </p:nvPicPr>
        <p:blipFill>
          <a:blip r:embed="rId3"/>
          <a:stretch/>
        </p:blipFill>
        <p:spPr>
          <a:xfrm>
            <a:off x="2146890" y="1078920"/>
            <a:ext cx="7898220" cy="5358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F3EDFF"/>
          </a:solidFill>
          <a:ln w="12700">
            <a:solidFill>
              <a:srgbClr val="F3ED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Monolito no significa antiguo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Microservicios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no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significan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automáticamente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mejor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9/14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640080" y="1463040"/>
            <a:ext cx="532620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6286680" y="1463040"/>
            <a:ext cx="532620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868680" y="1691640"/>
            <a:ext cx="4869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Monolito modular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960120" y="2331720"/>
            <a:ext cx="477756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Una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unidad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desplegable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Menos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complejidad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operativa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Encaja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bien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equipos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pequeños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/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medios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Puede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organizarse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internamente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por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módulos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6515280" y="1691640"/>
            <a:ext cx="4869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Microservicios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6606720" y="2331720"/>
            <a:ext cx="477756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Varias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unidades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desplegables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Escalado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y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ciclos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independientes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Más red, logs,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datos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y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coordinación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Solo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compensa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si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el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problema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 lo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justifica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2808605" y="5824440"/>
            <a:ext cx="6574790" cy="420480"/>
          </a:xfrm>
          <a:prstGeom prst="roundRect">
            <a:avLst>
              <a:gd name="adj" fmla="val 22857"/>
            </a:avLst>
          </a:prstGeom>
          <a:solidFill>
            <a:srgbClr val="6F42C1"/>
          </a:solidFill>
          <a:ln w="12700">
            <a:solidFill>
              <a:srgbClr val="6F42C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2953440" y="5943600"/>
            <a:ext cx="625428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Regla: la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complejidad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debe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ser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proporcional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al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problema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Piezas básicas de un despliegue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Lo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que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debe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existir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además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del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código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10/14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777240" y="1508760"/>
            <a:ext cx="1919880" cy="29714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914400" y="178308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Aplicación</a:t>
            </a:r>
            <a:r>
              <a:rPr lang="en-US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/ runtime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941760" y="278892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proceso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que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ejecuta</a:t>
            </a:r>
            <a:r>
              <a:rPr lang="en-US" sz="1600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lógica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0"/>
          <p:cNvSpPr/>
          <p:nvPr/>
        </p:nvSpPr>
        <p:spPr>
          <a:xfrm>
            <a:off x="3017520" y="1508760"/>
            <a:ext cx="1919880" cy="29714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3154680" y="178308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Recursos</a:t>
            </a:r>
            <a:r>
              <a:rPr lang="en-US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</a:t>
            </a: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estáticos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3182040" y="278892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HTML, CSS, JS, imágenes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3"/>
          <p:cNvSpPr/>
          <p:nvPr/>
        </p:nvSpPr>
        <p:spPr>
          <a:xfrm>
            <a:off x="5257800" y="1508760"/>
            <a:ext cx="1919880" cy="29714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5394960" y="178308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Datos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5"/>
          <p:cNvSpPr/>
          <p:nvPr/>
        </p:nvSpPr>
        <p:spPr>
          <a:xfrm>
            <a:off x="5422320" y="278892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base de datos y persistencia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6"/>
          <p:cNvSpPr/>
          <p:nvPr/>
        </p:nvSpPr>
        <p:spPr>
          <a:xfrm>
            <a:off x="7498080" y="1508760"/>
            <a:ext cx="1919880" cy="29714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7"/>
          <p:cNvSpPr/>
          <p:nvPr/>
        </p:nvSpPr>
        <p:spPr>
          <a:xfrm>
            <a:off x="7635240" y="178308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Configuración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8"/>
          <p:cNvSpPr/>
          <p:nvPr/>
        </p:nvSpPr>
        <p:spPr>
          <a:xfrm>
            <a:off x="7662600" y="278892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valores por entorno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9"/>
          <p:cNvSpPr/>
          <p:nvPr/>
        </p:nvSpPr>
        <p:spPr>
          <a:xfrm>
            <a:off x="9738360" y="1508760"/>
            <a:ext cx="1919880" cy="29714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0"/>
          <p:cNvSpPr/>
          <p:nvPr/>
        </p:nvSpPr>
        <p:spPr>
          <a:xfrm>
            <a:off x="9875520" y="178308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Secretos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1"/>
          <p:cNvSpPr/>
          <p:nvPr/>
        </p:nvSpPr>
        <p:spPr>
          <a:xfrm>
            <a:off x="9902880" y="278892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credenciales y tokens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2"/>
          <p:cNvSpPr/>
          <p:nvPr/>
        </p:nvSpPr>
        <p:spPr>
          <a:xfrm>
            <a:off x="1097280" y="516636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98754"/>
                </a:solidFill>
                <a:effectLst/>
                <a:uFillTx/>
                <a:latin typeface="Aptos"/>
              </a:rPr>
              <a:t>Una </a:t>
            </a:r>
            <a:r>
              <a:rPr lang="en-US" sz="1700" b="1" u="none" strike="noStrike" dirty="0" err="1">
                <a:solidFill>
                  <a:srgbClr val="198754"/>
                </a:solidFill>
                <a:effectLst/>
                <a:uFillTx/>
                <a:latin typeface="Aptos"/>
              </a:rPr>
              <a:t>arquitectura</a:t>
            </a:r>
            <a:r>
              <a:rPr lang="en-US" sz="1700" b="1" u="none" strike="noStrike" dirty="0">
                <a:solidFill>
                  <a:srgbClr val="198754"/>
                </a:solidFill>
                <a:effectLst/>
                <a:uFillTx/>
                <a:latin typeface="Aptos"/>
              </a:rPr>
              <a:t> </a:t>
            </a:r>
            <a:r>
              <a:rPr lang="en-US" sz="1700" b="1" u="none" strike="noStrike" dirty="0" err="1">
                <a:solidFill>
                  <a:srgbClr val="198754"/>
                </a:solidFill>
                <a:effectLst/>
                <a:uFillTx/>
                <a:latin typeface="Aptos"/>
              </a:rPr>
              <a:t>puede</a:t>
            </a:r>
            <a:r>
              <a:rPr lang="en-US" sz="1700" b="1" u="none" strike="noStrike" dirty="0">
                <a:solidFill>
                  <a:srgbClr val="198754"/>
                </a:solidFill>
                <a:effectLst/>
                <a:uFillTx/>
                <a:latin typeface="Aptos"/>
              </a:rPr>
              <a:t> ser </a:t>
            </a:r>
            <a:r>
              <a:rPr lang="en-US" sz="1700" b="1" u="none" strike="noStrike" dirty="0" err="1">
                <a:solidFill>
                  <a:srgbClr val="198754"/>
                </a:solidFill>
                <a:effectLst/>
                <a:uFillTx/>
                <a:latin typeface="Aptos"/>
              </a:rPr>
              <a:t>sencilla</a:t>
            </a:r>
            <a:r>
              <a:rPr lang="en-US" sz="1700" b="1" u="none" strike="noStrike" dirty="0">
                <a:solidFill>
                  <a:srgbClr val="198754"/>
                </a:solidFill>
                <a:effectLst/>
                <a:uFillTx/>
                <a:latin typeface="Aptos"/>
              </a:rPr>
              <a:t>, </a:t>
            </a:r>
            <a:r>
              <a:rPr lang="en-US" sz="1700" b="1" u="none" strike="noStrike" dirty="0" err="1">
                <a:solidFill>
                  <a:srgbClr val="198754"/>
                </a:solidFill>
                <a:effectLst/>
                <a:uFillTx/>
                <a:latin typeface="Aptos"/>
              </a:rPr>
              <a:t>pero</a:t>
            </a:r>
            <a:r>
              <a:rPr lang="en-US" sz="1700" b="1" u="none" strike="noStrike" dirty="0">
                <a:solidFill>
                  <a:srgbClr val="198754"/>
                </a:solidFill>
                <a:effectLst/>
                <a:uFillTx/>
                <a:latin typeface="Aptos"/>
              </a:rPr>
              <a:t> </a:t>
            </a:r>
            <a:r>
              <a:rPr lang="en-US" sz="1700" b="1" u="none" strike="noStrike" dirty="0" err="1">
                <a:solidFill>
                  <a:srgbClr val="198754"/>
                </a:solidFill>
                <a:effectLst/>
                <a:uFillTx/>
                <a:latin typeface="Aptos"/>
              </a:rPr>
              <a:t>estas</a:t>
            </a:r>
            <a:r>
              <a:rPr lang="en-US" sz="1700" b="1" u="none" strike="noStrike" dirty="0">
                <a:solidFill>
                  <a:srgbClr val="198754"/>
                </a:solidFill>
                <a:effectLst/>
                <a:uFillTx/>
                <a:latin typeface="Aptos"/>
              </a:rPr>
              <a:t> </a:t>
            </a:r>
            <a:r>
              <a:rPr lang="en-US" sz="1700" b="1" u="none" strike="noStrike" dirty="0" err="1">
                <a:solidFill>
                  <a:srgbClr val="198754"/>
                </a:solidFill>
                <a:effectLst/>
                <a:uFillTx/>
                <a:latin typeface="Aptos"/>
              </a:rPr>
              <a:t>responsabilidades</a:t>
            </a:r>
            <a:r>
              <a:rPr lang="en-US" sz="1700" b="1" u="none" strike="noStrike" dirty="0">
                <a:solidFill>
                  <a:srgbClr val="198754"/>
                </a:solidFill>
                <a:effectLst/>
                <a:uFillTx/>
                <a:latin typeface="Aptos"/>
              </a:rPr>
              <a:t> no </a:t>
            </a:r>
            <a:r>
              <a:rPr lang="en-US" sz="1700" b="1" u="none" strike="noStrike" dirty="0" err="1">
                <a:solidFill>
                  <a:srgbClr val="198754"/>
                </a:solidFill>
                <a:effectLst/>
                <a:uFillTx/>
                <a:latin typeface="Aptos"/>
              </a:rPr>
              <a:t>desaparecen</a:t>
            </a:r>
            <a:r>
              <a:rPr lang="en-US" sz="1700" b="1" u="none" strike="noStrike" dirty="0">
                <a:solidFill>
                  <a:srgbClr val="198754"/>
                </a:solidFill>
                <a:effectLst/>
                <a:uFillTx/>
                <a:latin typeface="Aptos"/>
              </a:rPr>
              <a:t>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8F0"/>
          </a:solidFill>
          <a:ln w="12700">
            <a:solidFill>
              <a:srgbClr val="EAF8F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Escaparate: el hilo conductor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El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problema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interesante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no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será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programar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la app,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sino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desplegarla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11/14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7"/>
          <p:cNvSpPr/>
          <p:nvPr/>
        </p:nvSpPr>
        <p:spPr>
          <a:xfrm>
            <a:off x="822960" y="1234440"/>
            <a:ext cx="10515240" cy="42516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D7E2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1097280" y="15087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Primera versión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1188720" y="2057400"/>
            <a:ext cx="4525920" cy="246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Frontend servido inicialmente desde Spring Boot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API y frontend en el mismo contenedor y puerto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Backend empaquetado como WAR ejecutable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PostgreSQL como base de datos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Configuración recibida desde fuera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6492240" y="15087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Más adelante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6583680" y="2057400"/>
            <a:ext cx="4297320" cy="246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Separaremos piezas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Añadiremos Nginx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Mediremos y observaremos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Automatizaremos con CI/CD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7233D"/>
                </a:solidFill>
                <a:effectLst/>
                <a:uFillTx/>
                <a:latin typeface="Aptos"/>
                <a:ea typeface="Aptos"/>
              </a:rPr>
              <a:t>• Orquestaremos despliegues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1965960" y="5742360"/>
            <a:ext cx="8229240" cy="319680"/>
          </a:xfrm>
          <a:prstGeom prst="roundRect">
            <a:avLst>
              <a:gd name="adj" fmla="val 22857"/>
            </a:avLst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2039040" y="5815440"/>
            <a:ext cx="808308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Separar frontend no convierte automáticamente el sistema en microservicios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Del código al usuario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Desplegar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es un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recorrido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, no un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salto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12/14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0" descr="/mnt/data/del_código_al_usuario_flujo_de_despliegue.png"/>
          <p:cNvPicPr/>
          <p:nvPr/>
        </p:nvPicPr>
        <p:blipFill>
          <a:blip r:embed="rId3"/>
          <a:stretch/>
        </p:blipFill>
        <p:spPr>
          <a:xfrm>
            <a:off x="1576800" y="1051560"/>
            <a:ext cx="9016920" cy="5074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F3EDFF"/>
          </a:solidFill>
          <a:ln w="12700">
            <a:solidFill>
              <a:srgbClr val="F3ED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Actividad 1.1: observar sin adivinar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Evidencia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,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inferencia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y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límites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13/14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914400" y="123444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EAF4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969120" y="141732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Predice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3002760" y="123444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3057840" y="141732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Observa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091480" y="123444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5146200" y="141732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Captura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3"/>
          <p:cNvSpPr/>
          <p:nvPr/>
        </p:nvSpPr>
        <p:spPr>
          <a:xfrm>
            <a:off x="7179840" y="123444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7234560" y="141732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Interpreta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9268200" y="1234440"/>
            <a:ext cx="1978560" cy="69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6F42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9323280" y="1417320"/>
            <a:ext cx="18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0B1F4D"/>
                </a:solidFill>
                <a:effectLst/>
                <a:uFillTx/>
                <a:latin typeface="Aptos"/>
              </a:rPr>
              <a:t>Concluye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4" name="Table 0"/>
          <p:cNvGraphicFramePr/>
          <p:nvPr>
            <p:extLst>
              <p:ext uri="{D42A27DB-BD31-4B8C-83A1-F6EECF244321}">
                <p14:modId xmlns:p14="http://schemas.microsoft.com/office/powerpoint/2010/main" val="1796934731"/>
              </p:ext>
            </p:extLst>
          </p:nvPr>
        </p:nvGraphicFramePr>
        <p:xfrm>
          <a:off x="1097280" y="2606040"/>
          <a:ext cx="9966960" cy="2102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 dirty="0" err="1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Categoría</a:t>
                      </a:r>
                      <a:endParaRPr lang="en-US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Significado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6F42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Observado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hay evidencia directa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Inferido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hay indicios, pero no demostración completa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No observable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no se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puede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conocer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desde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fuera con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esas</a:t>
                      </a:r>
                      <a:r>
                        <a:rPr lang="en-US" sz="1800" b="0" u="none" strike="noStrike" dirty="0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 </a:t>
                      </a:r>
                      <a:r>
                        <a:rPr lang="en-US" sz="1800" b="0" u="none" strike="noStrike" dirty="0" err="1">
                          <a:solidFill>
                            <a:srgbClr val="17233D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herramientas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 w="7200">
                      <a:solidFill>
                        <a:srgbClr val="C9D6EC"/>
                      </a:solidFill>
                      <a:prstDash val="solid"/>
                    </a:lnL>
                    <a:lnR w="7200">
                      <a:solidFill>
                        <a:srgbClr val="C9D6EC"/>
                      </a:solidFill>
                      <a:prstDash val="solid"/>
                    </a:lnR>
                    <a:lnT w="7200">
                      <a:solidFill>
                        <a:srgbClr val="C9D6EC"/>
                      </a:solidFill>
                      <a:prstDash val="solid"/>
                    </a:lnT>
                    <a:lnB w="7200">
                      <a:solidFill>
                        <a:srgbClr val="C9D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" name="Text 17"/>
          <p:cNvSpPr/>
          <p:nvPr/>
        </p:nvSpPr>
        <p:spPr>
          <a:xfrm>
            <a:off x="1097280" y="5166360"/>
            <a:ext cx="9966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Herramientas</a:t>
            </a:r>
            <a:r>
              <a:rPr lang="en-US" sz="17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</a:t>
            </a:r>
            <a:r>
              <a:rPr lang="en-US" sz="17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iniciales</a:t>
            </a:r>
            <a:r>
              <a:rPr lang="en-US" sz="17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: </a:t>
            </a:r>
            <a:r>
              <a:rPr lang="en-US" sz="17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navegador</a:t>
            </a:r>
            <a:r>
              <a:rPr lang="en-US" sz="17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, </a:t>
            </a:r>
            <a:r>
              <a:rPr lang="en-US" sz="170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DevTools</a:t>
            </a:r>
            <a:r>
              <a:rPr lang="en-US" sz="170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y curl.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EAF8F0"/>
          </a:solidFill>
          <a:ln w="12700">
            <a:solidFill>
              <a:srgbClr val="EAF8F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0" y="932760"/>
            <a:ext cx="12191400" cy="27000"/>
          </a:xfrm>
          <a:prstGeom prst="rect">
            <a:avLst/>
          </a:prstGeom>
          <a:solidFill>
            <a:srgbClr val="0D62D5"/>
          </a:solidFill>
          <a:ln w="12700">
            <a:solidFill>
              <a:srgbClr val="0D62D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411480" y="2012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4D"/>
                </a:solidFill>
                <a:effectLst/>
                <a:uFillTx/>
                <a:latin typeface="Aptos Display"/>
                <a:ea typeface="Aptos Display"/>
              </a:rPr>
              <a:t>Cierre de la sesión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411480" y="658440"/>
            <a:ext cx="9600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Lo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mínimo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que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debe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5E6A83"/>
                </a:solidFill>
                <a:effectLst/>
                <a:uFillTx/>
                <a:latin typeface="Aptos"/>
              </a:rPr>
              <a:t>quedar</a:t>
            </a:r>
            <a:r>
              <a:rPr lang="en-US" sz="1200" b="0" u="none" strike="noStrike" dirty="0">
                <a:solidFill>
                  <a:srgbClr val="5E6A83"/>
                </a:solidFill>
                <a:effectLst/>
                <a:uFillTx/>
                <a:latin typeface="Aptos"/>
              </a:rPr>
              <a:t> claro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411480" y="651960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Tema 1 · Sesión 1 — Arquitecturas web y proceso de despliegue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11201400" y="6519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6A83"/>
                </a:solidFill>
                <a:effectLst/>
                <a:uFillTx/>
                <a:latin typeface="Aptos"/>
                <a:ea typeface="Aptos"/>
              </a:rPr>
              <a:t>14/14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914400" y="13258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1261800" y="1353240"/>
            <a:ext cx="9893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Una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aplicación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que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solo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funciona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en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tu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equipo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todavía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no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está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 </a:t>
            </a:r>
            <a:r>
              <a:rPr lang="en-US" b="0" u="none" strike="noStrike" dirty="0" err="1">
                <a:solidFill>
                  <a:srgbClr val="17233D"/>
                </a:solidFill>
                <a:effectLst/>
                <a:uFillTx/>
                <a:latin typeface="Aptos"/>
              </a:rPr>
              <a:t>desplegada</a:t>
            </a:r>
            <a:r>
              <a:rPr lang="en-US" b="0" u="none" strike="noStrike" dirty="0">
                <a:solidFill>
                  <a:srgbClr val="17233D"/>
                </a:solidFill>
                <a:effectLst/>
                <a:uFillTx/>
                <a:latin typeface="Aptos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914400" y="18745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1261800" y="1901880"/>
            <a:ext cx="9893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El despliegue moderno busca reproducibilidad, trazabilidad y automatización progresiva.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914400" y="242316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1261800" y="2450520"/>
            <a:ext cx="9893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HTTP proporciona pistas útiles para diagnosticar.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914400" y="297180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1261800" y="2999160"/>
            <a:ext cx="9893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Capas lógicas y unidades de despliegue responden a preguntas distintas.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914400" y="352044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6"/>
          <p:cNvSpPr/>
          <p:nvPr/>
        </p:nvSpPr>
        <p:spPr>
          <a:xfrm>
            <a:off x="1261800" y="3547800"/>
            <a:ext cx="9893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Monolito puede ser una solución actual si está bien organizado.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914400" y="40690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8754"/>
                </a:solidFill>
                <a:effectLst/>
                <a:uFillTx/>
                <a:latin typeface="Aptos"/>
              </a:rPr>
              <a:t>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1261800" y="4096440"/>
            <a:ext cx="9893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>
                <a:solidFill>
                  <a:srgbClr val="17233D"/>
                </a:solidFill>
                <a:effectLst/>
                <a:uFillTx/>
                <a:latin typeface="Aptos"/>
              </a:rPr>
              <a:t>Observar no es lo mismo que inferir.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9"/>
          <p:cNvSpPr/>
          <p:nvPr/>
        </p:nvSpPr>
        <p:spPr>
          <a:xfrm>
            <a:off x="914400" y="5102280"/>
            <a:ext cx="10378080" cy="776880"/>
          </a:xfrm>
          <a:prstGeom prst="roundRect">
            <a:avLst>
              <a:gd name="adj" fmla="val 9412"/>
            </a:avLst>
          </a:prstGeom>
          <a:solidFill>
            <a:srgbClr val="EAF8F0"/>
          </a:solidFill>
          <a:ln w="10160">
            <a:solidFill>
              <a:srgbClr val="9DD8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0"/>
          <p:cNvSpPr/>
          <p:nvPr/>
        </p:nvSpPr>
        <p:spPr>
          <a:xfrm>
            <a:off x="1143000" y="5349240"/>
            <a:ext cx="992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Próxima</a:t>
            </a:r>
            <a:r>
              <a:rPr lang="en-US" sz="165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</a:t>
            </a:r>
            <a:r>
              <a:rPr lang="en-US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sesión</a:t>
            </a:r>
            <a:r>
              <a:rPr lang="en-US" sz="165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: el </a:t>
            </a:r>
            <a:r>
              <a:rPr lang="en-US" sz="165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repositorio</a:t>
            </a:r>
            <a:r>
              <a:rPr lang="en-US" sz="165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se </a:t>
            </a:r>
            <a:r>
              <a:rPr lang="en-US" sz="165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convierte</a:t>
            </a:r>
            <a:r>
              <a:rPr lang="en-US" sz="165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</a:t>
            </a:r>
            <a:r>
              <a:rPr lang="en-US" sz="165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en</a:t>
            </a:r>
            <a:r>
              <a:rPr lang="en-US" sz="165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la </a:t>
            </a:r>
            <a:r>
              <a:rPr lang="en-US" sz="165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fuente</a:t>
            </a:r>
            <a:r>
              <a:rPr lang="en-US" sz="165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de </a:t>
            </a:r>
            <a:r>
              <a:rPr lang="en-US" sz="165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verdad</a:t>
            </a:r>
            <a:r>
              <a:rPr lang="en-US" sz="165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 del </a:t>
            </a:r>
            <a:r>
              <a:rPr lang="en-US" sz="1650" b="1" u="none" strike="noStrike" dirty="0" err="1">
                <a:solidFill>
                  <a:srgbClr val="0B1F4D"/>
                </a:solidFill>
                <a:effectLst/>
                <a:uFillTx/>
                <a:latin typeface="Aptos"/>
              </a:rPr>
              <a:t>despliegue</a:t>
            </a:r>
            <a:r>
              <a:rPr lang="en-US" sz="1650" b="1" u="none" strike="noStrike" dirty="0">
                <a:solidFill>
                  <a:srgbClr val="0B1F4D"/>
                </a:solidFill>
                <a:effectLst/>
                <a:uFillTx/>
                <a:latin typeface="Aptos"/>
              </a:rPr>
              <a:t>.</a:t>
            </a:r>
            <a:endParaRPr lang="en-US" sz="1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1285</Words>
  <Application>Microsoft Office PowerPoint</Application>
  <PresentationFormat>Panorámica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Aptos Mono</vt:lpstr>
      <vt:lpstr>Arial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ROIG AGUILAR, ALEJANDRO</cp:lastModifiedBy>
  <cp:revision>1</cp:revision>
  <dcterms:modified xsi:type="dcterms:W3CDTF">2026-09-10T13:30:19Z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2026-09-10T07:29:27Z</dcterms:created>
  <dc:creator>Alejandro Roig Aguilar</dc:creator>
  <dc:description/>
  <dc:language>en-US</dc:language>
  <cp:lastModifiedBy>Alejandro Roig Aguilar</cp:lastModifiedBy>
  <dcterms:modified xsi:type="dcterms:W3CDTF">2026-09-10T07:29:27Z</dcterms:modified>
  <cp:revision>1</cp:revision>
  <dc:subject>Despliegue de Aplicaciones Web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