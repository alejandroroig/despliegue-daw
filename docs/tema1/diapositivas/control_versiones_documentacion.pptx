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  <p:sldId id="268" r:id="rId15"/>
    <p:sldId id="269" r:id="rId16"/>
  </p:sldIdLst>
  <p:sldSz cx="12192000" cy="6858000"/>
  <p:notesSz cx="6858000" cy="12192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30E531D-D55E-4425-A517-59E5C01AB6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59ADFD-8574-4313-84F8-11B08BC016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6A45D-C1A9-CE48-5EC8-3E7D82C95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4D8E489A-CF4E-15F0-B594-B8F6752103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04906F5F-F89B-E99A-F4CC-23F9369714C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391CF382-6184-6D8A-47D4-8A68926E46C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619339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975E0-C333-1267-D481-DC5F97F09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FC522323-9880-D124-3A52-F4096B3C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F5E46706-DB7D-0791-9DEF-1217791AE22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0315CD76-530B-95D2-95D4-DE59F0E8B96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00085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5A49B-AC29-7FE3-BFD8-A5BC9D51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BE7FABF1-5BCA-4816-8432-5248E675F7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F28829B0-6210-6B5E-0EC8-30E65B76C64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9D2BAB4B-E523-BC7A-6234-CF3586E6C8DA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78771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1A551-448C-1BEE-AE43-1C16CE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E5EC89F1-B7CF-FAD1-1132-8DAE179AB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9976A983-D6A2-BB3C-8AC2-345B47F8C7C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D4C4DBE7-FF92-991F-C357-4E38B73F765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35813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DF60A-7330-5F17-1F63-97FEA541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2EF52BDB-9242-9CBB-D282-394DD119D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EA3D303F-C0D3-0DBA-0FF8-014176B57E4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716502C7-5B4F-A668-6AB4-C71AAFDA0E53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232450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24796-8409-0176-EB23-B3C1C21AD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A7F94614-51FD-974E-D5A7-156F56E08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9C3A5C61-E51E-B6EE-F7F3-7E7A8084A9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599FBEC1-A6DA-E624-5C79-A63B336411DF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98705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C3487-F103-9F47-2C31-76EF19F8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244EE278-68EF-B8F0-52EF-8013C4974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45696239-5615-B279-F616-B944FB6080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1CEEEA01-FD04-A819-F012-6B5A71376F6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760122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03A49-940E-4829-D98B-6E6AC4863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DD4CA9A4-12EE-1E35-5869-FB7F85F83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9873B89F-9277-AC63-3CCA-248BBA62924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E71E3A5C-E900-D930-5D67-FBE6D1BB8CC1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299029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9601C-3D54-9264-B5C7-C9DC4371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FD1D3087-8365-B36A-CCB0-C4D87FAE78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82B7A85A-21CB-55A1-D12A-FDB33875203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C1EC148C-D98C-6B34-89B0-806AD719729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435796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D5CE3-8885-E0B0-D34A-2C12481BC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12BAAEAA-56FF-B436-A69D-05A3FF77F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E6E70ED6-E996-95C3-30A7-246C3EA0EBD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D45DB424-0E37-B861-EC00-DE464CB5C9C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652746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7ADA1-694C-697C-DD89-AB7381C78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>
            <a:extLst>
              <a:ext uri="{FF2B5EF4-FFF2-40B4-BE49-F238E27FC236}">
                <a16:creationId xmlns:a16="http://schemas.microsoft.com/office/drawing/2014/main" id="{E13715B6-B392-6572-244F-C1A323687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>
            <a:extLst>
              <a:ext uri="{FF2B5EF4-FFF2-40B4-BE49-F238E27FC236}">
                <a16:creationId xmlns:a16="http://schemas.microsoft.com/office/drawing/2014/main" id="{C07D9C13-4244-5074-8617-7F6A29865A4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>
            <a:extLst>
              <a:ext uri="{FF2B5EF4-FFF2-40B4-BE49-F238E27FC236}">
                <a16:creationId xmlns:a16="http://schemas.microsoft.com/office/drawing/2014/main" id="{9EB80266-041A-98CA-A160-12CB47153648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58A90-62AA-4E7E-871C-5E646CD8E9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536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B7B221-1E84-427E-BAA6-4F210F74F1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12B49F-2D19-4CEF-81DF-2647E0EDFD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48640" y="502920"/>
            <a:ext cx="11091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B2DFDB"/>
                </a:solidFill>
                <a:effectLst/>
                <a:uFillTx/>
                <a:latin typeface="Arial"/>
                <a:ea typeface="Arial"/>
              </a:rPr>
              <a:t>DESPLIEGUE DE APLICACIONES WEB  —  CURSO 2026/2027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48640" y="1417320"/>
            <a:ext cx="658332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4000" b="1" dirty="0">
                <a:solidFill>
                  <a:srgbClr val="FFFFFF"/>
                </a:solidFill>
                <a:ea typeface="Arial"/>
              </a:rPr>
              <a:t>Control de versions y </a:t>
            </a:r>
            <a:r>
              <a:rPr lang="en-US" sz="4000" b="1" dirty="0" err="1">
                <a:solidFill>
                  <a:srgbClr val="FFFFFF"/>
                </a:solidFill>
                <a:ea typeface="Arial"/>
              </a:rPr>
              <a:t>documentación</a:t>
            </a:r>
            <a:endParaRPr lang="en-US" sz="4000" dirty="0">
              <a:solidFill>
                <a:srgbClr val="FFFFFF"/>
              </a:solidFill>
            </a:endParaRPr>
          </a:p>
        </p:txBody>
      </p:sp>
      <p:pic>
        <p:nvPicPr>
          <p:cNvPr id="10" name="Image 0" descr="/mnt/data/cover_vertical_teal.png"/>
          <p:cNvPicPr/>
          <p:nvPr/>
        </p:nvPicPr>
        <p:blipFill>
          <a:blip r:embed="rId3"/>
          <a:stretch/>
        </p:blipFill>
        <p:spPr>
          <a:xfrm>
            <a:off x="7662600" y="0"/>
            <a:ext cx="452592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Shape 2"/>
          <p:cNvSpPr/>
          <p:nvPr/>
        </p:nvSpPr>
        <p:spPr>
          <a:xfrm>
            <a:off x="0" y="5120640"/>
            <a:ext cx="7954920" cy="91404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48640" y="5120640"/>
            <a:ext cx="68576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Tema1 — Punto de </a:t>
            </a:r>
            <a:r>
              <a:rPr lang="en-US" sz="2000" b="0" i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partida</a:t>
            </a:r>
            <a:endParaRPr lang="en-US" sz="2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202E9E35-E91D-7CA5-5F80-AB0BEF493C43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8A22B8BF-83E2-2834-3DD9-4038CBD7770C}"/>
              </a:ext>
            </a:extLst>
          </p:cNvPr>
          <p:cNvSpPr/>
          <p:nvPr/>
        </p:nvSpPr>
        <p:spPr>
          <a:xfrm>
            <a:off x="731520" y="2152885"/>
            <a:ext cx="4983120" cy="19980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797DD3CB-569C-37D1-6974-A9B31E671FAA}"/>
              </a:ext>
            </a:extLst>
          </p:cNvPr>
          <p:cNvSpPr/>
          <p:nvPr/>
        </p:nvSpPr>
        <p:spPr>
          <a:xfrm>
            <a:off x="6446520" y="2152885"/>
            <a:ext cx="4983120" cy="1998000"/>
          </a:xfrm>
          <a:prstGeom prst="rect">
            <a:avLst/>
          </a:prstGeom>
          <a:solidFill>
            <a:srgbClr val="E0F2F1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/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Objetivo de la sesión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Cambiar la </a:t>
            </a:r>
            <a:r>
              <a:rPr lang="en-US" sz="2200" b="1" u="none" strike="noStrike" dirty="0" err="1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pregunta</a:t>
            </a:r>
            <a:r>
              <a:rPr lang="en-US" sz="22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: 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de “¿</a:t>
            </a:r>
            <a:r>
              <a:rPr lang="en-US" sz="2200" b="1" dirty="0" err="1">
                <a:solidFill>
                  <a:srgbClr val="004D40"/>
                </a:solidFill>
                <a:latin typeface="+mj-lt"/>
                <a:ea typeface="Arial"/>
              </a:rPr>
              <a:t>funciona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?” a “¿se </a:t>
            </a:r>
            <a:r>
              <a:rPr lang="en-US" sz="2200" b="1" dirty="0" err="1">
                <a:solidFill>
                  <a:srgbClr val="004D40"/>
                </a:solidFill>
                <a:latin typeface="+mj-lt"/>
                <a:ea typeface="Arial"/>
              </a:rPr>
              <a:t>puede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 </a:t>
            </a:r>
            <a:r>
              <a:rPr lang="en-US" sz="2200" b="1" dirty="0" err="1">
                <a:solidFill>
                  <a:srgbClr val="004D40"/>
                </a:solidFill>
                <a:latin typeface="+mj-lt"/>
                <a:ea typeface="Arial"/>
              </a:rPr>
              <a:t>desplegar</a:t>
            </a:r>
            <a:r>
              <a:rPr lang="en-US" sz="2200" b="1" dirty="0">
                <a:solidFill>
                  <a:srgbClr val="004D40"/>
                </a:solidFill>
                <a:latin typeface="+mj-lt"/>
                <a:ea typeface="Arial"/>
              </a:rPr>
              <a:t>?”</a:t>
            </a:r>
            <a:endParaRPr lang="en-US" sz="2200" b="1" dirty="0">
              <a:solidFill>
                <a:srgbClr val="000000"/>
              </a:solidFill>
              <a:latin typeface="+mj-lt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5"/>
          <p:cNvSpPr/>
          <p:nvPr/>
        </p:nvSpPr>
        <p:spPr>
          <a:xfrm>
            <a:off x="731520" y="1682365"/>
            <a:ext cx="4983120" cy="4568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877680" y="1700725"/>
            <a:ext cx="46904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Funciona</a:t>
            </a: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en</a:t>
            </a: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mi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equipo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6446520" y="1682365"/>
            <a:ext cx="4983120" cy="4568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8"/>
          <p:cNvSpPr/>
          <p:nvPr/>
        </p:nvSpPr>
        <p:spPr>
          <a:xfrm>
            <a:off x="6592680" y="1700725"/>
            <a:ext cx="469044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Funciona</a:t>
            </a:r>
            <a:r>
              <a:rPr lang="en-US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para </a:t>
            </a:r>
            <a:r>
              <a:rPr lang="en-US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otros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9"/>
          <p:cNvSpPr/>
          <p:nvPr/>
        </p:nvSpPr>
        <p:spPr>
          <a:xfrm>
            <a:off x="987480" y="2322445"/>
            <a:ext cx="4480200" cy="182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Dependencias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locales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Datos y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rutas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personales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Secretos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mal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ubicados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Pasos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recordados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de memoria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0"/>
          <p:cNvSpPr/>
          <p:nvPr/>
        </p:nvSpPr>
        <p:spPr>
          <a:xfrm>
            <a:off x="6702480" y="2322445"/>
            <a:ext cx="4480200" cy="182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Proceso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repetible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Configuración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externa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Evidencias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y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diagnóstico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 defTabSz="914400">
              <a:lnSpc>
                <a:spcPct val="10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Actualizaciones</a:t>
            </a:r>
            <a:r>
              <a:rPr lang="en-US" b="0" u="none" strike="noStrike" dirty="0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b="0" u="none" strike="noStrike" dirty="0" err="1">
                <a:solidFill>
                  <a:srgbClr val="212121"/>
                </a:solidFill>
                <a:effectLst/>
                <a:uFillTx/>
                <a:latin typeface="Arial"/>
                <a:ea typeface="Arial"/>
              </a:rPr>
              <a:t>controladas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1"/>
          <p:cNvSpPr/>
          <p:nvPr/>
        </p:nvSpPr>
        <p:spPr>
          <a:xfrm>
            <a:off x="5779080" y="2551045"/>
            <a:ext cx="5940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0ACC1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/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Idea clave: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repositorio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debe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permitir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reconstruir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y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explicar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estado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desplegable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Rounded Rectangle 12">
            <a:extLst>
              <a:ext uri="{FF2B5EF4-FFF2-40B4-BE49-F238E27FC236}">
                <a16:creationId xmlns:a16="http://schemas.microsoft.com/office/drawing/2014/main" id="{87B656B8-FA8B-8DEE-0580-189B16EDB453}"/>
              </a:ext>
            </a:extLst>
          </p:cNvPr>
          <p:cNvSpPr/>
          <p:nvPr/>
        </p:nvSpPr>
        <p:spPr>
          <a:xfrm>
            <a:off x="124344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8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" name="Rectangle 13">
            <a:extLst>
              <a:ext uri="{FF2B5EF4-FFF2-40B4-BE49-F238E27FC236}">
                <a16:creationId xmlns:a16="http://schemas.microsoft.com/office/drawing/2014/main" id="{6D86F5E5-6465-869B-960D-C3CB3C4C3BFC}"/>
              </a:ext>
            </a:extLst>
          </p:cNvPr>
          <p:cNvSpPr/>
          <p:nvPr/>
        </p:nvSpPr>
        <p:spPr>
          <a:xfrm>
            <a:off x="2110320" y="4270320"/>
            <a:ext cx="219240" cy="164160"/>
          </a:xfrm>
          <a:prstGeom prst="rect">
            <a:avLst/>
          </a:prstGeom>
          <a:solidFill>
            <a:srgbClr val="3882F6"/>
          </a:solidFill>
          <a:ln>
            <a:solidFill>
              <a:srgbClr val="38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" name="TextBox 14">
            <a:extLst>
              <a:ext uri="{FF2B5EF4-FFF2-40B4-BE49-F238E27FC236}">
                <a16:creationId xmlns:a16="http://schemas.microsoft.com/office/drawing/2014/main" id="{AF647F04-4E1F-47DC-4B8C-A97DFE92B93B}"/>
              </a:ext>
            </a:extLst>
          </p:cNvPr>
          <p:cNvSpPr/>
          <p:nvPr/>
        </p:nvSpPr>
        <p:spPr>
          <a:xfrm>
            <a:off x="211032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TextBox 15">
            <a:extLst>
              <a:ext uri="{FF2B5EF4-FFF2-40B4-BE49-F238E27FC236}">
                <a16:creationId xmlns:a16="http://schemas.microsoft.com/office/drawing/2014/main" id="{9740594C-356E-BB01-2029-B2384F314668}"/>
              </a:ext>
            </a:extLst>
          </p:cNvPr>
          <p:cNvSpPr/>
          <p:nvPr/>
        </p:nvSpPr>
        <p:spPr>
          <a:xfrm>
            <a:off x="126180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Registrar commits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como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estados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8" name="Connector 16">
            <a:extLst>
              <a:ext uri="{FF2B5EF4-FFF2-40B4-BE49-F238E27FC236}">
                <a16:creationId xmlns:a16="http://schemas.microsoft.com/office/drawing/2014/main" id="{1A14F26C-3C32-A38D-5309-E774EBF8AEA7}"/>
              </a:ext>
            </a:extLst>
          </p:cNvPr>
          <p:cNvCxnSpPr/>
          <p:nvPr/>
        </p:nvCxnSpPr>
        <p:spPr>
          <a:xfrm>
            <a:off x="319644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0" name="Rounded Rectangle 17">
            <a:extLst>
              <a:ext uri="{FF2B5EF4-FFF2-40B4-BE49-F238E27FC236}">
                <a16:creationId xmlns:a16="http://schemas.microsoft.com/office/drawing/2014/main" id="{F789AE8C-3DF6-DAE5-BC6B-247111C2956F}"/>
              </a:ext>
            </a:extLst>
          </p:cNvPr>
          <p:cNvSpPr/>
          <p:nvPr/>
        </p:nvSpPr>
        <p:spPr>
          <a:xfrm>
            <a:off x="326988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14B8A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Rectangle 18">
            <a:extLst>
              <a:ext uri="{FF2B5EF4-FFF2-40B4-BE49-F238E27FC236}">
                <a16:creationId xmlns:a16="http://schemas.microsoft.com/office/drawing/2014/main" id="{9B5FE5F4-DA44-9BD0-48AC-B7EFEFEA41BB}"/>
              </a:ext>
            </a:extLst>
          </p:cNvPr>
          <p:cNvSpPr/>
          <p:nvPr/>
        </p:nvSpPr>
        <p:spPr>
          <a:xfrm>
            <a:off x="4136760" y="4270320"/>
            <a:ext cx="219240" cy="164160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2" name="TextBox 19">
            <a:extLst>
              <a:ext uri="{FF2B5EF4-FFF2-40B4-BE49-F238E27FC236}">
                <a16:creationId xmlns:a16="http://schemas.microsoft.com/office/drawing/2014/main" id="{71ADA0C5-2ABF-6045-E04F-ECB21D578A63}"/>
              </a:ext>
            </a:extLst>
          </p:cNvPr>
          <p:cNvSpPr/>
          <p:nvPr/>
        </p:nvSpPr>
        <p:spPr>
          <a:xfrm>
            <a:off x="413676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6580C2EE-2E23-6AD5-185A-D6B24A2A459B}"/>
              </a:ext>
            </a:extLst>
          </p:cNvPr>
          <p:cNvSpPr/>
          <p:nvPr/>
        </p:nvSpPr>
        <p:spPr>
          <a:xfrm>
            <a:off x="328788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Proteger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qué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no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debe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entrar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6" name="Connector 21">
            <a:extLst>
              <a:ext uri="{FF2B5EF4-FFF2-40B4-BE49-F238E27FC236}">
                <a16:creationId xmlns:a16="http://schemas.microsoft.com/office/drawing/2014/main" id="{AADA409A-DDB8-AA3D-3B95-CA4C78D319EC}"/>
              </a:ext>
            </a:extLst>
          </p:cNvPr>
          <p:cNvCxnSpPr/>
          <p:nvPr/>
        </p:nvCxnSpPr>
        <p:spPr>
          <a:xfrm>
            <a:off x="522288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8" name="Rounded Rectangle 22">
            <a:extLst>
              <a:ext uri="{FF2B5EF4-FFF2-40B4-BE49-F238E27FC236}">
                <a16:creationId xmlns:a16="http://schemas.microsoft.com/office/drawing/2014/main" id="{69996612-2AE4-88E0-D815-2CFE94CA73D6}"/>
              </a:ext>
            </a:extLst>
          </p:cNvPr>
          <p:cNvSpPr/>
          <p:nvPr/>
        </p:nvSpPr>
        <p:spPr>
          <a:xfrm>
            <a:off x="529596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8B5C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Rectangle 23">
            <a:extLst>
              <a:ext uri="{FF2B5EF4-FFF2-40B4-BE49-F238E27FC236}">
                <a16:creationId xmlns:a16="http://schemas.microsoft.com/office/drawing/2014/main" id="{A309C3AF-5126-CB8A-ED24-440DE6908FF3}"/>
              </a:ext>
            </a:extLst>
          </p:cNvPr>
          <p:cNvSpPr/>
          <p:nvPr/>
        </p:nvSpPr>
        <p:spPr>
          <a:xfrm>
            <a:off x="6162840" y="4270320"/>
            <a:ext cx="219240" cy="164160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0" name="TextBox 24">
            <a:extLst>
              <a:ext uri="{FF2B5EF4-FFF2-40B4-BE49-F238E27FC236}">
                <a16:creationId xmlns:a16="http://schemas.microsoft.com/office/drawing/2014/main" id="{A78F03E2-0495-494F-70C4-C1295DEDACD1}"/>
              </a:ext>
            </a:extLst>
          </p:cNvPr>
          <p:cNvSpPr/>
          <p:nvPr/>
        </p:nvSpPr>
        <p:spPr>
          <a:xfrm>
            <a:off x="616284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1" name="TextBox 25">
            <a:extLst>
              <a:ext uri="{FF2B5EF4-FFF2-40B4-BE49-F238E27FC236}">
                <a16:creationId xmlns:a16="http://schemas.microsoft.com/office/drawing/2014/main" id="{54D72193-77A0-3C20-7CCC-24126B72EC01}"/>
              </a:ext>
            </a:extLst>
          </p:cNvPr>
          <p:cNvSpPr/>
          <p:nvPr/>
        </p:nvSpPr>
        <p:spPr>
          <a:xfrm>
            <a:off x="531432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Compartir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GitHub 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remoto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2" name="Connector 26">
            <a:extLst>
              <a:ext uri="{FF2B5EF4-FFF2-40B4-BE49-F238E27FC236}">
                <a16:creationId xmlns:a16="http://schemas.microsoft.com/office/drawing/2014/main" id="{83FACFBD-F169-3F21-B97B-7D129766F105}"/>
              </a:ext>
            </a:extLst>
          </p:cNvPr>
          <p:cNvCxnSpPr/>
          <p:nvPr/>
        </p:nvCxnSpPr>
        <p:spPr>
          <a:xfrm>
            <a:off x="724896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3" name="Rounded Rectangle 27">
            <a:extLst>
              <a:ext uri="{FF2B5EF4-FFF2-40B4-BE49-F238E27FC236}">
                <a16:creationId xmlns:a16="http://schemas.microsoft.com/office/drawing/2014/main" id="{914565B4-97EB-BD4D-F65D-404071BFB9DC}"/>
              </a:ext>
            </a:extLst>
          </p:cNvPr>
          <p:cNvSpPr/>
          <p:nvPr/>
        </p:nvSpPr>
        <p:spPr>
          <a:xfrm>
            <a:off x="732240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61760792-B99F-F2DF-ADA2-67237925F39D}"/>
              </a:ext>
            </a:extLst>
          </p:cNvPr>
          <p:cNvSpPr/>
          <p:nvPr/>
        </p:nvSpPr>
        <p:spPr>
          <a:xfrm>
            <a:off x="8189280" y="4270320"/>
            <a:ext cx="219240" cy="164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5" name="TextBox 29">
            <a:extLst>
              <a:ext uri="{FF2B5EF4-FFF2-40B4-BE49-F238E27FC236}">
                <a16:creationId xmlns:a16="http://schemas.microsoft.com/office/drawing/2014/main" id="{7FCD7AB9-81FC-74D5-F706-B84A3AAD26E9}"/>
              </a:ext>
            </a:extLst>
          </p:cNvPr>
          <p:cNvSpPr/>
          <p:nvPr/>
        </p:nvSpPr>
        <p:spPr>
          <a:xfrm>
            <a:off x="818928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6" name="TextBox 30">
            <a:extLst>
              <a:ext uri="{FF2B5EF4-FFF2-40B4-BE49-F238E27FC236}">
                <a16:creationId xmlns:a16="http://schemas.microsoft.com/office/drawing/2014/main" id="{A5F3CC51-1285-01C2-D171-924E976B0236}"/>
              </a:ext>
            </a:extLst>
          </p:cNvPr>
          <p:cNvSpPr/>
          <p:nvPr/>
        </p:nvSpPr>
        <p:spPr>
          <a:xfrm>
            <a:off x="7340760" y="4462191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Revisar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ramas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, PR y checks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7" name="Connector 31">
            <a:extLst>
              <a:ext uri="{FF2B5EF4-FFF2-40B4-BE49-F238E27FC236}">
                <a16:creationId xmlns:a16="http://schemas.microsoft.com/office/drawing/2014/main" id="{5CB24DE2-E8A4-F963-855F-1E48328B4A75}"/>
              </a:ext>
            </a:extLst>
          </p:cNvPr>
          <p:cNvCxnSpPr/>
          <p:nvPr/>
        </p:nvCxnSpPr>
        <p:spPr>
          <a:xfrm>
            <a:off x="9275400" y="474552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8" name="Rounded Rectangle 32">
            <a:extLst>
              <a:ext uri="{FF2B5EF4-FFF2-40B4-BE49-F238E27FC236}">
                <a16:creationId xmlns:a16="http://schemas.microsoft.com/office/drawing/2014/main" id="{A1A5AE2E-47FC-486D-A6AA-1FA0A34D5CB8}"/>
              </a:ext>
            </a:extLst>
          </p:cNvPr>
          <p:cNvSpPr/>
          <p:nvPr/>
        </p:nvSpPr>
        <p:spPr>
          <a:xfrm>
            <a:off x="9348840" y="4416480"/>
            <a:ext cx="19526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9" name="Rectangle 33">
            <a:extLst>
              <a:ext uri="{FF2B5EF4-FFF2-40B4-BE49-F238E27FC236}">
                <a16:creationId xmlns:a16="http://schemas.microsoft.com/office/drawing/2014/main" id="{F6F7444F-E281-784B-D192-D72D7DC0D340}"/>
              </a:ext>
            </a:extLst>
          </p:cNvPr>
          <p:cNvSpPr/>
          <p:nvPr/>
        </p:nvSpPr>
        <p:spPr>
          <a:xfrm>
            <a:off x="10215360" y="4270320"/>
            <a:ext cx="219240" cy="16416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0" name="TextBox 34">
            <a:extLst>
              <a:ext uri="{FF2B5EF4-FFF2-40B4-BE49-F238E27FC236}">
                <a16:creationId xmlns:a16="http://schemas.microsoft.com/office/drawing/2014/main" id="{14B3355D-6328-5E88-3467-4B4D6851EC8D}"/>
              </a:ext>
            </a:extLst>
          </p:cNvPr>
          <p:cNvSpPr/>
          <p:nvPr/>
        </p:nvSpPr>
        <p:spPr>
          <a:xfrm>
            <a:off x="10215360" y="4162934"/>
            <a:ext cx="2192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1" name="TextBox 35">
            <a:extLst>
              <a:ext uri="{FF2B5EF4-FFF2-40B4-BE49-F238E27FC236}">
                <a16:creationId xmlns:a16="http://schemas.microsoft.com/office/drawing/2014/main" id="{3F0CFE0C-14B1-F6E0-C10A-B017AD66719A}"/>
              </a:ext>
            </a:extLst>
          </p:cNvPr>
          <p:cNvSpPr/>
          <p:nvPr/>
        </p:nvSpPr>
        <p:spPr>
          <a:xfrm>
            <a:off x="9366840" y="4462190"/>
            <a:ext cx="191628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Identificar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etiquetas</a:t>
            </a: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 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versiones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AFA56-A376-4179-29AE-3B3C4D87E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5E17A76D-BD84-61BE-D358-33F8E754D950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4915DC07-3C49-6978-BAC0-3CB6E2DE86A8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F1EB9624-E8FB-9D8B-9091-3ADFA4714580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Git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registra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estados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, no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copias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de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carpetas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F55EE731-C565-708E-7704-73E9E5E5582D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EFD3978D-0404-B906-280E-2D0952713DAC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>
              <a:tabLst>
                <a:tab pos="0" algn="l"/>
              </a:tabLst>
            </a:pPr>
            <a:r>
              <a:rPr lang="es-ES" sz="28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Cada </a:t>
            </a:r>
            <a:r>
              <a:rPr lang="es-ES" sz="2800" b="1" u="none" strike="noStrike" dirty="0" err="1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commit</a:t>
            </a:r>
            <a:r>
              <a:rPr lang="es-ES" sz="2800" b="1" u="none" strike="noStrike" dirty="0">
                <a:solidFill>
                  <a:srgbClr val="004D40"/>
                </a:solidFill>
                <a:effectLst/>
                <a:uFillTx/>
                <a:latin typeface="+mj-lt"/>
                <a:ea typeface="Arial"/>
              </a:rPr>
              <a:t> identifica un estado del proyecto y queda relacionado con los anteriores</a:t>
            </a: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55B7B4BC-8562-665D-DDD3-C2E416F9D284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dirty="0">
                <a:solidFill>
                  <a:srgbClr val="1C3565"/>
                </a:solidFill>
                <a:latin typeface="Aptos"/>
              </a:rPr>
              <a:t>En despliegue también versionamos documentación y configuración reproducible.</a:t>
            </a:r>
          </a:p>
        </p:txBody>
      </p:sp>
      <p:sp>
        <p:nvSpPr>
          <p:cNvPr id="18" name="Rounded Rectangle 5">
            <a:extLst>
              <a:ext uri="{FF2B5EF4-FFF2-40B4-BE49-F238E27FC236}">
                <a16:creationId xmlns:a16="http://schemas.microsoft.com/office/drawing/2014/main" id="{84876B42-2D93-AC0E-F084-6A49508215C0}"/>
              </a:ext>
            </a:extLst>
          </p:cNvPr>
          <p:cNvSpPr/>
          <p:nvPr/>
        </p:nvSpPr>
        <p:spPr>
          <a:xfrm>
            <a:off x="109529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2" name="TextBox 6">
            <a:extLst>
              <a:ext uri="{FF2B5EF4-FFF2-40B4-BE49-F238E27FC236}">
                <a16:creationId xmlns:a16="http://schemas.microsoft.com/office/drawing/2014/main" id="{16DF09C6-D522-FB84-F293-4D24AA304521}"/>
              </a:ext>
            </a:extLst>
          </p:cNvPr>
          <p:cNvSpPr/>
          <p:nvPr/>
        </p:nvSpPr>
        <p:spPr>
          <a:xfrm>
            <a:off x="109529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A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3" name="Rounded Rectangle 7">
            <a:extLst>
              <a:ext uri="{FF2B5EF4-FFF2-40B4-BE49-F238E27FC236}">
                <a16:creationId xmlns:a16="http://schemas.microsoft.com/office/drawing/2014/main" id="{329E768B-4A9E-73B2-6BB2-CE6E6123D064}"/>
              </a:ext>
            </a:extLst>
          </p:cNvPr>
          <p:cNvSpPr/>
          <p:nvPr/>
        </p:nvSpPr>
        <p:spPr>
          <a:xfrm>
            <a:off x="203705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4" name="TextBox 8">
            <a:extLst>
              <a:ext uri="{FF2B5EF4-FFF2-40B4-BE49-F238E27FC236}">
                <a16:creationId xmlns:a16="http://schemas.microsoft.com/office/drawing/2014/main" id="{3D6BB2AC-3F66-B552-3B47-4093F3E51919}"/>
              </a:ext>
            </a:extLst>
          </p:cNvPr>
          <p:cNvSpPr/>
          <p:nvPr/>
        </p:nvSpPr>
        <p:spPr>
          <a:xfrm>
            <a:off x="203705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B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45" name="Connector 9">
            <a:extLst>
              <a:ext uri="{FF2B5EF4-FFF2-40B4-BE49-F238E27FC236}">
                <a16:creationId xmlns:a16="http://schemas.microsoft.com/office/drawing/2014/main" id="{BFC889AF-50DD-FD02-FB1D-193C732324AC}"/>
              </a:ext>
            </a:extLst>
          </p:cNvPr>
          <p:cNvCxnSpPr/>
          <p:nvPr/>
        </p:nvCxnSpPr>
        <p:spPr>
          <a:xfrm>
            <a:off x="1717012" y="2454660"/>
            <a:ext cx="3204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46" name="Rounded Rectangle 10">
            <a:extLst>
              <a:ext uri="{FF2B5EF4-FFF2-40B4-BE49-F238E27FC236}">
                <a16:creationId xmlns:a16="http://schemas.microsoft.com/office/drawing/2014/main" id="{2618A5A8-B0E8-BB8B-2BAD-FEC933C3B910}"/>
              </a:ext>
            </a:extLst>
          </p:cNvPr>
          <p:cNvSpPr/>
          <p:nvPr/>
        </p:nvSpPr>
        <p:spPr>
          <a:xfrm>
            <a:off x="297881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FBF4DB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7" name="TextBox 11">
            <a:extLst>
              <a:ext uri="{FF2B5EF4-FFF2-40B4-BE49-F238E27FC236}">
                <a16:creationId xmlns:a16="http://schemas.microsoft.com/office/drawing/2014/main" id="{C71D9C53-6A6F-EE9F-98E8-45C58FF2E576}"/>
              </a:ext>
            </a:extLst>
          </p:cNvPr>
          <p:cNvSpPr/>
          <p:nvPr/>
        </p:nvSpPr>
        <p:spPr>
          <a:xfrm>
            <a:off x="297881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C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48" name="Connector 12">
            <a:extLst>
              <a:ext uri="{FF2B5EF4-FFF2-40B4-BE49-F238E27FC236}">
                <a16:creationId xmlns:a16="http://schemas.microsoft.com/office/drawing/2014/main" id="{194004E7-8389-9C0A-22A8-1E9B77B648B8}"/>
              </a:ext>
            </a:extLst>
          </p:cNvPr>
          <p:cNvCxnSpPr/>
          <p:nvPr/>
        </p:nvCxnSpPr>
        <p:spPr>
          <a:xfrm>
            <a:off x="2658772" y="2454660"/>
            <a:ext cx="3204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49" name="Rounded Rectangle 13">
            <a:extLst>
              <a:ext uri="{FF2B5EF4-FFF2-40B4-BE49-F238E27FC236}">
                <a16:creationId xmlns:a16="http://schemas.microsoft.com/office/drawing/2014/main" id="{63F69500-AA3E-D9C3-0442-3D70799FB625}"/>
              </a:ext>
            </a:extLst>
          </p:cNvPr>
          <p:cNvSpPr/>
          <p:nvPr/>
        </p:nvSpPr>
        <p:spPr>
          <a:xfrm>
            <a:off x="3920932" y="2143980"/>
            <a:ext cx="621360" cy="62136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0" name="TextBox 14">
            <a:extLst>
              <a:ext uri="{FF2B5EF4-FFF2-40B4-BE49-F238E27FC236}">
                <a16:creationId xmlns:a16="http://schemas.microsoft.com/office/drawing/2014/main" id="{E7D73C23-EE10-D66A-7978-A8DCFEE1083C}"/>
              </a:ext>
            </a:extLst>
          </p:cNvPr>
          <p:cNvSpPr/>
          <p:nvPr/>
        </p:nvSpPr>
        <p:spPr>
          <a:xfrm>
            <a:off x="3920932" y="2239095"/>
            <a:ext cx="62136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>
                <a:solidFill>
                  <a:srgbClr val="1C3565"/>
                </a:solidFill>
                <a:effectLst/>
                <a:uFillTx/>
              </a:rPr>
              <a:t>D</a:t>
            </a:r>
            <a:endParaRPr lang="en-US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51" name="Connector 15">
            <a:extLst>
              <a:ext uri="{FF2B5EF4-FFF2-40B4-BE49-F238E27FC236}">
                <a16:creationId xmlns:a16="http://schemas.microsoft.com/office/drawing/2014/main" id="{148367F6-9143-2CDE-C41B-1A29854B09AE}"/>
              </a:ext>
            </a:extLst>
          </p:cNvPr>
          <p:cNvCxnSpPr/>
          <p:nvPr/>
        </p:nvCxnSpPr>
        <p:spPr>
          <a:xfrm>
            <a:off x="3600532" y="2454660"/>
            <a:ext cx="3204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52" name="TextBox 16">
            <a:extLst>
              <a:ext uri="{FF2B5EF4-FFF2-40B4-BE49-F238E27FC236}">
                <a16:creationId xmlns:a16="http://schemas.microsoft.com/office/drawing/2014/main" id="{7403E4A2-8170-FDF3-6DAA-2BDCC70AFDD9}"/>
              </a:ext>
            </a:extLst>
          </p:cNvPr>
          <p:cNvSpPr/>
          <p:nvPr/>
        </p:nvSpPr>
        <p:spPr>
          <a:xfrm>
            <a:off x="1049571" y="2875500"/>
            <a:ext cx="3906741" cy="1339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A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medida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haces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commits, Git no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guarda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“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carpeta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por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versión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”.</a:t>
            </a:r>
            <a:endParaRPr lang="en-US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Guarda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estados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su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relación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b="0" u="none" strike="noStrike" dirty="0" err="1">
                <a:solidFill>
                  <a:srgbClr val="2D3436"/>
                </a:solidFill>
                <a:effectLst/>
                <a:uFillTx/>
              </a:rPr>
              <a:t>historial</a:t>
            </a:r>
            <a:r>
              <a:rPr lang="en-US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3" name="Rounded Rectangle 17">
            <a:extLst>
              <a:ext uri="{FF2B5EF4-FFF2-40B4-BE49-F238E27FC236}">
                <a16:creationId xmlns:a16="http://schemas.microsoft.com/office/drawing/2014/main" id="{B4F4E674-0653-CBC1-B0D1-5BB7661E75CB}"/>
              </a:ext>
            </a:extLst>
          </p:cNvPr>
          <p:cNvSpPr/>
          <p:nvPr/>
        </p:nvSpPr>
        <p:spPr>
          <a:xfrm>
            <a:off x="5438692" y="1686780"/>
            <a:ext cx="5486040" cy="205704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nos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interesa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versionar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en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despliegue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Código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aplicación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Documentación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procedimientos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Configuración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reproducible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Workflows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automatizaciones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4" name="Rounded Rectangle 18">
            <a:extLst>
              <a:ext uri="{FF2B5EF4-FFF2-40B4-BE49-F238E27FC236}">
                <a16:creationId xmlns:a16="http://schemas.microsoft.com/office/drawing/2014/main" id="{5F4031C2-7E05-73CC-C843-CB08CB7D5D89}"/>
              </a:ext>
            </a:extLst>
          </p:cNvPr>
          <p:cNvSpPr/>
          <p:nvPr/>
        </p:nvSpPr>
        <p:spPr>
          <a:xfrm>
            <a:off x="5438692" y="3881340"/>
            <a:ext cx="5486040" cy="1188360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Idea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útil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Un commit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útil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representa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intención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concreta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deja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explicación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mínima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realizado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89877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4BFFAD-51FB-C6D7-1C6F-6BA25C166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39CE136B-3A8B-6E2E-FCD5-8CDC9E77C4BF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8D06F8D2-A02F-5849-9160-BF706739FA75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A84D87D5-2285-ACBE-4F40-F68CD6BA4E8C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Del </a:t>
            </a:r>
            <a:r>
              <a:rPr lang="en-US" sz="2500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fichero</a:t>
            </a:r>
            <a:r>
              <a:rPr lang="en-US" sz="2500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500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editado</a:t>
            </a:r>
            <a:r>
              <a:rPr lang="en-US" sz="2500" b="1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al </a:t>
            </a:r>
            <a:r>
              <a:rPr lang="en-US" sz="2500" b="1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historial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B2A0E13-D6D3-00C4-57A9-72710BC75C04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2B9EAB85-7192-0378-5F3F-694B349CA908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200" b="1" dirty="0">
                <a:solidFill>
                  <a:srgbClr val="0A5C48"/>
                </a:solidFill>
                <a:latin typeface="+mj-lt"/>
              </a:rPr>
              <a:t>Entre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editar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un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fichero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y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registrarlo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hay </a:t>
            </a:r>
            <a:r>
              <a:rPr lang="en-US" sz="2200" b="1" dirty="0" err="1">
                <a:solidFill>
                  <a:srgbClr val="0A5C48"/>
                </a:solidFill>
                <a:latin typeface="+mj-lt"/>
              </a:rPr>
              <a:t>una</a:t>
            </a:r>
            <a:r>
              <a:rPr lang="en-US" sz="2200" b="1" dirty="0">
                <a:solidFill>
                  <a:srgbClr val="0A5C48"/>
                </a:solidFill>
                <a:latin typeface="+mj-lt"/>
              </a:rPr>
              <a:t> zona intermedia: el staging</a:t>
            </a:r>
            <a:endParaRPr lang="en-US" sz="22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FF672A32-1009-E1AC-997A-D122704049DB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Reflejo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básico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: git status antes y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después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de git add.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5">
            <a:extLst>
              <a:ext uri="{FF2B5EF4-FFF2-40B4-BE49-F238E27FC236}">
                <a16:creationId xmlns:a16="http://schemas.microsoft.com/office/drawing/2014/main" id="{4EBBB85E-E1C5-40C5-CCA0-7D760DD35157}"/>
              </a:ext>
            </a:extLst>
          </p:cNvPr>
          <p:cNvSpPr/>
          <p:nvPr/>
        </p:nvSpPr>
        <p:spPr>
          <a:xfrm>
            <a:off x="1503459" y="2578680"/>
            <a:ext cx="184068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F6045B9D-5820-F686-CEDF-5A2DCA6F9FF2}"/>
              </a:ext>
            </a:extLst>
          </p:cNvPr>
          <p:cNvSpPr/>
          <p:nvPr/>
        </p:nvSpPr>
        <p:spPr>
          <a:xfrm>
            <a:off x="1521819" y="2675873"/>
            <a:ext cx="18039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Directorio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de </a:t>
            </a: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trabajo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5F6D61E2-95AC-A0FF-C2A8-DC1A55CD1D24}"/>
              </a:ext>
            </a:extLst>
          </p:cNvPr>
          <p:cNvSpPr/>
          <p:nvPr/>
        </p:nvSpPr>
        <p:spPr>
          <a:xfrm>
            <a:off x="3799729" y="2578680"/>
            <a:ext cx="184068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9333E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FB1E4A3D-A33F-4E27-1027-FE9102D59353}"/>
              </a:ext>
            </a:extLst>
          </p:cNvPr>
          <p:cNvSpPr/>
          <p:nvPr/>
        </p:nvSpPr>
        <p:spPr>
          <a:xfrm>
            <a:off x="3818089" y="2675873"/>
            <a:ext cx="18039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Staging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preparado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0" name="Rounded Rectangle 11">
            <a:extLst>
              <a:ext uri="{FF2B5EF4-FFF2-40B4-BE49-F238E27FC236}">
                <a16:creationId xmlns:a16="http://schemas.microsoft.com/office/drawing/2014/main" id="{59B1B103-B2EF-7C26-2C31-CDCF93FC64F8}"/>
              </a:ext>
            </a:extLst>
          </p:cNvPr>
          <p:cNvSpPr/>
          <p:nvPr/>
        </p:nvSpPr>
        <p:spPr>
          <a:xfrm>
            <a:off x="6096000" y="2578680"/>
            <a:ext cx="184068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2A9CCDE9-78B7-A906-CDD3-F7E8C7DEAAA6}"/>
              </a:ext>
            </a:extLst>
          </p:cNvPr>
          <p:cNvSpPr/>
          <p:nvPr/>
        </p:nvSpPr>
        <p:spPr>
          <a:xfrm>
            <a:off x="6114360" y="2675873"/>
            <a:ext cx="18039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Historial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registrado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50C38315-9AC0-43C9-071F-1F3BA48F920E}"/>
              </a:ext>
            </a:extLst>
          </p:cNvPr>
          <p:cNvSpPr/>
          <p:nvPr/>
        </p:nvSpPr>
        <p:spPr>
          <a:xfrm>
            <a:off x="3206354" y="2024621"/>
            <a:ext cx="73116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3B82F6"/>
                </a:solidFill>
                <a:effectLst/>
                <a:uFillTx/>
              </a:rPr>
              <a:t>git add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E7FA6CD8-8FE4-D427-62D7-6BC8F30CD862}"/>
              </a:ext>
            </a:extLst>
          </p:cNvPr>
          <p:cNvSpPr/>
          <p:nvPr/>
        </p:nvSpPr>
        <p:spPr>
          <a:xfrm>
            <a:off x="5434045" y="2010722"/>
            <a:ext cx="86832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9333EA"/>
                </a:solidFill>
                <a:effectLst/>
                <a:uFillTx/>
              </a:rPr>
              <a:t>git commit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9" name="Rounded Rectangle 15">
            <a:extLst>
              <a:ext uri="{FF2B5EF4-FFF2-40B4-BE49-F238E27FC236}">
                <a16:creationId xmlns:a16="http://schemas.microsoft.com/office/drawing/2014/main" id="{FDDE39F5-B989-D01D-8234-A89EC9F6B268}"/>
              </a:ext>
            </a:extLst>
          </p:cNvPr>
          <p:cNvSpPr/>
          <p:nvPr/>
        </p:nvSpPr>
        <p:spPr>
          <a:xfrm>
            <a:off x="1503459" y="3682890"/>
            <a:ext cx="6400440" cy="109692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Idea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práctica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Si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modificas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tres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ficheros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puedes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preparar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solo uno o dos. Git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registra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lo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has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preparado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, no lo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recuerdas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haber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0" name="Rounded Rectangle 16">
            <a:extLst>
              <a:ext uri="{FF2B5EF4-FFF2-40B4-BE49-F238E27FC236}">
                <a16:creationId xmlns:a16="http://schemas.microsoft.com/office/drawing/2014/main" id="{5FE9C524-08AF-DDFE-7F76-A19E7A8B3717}"/>
              </a:ext>
            </a:extLst>
          </p:cNvPr>
          <p:cNvSpPr/>
          <p:nvPr/>
        </p:nvSpPr>
        <p:spPr>
          <a:xfrm>
            <a:off x="8224299" y="2357010"/>
            <a:ext cx="2194200" cy="114264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374151"/>
                </a:solidFill>
                <a:effectLst/>
                <a:uFillTx/>
              </a:rPr>
              <a:t>git add README.md</a:t>
            </a:r>
            <a:br>
              <a:rPr sz="1600"/>
            </a:br>
            <a:r>
              <a:rPr lang="en-US" sz="1600" b="0" u="none" strike="noStrike">
                <a:solidFill>
                  <a:srgbClr val="374151"/>
                </a:solidFill>
                <a:effectLst/>
                <a:uFillTx/>
              </a:rPr>
              <a:t>git status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1" name="Rounded Rectangle 17">
            <a:extLst>
              <a:ext uri="{FF2B5EF4-FFF2-40B4-BE49-F238E27FC236}">
                <a16:creationId xmlns:a16="http://schemas.microsoft.com/office/drawing/2014/main" id="{6C3938B1-570F-957D-3EC4-F0EC49B7881C}"/>
              </a:ext>
            </a:extLst>
          </p:cNvPr>
          <p:cNvSpPr/>
          <p:nvPr/>
        </p:nvSpPr>
        <p:spPr>
          <a:xfrm>
            <a:off x="7949979" y="3676050"/>
            <a:ext cx="2651400" cy="115632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Hábito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clave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Usa </a:t>
            </a:r>
            <a:r>
              <a:rPr lang="en-US" sz="1600" b="1" u="none" strike="noStrike" dirty="0">
                <a:solidFill>
                  <a:srgbClr val="2D3436"/>
                </a:solidFill>
                <a:effectLst/>
                <a:uFillTx/>
              </a:rPr>
              <a:t>git status 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antes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después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1" u="none" strike="noStrike" dirty="0">
                <a:solidFill>
                  <a:srgbClr val="2D3436"/>
                </a:solidFill>
                <a:effectLst/>
                <a:uFillTx/>
              </a:rPr>
              <a:t>git add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y antes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commit.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93515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B066CB-E9DE-A32C-3F1D-EC62BAD2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EB8C54AC-84FF-651A-4118-9D8F99498362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C85F3FE7-F6C3-0635-8525-E85B98D4789E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14CCCFCF-1518-95C0-60C6-7D90B9DF2852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Un commit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debe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representar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una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idea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0B6D0F90-ED5F-B6A1-85C6-B254B8867451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737D9460-067B-CA04-9F80-461E58381DD6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200" b="1" dirty="0">
                <a:solidFill>
                  <a:srgbClr val="0A5C48"/>
                </a:solidFill>
                <a:latin typeface="+mj-lt"/>
              </a:rPr>
              <a:t>Un historial útil debe poder leerse y entenderse.</a:t>
            </a:r>
          </a:p>
          <a:p>
            <a:pPr algn="ctr" defTabSz="457200">
              <a:lnSpc>
                <a:spcPct val="100000"/>
              </a:lnSpc>
            </a:pPr>
            <a:endParaRPr lang="en-US" sz="22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1E0A1D76-1929-4B77-7005-2325F6AF0EE2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buen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commit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permite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entender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por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qué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existe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cambio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sin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abrir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todos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los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ficheros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" name="Rounded Rectangle 5">
            <a:extLst>
              <a:ext uri="{FF2B5EF4-FFF2-40B4-BE49-F238E27FC236}">
                <a16:creationId xmlns:a16="http://schemas.microsoft.com/office/drawing/2014/main" id="{7D120492-F0CC-A725-4B87-E22FC3E7DAA6}"/>
              </a:ext>
            </a:extLst>
          </p:cNvPr>
          <p:cNvSpPr/>
          <p:nvPr/>
        </p:nvSpPr>
        <p:spPr>
          <a:xfrm>
            <a:off x="1232452" y="1882996"/>
            <a:ext cx="4359966" cy="196560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`docs: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añade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instrucciones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arranque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`fix: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corrige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ruta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almacenamiento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`chore: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configura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variables de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desarrollo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8" name="Rounded Rectangle 6">
            <a:extLst>
              <a:ext uri="{FF2B5EF4-FFF2-40B4-BE49-F238E27FC236}">
                <a16:creationId xmlns:a16="http://schemas.microsoft.com/office/drawing/2014/main" id="{B738E259-3228-06D2-E3E8-6DDEBB0AF46A}"/>
              </a:ext>
            </a:extLst>
          </p:cNvPr>
          <p:cNvSpPr/>
          <p:nvPr/>
        </p:nvSpPr>
        <p:spPr>
          <a:xfrm>
            <a:off x="1250812" y="1901356"/>
            <a:ext cx="4341606" cy="328680"/>
          </a:xfrm>
          <a:prstGeom prst="roundRect">
            <a:avLst>
              <a:gd name="adj" fmla="val 16667"/>
            </a:avLst>
          </a:prstGeom>
          <a:solidFill>
            <a:srgbClr val="228B5E"/>
          </a:solidFill>
          <a:ln>
            <a:solidFill>
              <a:srgbClr val="228B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3" name="TextBox 7">
            <a:extLst>
              <a:ext uri="{FF2B5EF4-FFF2-40B4-BE49-F238E27FC236}">
                <a16:creationId xmlns:a16="http://schemas.microsoft.com/office/drawing/2014/main" id="{DF52306E-B48A-03E8-1452-81AB6B90F921}"/>
              </a:ext>
            </a:extLst>
          </p:cNvPr>
          <p:cNvSpPr/>
          <p:nvPr/>
        </p:nvSpPr>
        <p:spPr>
          <a:xfrm>
            <a:off x="1305532" y="1874520"/>
            <a:ext cx="387684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Buenos mensajes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5" name="Rounded Rectangle 8">
            <a:extLst>
              <a:ext uri="{FF2B5EF4-FFF2-40B4-BE49-F238E27FC236}">
                <a16:creationId xmlns:a16="http://schemas.microsoft.com/office/drawing/2014/main" id="{74563226-0228-70BD-3182-7680E02C551E}"/>
              </a:ext>
            </a:extLst>
          </p:cNvPr>
          <p:cNvSpPr/>
          <p:nvPr/>
        </p:nvSpPr>
        <p:spPr>
          <a:xfrm>
            <a:off x="6381886" y="1882996"/>
            <a:ext cx="4359966" cy="196560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cambios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`final`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`arreglo2`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8" name="Rounded Rectangle 9">
            <a:extLst>
              <a:ext uri="{FF2B5EF4-FFF2-40B4-BE49-F238E27FC236}">
                <a16:creationId xmlns:a16="http://schemas.microsoft.com/office/drawing/2014/main" id="{158E509E-29AD-0555-1875-1CF5589DDE26}"/>
              </a:ext>
            </a:extLst>
          </p:cNvPr>
          <p:cNvSpPr/>
          <p:nvPr/>
        </p:nvSpPr>
        <p:spPr>
          <a:xfrm>
            <a:off x="6381886" y="1891085"/>
            <a:ext cx="4341606" cy="32868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>
            <a:solidFill>
              <a:srgbClr val="DC262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0" name="TextBox 10">
            <a:extLst>
              <a:ext uri="{FF2B5EF4-FFF2-40B4-BE49-F238E27FC236}">
                <a16:creationId xmlns:a16="http://schemas.microsoft.com/office/drawing/2014/main" id="{FFCE230E-80F2-5160-BDC4-F595F2FE8CF2}"/>
              </a:ext>
            </a:extLst>
          </p:cNvPr>
          <p:cNvSpPr/>
          <p:nvPr/>
        </p:nvSpPr>
        <p:spPr>
          <a:xfrm>
            <a:off x="6467208" y="1874520"/>
            <a:ext cx="4201564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Malos mensajes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2" name="Rounded Rectangle 11">
            <a:extLst>
              <a:ext uri="{FF2B5EF4-FFF2-40B4-BE49-F238E27FC236}">
                <a16:creationId xmlns:a16="http://schemas.microsoft.com/office/drawing/2014/main" id="{41DAB110-785F-77C5-4DA6-DC169F7D23D7}"/>
              </a:ext>
            </a:extLst>
          </p:cNvPr>
          <p:cNvSpPr/>
          <p:nvPr/>
        </p:nvSpPr>
        <p:spPr>
          <a:xfrm>
            <a:off x="123361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60A5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AD2A0A81-159D-3F12-D2B7-F737672C5A0F}"/>
              </a:ext>
            </a:extLst>
          </p:cNvPr>
          <p:cNvSpPr/>
          <p:nvPr/>
        </p:nvSpPr>
        <p:spPr>
          <a:xfrm>
            <a:off x="125197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feat: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funcionalidad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6" name="Rounded Rectangle 13">
            <a:extLst>
              <a:ext uri="{FF2B5EF4-FFF2-40B4-BE49-F238E27FC236}">
                <a16:creationId xmlns:a16="http://schemas.microsoft.com/office/drawing/2014/main" id="{56FF206F-6684-4904-9BE8-CA076F2AE113}"/>
              </a:ext>
            </a:extLst>
          </p:cNvPr>
          <p:cNvSpPr/>
          <p:nvPr/>
        </p:nvSpPr>
        <p:spPr>
          <a:xfrm>
            <a:off x="316861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78B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DB8EB7F1-820D-D048-5793-15313B5980FA}"/>
              </a:ext>
            </a:extLst>
          </p:cNvPr>
          <p:cNvSpPr/>
          <p:nvPr/>
        </p:nvSpPr>
        <p:spPr>
          <a:xfrm>
            <a:off x="318661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fix: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corrección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0" name="Rounded Rectangle 15">
            <a:extLst>
              <a:ext uri="{FF2B5EF4-FFF2-40B4-BE49-F238E27FC236}">
                <a16:creationId xmlns:a16="http://schemas.microsoft.com/office/drawing/2014/main" id="{827CAC5D-3A79-D7B8-A18D-D6D1DC9EF660}"/>
              </a:ext>
            </a:extLst>
          </p:cNvPr>
          <p:cNvSpPr/>
          <p:nvPr/>
        </p:nvSpPr>
        <p:spPr>
          <a:xfrm>
            <a:off x="510325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7DD3F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2" name="TextBox 16">
            <a:extLst>
              <a:ext uri="{FF2B5EF4-FFF2-40B4-BE49-F238E27FC236}">
                <a16:creationId xmlns:a16="http://schemas.microsoft.com/office/drawing/2014/main" id="{A9AA1F11-9CED-085D-A39F-F06F9FE3936F}"/>
              </a:ext>
            </a:extLst>
          </p:cNvPr>
          <p:cNvSpPr/>
          <p:nvPr/>
        </p:nvSpPr>
        <p:spPr>
          <a:xfrm>
            <a:off x="512161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docs: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documentación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4" name="Rounded Rectangle 17">
            <a:extLst>
              <a:ext uri="{FF2B5EF4-FFF2-40B4-BE49-F238E27FC236}">
                <a16:creationId xmlns:a16="http://schemas.microsoft.com/office/drawing/2014/main" id="{C325E60D-2916-6562-7451-21E62CBBA066}"/>
              </a:ext>
            </a:extLst>
          </p:cNvPr>
          <p:cNvSpPr/>
          <p:nvPr/>
        </p:nvSpPr>
        <p:spPr>
          <a:xfrm>
            <a:off x="703825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4B5FD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6" name="TextBox 18">
            <a:extLst>
              <a:ext uri="{FF2B5EF4-FFF2-40B4-BE49-F238E27FC236}">
                <a16:creationId xmlns:a16="http://schemas.microsoft.com/office/drawing/2014/main" id="{24C4D120-24A6-CBE1-9D9F-1586C7B0C5E6}"/>
              </a:ext>
            </a:extLst>
          </p:cNvPr>
          <p:cNvSpPr/>
          <p:nvPr/>
        </p:nvSpPr>
        <p:spPr>
          <a:xfrm>
            <a:off x="705661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test: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pruebas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8" name="Rounded Rectangle 19">
            <a:extLst>
              <a:ext uri="{FF2B5EF4-FFF2-40B4-BE49-F238E27FC236}">
                <a16:creationId xmlns:a16="http://schemas.microsoft.com/office/drawing/2014/main" id="{FB39B932-DF60-10CB-9AF3-BDF980047148}"/>
              </a:ext>
            </a:extLst>
          </p:cNvPr>
          <p:cNvSpPr/>
          <p:nvPr/>
        </p:nvSpPr>
        <p:spPr>
          <a:xfrm>
            <a:off x="8973250" y="4343151"/>
            <a:ext cx="1861200" cy="621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93C5FD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0" name="TextBox 20">
            <a:extLst>
              <a:ext uri="{FF2B5EF4-FFF2-40B4-BE49-F238E27FC236}">
                <a16:creationId xmlns:a16="http://schemas.microsoft.com/office/drawing/2014/main" id="{B9EDB096-74EF-0D7F-0250-AC4EC63FAD95}"/>
              </a:ext>
            </a:extLst>
          </p:cNvPr>
          <p:cNvSpPr/>
          <p:nvPr/>
        </p:nvSpPr>
        <p:spPr>
          <a:xfrm>
            <a:off x="8991250" y="4339725"/>
            <a:ext cx="182484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chore: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mantenimiento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183078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6FAB29-690D-43EF-6978-4E6C0C00A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3146DA0A-1537-325E-6033-BAEF597D31C9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F6AD4608-4F46-34EC-C077-DA2D4F087B64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F5E1C64D-1D26-EDCF-AA80-9260EEE75212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Decide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qué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entra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antes del primer commit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5E8B3CF-DF7E-A8B2-8390-680950572C0B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2A1A963D-CFD6-6EEA-A810-01725D0312DC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pregunta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no es “¿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puedo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subirlo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?”,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sino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“¿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debe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formar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parte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?”.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C7D34D9A-FDA9-5B5C-42B4-37B03E6A88C8}"/>
              </a:ext>
            </a:extLst>
          </p:cNvPr>
          <p:cNvSpPr/>
          <p:nvPr/>
        </p:nvSpPr>
        <p:spPr>
          <a:xfrm>
            <a:off x="937260" y="17560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Código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fuente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README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documentación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Configuración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reproducible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Workflows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automatización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503D41D-19A8-B959-E91D-21A880F35CA5}"/>
              </a:ext>
            </a:extLst>
          </p:cNvPr>
          <p:cNvSpPr/>
          <p:nvPr/>
        </p:nvSpPr>
        <p:spPr>
          <a:xfrm>
            <a:off x="955620" y="1774440"/>
            <a:ext cx="3803400" cy="32868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3F0F5D3E-09CC-77A1-BD20-EF175EB75C49}"/>
              </a:ext>
            </a:extLst>
          </p:cNvPr>
          <p:cNvSpPr/>
          <p:nvPr/>
        </p:nvSpPr>
        <p:spPr>
          <a:xfrm>
            <a:off x="1010340" y="1747604"/>
            <a:ext cx="369396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Sí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debe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versionarse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1" name="Rounded Rectangle 7">
            <a:extLst>
              <a:ext uri="{FF2B5EF4-FFF2-40B4-BE49-F238E27FC236}">
                <a16:creationId xmlns:a16="http://schemas.microsoft.com/office/drawing/2014/main" id="{28CEF562-F07B-9AA4-1902-0591B3FD59C1}"/>
              </a:ext>
            </a:extLst>
          </p:cNvPr>
          <p:cNvSpPr/>
          <p:nvPr/>
        </p:nvSpPr>
        <p:spPr>
          <a:xfrm>
            <a:off x="5006340" y="17560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t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`target/`, `*.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class`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`.idea/`, `.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vscode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/`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`.env`, claves y tokens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`uploads/` y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datos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locales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Rounded Rectangle 8">
            <a:extLst>
              <a:ext uri="{FF2B5EF4-FFF2-40B4-BE49-F238E27FC236}">
                <a16:creationId xmlns:a16="http://schemas.microsoft.com/office/drawing/2014/main" id="{391C67AA-794D-F6C3-D933-DDD6396F34BE}"/>
              </a:ext>
            </a:extLst>
          </p:cNvPr>
          <p:cNvSpPr/>
          <p:nvPr/>
        </p:nvSpPr>
        <p:spPr>
          <a:xfrm>
            <a:off x="5024700" y="1774440"/>
            <a:ext cx="3803400" cy="3286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0" name="TextBox 9">
            <a:extLst>
              <a:ext uri="{FF2B5EF4-FFF2-40B4-BE49-F238E27FC236}">
                <a16:creationId xmlns:a16="http://schemas.microsoft.com/office/drawing/2014/main" id="{BBE7E9FB-48F6-BFDD-0F69-47916E1F0F5F}"/>
              </a:ext>
            </a:extLst>
          </p:cNvPr>
          <p:cNvSpPr/>
          <p:nvPr/>
        </p:nvSpPr>
        <p:spPr>
          <a:xfrm>
            <a:off x="5079420" y="1747604"/>
            <a:ext cx="369396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Debe quedar fuera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2" name="Rounded Rectangle 10">
            <a:extLst>
              <a:ext uri="{FF2B5EF4-FFF2-40B4-BE49-F238E27FC236}">
                <a16:creationId xmlns:a16="http://schemas.microsoft.com/office/drawing/2014/main" id="{002714BC-D3FC-BEAB-2F0C-2CC889A50842}"/>
              </a:ext>
            </a:extLst>
          </p:cNvPr>
          <p:cNvSpPr/>
          <p:nvPr/>
        </p:nvSpPr>
        <p:spPr>
          <a:xfrm>
            <a:off x="9148500" y="1774440"/>
            <a:ext cx="2011320" cy="339192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# Maven / Java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target/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*.class</a:t>
            </a:r>
            <a:br>
              <a:rPr sz="1600" dirty="0"/>
            </a:b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# IDE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.idea/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vscode</a:t>
            </a: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/</a:t>
            </a:r>
            <a:br>
              <a:rPr sz="1600" dirty="0"/>
            </a:b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# 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Secretos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.env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.env.*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!.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env.example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6" name="Rounded Rectangle 11">
            <a:extLst>
              <a:ext uri="{FF2B5EF4-FFF2-40B4-BE49-F238E27FC236}">
                <a16:creationId xmlns:a16="http://schemas.microsoft.com/office/drawing/2014/main" id="{D8296241-1D94-0D59-E260-FBB0D4004058}"/>
              </a:ext>
            </a:extLst>
          </p:cNvPr>
          <p:cNvSpPr/>
          <p:nvPr/>
        </p:nvSpPr>
        <p:spPr>
          <a:xfrm>
            <a:off x="955620" y="4144950"/>
            <a:ext cx="3597330" cy="88389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Consulta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útil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git check-ignore -v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ruta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/al/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fichero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24275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5E4727-4759-841F-B95C-28282129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DFEB58BA-1AE0-7A22-D756-E31D5260EBDF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1ECD589D-EB6E-2DFC-ACDC-0A380811E0A2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4FF19502-CD5D-C7DC-9F46-D768F4873B01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.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gitignore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protege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hacia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delante</a:t>
            </a:r>
            <a:endParaRPr lang="en-US" sz="2800" b="1" dirty="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B52CEF0-7C85-CC19-E435-17BEAEB553DF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7E8CDA22-DC34-19F0-8A09-D203F4C89E89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dirty="0">
                <a:solidFill>
                  <a:srgbClr val="1C3565"/>
                </a:solidFill>
                <a:latin typeface="Aptos"/>
              </a:rPr>
              <a:t>Borrar un secreto en un </a:t>
            </a:r>
            <a:r>
              <a:rPr lang="es-ES" dirty="0" err="1">
                <a:solidFill>
                  <a:srgbClr val="1C3565"/>
                </a:solidFill>
                <a:latin typeface="Aptos"/>
              </a:rPr>
              <a:t>commit</a:t>
            </a:r>
            <a:r>
              <a:rPr lang="es-ES" dirty="0">
                <a:solidFill>
                  <a:srgbClr val="1C3565"/>
                </a:solidFill>
                <a:latin typeface="Aptos"/>
              </a:rPr>
              <a:t> posterior no elimina la exposición anterior.</a:t>
            </a:r>
          </a:p>
        </p:txBody>
      </p:sp>
      <p:sp>
        <p:nvSpPr>
          <p:cNvPr id="2" name="Rounded Rectangle 4">
            <a:extLst>
              <a:ext uri="{FF2B5EF4-FFF2-40B4-BE49-F238E27FC236}">
                <a16:creationId xmlns:a16="http://schemas.microsoft.com/office/drawing/2014/main" id="{92B4360E-B983-597E-B1AA-6884F0C29BA0}"/>
              </a:ext>
            </a:extLst>
          </p:cNvPr>
          <p:cNvSpPr/>
          <p:nvPr/>
        </p:nvSpPr>
        <p:spPr>
          <a:xfrm>
            <a:off x="685799" y="1097280"/>
            <a:ext cx="3018255" cy="146268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Evita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nuevas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incorporaciones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Filtra lo local,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generado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o sensible.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7D45C18D-9BCF-8958-B5FB-82FE79079934}"/>
              </a:ext>
            </a:extLst>
          </p:cNvPr>
          <p:cNvSpPr/>
          <p:nvPr/>
        </p:nvSpPr>
        <p:spPr>
          <a:xfrm>
            <a:off x="704159" y="1115640"/>
            <a:ext cx="2971631" cy="3286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A9FB5501-AE38-C5D7-37EA-BA330B79EB8D}"/>
              </a:ext>
            </a:extLst>
          </p:cNvPr>
          <p:cNvSpPr/>
          <p:nvPr/>
        </p:nvSpPr>
        <p:spPr>
          <a:xfrm>
            <a:off x="758880" y="1088804"/>
            <a:ext cx="2832672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.gitignore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B0FF02DA-A03F-B50D-DD4C-3D49D280A7E0}"/>
              </a:ext>
            </a:extLst>
          </p:cNvPr>
          <p:cNvSpPr/>
          <p:nvPr/>
        </p:nvSpPr>
        <p:spPr>
          <a:xfrm>
            <a:off x="4200734" y="1075493"/>
            <a:ext cx="3250465" cy="1462680"/>
          </a:xfrm>
          <a:prstGeom prst="roundRect">
            <a:avLst>
              <a:gd name="adj" fmla="val 16667"/>
            </a:avLst>
          </a:prstGeom>
          <a:solidFill>
            <a:srgbClr val="FBF4DB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git rm --cached .env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Después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, commit con 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corrección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0" name="Rounded Rectangle 8">
            <a:extLst>
              <a:ext uri="{FF2B5EF4-FFF2-40B4-BE49-F238E27FC236}">
                <a16:creationId xmlns:a16="http://schemas.microsoft.com/office/drawing/2014/main" id="{E8C9A04A-581D-11C3-E004-45038CADF143}"/>
              </a:ext>
            </a:extLst>
          </p:cNvPr>
          <p:cNvSpPr/>
          <p:nvPr/>
        </p:nvSpPr>
        <p:spPr>
          <a:xfrm>
            <a:off x="4219095" y="1093853"/>
            <a:ext cx="3203840" cy="32868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391F30B1-8F55-3555-2EEB-168C3EE16D1D}"/>
              </a:ext>
            </a:extLst>
          </p:cNvPr>
          <p:cNvSpPr/>
          <p:nvPr/>
        </p:nvSpPr>
        <p:spPr>
          <a:xfrm>
            <a:off x="4273815" y="1068893"/>
            <a:ext cx="306488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Si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ya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estaba</a:t>
            </a: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FFFFFF"/>
                </a:solidFill>
                <a:effectLst/>
                <a:uFillTx/>
              </a:rPr>
              <a:t>versionado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8" name="Rounded Rectangle 10">
            <a:extLst>
              <a:ext uri="{FF2B5EF4-FFF2-40B4-BE49-F238E27FC236}">
                <a16:creationId xmlns:a16="http://schemas.microsoft.com/office/drawing/2014/main" id="{A7AFC83C-257B-69A7-4214-217CF376855C}"/>
              </a:ext>
            </a:extLst>
          </p:cNvPr>
          <p:cNvSpPr/>
          <p:nvPr/>
        </p:nvSpPr>
        <p:spPr>
          <a:xfrm>
            <a:off x="7947880" y="1105756"/>
            <a:ext cx="3134360" cy="146268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Se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considera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comprometido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Debe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revocarse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o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cambiarse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9" name="Rounded Rectangle 11">
            <a:extLst>
              <a:ext uri="{FF2B5EF4-FFF2-40B4-BE49-F238E27FC236}">
                <a16:creationId xmlns:a16="http://schemas.microsoft.com/office/drawing/2014/main" id="{3FF688A1-FD4C-E603-AE96-AA8ECC83AC75}"/>
              </a:ext>
            </a:extLst>
          </p:cNvPr>
          <p:cNvSpPr/>
          <p:nvPr/>
        </p:nvSpPr>
        <p:spPr>
          <a:xfrm>
            <a:off x="7966240" y="1124116"/>
            <a:ext cx="3087735" cy="3286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EC8DA55C-47B5-07CB-C818-38F524170C3C}"/>
              </a:ext>
            </a:extLst>
          </p:cNvPr>
          <p:cNvSpPr/>
          <p:nvPr/>
        </p:nvSpPr>
        <p:spPr>
          <a:xfrm>
            <a:off x="8020960" y="1097280"/>
            <a:ext cx="2948776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</a:rPr>
              <a:t>Si era un secreto real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3" name="Rounded Rectangle 13">
            <a:extLst>
              <a:ext uri="{FF2B5EF4-FFF2-40B4-BE49-F238E27FC236}">
                <a16:creationId xmlns:a16="http://schemas.microsoft.com/office/drawing/2014/main" id="{1619F48C-435B-91D6-21A2-B25AB3758253}"/>
              </a:ext>
            </a:extLst>
          </p:cNvPr>
          <p:cNvSpPr/>
          <p:nvPr/>
        </p:nvSpPr>
        <p:spPr>
          <a:xfrm>
            <a:off x="2468880" y="3063240"/>
            <a:ext cx="211500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87171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E47610CF-1529-DAC8-E82A-767F6896CF54}"/>
              </a:ext>
            </a:extLst>
          </p:cNvPr>
          <p:cNvSpPr/>
          <p:nvPr/>
        </p:nvSpPr>
        <p:spPr>
          <a:xfrm>
            <a:off x="2487240" y="3078174"/>
            <a:ext cx="207828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`.env`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no se versiona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5" name="Connector 15">
            <a:extLst>
              <a:ext uri="{FF2B5EF4-FFF2-40B4-BE49-F238E27FC236}">
                <a16:creationId xmlns:a16="http://schemas.microsoft.com/office/drawing/2014/main" id="{A5F0A901-409E-A2A7-F1FC-44D5609D8EA1}"/>
              </a:ext>
            </a:extLst>
          </p:cNvPr>
          <p:cNvCxnSpPr/>
          <p:nvPr/>
        </p:nvCxnSpPr>
        <p:spPr>
          <a:xfrm>
            <a:off x="4583880" y="3392280"/>
            <a:ext cx="7380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568C88E0-D72F-68C6-5043-18DE979F7E50}"/>
              </a:ext>
            </a:extLst>
          </p:cNvPr>
          <p:cNvSpPr/>
          <p:nvPr/>
        </p:nvSpPr>
        <p:spPr>
          <a:xfrm>
            <a:off x="4657320" y="3063240"/>
            <a:ext cx="211500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TextBox 17">
            <a:extLst>
              <a:ext uri="{FF2B5EF4-FFF2-40B4-BE49-F238E27FC236}">
                <a16:creationId xmlns:a16="http://schemas.microsoft.com/office/drawing/2014/main" id="{C5EBEA32-6E60-14AD-ABEE-CE126E26CCB1}"/>
              </a:ext>
            </a:extLst>
          </p:cNvPr>
          <p:cNvSpPr/>
          <p:nvPr/>
        </p:nvSpPr>
        <p:spPr>
          <a:xfrm>
            <a:off x="4675680" y="3078174"/>
            <a:ext cx="207828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`.env.example`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sí se versiona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0" name="Connector 18">
            <a:extLst>
              <a:ext uri="{FF2B5EF4-FFF2-40B4-BE49-F238E27FC236}">
                <a16:creationId xmlns:a16="http://schemas.microsoft.com/office/drawing/2014/main" id="{905A3259-9640-AFD2-BABC-56640AE10238}"/>
              </a:ext>
            </a:extLst>
          </p:cNvPr>
          <p:cNvCxnSpPr/>
          <p:nvPr/>
        </p:nvCxnSpPr>
        <p:spPr>
          <a:xfrm>
            <a:off x="6772320" y="3392280"/>
            <a:ext cx="7380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1" name="Rounded Rectangle 19">
            <a:extLst>
              <a:ext uri="{FF2B5EF4-FFF2-40B4-BE49-F238E27FC236}">
                <a16:creationId xmlns:a16="http://schemas.microsoft.com/office/drawing/2014/main" id="{8338DBC1-E10A-2EDA-6AA5-2B291DF14EA8}"/>
              </a:ext>
            </a:extLst>
          </p:cNvPr>
          <p:cNvSpPr/>
          <p:nvPr/>
        </p:nvSpPr>
        <p:spPr>
          <a:xfrm>
            <a:off x="6845760" y="3063240"/>
            <a:ext cx="211500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A6F1CDDF-AE93-5957-BC2B-BA5269E43559}"/>
              </a:ext>
            </a:extLst>
          </p:cNvPr>
          <p:cNvSpPr/>
          <p:nvPr/>
        </p:nvSpPr>
        <p:spPr>
          <a:xfrm>
            <a:off x="6864120" y="3078174"/>
            <a:ext cx="2078280" cy="6465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Configura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sin revelar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3" name="Rounded Rectangle 21">
            <a:extLst>
              <a:ext uri="{FF2B5EF4-FFF2-40B4-BE49-F238E27FC236}">
                <a16:creationId xmlns:a16="http://schemas.microsoft.com/office/drawing/2014/main" id="{31A3BD26-7648-579D-9D8A-EE689F733915}"/>
              </a:ext>
            </a:extLst>
          </p:cNvPr>
          <p:cNvSpPr/>
          <p:nvPr/>
        </p:nvSpPr>
        <p:spPr>
          <a:xfrm>
            <a:off x="3749040" y="4069080"/>
            <a:ext cx="4571640" cy="118836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DB_HOST=bd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DB_NAME=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escaparate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DB_USER=cambia-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este</a:t>
            </a: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-valor</a:t>
            </a:r>
            <a:br>
              <a:rPr sz="1600" dirty="0"/>
            </a:b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DB_PASSWORD=cambia-</a:t>
            </a:r>
            <a:r>
              <a:rPr lang="en-US" sz="1600" b="0" u="none" strike="noStrike" dirty="0" err="1">
                <a:solidFill>
                  <a:srgbClr val="374151"/>
                </a:solidFill>
                <a:effectLst/>
                <a:uFillTx/>
              </a:rPr>
              <a:t>este</a:t>
            </a:r>
            <a:r>
              <a:rPr lang="en-US" sz="1600" b="0" u="none" strike="noStrike" dirty="0">
                <a:solidFill>
                  <a:srgbClr val="374151"/>
                </a:solidFill>
                <a:effectLst/>
                <a:uFillTx/>
              </a:rPr>
              <a:t>-valor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02136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2F205B-DCAE-51A8-52DA-7CFCA7D9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ABB91C11-B247-5E03-F806-5C3720E5FB53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FE65A2CC-BC71-B405-3FBD-FDB63630F57F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8BB1B7FD-D599-743A-89B0-73DDDF730B8B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Deshacer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: primero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identifica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dónde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está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el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cambio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01E4988-CDF5-0790-C3BC-E29DE2D77BB3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6F579F62-A245-454C-7479-02AC1574936A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pregunta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clave: ¿es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cambio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local o un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compartido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B0CE7B5F-DF66-5D7A-1989-4A214C973218}"/>
              </a:ext>
            </a:extLst>
          </p:cNvPr>
          <p:cNvSpPr/>
          <p:nvPr/>
        </p:nvSpPr>
        <p:spPr>
          <a:xfrm>
            <a:off x="4526280" y="1143000"/>
            <a:ext cx="182844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D544E7-101F-65C6-E432-A70F70771D4A}"/>
              </a:ext>
            </a:extLst>
          </p:cNvPr>
          <p:cNvSpPr/>
          <p:nvPr/>
        </p:nvSpPr>
        <p:spPr>
          <a:xfrm>
            <a:off x="4526280" y="1209493"/>
            <a:ext cx="18745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¿</a:t>
            </a: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Está</a:t>
            </a: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 un commit?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C72D3E40-C7A8-3FDF-1207-E0E003705563}"/>
              </a:ext>
            </a:extLst>
          </p:cNvPr>
          <p:cNvSpPr/>
          <p:nvPr/>
        </p:nvSpPr>
        <p:spPr>
          <a:xfrm>
            <a:off x="1920240" y="2103120"/>
            <a:ext cx="182844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EA76B0A8-8D5E-3305-4D4B-5462782D8AE7}"/>
              </a:ext>
            </a:extLst>
          </p:cNvPr>
          <p:cNvSpPr/>
          <p:nvPr/>
        </p:nvSpPr>
        <p:spPr>
          <a:xfrm>
            <a:off x="1947600" y="2169793"/>
            <a:ext cx="17737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¿Está en staging?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Rounded Rectangle 8">
            <a:extLst>
              <a:ext uri="{FF2B5EF4-FFF2-40B4-BE49-F238E27FC236}">
                <a16:creationId xmlns:a16="http://schemas.microsoft.com/office/drawing/2014/main" id="{98B08A4E-BF50-B38F-7B72-81772A785E59}"/>
              </a:ext>
            </a:extLst>
          </p:cNvPr>
          <p:cNvSpPr/>
          <p:nvPr/>
        </p:nvSpPr>
        <p:spPr>
          <a:xfrm>
            <a:off x="731520" y="3154680"/>
            <a:ext cx="1462680" cy="50256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D8483512-F065-14BC-9011-E266420632B7}"/>
              </a:ext>
            </a:extLst>
          </p:cNvPr>
          <p:cNvSpPr/>
          <p:nvPr/>
        </p:nvSpPr>
        <p:spPr>
          <a:xfrm>
            <a:off x="758880" y="3221353"/>
            <a:ext cx="14079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`restore`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0" name="Rounded Rectangle 10">
            <a:extLst>
              <a:ext uri="{FF2B5EF4-FFF2-40B4-BE49-F238E27FC236}">
                <a16:creationId xmlns:a16="http://schemas.microsoft.com/office/drawing/2014/main" id="{D9CBA684-91FB-09F1-7E1D-1673A23F0F70}"/>
              </a:ext>
            </a:extLst>
          </p:cNvPr>
          <p:cNvSpPr/>
          <p:nvPr/>
        </p:nvSpPr>
        <p:spPr>
          <a:xfrm>
            <a:off x="2560320" y="3154680"/>
            <a:ext cx="1737000" cy="50256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2" name="TextBox 11">
            <a:extLst>
              <a:ext uri="{FF2B5EF4-FFF2-40B4-BE49-F238E27FC236}">
                <a16:creationId xmlns:a16="http://schemas.microsoft.com/office/drawing/2014/main" id="{71864548-A7F3-39C5-5E70-F64449F30F4D}"/>
              </a:ext>
            </a:extLst>
          </p:cNvPr>
          <p:cNvSpPr/>
          <p:nvPr/>
        </p:nvSpPr>
        <p:spPr>
          <a:xfrm>
            <a:off x="2587680" y="3221353"/>
            <a:ext cx="168228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`restore --staged`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6" name="Rounded Rectangle 12">
            <a:extLst>
              <a:ext uri="{FF2B5EF4-FFF2-40B4-BE49-F238E27FC236}">
                <a16:creationId xmlns:a16="http://schemas.microsoft.com/office/drawing/2014/main" id="{33049208-A429-5CC9-4D43-11D560DC4B40}"/>
              </a:ext>
            </a:extLst>
          </p:cNvPr>
          <p:cNvSpPr/>
          <p:nvPr/>
        </p:nvSpPr>
        <p:spPr>
          <a:xfrm>
            <a:off x="7132320" y="2103120"/>
            <a:ext cx="1919880" cy="502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4" name="TextBox 13">
            <a:extLst>
              <a:ext uri="{FF2B5EF4-FFF2-40B4-BE49-F238E27FC236}">
                <a16:creationId xmlns:a16="http://schemas.microsoft.com/office/drawing/2014/main" id="{6BDDB360-18F0-4B22-B3CE-00BC2D9C8249}"/>
              </a:ext>
            </a:extLst>
          </p:cNvPr>
          <p:cNvSpPr/>
          <p:nvPr/>
        </p:nvSpPr>
        <p:spPr>
          <a:xfrm>
            <a:off x="7159680" y="2169793"/>
            <a:ext cx="18651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¿Ya se publicó?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5" name="Rounded Rectangle 14">
            <a:extLst>
              <a:ext uri="{FF2B5EF4-FFF2-40B4-BE49-F238E27FC236}">
                <a16:creationId xmlns:a16="http://schemas.microsoft.com/office/drawing/2014/main" id="{DFB306C8-6C6D-5EBC-179C-992C5D513417}"/>
              </a:ext>
            </a:extLst>
          </p:cNvPr>
          <p:cNvSpPr/>
          <p:nvPr/>
        </p:nvSpPr>
        <p:spPr>
          <a:xfrm>
            <a:off x="6400800" y="3154680"/>
            <a:ext cx="2011320" cy="502560"/>
          </a:xfrm>
          <a:prstGeom prst="roundRect">
            <a:avLst>
              <a:gd name="adj" fmla="val 16667"/>
            </a:avLst>
          </a:prstGeom>
          <a:solidFill>
            <a:srgbClr val="FBF4DB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6" name="TextBox 15">
            <a:extLst>
              <a:ext uri="{FF2B5EF4-FFF2-40B4-BE49-F238E27FC236}">
                <a16:creationId xmlns:a16="http://schemas.microsoft.com/office/drawing/2014/main" id="{A3E963CE-7C01-AA00-19F6-96C38B91C06E}"/>
              </a:ext>
            </a:extLst>
          </p:cNvPr>
          <p:cNvSpPr/>
          <p:nvPr/>
        </p:nvSpPr>
        <p:spPr>
          <a:xfrm>
            <a:off x="6428160" y="3113632"/>
            <a:ext cx="19566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Puede rehacerse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localmente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7" name="Rounded Rectangle 16">
            <a:extLst>
              <a:ext uri="{FF2B5EF4-FFF2-40B4-BE49-F238E27FC236}">
                <a16:creationId xmlns:a16="http://schemas.microsoft.com/office/drawing/2014/main" id="{433A1F25-D156-853E-4E16-9869F296C85F}"/>
              </a:ext>
            </a:extLst>
          </p:cNvPr>
          <p:cNvSpPr/>
          <p:nvPr/>
        </p:nvSpPr>
        <p:spPr>
          <a:xfrm>
            <a:off x="9052560" y="3154680"/>
            <a:ext cx="1371240" cy="50256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A0A0C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8" name="TextBox 17">
            <a:extLst>
              <a:ext uri="{FF2B5EF4-FFF2-40B4-BE49-F238E27FC236}">
                <a16:creationId xmlns:a16="http://schemas.microsoft.com/office/drawing/2014/main" id="{F0B0E3EA-CDDB-B7E3-7CD5-5CCE8398B1E2}"/>
              </a:ext>
            </a:extLst>
          </p:cNvPr>
          <p:cNvSpPr/>
          <p:nvPr/>
        </p:nvSpPr>
        <p:spPr>
          <a:xfrm>
            <a:off x="9079920" y="3221353"/>
            <a:ext cx="13165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C3565"/>
                </a:solidFill>
                <a:effectLst/>
                <a:uFillTx/>
              </a:rPr>
              <a:t>`revert`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9" name="Connector 18">
            <a:extLst>
              <a:ext uri="{FF2B5EF4-FFF2-40B4-BE49-F238E27FC236}">
                <a16:creationId xmlns:a16="http://schemas.microsoft.com/office/drawing/2014/main" id="{A4CF81F7-58E5-0498-41AB-54DDA2147261}"/>
              </a:ext>
            </a:extLst>
          </p:cNvPr>
          <p:cNvCxnSpPr/>
          <p:nvPr/>
        </p:nvCxnSpPr>
        <p:spPr>
          <a:xfrm flipH="1">
            <a:off x="2834640" y="1645920"/>
            <a:ext cx="2606400" cy="45756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0" name="Connector 19">
            <a:extLst>
              <a:ext uri="{FF2B5EF4-FFF2-40B4-BE49-F238E27FC236}">
                <a16:creationId xmlns:a16="http://schemas.microsoft.com/office/drawing/2014/main" id="{AF885D2C-BD7E-1A5E-E490-DB4303E8A990}"/>
              </a:ext>
            </a:extLst>
          </p:cNvPr>
          <p:cNvCxnSpPr/>
          <p:nvPr/>
        </p:nvCxnSpPr>
        <p:spPr>
          <a:xfrm>
            <a:off x="5440680" y="1645920"/>
            <a:ext cx="2652120" cy="45756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1" name="Connector 20">
            <a:extLst>
              <a:ext uri="{FF2B5EF4-FFF2-40B4-BE49-F238E27FC236}">
                <a16:creationId xmlns:a16="http://schemas.microsoft.com/office/drawing/2014/main" id="{E9EF339C-227B-5D0A-4926-FEEE4952C73F}"/>
              </a:ext>
            </a:extLst>
          </p:cNvPr>
          <p:cNvCxnSpPr/>
          <p:nvPr/>
        </p:nvCxnSpPr>
        <p:spPr>
          <a:xfrm flipH="1">
            <a:off x="1463040" y="2606040"/>
            <a:ext cx="137196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2" name="Connector 21">
            <a:extLst>
              <a:ext uri="{FF2B5EF4-FFF2-40B4-BE49-F238E27FC236}">
                <a16:creationId xmlns:a16="http://schemas.microsoft.com/office/drawing/2014/main" id="{1A91484A-6DC0-E35E-C682-5A69357C5ACA}"/>
              </a:ext>
            </a:extLst>
          </p:cNvPr>
          <p:cNvCxnSpPr/>
          <p:nvPr/>
        </p:nvCxnSpPr>
        <p:spPr>
          <a:xfrm>
            <a:off x="2834640" y="2606040"/>
            <a:ext cx="59472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3" name="Connector 22">
            <a:extLst>
              <a:ext uri="{FF2B5EF4-FFF2-40B4-BE49-F238E27FC236}">
                <a16:creationId xmlns:a16="http://schemas.microsoft.com/office/drawing/2014/main" id="{77A0AC24-6C97-2287-5336-1E343FEFB368}"/>
              </a:ext>
            </a:extLst>
          </p:cNvPr>
          <p:cNvCxnSpPr/>
          <p:nvPr/>
        </p:nvCxnSpPr>
        <p:spPr>
          <a:xfrm flipH="1">
            <a:off x="7406640" y="2606040"/>
            <a:ext cx="68616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cxnSp>
        <p:nvCxnSpPr>
          <p:cNvPr id="44" name="Connector 23">
            <a:extLst>
              <a:ext uri="{FF2B5EF4-FFF2-40B4-BE49-F238E27FC236}">
                <a16:creationId xmlns:a16="http://schemas.microsoft.com/office/drawing/2014/main" id="{6C71A90E-F5EA-2119-9CDD-583A4ACB073F}"/>
              </a:ext>
            </a:extLst>
          </p:cNvPr>
          <p:cNvCxnSpPr/>
          <p:nvPr/>
        </p:nvCxnSpPr>
        <p:spPr>
          <a:xfrm>
            <a:off x="8092440" y="2606040"/>
            <a:ext cx="1646280" cy="549000"/>
          </a:xfrm>
          <a:prstGeom prst="straightConnector1">
            <a:avLst/>
          </a:prstGeom>
          <a:ln w="16510">
            <a:solidFill>
              <a:srgbClr val="788CB4"/>
            </a:solidFill>
            <a:round/>
          </a:ln>
        </p:spPr>
      </p:cxnSp>
      <p:sp>
        <p:nvSpPr>
          <p:cNvPr id="45" name="TextBox 24">
            <a:extLst>
              <a:ext uri="{FF2B5EF4-FFF2-40B4-BE49-F238E27FC236}">
                <a16:creationId xmlns:a16="http://schemas.microsoft.com/office/drawing/2014/main" id="{19B54CFE-3227-9A28-BD19-4D2433A8D5D5}"/>
              </a:ext>
            </a:extLst>
          </p:cNvPr>
          <p:cNvSpPr/>
          <p:nvPr/>
        </p:nvSpPr>
        <p:spPr>
          <a:xfrm>
            <a:off x="3566160" y="1607636"/>
            <a:ext cx="5074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No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6" name="TextBox 25">
            <a:extLst>
              <a:ext uri="{FF2B5EF4-FFF2-40B4-BE49-F238E27FC236}">
                <a16:creationId xmlns:a16="http://schemas.microsoft.com/office/drawing/2014/main" id="{C8B9DF3F-DD25-375D-C0F7-A0E139735985}"/>
              </a:ext>
            </a:extLst>
          </p:cNvPr>
          <p:cNvSpPr/>
          <p:nvPr/>
        </p:nvSpPr>
        <p:spPr>
          <a:xfrm>
            <a:off x="6689310" y="1543591"/>
            <a:ext cx="55245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Sí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7" name="TextBox 26">
            <a:extLst>
              <a:ext uri="{FF2B5EF4-FFF2-40B4-BE49-F238E27FC236}">
                <a16:creationId xmlns:a16="http://schemas.microsoft.com/office/drawing/2014/main" id="{7A3AD30C-3225-57C4-C39F-D055D3EB4529}"/>
              </a:ext>
            </a:extLst>
          </p:cNvPr>
          <p:cNvSpPr/>
          <p:nvPr/>
        </p:nvSpPr>
        <p:spPr>
          <a:xfrm>
            <a:off x="1325880" y="2697480"/>
            <a:ext cx="4423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No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8" name="TextBox 27">
            <a:extLst>
              <a:ext uri="{FF2B5EF4-FFF2-40B4-BE49-F238E27FC236}">
                <a16:creationId xmlns:a16="http://schemas.microsoft.com/office/drawing/2014/main" id="{D97FDEE3-AA87-D847-A59E-BF0B1DC9F954}"/>
              </a:ext>
            </a:extLst>
          </p:cNvPr>
          <p:cNvSpPr/>
          <p:nvPr/>
        </p:nvSpPr>
        <p:spPr>
          <a:xfrm>
            <a:off x="3383280" y="2697480"/>
            <a:ext cx="38448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Sí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9" name="TextBox 28">
            <a:extLst>
              <a:ext uri="{FF2B5EF4-FFF2-40B4-BE49-F238E27FC236}">
                <a16:creationId xmlns:a16="http://schemas.microsoft.com/office/drawing/2014/main" id="{0C9406FC-12C3-38F3-D557-55A38DFA19BD}"/>
              </a:ext>
            </a:extLst>
          </p:cNvPr>
          <p:cNvSpPr/>
          <p:nvPr/>
        </p:nvSpPr>
        <p:spPr>
          <a:xfrm>
            <a:off x="6766560" y="2697480"/>
            <a:ext cx="47520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C3565"/>
                </a:solidFill>
                <a:effectLst/>
                <a:uFillTx/>
              </a:rPr>
              <a:t>No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0" name="TextBox 29">
            <a:extLst>
              <a:ext uri="{FF2B5EF4-FFF2-40B4-BE49-F238E27FC236}">
                <a16:creationId xmlns:a16="http://schemas.microsoft.com/office/drawing/2014/main" id="{D080F6AC-D383-E07B-5F4C-1BD3862E9D65}"/>
              </a:ext>
            </a:extLst>
          </p:cNvPr>
          <p:cNvSpPr/>
          <p:nvPr/>
        </p:nvSpPr>
        <p:spPr>
          <a:xfrm>
            <a:off x="9418320" y="2697480"/>
            <a:ext cx="46863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1C3565"/>
                </a:solidFill>
                <a:effectLst/>
                <a:uFillTx/>
              </a:rPr>
              <a:t>Sí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1" name="Rounded Rectangle 30">
            <a:extLst>
              <a:ext uri="{FF2B5EF4-FFF2-40B4-BE49-F238E27FC236}">
                <a16:creationId xmlns:a16="http://schemas.microsoft.com/office/drawing/2014/main" id="{900E1005-F9AA-2D52-3A09-5530BCBCDF00}"/>
              </a:ext>
            </a:extLst>
          </p:cNvPr>
          <p:cNvSpPr/>
          <p:nvPr/>
        </p:nvSpPr>
        <p:spPr>
          <a:xfrm>
            <a:off x="822960" y="4297680"/>
            <a:ext cx="4352290" cy="91404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Pista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práctica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Antes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deshacer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localiza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si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cambio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está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directorio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trabajo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staging 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un commit.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2" name="Rounded Rectangle 31">
            <a:extLst>
              <a:ext uri="{FF2B5EF4-FFF2-40B4-BE49-F238E27FC236}">
                <a16:creationId xmlns:a16="http://schemas.microsoft.com/office/drawing/2014/main" id="{CA74B7A8-E064-1BD5-5A54-316051A4664E}"/>
              </a:ext>
            </a:extLst>
          </p:cNvPr>
          <p:cNvSpPr/>
          <p:nvPr/>
        </p:nvSpPr>
        <p:spPr>
          <a:xfrm>
            <a:off x="5440680" y="4297680"/>
            <a:ext cx="5348880" cy="914040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Regla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segura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Error local y privado: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puede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rehacerse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 Error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ya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publicado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: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normalmente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corrige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hacia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delante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31672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94C6BD-ECF8-D2F6-0CCE-F1CA95454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79894E05-D975-213F-F92F-893F1773FB99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DA952173-EDA7-30EE-CC40-71B51AA41C8F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269E9FFD-C5B3-B792-7583-D5A47918FF41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Un error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publicado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se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corrige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hacia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delante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33F2160E-A8A6-3312-0F19-C23346450B54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88F46E76-F92D-4455-4920-1A90BD717F54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corrección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pública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queda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registrada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y no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rompe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compartido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1D9EE23D-7BBC-EE82-A91B-D4C868961360}"/>
              </a:ext>
            </a:extLst>
          </p:cNvPr>
          <p:cNvSpPr/>
          <p:nvPr/>
        </p:nvSpPr>
        <p:spPr>
          <a:xfrm>
            <a:off x="868680" y="1005840"/>
            <a:ext cx="182844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Antes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A52BD35D-C12D-CBAA-B5B1-2AE897FA4ED4}"/>
              </a:ext>
            </a:extLst>
          </p:cNvPr>
          <p:cNvSpPr/>
          <p:nvPr/>
        </p:nvSpPr>
        <p:spPr>
          <a:xfrm>
            <a:off x="868680" y="150876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83AD10E1-3084-18D1-0CD9-5A06BE37F8EB}"/>
              </a:ext>
            </a:extLst>
          </p:cNvPr>
          <p:cNvSpPr/>
          <p:nvPr/>
        </p:nvSpPr>
        <p:spPr>
          <a:xfrm>
            <a:off x="868680" y="1645763"/>
            <a:ext cx="566640" cy="2926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A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9C790123-853C-2D37-9547-FE00CF40B207}"/>
              </a:ext>
            </a:extLst>
          </p:cNvPr>
          <p:cNvSpPr/>
          <p:nvPr/>
        </p:nvSpPr>
        <p:spPr>
          <a:xfrm>
            <a:off x="1691640" y="150876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77019634-70C8-57F7-63DB-E36E5C173037}"/>
              </a:ext>
            </a:extLst>
          </p:cNvPr>
          <p:cNvSpPr/>
          <p:nvPr/>
        </p:nvSpPr>
        <p:spPr>
          <a:xfrm>
            <a:off x="1691640" y="1645763"/>
            <a:ext cx="566640" cy="2926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B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2" name="Connector 9">
            <a:extLst>
              <a:ext uri="{FF2B5EF4-FFF2-40B4-BE49-F238E27FC236}">
                <a16:creationId xmlns:a16="http://schemas.microsoft.com/office/drawing/2014/main" id="{A4E27571-CD2F-FAE8-066C-8935526C22A9}"/>
              </a:ext>
            </a:extLst>
          </p:cNvPr>
          <p:cNvCxnSpPr/>
          <p:nvPr/>
        </p:nvCxnSpPr>
        <p:spPr>
          <a:xfrm>
            <a:off x="1435320" y="1792080"/>
            <a:ext cx="25668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18" name="Rounded Rectangle 10">
            <a:extLst>
              <a:ext uri="{FF2B5EF4-FFF2-40B4-BE49-F238E27FC236}">
                <a16:creationId xmlns:a16="http://schemas.microsoft.com/office/drawing/2014/main" id="{BE09D34C-5DCD-1019-2699-0891581160BF}"/>
              </a:ext>
            </a:extLst>
          </p:cNvPr>
          <p:cNvSpPr/>
          <p:nvPr/>
        </p:nvSpPr>
        <p:spPr>
          <a:xfrm>
            <a:off x="2514600" y="150876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5E66870A-1C61-4136-9238-518842512430}"/>
              </a:ext>
            </a:extLst>
          </p:cNvPr>
          <p:cNvSpPr/>
          <p:nvPr/>
        </p:nvSpPr>
        <p:spPr>
          <a:xfrm>
            <a:off x="2514600" y="1576515"/>
            <a:ext cx="56664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900" b="1" u="none" strike="noStrike" dirty="0">
                <a:solidFill>
                  <a:srgbClr val="1C3565"/>
                </a:solidFill>
                <a:effectLst/>
                <a:uFillTx/>
              </a:rPr>
              <a:t>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1C3565"/>
                </a:solidFill>
                <a:effectLst/>
                <a:uFillTx/>
              </a:rPr>
              <a:t>error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1" name="Connector 12">
            <a:extLst>
              <a:ext uri="{FF2B5EF4-FFF2-40B4-BE49-F238E27FC236}">
                <a16:creationId xmlns:a16="http://schemas.microsoft.com/office/drawing/2014/main" id="{E394C7F6-D8B6-FB08-BF7B-8C462DE4B289}"/>
              </a:ext>
            </a:extLst>
          </p:cNvPr>
          <p:cNvCxnSpPr/>
          <p:nvPr/>
        </p:nvCxnSpPr>
        <p:spPr>
          <a:xfrm>
            <a:off x="2258280" y="1792080"/>
            <a:ext cx="25668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23" name="TextBox 13">
            <a:extLst>
              <a:ext uri="{FF2B5EF4-FFF2-40B4-BE49-F238E27FC236}">
                <a16:creationId xmlns:a16="http://schemas.microsoft.com/office/drawing/2014/main" id="{651F0597-99F2-70DD-7B59-186E89E84323}"/>
              </a:ext>
            </a:extLst>
          </p:cNvPr>
          <p:cNvSpPr/>
          <p:nvPr/>
        </p:nvSpPr>
        <p:spPr>
          <a:xfrm>
            <a:off x="868680" y="2971800"/>
            <a:ext cx="292572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3565"/>
                </a:solidFill>
                <a:effectLst/>
                <a:uFillTx/>
              </a:rPr>
              <a:t>Después</a:t>
            </a:r>
            <a:r>
              <a:rPr lang="en-US" sz="1600" b="1" u="none" strike="noStrike" dirty="0">
                <a:solidFill>
                  <a:srgbClr val="1C3565"/>
                </a:solidFill>
                <a:effectLst/>
                <a:uFillTx/>
              </a:rPr>
              <a:t> de `git revert C`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4" name="Rounded Rectangle 14">
            <a:extLst>
              <a:ext uri="{FF2B5EF4-FFF2-40B4-BE49-F238E27FC236}">
                <a16:creationId xmlns:a16="http://schemas.microsoft.com/office/drawing/2014/main" id="{A71DB9BE-5B99-5796-D877-ABB2AD399F7C}"/>
              </a:ext>
            </a:extLst>
          </p:cNvPr>
          <p:cNvSpPr/>
          <p:nvPr/>
        </p:nvSpPr>
        <p:spPr>
          <a:xfrm>
            <a:off x="86868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9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5" name="TextBox 15">
            <a:extLst>
              <a:ext uri="{FF2B5EF4-FFF2-40B4-BE49-F238E27FC236}">
                <a16:creationId xmlns:a16="http://schemas.microsoft.com/office/drawing/2014/main" id="{12E79F09-B58A-9D1D-15EC-F2B29A8A7D64}"/>
              </a:ext>
            </a:extLst>
          </p:cNvPr>
          <p:cNvSpPr/>
          <p:nvPr/>
        </p:nvSpPr>
        <p:spPr>
          <a:xfrm>
            <a:off x="868680" y="3557864"/>
            <a:ext cx="566640" cy="4003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3565"/>
                </a:solidFill>
                <a:effectLst/>
                <a:uFillTx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98FE07C6-22C7-0C2D-B40C-36DC18A1D285}"/>
              </a:ext>
            </a:extLst>
          </p:cNvPr>
          <p:cNvSpPr/>
          <p:nvPr/>
        </p:nvSpPr>
        <p:spPr>
          <a:xfrm>
            <a:off x="165492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TextBox 17">
            <a:extLst>
              <a:ext uri="{FF2B5EF4-FFF2-40B4-BE49-F238E27FC236}">
                <a16:creationId xmlns:a16="http://schemas.microsoft.com/office/drawing/2014/main" id="{CBE652FD-0BD7-AD98-CD5B-A77D048839F0}"/>
              </a:ext>
            </a:extLst>
          </p:cNvPr>
          <p:cNvSpPr/>
          <p:nvPr/>
        </p:nvSpPr>
        <p:spPr>
          <a:xfrm>
            <a:off x="1654920" y="3611723"/>
            <a:ext cx="566640" cy="2926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B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0" name="Connector 18">
            <a:extLst>
              <a:ext uri="{FF2B5EF4-FFF2-40B4-BE49-F238E27FC236}">
                <a16:creationId xmlns:a16="http://schemas.microsoft.com/office/drawing/2014/main" id="{5E87FC9B-F892-1CB4-BBC1-D3474485A74A}"/>
              </a:ext>
            </a:extLst>
          </p:cNvPr>
          <p:cNvCxnSpPr/>
          <p:nvPr/>
        </p:nvCxnSpPr>
        <p:spPr>
          <a:xfrm>
            <a:off x="1435320" y="3758040"/>
            <a:ext cx="21996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31" name="Rounded Rectangle 19">
            <a:extLst>
              <a:ext uri="{FF2B5EF4-FFF2-40B4-BE49-F238E27FC236}">
                <a16:creationId xmlns:a16="http://schemas.microsoft.com/office/drawing/2014/main" id="{3FFB28C9-F581-4997-5B59-37048BF6BDAC}"/>
              </a:ext>
            </a:extLst>
          </p:cNvPr>
          <p:cNvSpPr/>
          <p:nvPr/>
        </p:nvSpPr>
        <p:spPr>
          <a:xfrm>
            <a:off x="244152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CDAA0611-0AF5-3474-ADA5-6F5A390353C6}"/>
              </a:ext>
            </a:extLst>
          </p:cNvPr>
          <p:cNvSpPr/>
          <p:nvPr/>
        </p:nvSpPr>
        <p:spPr>
          <a:xfrm>
            <a:off x="2441520" y="3542475"/>
            <a:ext cx="56664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C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C3565"/>
                </a:solidFill>
                <a:effectLst/>
                <a:uFillTx/>
              </a:rPr>
              <a:t>error</a:t>
            </a:r>
            <a:endParaRPr lang="en-US" sz="9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3" name="Connector 21">
            <a:extLst>
              <a:ext uri="{FF2B5EF4-FFF2-40B4-BE49-F238E27FC236}">
                <a16:creationId xmlns:a16="http://schemas.microsoft.com/office/drawing/2014/main" id="{8E5BF7DC-DA44-3FB9-9A6D-DADBA35464B6}"/>
              </a:ext>
            </a:extLst>
          </p:cNvPr>
          <p:cNvCxnSpPr/>
          <p:nvPr/>
        </p:nvCxnSpPr>
        <p:spPr>
          <a:xfrm>
            <a:off x="2221920" y="3758040"/>
            <a:ext cx="21960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53" name="Rounded Rectangle 22">
            <a:extLst>
              <a:ext uri="{FF2B5EF4-FFF2-40B4-BE49-F238E27FC236}">
                <a16:creationId xmlns:a16="http://schemas.microsoft.com/office/drawing/2014/main" id="{FD940430-40C7-B78F-F41D-E105961E9CE7}"/>
              </a:ext>
            </a:extLst>
          </p:cNvPr>
          <p:cNvSpPr/>
          <p:nvPr/>
        </p:nvSpPr>
        <p:spPr>
          <a:xfrm>
            <a:off x="3227760" y="3474720"/>
            <a:ext cx="566640" cy="56664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7896B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6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54" name="TextBox 23">
            <a:extLst>
              <a:ext uri="{FF2B5EF4-FFF2-40B4-BE49-F238E27FC236}">
                <a16:creationId xmlns:a16="http://schemas.microsoft.com/office/drawing/2014/main" id="{77F42336-738A-38B2-3482-70443043A5B0}"/>
              </a:ext>
            </a:extLst>
          </p:cNvPr>
          <p:cNvSpPr/>
          <p:nvPr/>
        </p:nvSpPr>
        <p:spPr>
          <a:xfrm>
            <a:off x="3227760" y="3542474"/>
            <a:ext cx="566640" cy="4311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900" b="1" u="none" strike="noStrike" dirty="0" err="1">
                <a:solidFill>
                  <a:srgbClr val="1C3565"/>
                </a:solidFill>
                <a:effectLst/>
                <a:uFillTx/>
              </a:rPr>
              <a:t>revierte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1C3565"/>
                </a:solidFill>
                <a:effectLst/>
                <a:uFillTx/>
              </a:rPr>
              <a:t>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55" name="Connector 24">
            <a:extLst>
              <a:ext uri="{FF2B5EF4-FFF2-40B4-BE49-F238E27FC236}">
                <a16:creationId xmlns:a16="http://schemas.microsoft.com/office/drawing/2014/main" id="{FEC92A3B-2897-82C1-EB82-79E346FCDC60}"/>
              </a:ext>
            </a:extLst>
          </p:cNvPr>
          <p:cNvCxnSpPr/>
          <p:nvPr/>
        </p:nvCxnSpPr>
        <p:spPr>
          <a:xfrm>
            <a:off x="3008160" y="3758040"/>
            <a:ext cx="219960" cy="360"/>
          </a:xfrm>
          <a:prstGeom prst="straightConnector1">
            <a:avLst/>
          </a:prstGeom>
          <a:ln w="19050">
            <a:solidFill>
              <a:srgbClr val="808A97"/>
            </a:solidFill>
            <a:round/>
          </a:ln>
        </p:spPr>
      </p:cxnSp>
      <p:sp>
        <p:nvSpPr>
          <p:cNvPr id="56" name="Rounded Rectangle 25">
            <a:extLst>
              <a:ext uri="{FF2B5EF4-FFF2-40B4-BE49-F238E27FC236}">
                <a16:creationId xmlns:a16="http://schemas.microsoft.com/office/drawing/2014/main" id="{E0AA835B-E6E5-1547-F34A-DA0D42C36705}"/>
              </a:ext>
            </a:extLst>
          </p:cNvPr>
          <p:cNvSpPr/>
          <p:nvPr/>
        </p:nvSpPr>
        <p:spPr>
          <a:xfrm>
            <a:off x="4663440" y="1417320"/>
            <a:ext cx="5851800" cy="191988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conseguimos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El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estado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actual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corregido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El commit original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sigue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visible.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corrección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queda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documentada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7" name="Rounded Rectangle 26">
            <a:extLst>
              <a:ext uri="{FF2B5EF4-FFF2-40B4-BE49-F238E27FC236}">
                <a16:creationId xmlns:a16="http://schemas.microsoft.com/office/drawing/2014/main" id="{BF2ED3E1-ADE8-FD11-6E65-3332C2990F12}"/>
              </a:ext>
            </a:extLst>
          </p:cNvPr>
          <p:cNvSpPr/>
          <p:nvPr/>
        </p:nvSpPr>
        <p:spPr>
          <a:xfrm>
            <a:off x="4663440" y="3611880"/>
            <a:ext cx="5851800" cy="1005480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debes</a:t>
            </a:r>
            <a:r>
              <a:rPr lang="en-US" sz="16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600" b="1" u="none" strike="noStrike" dirty="0" err="1">
                <a:solidFill>
                  <a:srgbClr val="0A5C48"/>
                </a:solidFill>
                <a:effectLst/>
                <a:uFillTx/>
              </a:rPr>
              <a:t>recordar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`revert` es la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opción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habitual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cuando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el commit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erróneo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ya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fue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600" b="0" u="none" strike="noStrike" dirty="0" err="1">
                <a:solidFill>
                  <a:srgbClr val="2D3436"/>
                </a:solidFill>
                <a:effectLst/>
                <a:uFillTx/>
              </a:rPr>
              <a:t>compartido</a:t>
            </a:r>
            <a:r>
              <a:rPr lang="en-US" sz="16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829686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15EED-847D-FA41-BB16-209790550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98F18F56-677D-79E4-5393-B723F97678C9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7B4FBF13-9EE5-755B-553A-8838CD296AA1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2520D3EF-D891-C6B5-A290-7B5D601C5087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Del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repositorio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local a GitHub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D55BE493-22B0-EA4E-4DE1-23EE8E0D6285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555A6773-E8B1-3CC2-9BFA-910315CC9033}"/>
              </a:ext>
            </a:extLst>
          </p:cNvPr>
          <p:cNvSpPr/>
          <p:nvPr/>
        </p:nvSpPr>
        <p:spPr>
          <a:xfrm>
            <a:off x="548640" y="10972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200" b="1" dirty="0">
                <a:solidFill>
                  <a:srgbClr val="0A5C48"/>
                </a:solidFill>
                <a:latin typeface="+mj-lt"/>
              </a:rPr>
              <a:t>Sincronización básica</a:t>
            </a:r>
          </a:p>
          <a:p>
            <a:pPr algn="ctr" defTabSz="457200">
              <a:lnSpc>
                <a:spcPct val="100000"/>
              </a:lnSpc>
            </a:pPr>
            <a:endParaRPr lang="en-US" sz="22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679DCD21-B3C5-A210-F481-FEEB39C2B15A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En el aula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remoto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será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punto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común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desde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se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revisará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trabajo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B95939C2-F7A2-CA4D-BCFA-43B4A055F51F}"/>
              </a:ext>
            </a:extLst>
          </p:cNvPr>
          <p:cNvSpPr/>
          <p:nvPr/>
        </p:nvSpPr>
        <p:spPr>
          <a:xfrm>
            <a:off x="93726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60A5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F5493A88-F313-D537-6DB1-B847D40D494F}"/>
              </a:ext>
            </a:extLst>
          </p:cNvPr>
          <p:cNvSpPr/>
          <p:nvPr/>
        </p:nvSpPr>
        <p:spPr>
          <a:xfrm>
            <a:off x="955620" y="1924731"/>
            <a:ext cx="15084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Repositorio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local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4" name="Connector 7">
            <a:extLst>
              <a:ext uri="{FF2B5EF4-FFF2-40B4-BE49-F238E27FC236}">
                <a16:creationId xmlns:a16="http://schemas.microsoft.com/office/drawing/2014/main" id="{F5BBD507-022C-6332-A1A1-F3EDF9CE4299}"/>
              </a:ext>
            </a:extLst>
          </p:cNvPr>
          <p:cNvCxnSpPr/>
          <p:nvPr/>
        </p:nvCxnSpPr>
        <p:spPr>
          <a:xfrm>
            <a:off x="2482380" y="22080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70BF01C0-73DF-4173-B405-6EEE281C4CF3}"/>
              </a:ext>
            </a:extLst>
          </p:cNvPr>
          <p:cNvSpPr/>
          <p:nvPr/>
        </p:nvSpPr>
        <p:spPr>
          <a:xfrm>
            <a:off x="255582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3A70D0A0-1815-0C0D-4161-76C331D9B077}"/>
              </a:ext>
            </a:extLst>
          </p:cNvPr>
          <p:cNvSpPr/>
          <p:nvPr/>
        </p:nvSpPr>
        <p:spPr>
          <a:xfrm>
            <a:off x="2574180" y="1924731"/>
            <a:ext cx="15084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GitHub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origin/main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8" name="Connector 10">
            <a:extLst>
              <a:ext uri="{FF2B5EF4-FFF2-40B4-BE49-F238E27FC236}">
                <a16:creationId xmlns:a16="http://schemas.microsoft.com/office/drawing/2014/main" id="{B862052D-39B4-27BF-5B97-73F9849276CE}"/>
              </a:ext>
            </a:extLst>
          </p:cNvPr>
          <p:cNvCxnSpPr/>
          <p:nvPr/>
        </p:nvCxnSpPr>
        <p:spPr>
          <a:xfrm>
            <a:off x="4100940" y="22080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0" name="Rounded Rectangle 11">
            <a:extLst>
              <a:ext uri="{FF2B5EF4-FFF2-40B4-BE49-F238E27FC236}">
                <a16:creationId xmlns:a16="http://schemas.microsoft.com/office/drawing/2014/main" id="{5F60DB4F-3599-9F37-4744-32347AAD0D4B}"/>
              </a:ext>
            </a:extLst>
          </p:cNvPr>
          <p:cNvSpPr/>
          <p:nvPr/>
        </p:nvSpPr>
        <p:spPr>
          <a:xfrm>
            <a:off x="417438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78B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D1A7824F-31D9-0B17-6177-C87D5A31C55D}"/>
              </a:ext>
            </a:extLst>
          </p:cNvPr>
          <p:cNvSpPr/>
          <p:nvPr/>
        </p:nvSpPr>
        <p:spPr>
          <a:xfrm>
            <a:off x="4192380" y="2032453"/>
            <a:ext cx="150840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PR / revisión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2" name="Connector 13">
            <a:extLst>
              <a:ext uri="{FF2B5EF4-FFF2-40B4-BE49-F238E27FC236}">
                <a16:creationId xmlns:a16="http://schemas.microsoft.com/office/drawing/2014/main" id="{2EEDD836-9715-B767-C01A-A7A8B4148D2D}"/>
              </a:ext>
            </a:extLst>
          </p:cNvPr>
          <p:cNvCxnSpPr/>
          <p:nvPr/>
        </p:nvCxnSpPr>
        <p:spPr>
          <a:xfrm>
            <a:off x="5719500" y="22080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3" name="Rounded Rectangle 14">
            <a:extLst>
              <a:ext uri="{FF2B5EF4-FFF2-40B4-BE49-F238E27FC236}">
                <a16:creationId xmlns:a16="http://schemas.microsoft.com/office/drawing/2014/main" id="{3BF0039A-BC5C-2042-52F7-0CEBB1BD3599}"/>
              </a:ext>
            </a:extLst>
          </p:cNvPr>
          <p:cNvSpPr/>
          <p:nvPr/>
        </p:nvSpPr>
        <p:spPr>
          <a:xfrm>
            <a:off x="5792580" y="1851660"/>
            <a:ext cx="154512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7DD3F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E34F0E69-9637-5C06-064C-ED671AABFDE6}"/>
              </a:ext>
            </a:extLst>
          </p:cNvPr>
          <p:cNvSpPr/>
          <p:nvPr/>
        </p:nvSpPr>
        <p:spPr>
          <a:xfrm>
            <a:off x="5810940" y="1924731"/>
            <a:ext cx="1508400" cy="5850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/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Colaboradores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y </a:t>
            </a: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profesor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30385C69-5CF6-0A53-2C3F-AAE7D1425A31}"/>
              </a:ext>
            </a:extLst>
          </p:cNvPr>
          <p:cNvSpPr/>
          <p:nvPr/>
        </p:nvSpPr>
        <p:spPr>
          <a:xfrm>
            <a:off x="2811600" y="1495081"/>
            <a:ext cx="82260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3B82F6"/>
                </a:solidFill>
                <a:effectLst/>
                <a:uFillTx/>
              </a:rPr>
              <a:t>git push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2" name="Rounded Rectangle 18">
            <a:extLst>
              <a:ext uri="{FF2B5EF4-FFF2-40B4-BE49-F238E27FC236}">
                <a16:creationId xmlns:a16="http://schemas.microsoft.com/office/drawing/2014/main" id="{C80F1996-DEB5-1D58-6CC6-BFE964A4E810}"/>
              </a:ext>
            </a:extLst>
          </p:cNvPr>
          <p:cNvSpPr/>
          <p:nvPr/>
        </p:nvSpPr>
        <p:spPr>
          <a:xfrm>
            <a:off x="937260" y="3040380"/>
            <a:ext cx="3748680" cy="173700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En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módulo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usaremos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HTTPS.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El PAT no es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tu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contraseña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: es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credencial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revocable.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Git y Docker se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autenticarán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más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adelante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servicios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distintos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4" name="Rounded Rectangle 19">
            <a:extLst>
              <a:ext uri="{FF2B5EF4-FFF2-40B4-BE49-F238E27FC236}">
                <a16:creationId xmlns:a16="http://schemas.microsoft.com/office/drawing/2014/main" id="{1616FD69-4886-78B6-545B-E383276EDC33}"/>
              </a:ext>
            </a:extLst>
          </p:cNvPr>
          <p:cNvSpPr/>
          <p:nvPr/>
        </p:nvSpPr>
        <p:spPr>
          <a:xfrm>
            <a:off x="955620" y="3058740"/>
            <a:ext cx="3711960" cy="3286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6" name="TextBox 20">
            <a:extLst>
              <a:ext uri="{FF2B5EF4-FFF2-40B4-BE49-F238E27FC236}">
                <a16:creationId xmlns:a16="http://schemas.microsoft.com/office/drawing/2014/main" id="{431E7876-03C2-D223-AF0F-A8341FF17E84}"/>
              </a:ext>
            </a:extLst>
          </p:cNvPr>
          <p:cNvSpPr/>
          <p:nvPr/>
        </p:nvSpPr>
        <p:spPr>
          <a:xfrm>
            <a:off x="1010340" y="3047294"/>
            <a:ext cx="36025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HTTPS + PAT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9" name="Rounded Rectangle 21">
            <a:extLst>
              <a:ext uri="{FF2B5EF4-FFF2-40B4-BE49-F238E27FC236}">
                <a16:creationId xmlns:a16="http://schemas.microsoft.com/office/drawing/2014/main" id="{CF3096D6-3B28-3745-628B-5E12EC449A75}"/>
              </a:ext>
            </a:extLst>
          </p:cNvPr>
          <p:cNvSpPr/>
          <p:nvPr/>
        </p:nvSpPr>
        <p:spPr>
          <a:xfrm>
            <a:off x="4960620" y="3040380"/>
            <a:ext cx="2742840" cy="1737000"/>
          </a:xfrm>
          <a:prstGeom prst="roundRect">
            <a:avLst>
              <a:gd name="adj" fmla="val 16667"/>
            </a:avLst>
          </a:prstGeom>
          <a:solidFill>
            <a:srgbClr val="FCEBE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Añade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al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profesor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como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colaborador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Revisa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secretos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claves y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datos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personales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antes de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publicar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1" name="Rounded Rectangle 22">
            <a:extLst>
              <a:ext uri="{FF2B5EF4-FFF2-40B4-BE49-F238E27FC236}">
                <a16:creationId xmlns:a16="http://schemas.microsoft.com/office/drawing/2014/main" id="{4A57CE1A-D189-1F97-3926-3DA2B8AA799F}"/>
              </a:ext>
            </a:extLst>
          </p:cNvPr>
          <p:cNvSpPr/>
          <p:nvPr/>
        </p:nvSpPr>
        <p:spPr>
          <a:xfrm>
            <a:off x="4978980" y="3058740"/>
            <a:ext cx="2706120" cy="328680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3" name="TextBox 23">
            <a:extLst>
              <a:ext uri="{FF2B5EF4-FFF2-40B4-BE49-F238E27FC236}">
                <a16:creationId xmlns:a16="http://schemas.microsoft.com/office/drawing/2014/main" id="{1BC16A1E-8ECD-F8AE-9CAB-A4E376783BEF}"/>
              </a:ext>
            </a:extLst>
          </p:cNvPr>
          <p:cNvSpPr/>
          <p:nvPr/>
        </p:nvSpPr>
        <p:spPr>
          <a:xfrm>
            <a:off x="5033700" y="3047294"/>
            <a:ext cx="259668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Repositorio privado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5" name="Rounded Rectangle 24">
            <a:extLst>
              <a:ext uri="{FF2B5EF4-FFF2-40B4-BE49-F238E27FC236}">
                <a16:creationId xmlns:a16="http://schemas.microsoft.com/office/drawing/2014/main" id="{5A54EFAC-3044-B102-8BAA-8CE27992B56B}"/>
              </a:ext>
            </a:extLst>
          </p:cNvPr>
          <p:cNvSpPr/>
          <p:nvPr/>
        </p:nvSpPr>
        <p:spPr>
          <a:xfrm>
            <a:off x="8115300" y="1805940"/>
            <a:ext cx="3139440" cy="191988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</a:t>
            </a:r>
            <a:r>
              <a:rPr lang="en-US" sz="1400" b="0" u="none" strike="noStrike" dirty="0" err="1">
                <a:solidFill>
                  <a:srgbClr val="374151"/>
                </a:solidFill>
                <a:effectLst/>
                <a:uFillTx/>
              </a:rPr>
              <a:t>init</a:t>
            </a: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 -b main</a:t>
            </a:r>
            <a:br>
              <a:rPr sz="1400" dirty="0"/>
            </a:b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remote add origin https://github.com/usuario/repo.git</a:t>
            </a:r>
            <a:br>
              <a:rPr sz="1400" dirty="0"/>
            </a:b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push -u origin main</a:t>
            </a:r>
            <a:br>
              <a:rPr sz="1400" dirty="0"/>
            </a:br>
            <a:br>
              <a:rPr sz="1400" dirty="0"/>
            </a:br>
            <a:r>
              <a:rPr lang="en-US" sz="1400" b="0" u="none" strike="noStrike" dirty="0">
                <a:solidFill>
                  <a:srgbClr val="374151"/>
                </a:solidFill>
                <a:effectLst/>
                <a:uFillTx/>
              </a:rPr>
              <a:t>git pull --ff-only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4390304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A803-C69D-ACA0-8521-AF067AA11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8433944C-6730-1089-00F5-D48B6E41F4C0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1919A3E2-60AD-1B31-69BB-64CD3563CE72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4E4C1DCE-21F5-95F7-87D9-718BB07E8A48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Ramas, Pull Request y GitHub Actions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A58613D-A88F-7AD0-71FD-ED7DDEECE46D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31B882B5-50D5-CA9E-C933-4A757B592870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main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representa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último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estado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integrado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que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consideramos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desplegable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8D6D3B5D-22A5-E35A-9D30-15C73CD6890A}"/>
              </a:ext>
            </a:extLst>
          </p:cNvPr>
          <p:cNvSpPr/>
          <p:nvPr/>
        </p:nvSpPr>
        <p:spPr>
          <a:xfrm>
            <a:off x="82296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60A5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AC165A-0239-2B17-5540-DA75EDD5D45B}"/>
              </a:ext>
            </a:extLst>
          </p:cNvPr>
          <p:cNvSpPr/>
          <p:nvPr/>
        </p:nvSpPr>
        <p:spPr>
          <a:xfrm>
            <a:off x="84132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 dirty="0">
                <a:solidFill>
                  <a:srgbClr val="1C3565"/>
                </a:solidFill>
                <a:effectLst/>
                <a:uFillTx/>
              </a:rPr>
              <a:t>main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 err="1">
                <a:solidFill>
                  <a:srgbClr val="1C3565"/>
                </a:solidFill>
                <a:effectLst/>
                <a:uFillTx/>
              </a:rPr>
              <a:t>actualizado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8" name="Connector 6">
            <a:extLst>
              <a:ext uri="{FF2B5EF4-FFF2-40B4-BE49-F238E27FC236}">
                <a16:creationId xmlns:a16="http://schemas.microsoft.com/office/drawing/2014/main" id="{C77C6D2B-0AAA-A2CA-7F02-B0D27B8BB1B5}"/>
              </a:ext>
            </a:extLst>
          </p:cNvPr>
          <p:cNvCxnSpPr/>
          <p:nvPr/>
        </p:nvCxnSpPr>
        <p:spPr>
          <a:xfrm>
            <a:off x="286740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1" name="Rounded Rectangle 7">
            <a:extLst>
              <a:ext uri="{FF2B5EF4-FFF2-40B4-BE49-F238E27FC236}">
                <a16:creationId xmlns:a16="http://schemas.microsoft.com/office/drawing/2014/main" id="{65571273-B1C7-61FF-5F46-47E112E5B569}"/>
              </a:ext>
            </a:extLst>
          </p:cNvPr>
          <p:cNvSpPr/>
          <p:nvPr/>
        </p:nvSpPr>
        <p:spPr>
          <a:xfrm>
            <a:off x="294084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78BF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58940E03-6D36-22E8-0088-F650B997D9FC}"/>
              </a:ext>
            </a:extLst>
          </p:cNvPr>
          <p:cNvSpPr/>
          <p:nvPr/>
        </p:nvSpPr>
        <p:spPr>
          <a:xfrm>
            <a:off x="295884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rama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sesion-XX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7" name="Connector 9">
            <a:extLst>
              <a:ext uri="{FF2B5EF4-FFF2-40B4-BE49-F238E27FC236}">
                <a16:creationId xmlns:a16="http://schemas.microsoft.com/office/drawing/2014/main" id="{71FCC3B3-BC94-9D94-4E4A-C45A3AE34DCE}"/>
              </a:ext>
            </a:extLst>
          </p:cNvPr>
          <p:cNvCxnSpPr/>
          <p:nvPr/>
        </p:nvCxnSpPr>
        <p:spPr>
          <a:xfrm>
            <a:off x="498528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0" name="Rounded Rectangle 10">
            <a:extLst>
              <a:ext uri="{FF2B5EF4-FFF2-40B4-BE49-F238E27FC236}">
                <a16:creationId xmlns:a16="http://schemas.microsoft.com/office/drawing/2014/main" id="{83D13306-11D6-FB85-6ABE-4AE3940CAE21}"/>
              </a:ext>
            </a:extLst>
          </p:cNvPr>
          <p:cNvSpPr/>
          <p:nvPr/>
        </p:nvSpPr>
        <p:spPr>
          <a:xfrm>
            <a:off x="505836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7DD3F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2" name="TextBox 11">
            <a:extLst>
              <a:ext uri="{FF2B5EF4-FFF2-40B4-BE49-F238E27FC236}">
                <a16:creationId xmlns:a16="http://schemas.microsoft.com/office/drawing/2014/main" id="{2FAAED16-489A-AE45-6C76-DE21F4D78284}"/>
              </a:ext>
            </a:extLst>
          </p:cNvPr>
          <p:cNvSpPr/>
          <p:nvPr/>
        </p:nvSpPr>
        <p:spPr>
          <a:xfrm>
            <a:off x="507672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commits +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push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26" name="Connector 12">
            <a:extLst>
              <a:ext uri="{FF2B5EF4-FFF2-40B4-BE49-F238E27FC236}">
                <a16:creationId xmlns:a16="http://schemas.microsoft.com/office/drawing/2014/main" id="{0FB8104C-AB09-C66D-F731-B8983924A1A9}"/>
              </a:ext>
            </a:extLst>
          </p:cNvPr>
          <p:cNvCxnSpPr/>
          <p:nvPr/>
        </p:nvCxnSpPr>
        <p:spPr>
          <a:xfrm>
            <a:off x="710280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4" name="Rounded Rectangle 13">
            <a:extLst>
              <a:ext uri="{FF2B5EF4-FFF2-40B4-BE49-F238E27FC236}">
                <a16:creationId xmlns:a16="http://schemas.microsoft.com/office/drawing/2014/main" id="{6A06EEFD-558B-BC87-8492-F74EAE43C073}"/>
              </a:ext>
            </a:extLst>
          </p:cNvPr>
          <p:cNvSpPr/>
          <p:nvPr/>
        </p:nvSpPr>
        <p:spPr>
          <a:xfrm>
            <a:off x="717624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5" name="TextBox 14">
            <a:extLst>
              <a:ext uri="{FF2B5EF4-FFF2-40B4-BE49-F238E27FC236}">
                <a16:creationId xmlns:a16="http://schemas.microsoft.com/office/drawing/2014/main" id="{24FA5E19-DE93-3251-614D-3714A818470A}"/>
              </a:ext>
            </a:extLst>
          </p:cNvPr>
          <p:cNvSpPr/>
          <p:nvPr/>
        </p:nvSpPr>
        <p:spPr>
          <a:xfrm>
            <a:off x="719460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PR +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checks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36" name="Connector 15">
            <a:extLst>
              <a:ext uri="{FF2B5EF4-FFF2-40B4-BE49-F238E27FC236}">
                <a16:creationId xmlns:a16="http://schemas.microsoft.com/office/drawing/2014/main" id="{EE4C7E94-4AFD-841F-A6ED-23480EC955C0}"/>
              </a:ext>
            </a:extLst>
          </p:cNvPr>
          <p:cNvCxnSpPr/>
          <p:nvPr/>
        </p:nvCxnSpPr>
        <p:spPr>
          <a:xfrm>
            <a:off x="9220680" y="181944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37" name="Rounded Rectangle 16">
            <a:extLst>
              <a:ext uri="{FF2B5EF4-FFF2-40B4-BE49-F238E27FC236}">
                <a16:creationId xmlns:a16="http://schemas.microsoft.com/office/drawing/2014/main" id="{5EF25ED4-7406-9EE2-29E6-784C7E4C8F11}"/>
              </a:ext>
            </a:extLst>
          </p:cNvPr>
          <p:cNvSpPr/>
          <p:nvPr/>
        </p:nvSpPr>
        <p:spPr>
          <a:xfrm>
            <a:off x="9294120" y="1463040"/>
            <a:ext cx="2044080" cy="71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8" name="TextBox 17">
            <a:extLst>
              <a:ext uri="{FF2B5EF4-FFF2-40B4-BE49-F238E27FC236}">
                <a16:creationId xmlns:a16="http://schemas.microsoft.com/office/drawing/2014/main" id="{BE484E8B-112E-6E52-08B5-6AA89E6AEEC6}"/>
              </a:ext>
            </a:extLst>
          </p:cNvPr>
          <p:cNvSpPr/>
          <p:nvPr/>
        </p:nvSpPr>
        <p:spPr>
          <a:xfrm>
            <a:off x="9312120" y="1527120"/>
            <a:ext cx="2007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merge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C3565"/>
                </a:solidFill>
                <a:effectLst/>
                <a:uFillTx/>
              </a:rPr>
              <a:t>en main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9" name="Rounded Rectangle 18">
            <a:extLst>
              <a:ext uri="{FF2B5EF4-FFF2-40B4-BE49-F238E27FC236}">
                <a16:creationId xmlns:a16="http://schemas.microsoft.com/office/drawing/2014/main" id="{40F1E566-2BB4-F4D5-FE9E-E834C8A8131C}"/>
              </a:ext>
            </a:extLst>
          </p:cNvPr>
          <p:cNvSpPr/>
          <p:nvPr/>
        </p:nvSpPr>
        <p:spPr>
          <a:xfrm>
            <a:off x="1115640" y="2448270"/>
            <a:ext cx="4754520" cy="164556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La Pull Request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responde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a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tres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preguntas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Qué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cambia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Por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qué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cambia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Cómo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se ha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comprobado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0" name="Rounded Rectangle 19">
            <a:extLst>
              <a:ext uri="{FF2B5EF4-FFF2-40B4-BE49-F238E27FC236}">
                <a16:creationId xmlns:a16="http://schemas.microsoft.com/office/drawing/2014/main" id="{9D51989E-006B-87A3-5D9B-9607B7199DB0}"/>
              </a:ext>
            </a:extLst>
          </p:cNvPr>
          <p:cNvSpPr/>
          <p:nvPr/>
        </p:nvSpPr>
        <p:spPr>
          <a:xfrm>
            <a:off x="6236280" y="2448270"/>
            <a:ext cx="4845960" cy="164556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Las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comprobaciones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automáticas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No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sustituyen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revisión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,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pero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impiden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integrar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claramente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rotos.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GitHub Actions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ejecuta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workflows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guardados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`.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github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/workflows/`.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1" name="Rounded Rectangle 20">
            <a:extLst>
              <a:ext uri="{FF2B5EF4-FFF2-40B4-BE49-F238E27FC236}">
                <a16:creationId xmlns:a16="http://schemas.microsoft.com/office/drawing/2014/main" id="{57504FF6-F3FA-132A-A4AE-0CF99505FB28}"/>
              </a:ext>
            </a:extLst>
          </p:cNvPr>
          <p:cNvSpPr/>
          <p:nvPr/>
        </p:nvSpPr>
        <p:spPr>
          <a:xfrm>
            <a:off x="1481400" y="4277070"/>
            <a:ext cx="3840120" cy="91404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switch main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pull --ff-only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switch -c sesion-XX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2" name="Rounded Rectangle 21">
            <a:extLst>
              <a:ext uri="{FF2B5EF4-FFF2-40B4-BE49-F238E27FC236}">
                <a16:creationId xmlns:a16="http://schemas.microsoft.com/office/drawing/2014/main" id="{F8ADDCE1-B505-02EE-7A70-53401ED2659E}"/>
              </a:ext>
            </a:extLst>
          </p:cNvPr>
          <p:cNvSpPr/>
          <p:nvPr/>
        </p:nvSpPr>
        <p:spPr>
          <a:xfrm>
            <a:off x="6602040" y="4277070"/>
            <a:ext cx="3840120" cy="91404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add &lt;ficheros&gt;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commit -m "docs: documenta la sesión"</a:t>
            </a:r>
            <a:br>
              <a:rPr sz="1400"/>
            </a:br>
            <a:r>
              <a:rPr lang="en-US" sz="1400" b="0" u="none" strike="noStrike">
                <a:solidFill>
                  <a:srgbClr val="374151"/>
                </a:solidFill>
                <a:effectLst/>
                <a:uFillTx/>
              </a:rPr>
              <a:t>git push -u origin sesion-XX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6174187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71C34-4E8A-B41A-68E2-F48F7E806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6128D9C2-C830-0037-23DC-786932C6B0EF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D4221D0B-F072-3D22-A84A-1939EA52B294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F9DE4843-AD63-679C-CC72-42A3F77C7D9C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dirty="0">
                <a:solidFill>
                  <a:srgbClr val="FFFFFF"/>
                </a:solidFill>
                <a:latin typeface="Aptos Display"/>
              </a:rPr>
              <a:t>Referencias Git: qué se mueve y qué permanece</a:t>
            </a: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A153323F-EAC5-9445-E71A-9466501DF7EA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55BE8629-33D6-7114-0D7B-B393B8AE5BD3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>
                <a:solidFill>
                  <a:srgbClr val="1C3565"/>
                </a:solidFill>
                <a:latin typeface="Aptos"/>
              </a:rPr>
              <a:t>Las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ramas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avanzan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; las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etiquetas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identifican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puntos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concretos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4" name="Picture 4" descr="infografía_git_referencias_y_commits.png">
            <a:extLst>
              <a:ext uri="{FF2B5EF4-FFF2-40B4-BE49-F238E27FC236}">
                <a16:creationId xmlns:a16="http://schemas.microsoft.com/office/drawing/2014/main" id="{306AA633-83F5-6079-D7AD-B9EF72DFC2D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48640" y="1548000"/>
            <a:ext cx="6034680" cy="339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CA351-1D9C-5C05-FCC4-DF23CD1B58D4}"/>
              </a:ext>
            </a:extLst>
          </p:cNvPr>
          <p:cNvSpPr/>
          <p:nvPr/>
        </p:nvSpPr>
        <p:spPr>
          <a:xfrm>
            <a:off x="6858000" y="1463040"/>
            <a:ext cx="4480200" cy="2377080"/>
          </a:xfrm>
          <a:prstGeom prst="roundRect">
            <a:avLst>
              <a:gd name="adj" fmla="val 16667"/>
            </a:avLst>
          </a:prstGeom>
          <a:solidFill>
            <a:srgbClr val="E6F4EF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Qué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debes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retener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`HEAD` indica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dónde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estás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trabajando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`main` es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rama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local y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avanza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cuando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haces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nuevos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commits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sobre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ella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`origin/main`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representa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conocido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del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remoto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Una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etiqueta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como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`v0.1.0`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permanece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fija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hasta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que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cambias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deliberadamente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0D9EAF7E-031F-7D02-275F-48F350E3D895}"/>
              </a:ext>
            </a:extLst>
          </p:cNvPr>
          <p:cNvSpPr/>
          <p:nvPr/>
        </p:nvSpPr>
        <p:spPr>
          <a:xfrm>
            <a:off x="7040880" y="4160520"/>
            <a:ext cx="4114440" cy="86832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git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tag -a v0.1.0 -m "Primer estado identificable"</a:t>
            </a:r>
            <a:br>
              <a:rPr lang="es-ES" sz="1400" dirty="0"/>
            </a:b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git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</a:t>
            </a: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push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</a:t>
            </a:r>
            <a:r>
              <a:rPr lang="es-ES" sz="1400" b="0" u="none" strike="noStrike" dirty="0" err="1">
                <a:solidFill>
                  <a:srgbClr val="374151"/>
                </a:solidFill>
                <a:effectLst/>
                <a:uFillTx/>
              </a:rPr>
              <a:t>origin</a:t>
            </a:r>
            <a:r>
              <a:rPr lang="es-ES" sz="1400" b="0" u="none" strike="noStrike" dirty="0">
                <a:solidFill>
                  <a:srgbClr val="374151"/>
                </a:solidFill>
                <a:effectLst/>
                <a:uFillTx/>
              </a:rPr>
              <a:t> v0.1.0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636153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8738F-9137-3B65-903C-1092DC35B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18">
            <a:extLst>
              <a:ext uri="{FF2B5EF4-FFF2-40B4-BE49-F238E27FC236}">
                <a16:creationId xmlns:a16="http://schemas.microsoft.com/office/drawing/2014/main" id="{F4B45204-9DC7-B2E5-8F75-495431DADC58}"/>
              </a:ext>
            </a:extLst>
          </p:cNvPr>
          <p:cNvSpPr/>
          <p:nvPr/>
        </p:nvSpPr>
        <p:spPr>
          <a:xfrm>
            <a:off x="937260" y="5463540"/>
            <a:ext cx="1056096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4A2CE8BF-8F97-3CB1-C825-DBCD84B7493B}"/>
              </a:ext>
            </a:extLst>
          </p:cNvPr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EA4AD159-E02D-B3B2-8FAD-CDCC1570D410}"/>
              </a:ext>
            </a:extLst>
          </p:cNvPr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Etiquetas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y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versionado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semántico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0C7E2BDB-7B80-C5E7-1AD0-CE97F65AF493}"/>
              </a:ext>
            </a:extLst>
          </p:cNvPr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Despliegue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de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Aplicaciones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Web — Tema 1: </a:t>
            </a:r>
            <a:r>
              <a:rPr lang="en-US" sz="1050" b="0" u="none" strike="noStrike" dirty="0" err="1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Sesión</a:t>
            </a:r>
            <a:r>
              <a:rPr lang="en-US" sz="1050" b="0" u="none" strike="noStrike" dirty="0">
                <a:solidFill>
                  <a:srgbClr val="757575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2 — </a:t>
            </a:r>
            <a:r>
              <a:rPr lang="en-US" sz="1050" dirty="0">
                <a:solidFill>
                  <a:srgbClr val="757575"/>
                </a:solidFill>
                <a:latin typeface="Arial"/>
                <a:ea typeface="Arial"/>
              </a:rPr>
              <a:t>Control de versions y </a:t>
            </a:r>
            <a:r>
              <a:rPr lang="en-US" sz="1050" dirty="0" err="1">
                <a:solidFill>
                  <a:srgbClr val="757575"/>
                </a:solidFill>
                <a:latin typeface="Arial"/>
                <a:ea typeface="Arial"/>
              </a:rPr>
              <a:t>documentación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BA81D5DA-B3D4-CE77-D454-5DC713E53574}"/>
              </a:ext>
            </a:extLst>
          </p:cNvPr>
          <p:cNvSpPr/>
          <p:nvPr/>
        </p:nvSpPr>
        <p:spPr>
          <a:xfrm>
            <a:off x="1353240" y="5596200"/>
            <a:ext cx="972900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Etiquetar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no es “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hacer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una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copia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”: es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poner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nombre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a un punto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historial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B69F0DA4-087E-8452-0AB1-A1E11BF7C918}"/>
              </a:ext>
            </a:extLst>
          </p:cNvPr>
          <p:cNvSpPr/>
          <p:nvPr/>
        </p:nvSpPr>
        <p:spPr>
          <a:xfrm>
            <a:off x="1664280" y="1259730"/>
            <a:ext cx="3382920" cy="1919880"/>
          </a:xfrm>
          <a:prstGeom prst="roundRect">
            <a:avLst>
              <a:gd name="adj" fmla="val 16667"/>
            </a:avLst>
          </a:prstGeom>
          <a:solidFill>
            <a:srgbClr val="E9F1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tIns="481680" rIns="101520" bIns="101520" anchor="ctr">
            <a:no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Identificar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un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estado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estable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Relacionar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entregas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o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hitos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285750" indent="-285750" defTabSz="4572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Marcar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una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versión</a:t>
            </a:r>
            <a:r>
              <a:rPr lang="en-US" sz="1400" b="0" u="none" strike="noStrike" dirty="0">
                <a:solidFill>
                  <a:srgbClr val="2D3436"/>
                </a:solidFill>
                <a:effectLst/>
                <a:uFillTx/>
              </a:rPr>
              <a:t> sin mover la </a:t>
            </a:r>
            <a:r>
              <a:rPr lang="en-US" sz="1400" b="0" u="none" strike="noStrike" dirty="0" err="1">
                <a:solidFill>
                  <a:srgbClr val="2D3436"/>
                </a:solidFill>
                <a:effectLst/>
                <a:uFillTx/>
              </a:rPr>
              <a:t>rama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ED80FA7-15F1-D976-55CB-D442E048F1A7}"/>
              </a:ext>
            </a:extLst>
          </p:cNvPr>
          <p:cNvSpPr/>
          <p:nvPr/>
        </p:nvSpPr>
        <p:spPr>
          <a:xfrm>
            <a:off x="1682640" y="1278090"/>
            <a:ext cx="3346200" cy="3286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600729C2-6B94-59DE-F3AF-8945D7DC251B}"/>
              </a:ext>
            </a:extLst>
          </p:cNvPr>
          <p:cNvSpPr/>
          <p:nvPr/>
        </p:nvSpPr>
        <p:spPr>
          <a:xfrm>
            <a:off x="1737360" y="1266644"/>
            <a:ext cx="32367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Para qué sirve una etiqueta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E548A5A9-DB59-A96E-F76E-4BDE274F61FB}"/>
              </a:ext>
            </a:extLst>
          </p:cNvPr>
          <p:cNvSpPr/>
          <p:nvPr/>
        </p:nvSpPr>
        <p:spPr>
          <a:xfrm>
            <a:off x="5413320" y="1076850"/>
            <a:ext cx="32000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Versionado</a:t>
            </a:r>
            <a:r>
              <a:rPr lang="en-US" sz="1400" b="1" u="none" strike="noStrike" dirty="0">
                <a:solidFill>
                  <a:srgbClr val="0A5C48"/>
                </a:solidFill>
                <a:effectLst/>
                <a:uFillTx/>
              </a:rPr>
              <a:t> </a:t>
            </a:r>
            <a:r>
              <a:rPr lang="en-US" sz="1400" b="1" u="none" strike="noStrike" dirty="0" err="1">
                <a:solidFill>
                  <a:srgbClr val="0A5C48"/>
                </a:solidFill>
                <a:effectLst/>
                <a:uFillTx/>
              </a:rPr>
              <a:t>semántico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8" name="Rectangle 8">
            <a:extLst>
              <a:ext uri="{FF2B5EF4-FFF2-40B4-BE49-F238E27FC236}">
                <a16:creationId xmlns:a16="http://schemas.microsoft.com/office/drawing/2014/main" id="{5FA04C91-1430-1015-05F1-8D4664471575}"/>
              </a:ext>
            </a:extLst>
          </p:cNvPr>
          <p:cNvSpPr/>
          <p:nvPr/>
        </p:nvSpPr>
        <p:spPr>
          <a:xfrm>
            <a:off x="5367600" y="1488330"/>
            <a:ext cx="1188360" cy="347040"/>
          </a:xfrm>
          <a:prstGeom prst="rect">
            <a:avLst/>
          </a:prstGeom>
          <a:solidFill>
            <a:srgbClr val="0A5C48"/>
          </a:solidFill>
          <a:ln>
            <a:solidFill>
              <a:srgbClr val="0A5C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0" name="TextBox 9">
            <a:extLst>
              <a:ext uri="{FF2B5EF4-FFF2-40B4-BE49-F238E27FC236}">
                <a16:creationId xmlns:a16="http://schemas.microsoft.com/office/drawing/2014/main" id="{BB2B4E53-433E-F126-8831-3A10AC459463}"/>
              </a:ext>
            </a:extLst>
          </p:cNvPr>
          <p:cNvSpPr/>
          <p:nvPr/>
        </p:nvSpPr>
        <p:spPr>
          <a:xfrm>
            <a:off x="5367600" y="1458884"/>
            <a:ext cx="118836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Parte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19FDDF66-C75B-90A5-A7CF-F569513F2C5A}"/>
              </a:ext>
            </a:extLst>
          </p:cNvPr>
          <p:cNvSpPr/>
          <p:nvPr/>
        </p:nvSpPr>
        <p:spPr>
          <a:xfrm>
            <a:off x="6556320" y="1488330"/>
            <a:ext cx="2742840" cy="347040"/>
          </a:xfrm>
          <a:prstGeom prst="rect">
            <a:avLst/>
          </a:prstGeom>
          <a:solidFill>
            <a:srgbClr val="0A5C48"/>
          </a:solidFill>
          <a:ln>
            <a:solidFill>
              <a:srgbClr val="0A5C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9CBB51F4-7D20-88ED-C258-9403CE74AF3A}"/>
              </a:ext>
            </a:extLst>
          </p:cNvPr>
          <p:cNvSpPr/>
          <p:nvPr/>
        </p:nvSpPr>
        <p:spPr>
          <a:xfrm>
            <a:off x="6556320" y="1458884"/>
            <a:ext cx="27428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</a:rPr>
              <a:t>Cuándo cambia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6" name="Rectangle 12">
            <a:extLst>
              <a:ext uri="{FF2B5EF4-FFF2-40B4-BE49-F238E27FC236}">
                <a16:creationId xmlns:a16="http://schemas.microsoft.com/office/drawing/2014/main" id="{D0F5447F-2030-04CC-825A-1992C50F2E07}"/>
              </a:ext>
            </a:extLst>
          </p:cNvPr>
          <p:cNvSpPr/>
          <p:nvPr/>
        </p:nvSpPr>
        <p:spPr>
          <a:xfrm>
            <a:off x="5367600" y="1835730"/>
            <a:ext cx="118836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29" name="TextBox 13">
            <a:extLst>
              <a:ext uri="{FF2B5EF4-FFF2-40B4-BE49-F238E27FC236}">
                <a16:creationId xmlns:a16="http://schemas.microsoft.com/office/drawing/2014/main" id="{BD07076F-ED61-2A6B-E86C-F955C5BA4B4F}"/>
              </a:ext>
            </a:extLst>
          </p:cNvPr>
          <p:cNvSpPr/>
          <p:nvPr/>
        </p:nvSpPr>
        <p:spPr>
          <a:xfrm>
            <a:off x="5385960" y="1797103"/>
            <a:ext cx="11516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MAYOR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1" name="Rectangle 14">
            <a:extLst>
              <a:ext uri="{FF2B5EF4-FFF2-40B4-BE49-F238E27FC236}">
                <a16:creationId xmlns:a16="http://schemas.microsoft.com/office/drawing/2014/main" id="{63E3507B-0747-7B10-3702-79C7A41CA817}"/>
              </a:ext>
            </a:extLst>
          </p:cNvPr>
          <p:cNvSpPr/>
          <p:nvPr/>
        </p:nvSpPr>
        <p:spPr>
          <a:xfrm>
            <a:off x="6556320" y="1835730"/>
            <a:ext cx="274284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96B9A9CE-A74D-036F-FBB3-220907119DED}"/>
              </a:ext>
            </a:extLst>
          </p:cNvPr>
          <p:cNvSpPr/>
          <p:nvPr/>
        </p:nvSpPr>
        <p:spPr>
          <a:xfrm>
            <a:off x="6574680" y="1797103"/>
            <a:ext cx="27061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cambios incompatibles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5" name="Rectangle 16">
            <a:extLst>
              <a:ext uri="{FF2B5EF4-FFF2-40B4-BE49-F238E27FC236}">
                <a16:creationId xmlns:a16="http://schemas.microsoft.com/office/drawing/2014/main" id="{D901DEC0-0B9F-8278-C0D4-2596D25A1CDE}"/>
              </a:ext>
            </a:extLst>
          </p:cNvPr>
          <p:cNvSpPr/>
          <p:nvPr/>
        </p:nvSpPr>
        <p:spPr>
          <a:xfrm>
            <a:off x="5367600" y="2183130"/>
            <a:ext cx="1188360" cy="347040"/>
          </a:xfrm>
          <a:prstGeom prst="rect">
            <a:avLst/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37" name="TextBox 17">
            <a:extLst>
              <a:ext uri="{FF2B5EF4-FFF2-40B4-BE49-F238E27FC236}">
                <a16:creationId xmlns:a16="http://schemas.microsoft.com/office/drawing/2014/main" id="{0EA4AB9F-E517-A799-F2D1-EC8FFEB21B8A}"/>
              </a:ext>
            </a:extLst>
          </p:cNvPr>
          <p:cNvSpPr/>
          <p:nvPr/>
        </p:nvSpPr>
        <p:spPr>
          <a:xfrm>
            <a:off x="5385960" y="2144503"/>
            <a:ext cx="11516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MENOR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9" name="Rectangle 18">
            <a:extLst>
              <a:ext uri="{FF2B5EF4-FFF2-40B4-BE49-F238E27FC236}">
                <a16:creationId xmlns:a16="http://schemas.microsoft.com/office/drawing/2014/main" id="{0B74B0BB-58D9-87D5-8DF9-23E7162FD318}"/>
              </a:ext>
            </a:extLst>
          </p:cNvPr>
          <p:cNvSpPr/>
          <p:nvPr/>
        </p:nvSpPr>
        <p:spPr>
          <a:xfrm>
            <a:off x="6556320" y="2183130"/>
            <a:ext cx="2742840" cy="347040"/>
          </a:xfrm>
          <a:prstGeom prst="rect">
            <a:avLst/>
          </a:prstGeom>
          <a:solidFill>
            <a:srgbClr val="F5F7F9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1" name="TextBox 19">
            <a:extLst>
              <a:ext uri="{FF2B5EF4-FFF2-40B4-BE49-F238E27FC236}">
                <a16:creationId xmlns:a16="http://schemas.microsoft.com/office/drawing/2014/main" id="{0DA3F9EE-B154-9948-0B02-4353095CD302}"/>
              </a:ext>
            </a:extLst>
          </p:cNvPr>
          <p:cNvSpPr/>
          <p:nvPr/>
        </p:nvSpPr>
        <p:spPr>
          <a:xfrm>
            <a:off x="6574680" y="2144503"/>
            <a:ext cx="27061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nueva funcionalidad compatible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3" name="Rectangle 20">
            <a:extLst>
              <a:ext uri="{FF2B5EF4-FFF2-40B4-BE49-F238E27FC236}">
                <a16:creationId xmlns:a16="http://schemas.microsoft.com/office/drawing/2014/main" id="{A94AD833-013E-8613-A101-06CD7EEA37D0}"/>
              </a:ext>
            </a:extLst>
          </p:cNvPr>
          <p:cNvSpPr/>
          <p:nvPr/>
        </p:nvSpPr>
        <p:spPr>
          <a:xfrm>
            <a:off x="5367600" y="2530890"/>
            <a:ext cx="118836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5" name="TextBox 21">
            <a:extLst>
              <a:ext uri="{FF2B5EF4-FFF2-40B4-BE49-F238E27FC236}">
                <a16:creationId xmlns:a16="http://schemas.microsoft.com/office/drawing/2014/main" id="{C16D43BC-EFAD-689B-1356-DD0BB40C55EC}"/>
              </a:ext>
            </a:extLst>
          </p:cNvPr>
          <p:cNvSpPr/>
          <p:nvPr/>
        </p:nvSpPr>
        <p:spPr>
          <a:xfrm>
            <a:off x="5385960" y="2491903"/>
            <a:ext cx="115164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PARCHE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7" name="Rectangle 22">
            <a:extLst>
              <a:ext uri="{FF2B5EF4-FFF2-40B4-BE49-F238E27FC236}">
                <a16:creationId xmlns:a16="http://schemas.microsoft.com/office/drawing/2014/main" id="{FC4A8961-25A5-85A4-D2CA-13AF41B7B0CD}"/>
              </a:ext>
            </a:extLst>
          </p:cNvPr>
          <p:cNvSpPr/>
          <p:nvPr/>
        </p:nvSpPr>
        <p:spPr>
          <a:xfrm>
            <a:off x="6556320" y="2530890"/>
            <a:ext cx="2742840" cy="347040"/>
          </a:xfrm>
          <a:prstGeom prst="rect">
            <a:avLst/>
          </a:prstGeom>
          <a:solidFill>
            <a:srgbClr val="FFFFFF"/>
          </a:solidFill>
          <a:ln>
            <a:solidFill>
              <a:srgbClr val="E1E4E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400" b="0" u="none" strike="noStrike">
              <a:solidFill>
                <a:schemeClr val="lt1"/>
              </a:solidFill>
              <a:effectLst/>
              <a:uFillTx/>
            </a:endParaRPr>
          </a:p>
        </p:txBody>
      </p:sp>
      <p:sp>
        <p:nvSpPr>
          <p:cNvPr id="49" name="TextBox 23">
            <a:extLst>
              <a:ext uri="{FF2B5EF4-FFF2-40B4-BE49-F238E27FC236}">
                <a16:creationId xmlns:a16="http://schemas.microsoft.com/office/drawing/2014/main" id="{E102D0B7-5D71-FD57-653C-5571CC587B1E}"/>
              </a:ext>
            </a:extLst>
          </p:cNvPr>
          <p:cNvSpPr/>
          <p:nvPr/>
        </p:nvSpPr>
        <p:spPr>
          <a:xfrm>
            <a:off x="6574680" y="2491903"/>
            <a:ext cx="2706120" cy="3695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corrección compatible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1" name="Rounded Rectangle 24">
            <a:extLst>
              <a:ext uri="{FF2B5EF4-FFF2-40B4-BE49-F238E27FC236}">
                <a16:creationId xmlns:a16="http://schemas.microsoft.com/office/drawing/2014/main" id="{8CBC70A4-D032-C734-76A1-1FC57402A6E6}"/>
              </a:ext>
            </a:extLst>
          </p:cNvPr>
          <p:cNvSpPr/>
          <p:nvPr/>
        </p:nvSpPr>
        <p:spPr>
          <a:xfrm>
            <a:off x="1664280" y="3591450"/>
            <a:ext cx="3382920" cy="1096920"/>
          </a:xfrm>
          <a:prstGeom prst="roundRect">
            <a:avLst>
              <a:gd name="adj" fmla="val 16667"/>
            </a:avLst>
          </a:prstGeom>
          <a:solidFill>
            <a:srgbClr val="F2EDF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A5C48"/>
                </a:solidFill>
                <a:effectLst/>
                <a:uFillTx/>
              </a:rPr>
              <a:t>Ejemplos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`1.4.2 → 1.4.3`  corrección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`1.4.2 → 1.5.0`  nueva funcionalidad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`1.4.2 → 2.0.0`  cambio incompatible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53" name="Rounded Rectangle 25">
            <a:extLst>
              <a:ext uri="{FF2B5EF4-FFF2-40B4-BE49-F238E27FC236}">
                <a16:creationId xmlns:a16="http://schemas.microsoft.com/office/drawing/2014/main" id="{B5BC12D7-473F-CB5E-221D-1F30BD49237B}"/>
              </a:ext>
            </a:extLst>
          </p:cNvPr>
          <p:cNvSpPr/>
          <p:nvPr/>
        </p:nvSpPr>
        <p:spPr>
          <a:xfrm>
            <a:off x="5413320" y="3591450"/>
            <a:ext cx="5668920" cy="1096920"/>
          </a:xfrm>
          <a:prstGeom prst="roundRect">
            <a:avLst>
              <a:gd name="adj" fmla="val 16667"/>
            </a:avLst>
          </a:prstGeom>
          <a:solidFill>
            <a:srgbClr val="FBF8EA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A5C48"/>
                </a:solidFill>
                <a:effectLst/>
                <a:uFillTx/>
              </a:rPr>
              <a:t>En el módulo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La etiqueta `v0.1.0` identificará un primer estado útil del repositorio del curso. No tiene por qué coincidir con la versión interna de la aplicación.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352868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0"/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Actividad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1.2: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tu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repositorio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como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herramienta</a:t>
            </a:r>
            <a:r>
              <a:rPr lang="en-US" sz="2800" b="1" dirty="0">
                <a:solidFill>
                  <a:srgbClr val="FFFFFF"/>
                </a:solidFill>
                <a:latin typeface="Aptos Display"/>
              </a:rPr>
              <a:t> de </a:t>
            </a:r>
            <a:r>
              <a:rPr lang="en-US" sz="2800" b="1" dirty="0" err="1">
                <a:solidFill>
                  <a:srgbClr val="FFFFFF"/>
                </a:solidFill>
                <a:latin typeface="Aptos Display"/>
              </a:rPr>
              <a:t>despliegue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161" name="Text 2"/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dirty="0" err="1">
                <a:solidFill>
                  <a:srgbClr val="757575"/>
                </a:solidFill>
                <a:ea typeface="Arial"/>
              </a:rPr>
              <a:t>Despliegue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de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Aplicaciones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Web — Tema 1: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Sesión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2 — Control de versions y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documentación</a:t>
            </a:r>
            <a:endParaRPr lang="en-US" sz="1050" dirty="0">
              <a:solidFill>
                <a:srgbClr val="000000"/>
              </a:solidFill>
            </a:endParaRPr>
          </a:p>
        </p:txBody>
      </p:sp>
      <p:sp>
        <p:nvSpPr>
          <p:cNvPr id="178" name="Shape 18"/>
          <p:cNvSpPr/>
          <p:nvPr/>
        </p:nvSpPr>
        <p:spPr>
          <a:xfrm>
            <a:off x="1143000" y="5532120"/>
            <a:ext cx="992088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9"/>
          <p:cNvSpPr/>
          <p:nvPr/>
        </p:nvSpPr>
        <p:spPr>
          <a:xfrm>
            <a:off x="1398960" y="5641920"/>
            <a:ext cx="9408960" cy="37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Próxima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sesión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: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empezaremos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a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empaquetar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piezas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con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contenedores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Rounded Rectangle 4">
            <a:extLst>
              <a:ext uri="{FF2B5EF4-FFF2-40B4-BE49-F238E27FC236}">
                <a16:creationId xmlns:a16="http://schemas.microsoft.com/office/drawing/2014/main" id="{FA0EB089-D647-CC60-FAD1-689E4D98637B}"/>
              </a:ext>
            </a:extLst>
          </p:cNvPr>
          <p:cNvSpPr/>
          <p:nvPr/>
        </p:nvSpPr>
        <p:spPr>
          <a:xfrm>
            <a:off x="82296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116AB310-3586-8690-D1D2-8A8CDF87DC8C}"/>
              </a:ext>
            </a:extLst>
          </p:cNvPr>
          <p:cNvSpPr/>
          <p:nvPr/>
        </p:nvSpPr>
        <p:spPr>
          <a:xfrm>
            <a:off x="1735560" y="1225440"/>
            <a:ext cx="219240" cy="16416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A6B87883-5F38-5732-8C69-0EC7EDF13866}"/>
              </a:ext>
            </a:extLst>
          </p:cNvPr>
          <p:cNvSpPr/>
          <p:nvPr/>
        </p:nvSpPr>
        <p:spPr>
          <a:xfrm>
            <a:off x="1735560" y="122076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73307CA3-7856-706B-3FFD-5DB33384D9A4}"/>
              </a:ext>
            </a:extLst>
          </p:cNvPr>
          <p:cNvSpPr/>
          <p:nvPr/>
        </p:nvSpPr>
        <p:spPr>
          <a:xfrm>
            <a:off x="841320" y="1435680"/>
            <a:ext cx="200772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100" b="1" u="none" strike="noStrike">
                <a:solidFill>
                  <a:srgbClr val="1C3565"/>
                </a:solidFill>
                <a:effectLst/>
                <a:uFillTx/>
                <a:latin typeface="Aptos"/>
              </a:rPr>
              <a:t>Crear repo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C3565"/>
                </a:solidFill>
                <a:effectLst/>
                <a:uFillTx/>
                <a:latin typeface="Aptos"/>
              </a:rPr>
              <a:t>y estructura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" name="Connector 8">
            <a:extLst>
              <a:ext uri="{FF2B5EF4-FFF2-40B4-BE49-F238E27FC236}">
                <a16:creationId xmlns:a16="http://schemas.microsoft.com/office/drawing/2014/main" id="{556D2394-E6C3-74D9-F883-9D9ACA389288}"/>
              </a:ext>
            </a:extLst>
          </p:cNvPr>
          <p:cNvCxnSpPr/>
          <p:nvPr/>
        </p:nvCxnSpPr>
        <p:spPr>
          <a:xfrm>
            <a:off x="286740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7" name="Rounded Rectangle 9">
            <a:extLst>
              <a:ext uri="{FF2B5EF4-FFF2-40B4-BE49-F238E27FC236}">
                <a16:creationId xmlns:a16="http://schemas.microsoft.com/office/drawing/2014/main" id="{5D1AC989-63A3-9D61-36F3-AB2887BA287A}"/>
              </a:ext>
            </a:extLst>
          </p:cNvPr>
          <p:cNvSpPr/>
          <p:nvPr/>
        </p:nvSpPr>
        <p:spPr>
          <a:xfrm>
            <a:off x="294084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B26434CF-35D9-0863-C21E-AEB7A569998E}"/>
              </a:ext>
            </a:extLst>
          </p:cNvPr>
          <p:cNvSpPr/>
          <p:nvPr/>
        </p:nvSpPr>
        <p:spPr>
          <a:xfrm>
            <a:off x="3853440" y="1225440"/>
            <a:ext cx="219240" cy="16416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18549F6A-6499-BEE2-A053-E61E95812FBC}"/>
              </a:ext>
            </a:extLst>
          </p:cNvPr>
          <p:cNvSpPr/>
          <p:nvPr/>
        </p:nvSpPr>
        <p:spPr>
          <a:xfrm>
            <a:off x="3853440" y="122076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5BC47889-86ED-FFBA-C238-27BDFFAC98FF}"/>
              </a:ext>
            </a:extLst>
          </p:cNvPr>
          <p:cNvSpPr/>
          <p:nvPr/>
        </p:nvSpPr>
        <p:spPr>
          <a:xfrm>
            <a:off x="2958840" y="1435680"/>
            <a:ext cx="200772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100" b="1" u="none" strike="noStrike">
                <a:solidFill>
                  <a:srgbClr val="1C3565"/>
                </a:solidFill>
                <a:effectLst/>
                <a:uFillTx/>
                <a:latin typeface="Aptos"/>
              </a:rPr>
              <a:t>Configurar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C3565"/>
                </a:solidFill>
                <a:effectLst/>
                <a:uFillTx/>
                <a:latin typeface="Aptos"/>
              </a:rPr>
              <a:t>.gitignore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" name="Connector 13">
            <a:extLst>
              <a:ext uri="{FF2B5EF4-FFF2-40B4-BE49-F238E27FC236}">
                <a16:creationId xmlns:a16="http://schemas.microsoft.com/office/drawing/2014/main" id="{D7019D2B-115B-53C2-1976-5C4885B838DB}"/>
              </a:ext>
            </a:extLst>
          </p:cNvPr>
          <p:cNvCxnSpPr/>
          <p:nvPr/>
        </p:nvCxnSpPr>
        <p:spPr>
          <a:xfrm>
            <a:off x="498528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2" name="Rounded Rectangle 14">
            <a:extLst>
              <a:ext uri="{FF2B5EF4-FFF2-40B4-BE49-F238E27FC236}">
                <a16:creationId xmlns:a16="http://schemas.microsoft.com/office/drawing/2014/main" id="{BBE71288-9913-F5D3-143C-7E35E25D8248}"/>
              </a:ext>
            </a:extLst>
          </p:cNvPr>
          <p:cNvSpPr/>
          <p:nvPr/>
        </p:nvSpPr>
        <p:spPr>
          <a:xfrm>
            <a:off x="505836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CE44FEAA-EC3C-4F07-5BB0-3F000752513C}"/>
              </a:ext>
            </a:extLst>
          </p:cNvPr>
          <p:cNvSpPr/>
          <p:nvPr/>
        </p:nvSpPr>
        <p:spPr>
          <a:xfrm>
            <a:off x="5970960" y="1225440"/>
            <a:ext cx="219240" cy="164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79EECCF4-6F26-CBAA-8E59-9CD8FB713E01}"/>
              </a:ext>
            </a:extLst>
          </p:cNvPr>
          <p:cNvSpPr/>
          <p:nvPr/>
        </p:nvSpPr>
        <p:spPr>
          <a:xfrm>
            <a:off x="5970960" y="122076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4409142B-29BC-C3DF-6B93-B6E7BB8FBD8C}"/>
              </a:ext>
            </a:extLst>
          </p:cNvPr>
          <p:cNvSpPr/>
          <p:nvPr/>
        </p:nvSpPr>
        <p:spPr>
          <a:xfrm>
            <a:off x="5076720" y="1435680"/>
            <a:ext cx="200772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100" b="1" u="none" strike="noStrike">
                <a:solidFill>
                  <a:srgbClr val="1C3565"/>
                </a:solidFill>
                <a:effectLst/>
                <a:uFillTx/>
                <a:latin typeface="Aptos"/>
              </a:rPr>
              <a:t>Publicar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C3565"/>
                </a:solidFill>
                <a:effectLst/>
                <a:uFillTx/>
                <a:latin typeface="Aptos"/>
              </a:rPr>
              <a:t>en GitHub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" name="Connector 18">
            <a:extLst>
              <a:ext uri="{FF2B5EF4-FFF2-40B4-BE49-F238E27FC236}">
                <a16:creationId xmlns:a16="http://schemas.microsoft.com/office/drawing/2014/main" id="{46BB325E-134D-5B96-EA06-687F936B9C2A}"/>
              </a:ext>
            </a:extLst>
          </p:cNvPr>
          <p:cNvCxnSpPr/>
          <p:nvPr/>
        </p:nvCxnSpPr>
        <p:spPr>
          <a:xfrm>
            <a:off x="710280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17" name="Rounded Rectangle 19">
            <a:extLst>
              <a:ext uri="{FF2B5EF4-FFF2-40B4-BE49-F238E27FC236}">
                <a16:creationId xmlns:a16="http://schemas.microsoft.com/office/drawing/2014/main" id="{EDF6649B-92BB-D50E-FE67-50362EF30F76}"/>
              </a:ext>
            </a:extLst>
          </p:cNvPr>
          <p:cNvSpPr/>
          <p:nvPr/>
        </p:nvSpPr>
        <p:spPr>
          <a:xfrm>
            <a:off x="717624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A855F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" name="Rectangle 20">
            <a:extLst>
              <a:ext uri="{FF2B5EF4-FFF2-40B4-BE49-F238E27FC236}">
                <a16:creationId xmlns:a16="http://schemas.microsoft.com/office/drawing/2014/main" id="{15F32F80-4F6C-9637-9C33-F3C2FA474CC2}"/>
              </a:ext>
            </a:extLst>
          </p:cNvPr>
          <p:cNvSpPr/>
          <p:nvPr/>
        </p:nvSpPr>
        <p:spPr>
          <a:xfrm>
            <a:off x="8088840" y="1225440"/>
            <a:ext cx="219240" cy="164160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044407E0-6EFA-A0B9-16F3-C17FC2D5C19C}"/>
              </a:ext>
            </a:extLst>
          </p:cNvPr>
          <p:cNvSpPr/>
          <p:nvPr/>
        </p:nvSpPr>
        <p:spPr>
          <a:xfrm>
            <a:off x="8088840" y="122076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Box 22">
            <a:extLst>
              <a:ext uri="{FF2B5EF4-FFF2-40B4-BE49-F238E27FC236}">
                <a16:creationId xmlns:a16="http://schemas.microsoft.com/office/drawing/2014/main" id="{533ED2BC-A200-C2D2-3BB3-2233A2FFFA11}"/>
              </a:ext>
            </a:extLst>
          </p:cNvPr>
          <p:cNvSpPr/>
          <p:nvPr/>
        </p:nvSpPr>
        <p:spPr>
          <a:xfrm>
            <a:off x="7194600" y="1435680"/>
            <a:ext cx="200772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100" b="1" u="none" strike="noStrike">
                <a:solidFill>
                  <a:srgbClr val="1C3565"/>
                </a:solidFill>
                <a:effectLst/>
                <a:uFillTx/>
                <a:latin typeface="Aptos"/>
              </a:rPr>
              <a:t>Tres errores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C3565"/>
                </a:solidFill>
                <a:effectLst/>
                <a:uFillTx/>
                <a:latin typeface="Aptos"/>
              </a:rPr>
              <a:t>tres decisiones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" name="Connector 23">
            <a:extLst>
              <a:ext uri="{FF2B5EF4-FFF2-40B4-BE49-F238E27FC236}">
                <a16:creationId xmlns:a16="http://schemas.microsoft.com/office/drawing/2014/main" id="{36D796A8-E058-83C9-693F-584286EF9CE8}"/>
              </a:ext>
            </a:extLst>
          </p:cNvPr>
          <p:cNvCxnSpPr/>
          <p:nvPr/>
        </p:nvCxnSpPr>
        <p:spPr>
          <a:xfrm>
            <a:off x="9220680" y="1737360"/>
            <a:ext cx="73440" cy="360"/>
          </a:xfrm>
          <a:prstGeom prst="straightConnector1">
            <a:avLst/>
          </a:prstGeom>
          <a:ln w="19050">
            <a:solidFill>
              <a:srgbClr val="7896B4"/>
            </a:solidFill>
            <a:round/>
          </a:ln>
        </p:spPr>
      </p:cxnSp>
      <p:sp>
        <p:nvSpPr>
          <p:cNvPr id="22" name="Rounded Rectangle 24">
            <a:extLst>
              <a:ext uri="{FF2B5EF4-FFF2-40B4-BE49-F238E27FC236}">
                <a16:creationId xmlns:a16="http://schemas.microsoft.com/office/drawing/2014/main" id="{6C97A8F8-9858-6677-FA9E-284715369D53}"/>
              </a:ext>
            </a:extLst>
          </p:cNvPr>
          <p:cNvSpPr/>
          <p:nvPr/>
        </p:nvSpPr>
        <p:spPr>
          <a:xfrm>
            <a:off x="9294120" y="1371600"/>
            <a:ext cx="2044080" cy="731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16A34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3D531F90-2EC9-1B8D-9D55-D462DEB57EBC}"/>
              </a:ext>
            </a:extLst>
          </p:cNvPr>
          <p:cNvSpPr/>
          <p:nvPr/>
        </p:nvSpPr>
        <p:spPr>
          <a:xfrm>
            <a:off x="10206360" y="1225440"/>
            <a:ext cx="219240" cy="1641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" name="TextBox 26">
            <a:extLst>
              <a:ext uri="{FF2B5EF4-FFF2-40B4-BE49-F238E27FC236}">
                <a16:creationId xmlns:a16="http://schemas.microsoft.com/office/drawing/2014/main" id="{242A63D0-745A-48AE-56C7-4FE38500EAE1}"/>
              </a:ext>
            </a:extLst>
          </p:cNvPr>
          <p:cNvSpPr/>
          <p:nvPr/>
        </p:nvSpPr>
        <p:spPr>
          <a:xfrm>
            <a:off x="10206360" y="122076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Box 27">
            <a:extLst>
              <a:ext uri="{FF2B5EF4-FFF2-40B4-BE49-F238E27FC236}">
                <a16:creationId xmlns:a16="http://schemas.microsoft.com/office/drawing/2014/main" id="{6A0F0AD4-2550-3112-4514-CA14906C92CA}"/>
              </a:ext>
            </a:extLst>
          </p:cNvPr>
          <p:cNvSpPr/>
          <p:nvPr/>
        </p:nvSpPr>
        <p:spPr>
          <a:xfrm>
            <a:off x="9312120" y="1435680"/>
            <a:ext cx="200772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6320" tIns="76320" rIns="76320" bIns="76320" anchor="ctr">
            <a:spAutoFit/>
          </a:bodyPr>
          <a:lstStyle/>
          <a:p>
            <a:r>
              <a:rPr lang="en-US" sz="1100" b="1" u="none" strike="noStrike">
                <a:solidFill>
                  <a:srgbClr val="1C3565"/>
                </a:solidFill>
                <a:effectLst/>
                <a:uFillTx/>
                <a:latin typeface="Aptos"/>
              </a:rPr>
              <a:t>PR + check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C3565"/>
                </a:solidFill>
                <a:effectLst/>
                <a:uFillTx/>
                <a:latin typeface="Aptos"/>
              </a:rPr>
              <a:t>y etiqueta v0.1.0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Rounded Rectangle 28">
            <a:extLst>
              <a:ext uri="{FF2B5EF4-FFF2-40B4-BE49-F238E27FC236}">
                <a16:creationId xmlns:a16="http://schemas.microsoft.com/office/drawing/2014/main" id="{CB365994-6032-6DBD-47C9-8E74B40F0D81}"/>
              </a:ext>
            </a:extLst>
          </p:cNvPr>
          <p:cNvSpPr/>
          <p:nvPr/>
        </p:nvSpPr>
        <p:spPr>
          <a:xfrm>
            <a:off x="1005840" y="2743200"/>
            <a:ext cx="9875160" cy="2011320"/>
          </a:xfrm>
          <a:prstGeom prst="roundRect">
            <a:avLst>
              <a:gd name="adj" fmla="val 16667"/>
            </a:avLst>
          </a:prstGeom>
          <a:solidFill>
            <a:srgbClr val="F5F7F9"/>
          </a:solidFill>
          <a:ln>
            <a:solidFill>
              <a:srgbClr val="B5CEC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1" u="none" strike="noStrike">
                <a:solidFill>
                  <a:srgbClr val="0A5C48"/>
                </a:solidFill>
                <a:effectLst/>
                <a:uFillTx/>
              </a:rPr>
              <a:t>Al salir de la sesión deberías poder…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Preparar el repositorio del curso como fuente de verdad.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Proteger el histórico de estados que sí deben conservarse.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Crear una rama, una PR, checks y una primera etiqueta.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400" b="0" u="none" strike="noStrike">
                <a:solidFill>
                  <a:srgbClr val="2D3436"/>
                </a:solidFill>
                <a:effectLst/>
                <a:uFillTx/>
              </a:rPr>
              <a:t>Distinguir entre versionar información útil y publicar secretos o ruido.</a:t>
            </a:r>
            <a:endParaRPr lang="en-US" sz="1400" b="0" u="none" strike="noStrike">
              <a:solidFill>
                <a:srgbClr val="000000"/>
              </a:solidFill>
              <a:effectLst/>
              <a:uFillTx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8">
            <a:extLst>
              <a:ext uri="{FF2B5EF4-FFF2-40B4-BE49-F238E27FC236}">
                <a16:creationId xmlns:a16="http://schemas.microsoft.com/office/drawing/2014/main" id="{7FC16846-633D-C74B-DD00-92F639BE091E}"/>
              </a:ext>
            </a:extLst>
          </p:cNvPr>
          <p:cNvSpPr/>
          <p:nvPr/>
        </p:nvSpPr>
        <p:spPr>
          <a:xfrm>
            <a:off x="1143000" y="5372100"/>
            <a:ext cx="9920880" cy="594000"/>
          </a:xfrm>
          <a:prstGeom prst="roundRect">
            <a:avLst>
              <a:gd name="adj" fmla="val 12308"/>
            </a:avLst>
          </a:prstGeom>
          <a:solidFill>
            <a:srgbClr val="FFFDE7"/>
          </a:solidFill>
          <a:ln w="16510">
            <a:solidFill>
              <a:srgbClr val="00ACC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0"/>
          <p:cNvSpPr/>
          <p:nvPr/>
        </p:nvSpPr>
        <p:spPr>
          <a:xfrm>
            <a:off x="0" y="0"/>
            <a:ext cx="12188520" cy="776880"/>
          </a:xfrm>
          <a:prstGeom prst="rect">
            <a:avLst/>
          </a:prstGeom>
          <a:solidFill>
            <a:srgbClr val="004D40"/>
          </a:solidFill>
          <a:ln w="12700">
            <a:solidFill>
              <a:srgbClr val="004D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384120" y="18360"/>
            <a:ext cx="1142064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Cierre de la sesión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548640" y="6492240"/>
            <a:ext cx="1109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>
              <a:tabLst>
                <a:tab pos="0" algn="l"/>
              </a:tabLst>
            </a:pPr>
            <a:r>
              <a:rPr lang="en-US" sz="1050" dirty="0" err="1">
                <a:solidFill>
                  <a:srgbClr val="757575"/>
                </a:solidFill>
                <a:ea typeface="Arial"/>
              </a:rPr>
              <a:t>Despliegue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de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Aplicaciones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Web — Tema 1: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Sesión</a:t>
            </a:r>
            <a:r>
              <a:rPr lang="en-US" sz="1050" dirty="0">
                <a:solidFill>
                  <a:srgbClr val="757575"/>
                </a:solidFill>
                <a:ea typeface="Arial"/>
              </a:rPr>
              <a:t> 2 — Control de versions y </a:t>
            </a:r>
            <a:r>
              <a:rPr lang="en-US" sz="1050" dirty="0" err="1">
                <a:solidFill>
                  <a:srgbClr val="757575"/>
                </a:solidFill>
                <a:ea typeface="Arial"/>
              </a:rPr>
              <a:t>documentación</a:t>
            </a:r>
            <a:endParaRPr lang="en-US" sz="1050" dirty="0">
              <a:solidFill>
                <a:srgbClr val="000000"/>
              </a:solidFill>
            </a:endParaRPr>
          </a:p>
        </p:txBody>
      </p:sp>
      <p:sp>
        <p:nvSpPr>
          <p:cNvPr id="183" name="Text 3"/>
          <p:cNvSpPr/>
          <p:nvPr/>
        </p:nvSpPr>
        <p:spPr>
          <a:xfrm>
            <a:off x="548640" y="1024200"/>
            <a:ext cx="110912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4D40"/>
                </a:solidFill>
                <a:effectLst/>
                <a:uFillTx/>
                <a:latin typeface="Arial"/>
                <a:ea typeface="Arial"/>
              </a:rPr>
              <a:t>Lo mínimo que debe quedar claro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868680" y="1828800"/>
            <a:ext cx="10469520" cy="31363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dirty="0">
                <a:solidFill>
                  <a:srgbClr val="2D3436"/>
                </a:solidFill>
              </a:rPr>
              <a:t>✓  Git </a:t>
            </a:r>
            <a:r>
              <a:rPr lang="en-US" dirty="0" err="1">
                <a:solidFill>
                  <a:srgbClr val="2D3436"/>
                </a:solidFill>
              </a:rPr>
              <a:t>registra</a:t>
            </a:r>
            <a:r>
              <a:rPr lang="en-US" dirty="0">
                <a:solidFill>
                  <a:srgbClr val="2D3436"/>
                </a:solidFill>
              </a:rPr>
              <a:t> </a:t>
            </a:r>
            <a:r>
              <a:rPr lang="en-US" dirty="0" err="1">
                <a:solidFill>
                  <a:srgbClr val="2D3436"/>
                </a:solidFill>
              </a:rPr>
              <a:t>estados</a:t>
            </a:r>
            <a:r>
              <a:rPr lang="en-US" dirty="0">
                <a:solidFill>
                  <a:srgbClr val="2D3436"/>
                </a:solidFill>
              </a:rPr>
              <a:t>; el </a:t>
            </a:r>
            <a:r>
              <a:rPr lang="en-US" dirty="0" err="1">
                <a:solidFill>
                  <a:srgbClr val="2D3436"/>
                </a:solidFill>
              </a:rPr>
              <a:t>flujo</a:t>
            </a:r>
            <a:r>
              <a:rPr lang="en-US" dirty="0">
                <a:solidFill>
                  <a:srgbClr val="2D3436"/>
                </a:solidFill>
              </a:rPr>
              <a:t> </a:t>
            </a:r>
            <a:r>
              <a:rPr lang="en-US" dirty="0" err="1">
                <a:solidFill>
                  <a:srgbClr val="2D3436"/>
                </a:solidFill>
              </a:rPr>
              <a:t>básico</a:t>
            </a:r>
            <a:r>
              <a:rPr lang="en-US" dirty="0">
                <a:solidFill>
                  <a:srgbClr val="2D3436"/>
                </a:solidFill>
              </a:rPr>
              <a:t> es </a:t>
            </a:r>
            <a:r>
              <a:rPr lang="en-US" dirty="0" err="1">
                <a:solidFill>
                  <a:srgbClr val="2D3436"/>
                </a:solidFill>
              </a:rPr>
              <a:t>directorio</a:t>
            </a:r>
            <a:r>
              <a:rPr lang="en-US" dirty="0">
                <a:solidFill>
                  <a:srgbClr val="2D3436"/>
                </a:solidFill>
              </a:rPr>
              <a:t> de </a:t>
            </a:r>
            <a:r>
              <a:rPr lang="en-US" dirty="0" err="1">
                <a:solidFill>
                  <a:srgbClr val="2D3436"/>
                </a:solidFill>
              </a:rPr>
              <a:t>trabajo</a:t>
            </a:r>
            <a:r>
              <a:rPr lang="en-US" dirty="0">
                <a:solidFill>
                  <a:srgbClr val="2D3436"/>
                </a:solidFill>
              </a:rPr>
              <a:t> → staging → commit.</a:t>
            </a:r>
            <a:endParaRPr lang="en-US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.</a:t>
            </a:r>
            <a:r>
              <a:rPr lang="en-US" sz="1600" dirty="0" err="1">
                <a:solidFill>
                  <a:srgbClr val="2D3436"/>
                </a:solidFill>
              </a:rPr>
              <a:t>gitignore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evita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nuevas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incorporaciones</a:t>
            </a:r>
            <a:r>
              <a:rPr lang="en-US" sz="1600" dirty="0">
                <a:solidFill>
                  <a:srgbClr val="2D3436"/>
                </a:solidFill>
              </a:rPr>
              <a:t>, </a:t>
            </a:r>
            <a:r>
              <a:rPr lang="en-US" sz="1600" dirty="0" err="1">
                <a:solidFill>
                  <a:srgbClr val="2D3436"/>
                </a:solidFill>
              </a:rPr>
              <a:t>pero</a:t>
            </a:r>
            <a:r>
              <a:rPr lang="en-US" sz="1600" dirty="0">
                <a:solidFill>
                  <a:srgbClr val="2D3436"/>
                </a:solidFill>
              </a:rPr>
              <a:t> no borra el </a:t>
            </a:r>
            <a:r>
              <a:rPr lang="en-US" sz="1600" dirty="0" err="1">
                <a:solidFill>
                  <a:srgbClr val="2D3436"/>
                </a:solidFill>
              </a:rPr>
              <a:t>pasado</a:t>
            </a:r>
            <a:r>
              <a:rPr lang="en-US" sz="1600" dirty="0">
                <a:solidFill>
                  <a:srgbClr val="2D3436"/>
                </a:solidFill>
              </a:rPr>
              <a:t>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Un </a:t>
            </a:r>
            <a:r>
              <a:rPr lang="en-US" sz="1600" dirty="0" err="1">
                <a:solidFill>
                  <a:srgbClr val="2D3436"/>
                </a:solidFill>
              </a:rPr>
              <a:t>secreto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publicado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debe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revocarse</a:t>
            </a:r>
            <a:r>
              <a:rPr lang="en-US" sz="1600" dirty="0">
                <a:solidFill>
                  <a:srgbClr val="2D3436"/>
                </a:solidFill>
              </a:rPr>
              <a:t> o </a:t>
            </a:r>
            <a:r>
              <a:rPr lang="en-US" sz="1600" dirty="0" err="1">
                <a:solidFill>
                  <a:srgbClr val="2D3436"/>
                </a:solidFill>
              </a:rPr>
              <a:t>cambiarse</a:t>
            </a:r>
            <a:r>
              <a:rPr lang="en-US" sz="1600" dirty="0">
                <a:solidFill>
                  <a:srgbClr val="2D3436"/>
                </a:solidFill>
              </a:rPr>
              <a:t>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En el </a:t>
            </a:r>
            <a:r>
              <a:rPr lang="en-US" sz="1600" dirty="0" err="1">
                <a:solidFill>
                  <a:srgbClr val="2D3436"/>
                </a:solidFill>
              </a:rPr>
              <a:t>módulo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trabajaremos</a:t>
            </a:r>
            <a:r>
              <a:rPr lang="en-US" sz="1600" dirty="0">
                <a:solidFill>
                  <a:srgbClr val="2D3436"/>
                </a:solidFill>
              </a:rPr>
              <a:t> con </a:t>
            </a:r>
            <a:r>
              <a:rPr lang="en-US" sz="1600" dirty="0" err="1">
                <a:solidFill>
                  <a:srgbClr val="2D3436"/>
                </a:solidFill>
              </a:rPr>
              <a:t>rama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corta</a:t>
            </a:r>
            <a:r>
              <a:rPr lang="en-US" sz="1600" dirty="0">
                <a:solidFill>
                  <a:srgbClr val="2D3436"/>
                </a:solidFill>
              </a:rPr>
              <a:t> → Pull Request → </a:t>
            </a:r>
            <a:r>
              <a:rPr lang="en-US" sz="1600" dirty="0" err="1">
                <a:solidFill>
                  <a:srgbClr val="2D3436"/>
                </a:solidFill>
              </a:rPr>
              <a:t>comprobaciones</a:t>
            </a:r>
            <a:r>
              <a:rPr lang="en-US" sz="1600" dirty="0">
                <a:solidFill>
                  <a:srgbClr val="2D3436"/>
                </a:solidFill>
              </a:rPr>
              <a:t> → main.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Las </a:t>
            </a:r>
            <a:r>
              <a:rPr lang="en-US" sz="1600" dirty="0" err="1">
                <a:solidFill>
                  <a:srgbClr val="2D3436"/>
                </a:solidFill>
              </a:rPr>
              <a:t>ramas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avanzan</a:t>
            </a:r>
            <a:r>
              <a:rPr lang="en-US" sz="1600" dirty="0">
                <a:solidFill>
                  <a:srgbClr val="2D3436"/>
                </a:solidFill>
              </a:rPr>
              <a:t>; las </a:t>
            </a:r>
            <a:r>
              <a:rPr lang="en-US" sz="1600" dirty="0" err="1">
                <a:solidFill>
                  <a:srgbClr val="2D3436"/>
                </a:solidFill>
              </a:rPr>
              <a:t>etiquetas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identifican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estados</a:t>
            </a:r>
            <a:r>
              <a:rPr lang="en-US" sz="1600" dirty="0">
                <a:solidFill>
                  <a:srgbClr val="2D3436"/>
                </a:solidFill>
              </a:rPr>
              <a:t> </a:t>
            </a:r>
            <a:r>
              <a:rPr lang="en-US" sz="1600" dirty="0" err="1">
                <a:solidFill>
                  <a:srgbClr val="2D3436"/>
                </a:solidFill>
              </a:rPr>
              <a:t>concretos</a:t>
            </a:r>
            <a:r>
              <a:rPr lang="en-US" sz="1600" dirty="0">
                <a:solidFill>
                  <a:srgbClr val="2D3436"/>
                </a:solidFill>
              </a:rPr>
              <a:t>.</a:t>
            </a:r>
            <a:endParaRPr lang="en-US" sz="1600" dirty="0">
              <a:solidFill>
                <a:srgbClr val="000000"/>
              </a:solidFill>
            </a:endParaRPr>
          </a:p>
          <a:p>
            <a:pPr defTabSz="457200">
              <a:lnSpc>
                <a:spcPct val="100000"/>
              </a:lnSpc>
              <a:spcAft>
                <a:spcPts val="600"/>
              </a:spcAft>
            </a:pPr>
            <a:r>
              <a:rPr lang="en-US" sz="1600" dirty="0">
                <a:solidFill>
                  <a:srgbClr val="2D3436"/>
                </a:solidFill>
              </a:rPr>
              <a:t>✓  La </a:t>
            </a:r>
            <a:r>
              <a:rPr lang="en-US" sz="1600" dirty="0" err="1">
                <a:solidFill>
                  <a:srgbClr val="2D3436"/>
                </a:solidFill>
              </a:rPr>
              <a:t>documentación</a:t>
            </a:r>
            <a:r>
              <a:rPr lang="en-US" sz="1600" dirty="0">
                <a:solidFill>
                  <a:srgbClr val="2D3436"/>
                </a:solidFill>
              </a:rPr>
              <a:t> también forma </a:t>
            </a:r>
            <a:r>
              <a:rPr lang="en-US" sz="1600" dirty="0" err="1">
                <a:solidFill>
                  <a:srgbClr val="2D3436"/>
                </a:solidFill>
              </a:rPr>
              <a:t>parte</a:t>
            </a:r>
            <a:r>
              <a:rPr lang="en-US" sz="1600" dirty="0">
                <a:solidFill>
                  <a:srgbClr val="2D3436"/>
                </a:solidFill>
              </a:rPr>
              <a:t> del </a:t>
            </a:r>
            <a:r>
              <a:rPr lang="en-US" sz="1600" dirty="0" err="1">
                <a:solidFill>
                  <a:srgbClr val="2D3436"/>
                </a:solidFill>
              </a:rPr>
              <a:t>despliegue</a:t>
            </a:r>
            <a:r>
              <a:rPr lang="en-US" sz="1600" dirty="0">
                <a:solidFill>
                  <a:srgbClr val="2D3436"/>
                </a:solidFill>
              </a:rPr>
              <a:t> reproducible.</a:t>
            </a:r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187" name="Text 7"/>
          <p:cNvSpPr/>
          <p:nvPr/>
        </p:nvSpPr>
        <p:spPr>
          <a:xfrm>
            <a:off x="1124640" y="5459040"/>
            <a:ext cx="99576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dirty="0" err="1">
                <a:solidFill>
                  <a:srgbClr val="1C3565"/>
                </a:solidFill>
                <a:latin typeface="Aptos"/>
              </a:rPr>
              <a:t>Próxima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sesión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: 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repositorio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se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convertirá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en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la base del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empaquetado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 con </a:t>
            </a:r>
            <a:r>
              <a:rPr lang="en-US" dirty="0" err="1">
                <a:solidFill>
                  <a:srgbClr val="1C3565"/>
                </a:solidFill>
                <a:latin typeface="Aptos"/>
              </a:rPr>
              <a:t>contenedores</a:t>
            </a:r>
            <a:r>
              <a:rPr lang="en-US" dirty="0">
                <a:solidFill>
                  <a:srgbClr val="1C3565"/>
                </a:solidFill>
                <a:latin typeface="Aptos"/>
              </a:rPr>
              <a:t>.</a:t>
            </a:r>
            <a:endParaRPr lang="en-US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</TotalTime>
  <Words>1637</Words>
  <Application>Microsoft Office PowerPoint</Application>
  <PresentationFormat>Panorámica</PresentationFormat>
  <Paragraphs>282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IES Álvaro Falomir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Usuario</dc:creator>
  <cp:lastModifiedBy>ROIG AGUILAR, ALEJANDRO</cp:lastModifiedBy>
  <cp:revision>2</cp:revision>
  <dcterms:modified xsi:type="dcterms:W3CDTF">2026-09-18T06:42:12Z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2026-09-10T21:31:24Z</dcterms:created>
  <dc:creator>Alejandro Roig Aguilar</dc:creator>
  <dc:description/>
  <dc:language>en-US</dc:language>
  <cp:lastModifiedBy>Alejandro Roig Aguilar</cp:lastModifiedBy>
  <dcterms:modified xsi:type="dcterms:W3CDTF">2026-09-10T21:31:24Z</dcterms:modified>
  <cp:revision>1</cp:revision>
  <dc:subject>Tema 1 · Arquitecturas web y proceso de despliegue</dc:subject>
  <dc:title>Arquitecturas web y proceso de despliegue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14</vt:r8>
  </property>
  <property fmtid="{D5CDD505-2E9C-101B-9397-08002B2CF9AE}" pid="3" name="PresentationFormat">
    <vt:lpwstr>On-screen Show (16:9)</vt:lpwstr>
  </property>
  <property fmtid="{D5CDD505-2E9C-101B-9397-08002B2CF9AE}" pid="4" name="Slides">
    <vt:r8>14</vt:r8>
  </property>
</Properties>
</file>