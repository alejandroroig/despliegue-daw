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3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30E531D-D55E-4425-A517-59E5C01AB65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59ADFD-8574-4313-84F8-11B08BC016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358A90-62AA-4E7E-871C-5E646CD8E9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BA802A-3D8B-497A-9CD0-E8099CF05B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FBF501-5C65-4A3F-961A-A213932743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4655D1-9539-4607-A547-42BAC222EC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398416-050F-483C-84D6-ED168119BD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7D2D63-7C7A-47B7-A97D-52EB8F6571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52ADE4-796E-43EA-A217-C7E448E777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254AB1-9D29-4C3C-991E-52A51C31AD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C40D7F-AC1E-4B75-8F47-76FA39F410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F733FF-7FB5-4C04-A883-CC0FFB8781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ECE59B-81AB-4EFD-A382-3557238893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B7B221-1E84-427E-BAA6-4F210F74F1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12B49F-2D19-4CEF-81DF-2647E0EDFD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48640" y="50292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B2DFDB"/>
                </a:solidFill>
                <a:effectLst/>
                <a:uFillTx/>
                <a:latin typeface="Arial"/>
                <a:ea typeface="Arial"/>
              </a:rPr>
              <a:t>DESPLIEGUE DE APLICACIONES WEB  —  CURSO 2026/2027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48640" y="1417320"/>
            <a:ext cx="658332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Arquitecturas web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y proceso de despliegue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" name="Image 0" descr="/mnt/data/cover_vertical_teal.png"/>
          <p:cNvPicPr/>
          <p:nvPr/>
        </p:nvPicPr>
        <p:blipFill>
          <a:blip r:embed="rId3"/>
          <a:stretch/>
        </p:blipFill>
        <p:spPr>
          <a:xfrm>
            <a:off x="7662600" y="0"/>
            <a:ext cx="45259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2"/>
          <p:cNvSpPr/>
          <p:nvPr/>
        </p:nvSpPr>
        <p:spPr>
          <a:xfrm>
            <a:off x="0" y="5120640"/>
            <a:ext cx="7954920" cy="9140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548640" y="51206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Tema1 — Punto de </a:t>
            </a:r>
            <a:r>
              <a:rPr lang="en-US" sz="2000" b="0" i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partida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8">
            <a:extLst>
              <a:ext uri="{FF2B5EF4-FFF2-40B4-BE49-F238E27FC236}">
                <a16:creationId xmlns:a16="http://schemas.microsoft.com/office/drawing/2014/main" id="{202E9E35-E91D-7CA5-5F80-AB0BEF493C43}"/>
              </a:ext>
            </a:extLst>
          </p:cNvPr>
          <p:cNvSpPr/>
          <p:nvPr/>
        </p:nvSpPr>
        <p:spPr>
          <a:xfrm>
            <a:off x="937260" y="5463540"/>
            <a:ext cx="1056096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8A22B8BF-83E2-2834-3DD9-4038CBD7770C}"/>
              </a:ext>
            </a:extLst>
          </p:cNvPr>
          <p:cNvSpPr/>
          <p:nvPr/>
        </p:nvSpPr>
        <p:spPr>
          <a:xfrm>
            <a:off x="731520" y="2802240"/>
            <a:ext cx="4983120" cy="22586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797DD3CB-569C-37D1-6974-A9B31E671FAA}"/>
              </a:ext>
            </a:extLst>
          </p:cNvPr>
          <p:cNvSpPr/>
          <p:nvPr/>
        </p:nvSpPr>
        <p:spPr>
          <a:xfrm>
            <a:off x="6446520" y="2802240"/>
            <a:ext cx="4983120" cy="22586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Objetivo de la sesión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1: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1 —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Arquitecturas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y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proceso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548640" y="1097280"/>
            <a:ext cx="11091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Cambiar la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pregunta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548640" y="1581840"/>
            <a:ext cx="11091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de “¿</a:t>
            </a:r>
            <a:r>
              <a:rPr lang="en-US" sz="2200" b="0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funciona</a:t>
            </a:r>
            <a:r>
              <a:rPr lang="en-US" sz="2200" b="0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?” a “¿se </a:t>
            </a:r>
            <a:r>
              <a:rPr lang="en-US" sz="2200" b="0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puede</a:t>
            </a:r>
            <a:r>
              <a:rPr lang="en-US" sz="2200" b="0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0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desplegar</a:t>
            </a:r>
            <a:r>
              <a:rPr lang="en-US" sz="2200" b="0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?”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731520" y="2331720"/>
            <a:ext cx="4983120" cy="456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877680" y="2350080"/>
            <a:ext cx="46904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Funciona</a:t>
            </a: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mi </a:t>
            </a: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equipo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6446520" y="2331720"/>
            <a:ext cx="4983120" cy="456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592680" y="2350080"/>
            <a:ext cx="46904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Funciona</a:t>
            </a: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para </a:t>
            </a: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otros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987480" y="2971800"/>
            <a:ext cx="448020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Dependencias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locales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Datos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rutas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personales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Secretos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mal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ubicados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Pasos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recordados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 memoria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6702480" y="2971800"/>
            <a:ext cx="448020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Proceso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repetible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Configuración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externa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Evidencias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diagnóstico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Actualizaciones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controladas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5779080" y="3200400"/>
            <a:ext cx="5940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ACC1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1353240" y="5596200"/>
            <a:ext cx="9729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Idea clave: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desplegar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es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hacer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operativo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un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sistema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para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usuarios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reales.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Tecnologías cambian; buenas prácticas permanecen</a:t>
            </a:r>
          </a:p>
        </p:txBody>
      </p:sp>
      <p:sp>
        <p:nvSpPr>
          <p:cNvPr id="30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pic>
        <p:nvPicPr>
          <p:cNvPr id="32" name="Image 0" descr="/mnt/data/de_archivos_manuales_a_procesos_reproducibles.png"/>
          <p:cNvPicPr/>
          <p:nvPr/>
        </p:nvPicPr>
        <p:blipFill>
          <a:blip r:embed="rId3"/>
          <a:stretch/>
        </p:blipFill>
        <p:spPr>
          <a:xfrm>
            <a:off x="1705656" y="1005912"/>
            <a:ext cx="8780688" cy="5285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Qué buscamos en un despliegue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38" name="Text 3"/>
          <p:cNvSpPr/>
          <p:nvPr/>
        </p:nvSpPr>
        <p:spPr>
          <a:xfrm>
            <a:off x="548640" y="105156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Siete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propiedades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que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iremos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construyendo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poco a poco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" name="Table 0"/>
          <p:cNvGraphicFramePr/>
          <p:nvPr>
            <p:extLst>
              <p:ext uri="{D42A27DB-BD31-4B8C-83A1-F6EECF244321}">
                <p14:modId xmlns:p14="http://schemas.microsoft.com/office/powerpoint/2010/main" val="577834490"/>
              </p:ext>
            </p:extLst>
          </p:nvPr>
        </p:nvGraphicFramePr>
        <p:xfrm>
          <a:off x="914400" y="1783080"/>
          <a:ext cx="10332720" cy="394848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5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Propiedad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Significado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Reproducible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mismo procedimiento, resultado equivalente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Trazable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saber qué versión está funcionando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Configurable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mismo artefacto, distinta configuración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Seguro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secretos fuera del código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Observable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estado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, logs y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métricas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Escalable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capacidad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ante carga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Actualizable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cambiar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y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volver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atrás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0" name="Shape 4"/>
          <p:cNvSpPr/>
          <p:nvPr/>
        </p:nvSpPr>
        <p:spPr>
          <a:xfrm>
            <a:off x="914400" y="5824800"/>
            <a:ext cx="10332360" cy="502560"/>
          </a:xfrm>
          <a:prstGeom prst="roundRect">
            <a:avLst>
              <a:gd name="adj" fmla="val 14545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1170360" y="5934600"/>
            <a:ext cx="982044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No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todo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consigue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el primer día: el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módulo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irá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incorporando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estas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propiedades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por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capas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Entornos: desarrollo, staging y producción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45" name="Text 3"/>
          <p:cNvSpPr/>
          <p:nvPr/>
        </p:nvSpPr>
        <p:spPr>
          <a:xfrm>
            <a:off x="548640" y="1024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El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artefacto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debería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mantenerse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; la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configuración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cambia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4"/>
          <p:cNvSpPr/>
          <p:nvPr/>
        </p:nvSpPr>
        <p:spPr>
          <a:xfrm>
            <a:off x="548640" y="1737360"/>
            <a:ext cx="1954800" cy="73116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658440" y="1810440"/>
            <a:ext cx="1735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Desarrollo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2458080" y="1755720"/>
            <a:ext cx="420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2832840" y="1737360"/>
            <a:ext cx="1954800" cy="73116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2942640" y="1810440"/>
            <a:ext cx="1735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Staging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4741920" y="1755720"/>
            <a:ext cx="420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0"/>
          <p:cNvSpPr/>
          <p:nvPr/>
        </p:nvSpPr>
        <p:spPr>
          <a:xfrm>
            <a:off x="5117040" y="1737360"/>
            <a:ext cx="1954800" cy="73116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5226840" y="1810440"/>
            <a:ext cx="1735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Producción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7026120" y="1755720"/>
            <a:ext cx="420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3"/>
          <p:cNvSpPr/>
          <p:nvPr/>
        </p:nvSpPr>
        <p:spPr>
          <a:xfrm>
            <a:off x="7401240" y="1737360"/>
            <a:ext cx="1954800" cy="73116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4"/>
          <p:cNvSpPr/>
          <p:nvPr/>
        </p:nvSpPr>
        <p:spPr>
          <a:xfrm>
            <a:off x="7511040" y="1810440"/>
            <a:ext cx="1735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Monitorización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9310320" y="1755720"/>
            <a:ext cx="420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9685440" y="1737360"/>
            <a:ext cx="1954800" cy="73116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9794880" y="1810440"/>
            <a:ext cx="1735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Feedback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0" name="Table 0"/>
          <p:cNvGraphicFramePr/>
          <p:nvPr>
            <p:extLst>
              <p:ext uri="{D42A27DB-BD31-4B8C-83A1-F6EECF244321}">
                <p14:modId xmlns:p14="http://schemas.microsoft.com/office/powerpoint/2010/main" val="4235913619"/>
              </p:ext>
            </p:extLst>
          </p:nvPr>
        </p:nvGraphicFramePr>
        <p:xfrm>
          <a:off x="822960" y="2788920"/>
          <a:ext cx="10561320" cy="26701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3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Entorno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Para qué sirve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Qué cambia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3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Desarrollo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trabajar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rápido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datos de prueba, configuración local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3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Staging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validar antes de publicar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configuración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parecida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a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producción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3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Producción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usuarios reales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datos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reales,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seguridad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y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disponibilidad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1" name="Shape 18"/>
          <p:cNvSpPr/>
          <p:nvPr/>
        </p:nvSpPr>
        <p:spPr>
          <a:xfrm>
            <a:off x="822960" y="5623560"/>
            <a:ext cx="1056096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1078920" y="5733360"/>
            <a:ext cx="1004904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Regla práctica: no recompiles la aplicación solo para cambiar una contraseña o una URL.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8">
            <a:extLst>
              <a:ext uri="{FF2B5EF4-FFF2-40B4-BE49-F238E27FC236}">
                <a16:creationId xmlns:a16="http://schemas.microsoft.com/office/drawing/2014/main" id="{41D88379-6262-92F1-A258-86C27D9592C9}"/>
              </a:ext>
            </a:extLst>
          </p:cNvPr>
          <p:cNvSpPr/>
          <p:nvPr/>
        </p:nvSpPr>
        <p:spPr>
          <a:xfrm>
            <a:off x="813600" y="5765220"/>
            <a:ext cx="1056096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HTTP: el idioma del diagnóstico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66" name="Text 3"/>
          <p:cNvSpPr/>
          <p:nvPr/>
        </p:nvSpPr>
        <p:spPr>
          <a:xfrm>
            <a:off x="548640" y="102420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No es solo para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programar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APIs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777240" y="1947672"/>
            <a:ext cx="4708800" cy="14169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5"/>
          <p:cNvSpPr/>
          <p:nvPr/>
        </p:nvSpPr>
        <p:spPr>
          <a:xfrm>
            <a:off x="777240" y="1947672"/>
            <a:ext cx="72720" cy="14169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1033200" y="2057472"/>
            <a:ext cx="4251600" cy="119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GET /</a:t>
            </a:r>
            <a:r>
              <a:rPr lang="en-US" b="0" u="none" strike="noStrike" dirty="0" err="1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productos</a:t>
            </a: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 HTTP/1.1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Host: </a:t>
            </a:r>
            <a:r>
              <a:rPr lang="en-US" b="0" u="none" strike="noStrike" dirty="0" err="1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ejemplo.test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Accept: application/</a:t>
            </a:r>
            <a:r>
              <a:rPr lang="en-US" b="0" u="none" strike="noStrike" dirty="0" err="1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json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5523120" y="2267712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CC1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6172200" y="1947672"/>
            <a:ext cx="5211720" cy="14169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9"/>
          <p:cNvSpPr/>
          <p:nvPr/>
        </p:nvSpPr>
        <p:spPr>
          <a:xfrm>
            <a:off x="6172200" y="1947672"/>
            <a:ext cx="72720" cy="14169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6428160" y="2057472"/>
            <a:ext cx="4754520" cy="119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HTTP/1.1 200 OK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Content-Type: application/</a:t>
            </a:r>
            <a:r>
              <a:rPr lang="en-US" b="0" u="none" strike="noStrike" dirty="0" err="1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json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Courier New"/>
                <a:ea typeface="Courier New"/>
              </a:rPr>
              <a:t>Cache-Control: no-cache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4" name="Table 0"/>
          <p:cNvGraphicFramePr/>
          <p:nvPr>
            <p:extLst>
              <p:ext uri="{D42A27DB-BD31-4B8C-83A1-F6EECF244321}">
                <p14:modId xmlns:p14="http://schemas.microsoft.com/office/powerpoint/2010/main" val="1308940488"/>
              </p:ext>
            </p:extLst>
          </p:nvPr>
        </p:nvGraphicFramePr>
        <p:xfrm>
          <a:off x="1097280" y="3630168"/>
          <a:ext cx="9966960" cy="20206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136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Familia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Pista inicial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13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2xx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atendido correctamente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13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3xx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redirección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o nuevo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destino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13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4xx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problema con petición, recurso o acceso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13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5xx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servidor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o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componente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intermedio</a:t>
                      </a:r>
                      <a:r>
                        <a:rPr lang="en-US" sz="180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falla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" name="Text 12"/>
          <p:cNvSpPr/>
          <p:nvPr/>
        </p:nvSpPr>
        <p:spPr>
          <a:xfrm>
            <a:off x="1353240" y="5943600"/>
            <a:ext cx="94546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código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HTTP da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pista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; no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siempre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dice la causa exacta.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547A29B6-E8D0-B920-C121-B9105B34DC31}"/>
              </a:ext>
            </a:extLst>
          </p:cNvPr>
          <p:cNvSpPr/>
          <p:nvPr/>
        </p:nvSpPr>
        <p:spPr>
          <a:xfrm>
            <a:off x="1097280" y="1618632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dirty="0" err="1">
                <a:solidFill>
                  <a:srgbClr val="004D40"/>
                </a:solidFill>
                <a:latin typeface="Arial"/>
              </a:rPr>
              <a:t>Petición</a:t>
            </a:r>
            <a:endParaRPr lang="en-US" b="1" dirty="0">
              <a:solidFill>
                <a:srgbClr val="004D40"/>
              </a:solidFill>
              <a:latin typeface="Arial"/>
            </a:endParaRPr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A664BB0D-C496-49B0-E9C0-29826029EC88}"/>
              </a:ext>
            </a:extLst>
          </p:cNvPr>
          <p:cNvSpPr/>
          <p:nvPr/>
        </p:nvSpPr>
        <p:spPr>
          <a:xfrm>
            <a:off x="6428160" y="1618272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dirty="0">
                <a:solidFill>
                  <a:srgbClr val="004D40"/>
                </a:solidFill>
                <a:latin typeface="Arial"/>
              </a:rPr>
              <a:t>Respuesta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Estático y dinámico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 de Aplicaciones Web — Tema 1: Arquitecturas web y proceso de despliegue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548640" y="1024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La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diferencia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no es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si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cambia,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sino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si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hay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que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ejecutar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lógica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868680" y="1783080"/>
            <a:ext cx="5074560" cy="36572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868680" y="1783080"/>
            <a:ext cx="5074560" cy="548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1033200" y="1819800"/>
            <a:ext cx="47455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Contenido estático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1088280" y="2496240"/>
            <a:ext cx="485496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HTML, CSS, JS,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imágenes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El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fichero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ya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existe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servidor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web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puede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leerlo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entregarlo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Buen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candidato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a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caché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o CDN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6245280" y="1783080"/>
            <a:ext cx="5074560" cy="36572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6245280" y="1783080"/>
            <a:ext cx="5074560" cy="548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6409800" y="1819800"/>
            <a:ext cx="47455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Contenido dinámico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6464880" y="2496240"/>
            <a:ext cx="463572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 genera al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recibir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la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petición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Ejecuta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lógica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aplicación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Puede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consultar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bases de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datos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Depende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del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estado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del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sistema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8">
            <a:extLst>
              <a:ext uri="{FF2B5EF4-FFF2-40B4-BE49-F238E27FC236}">
                <a16:creationId xmlns:a16="http://schemas.microsoft.com/office/drawing/2014/main" id="{D01AF5F7-FDD3-CB1B-EDD9-D2617CDC1521}"/>
              </a:ext>
            </a:extLst>
          </p:cNvPr>
          <p:cNvSpPr/>
          <p:nvPr/>
        </p:nvSpPr>
        <p:spPr>
          <a:xfrm>
            <a:off x="813600" y="5765220"/>
            <a:ext cx="1056096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Capas lógicas ≠ unidades de despliegue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94" name="Text 3"/>
          <p:cNvSpPr/>
          <p:nvPr/>
        </p:nvSpPr>
        <p:spPr>
          <a:xfrm>
            <a:off x="548640" y="98748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Organizar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código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no decide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automáticamente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dónde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se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ejecuta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/mnt/data/capas_lógicas_y_despliegues_de_aplicaciones.png"/>
          <p:cNvPicPr/>
          <p:nvPr/>
        </p:nvPicPr>
        <p:blipFill>
          <a:blip r:embed="rId3"/>
          <a:stretch/>
        </p:blipFill>
        <p:spPr>
          <a:xfrm>
            <a:off x="2790900" y="1385100"/>
            <a:ext cx="6606360" cy="43479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5"/>
          <p:cNvSpPr/>
          <p:nvPr/>
        </p:nvSpPr>
        <p:spPr>
          <a:xfrm>
            <a:off x="813600" y="5898240"/>
            <a:ext cx="10560960" cy="2604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Pregunta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clave: ¿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cuántos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servidores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hacen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falta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para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una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aplicación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con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tres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capas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? Respuesta: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depende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Monolito no significa antiguo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101" name="Text 3"/>
          <p:cNvSpPr/>
          <p:nvPr/>
        </p:nvSpPr>
        <p:spPr>
          <a:xfrm>
            <a:off x="548640" y="1033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Microservicios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no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significan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automáticamente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mejor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4"/>
          <p:cNvSpPr/>
          <p:nvPr/>
        </p:nvSpPr>
        <p:spPr>
          <a:xfrm>
            <a:off x="868680" y="1828800"/>
            <a:ext cx="5074560" cy="31086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5"/>
          <p:cNvSpPr/>
          <p:nvPr/>
        </p:nvSpPr>
        <p:spPr>
          <a:xfrm>
            <a:off x="868680" y="1828800"/>
            <a:ext cx="5074560" cy="548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1033200" y="1865520"/>
            <a:ext cx="47455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Monolito modular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1088280" y="2541960"/>
            <a:ext cx="4782168" cy="21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unidad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desplegable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Menos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complejidad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operativa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Encaja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bien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equipos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pequeños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/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medios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Puede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organizarse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internamente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por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módulos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8"/>
          <p:cNvSpPr/>
          <p:nvPr/>
        </p:nvSpPr>
        <p:spPr>
          <a:xfrm>
            <a:off x="6245280" y="1828800"/>
            <a:ext cx="5074560" cy="31086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9"/>
          <p:cNvSpPr/>
          <p:nvPr/>
        </p:nvSpPr>
        <p:spPr>
          <a:xfrm>
            <a:off x="6245280" y="1828800"/>
            <a:ext cx="5074560" cy="548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6409800" y="1865520"/>
            <a:ext cx="47455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Microservicios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6464880" y="2541960"/>
            <a:ext cx="463572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Varias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unidades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desplegables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Escalado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ciclos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independientes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Más red, logs,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datos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coordinación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Solo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compensa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si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problema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lo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justifica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2"/>
          <p:cNvSpPr/>
          <p:nvPr/>
        </p:nvSpPr>
        <p:spPr>
          <a:xfrm>
            <a:off x="868680" y="5623560"/>
            <a:ext cx="10451160" cy="566640"/>
          </a:xfrm>
          <a:prstGeom prst="roundRect">
            <a:avLst>
              <a:gd name="adj" fmla="val 12903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1124640" y="5733360"/>
            <a:ext cx="9939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Regla: la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complejidad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debe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ser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proporcional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al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problema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2">
            <a:extLst>
              <a:ext uri="{FF2B5EF4-FFF2-40B4-BE49-F238E27FC236}">
                <a16:creationId xmlns:a16="http://schemas.microsoft.com/office/drawing/2014/main" id="{F85E6B08-7B71-50F0-0F05-B181A29A50FC}"/>
              </a:ext>
            </a:extLst>
          </p:cNvPr>
          <p:cNvSpPr/>
          <p:nvPr/>
        </p:nvSpPr>
        <p:spPr>
          <a:xfrm>
            <a:off x="868680" y="5650992"/>
            <a:ext cx="10451160" cy="566640"/>
          </a:xfrm>
          <a:prstGeom prst="roundRect">
            <a:avLst>
              <a:gd name="adj" fmla="val 12903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Piezas básicas de un despliegue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115" name="Text 3"/>
          <p:cNvSpPr/>
          <p:nvPr/>
        </p:nvSpPr>
        <p:spPr>
          <a:xfrm>
            <a:off x="548640" y="1033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Lo que debe existir además del código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868680" y="1783080"/>
            <a:ext cx="3337200" cy="1096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5"/>
          <p:cNvSpPr/>
          <p:nvPr/>
        </p:nvSpPr>
        <p:spPr>
          <a:xfrm>
            <a:off x="868680" y="1783080"/>
            <a:ext cx="3337200" cy="411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1033200" y="1819800"/>
            <a:ext cx="30081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Aplicación</a:t>
            </a: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/ runtime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1088280" y="2359080"/>
            <a:ext cx="2898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proceso que ejecuta lógica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8"/>
          <p:cNvSpPr/>
          <p:nvPr/>
        </p:nvSpPr>
        <p:spPr>
          <a:xfrm>
            <a:off x="4434840" y="1783080"/>
            <a:ext cx="3337200" cy="1096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4434840" y="1783080"/>
            <a:ext cx="3337200" cy="411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4599360" y="1819800"/>
            <a:ext cx="30081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Recursos estáticos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4654440" y="2221920"/>
            <a:ext cx="2898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HTML, CSS, JS,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imágenes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2"/>
          <p:cNvSpPr/>
          <p:nvPr/>
        </p:nvSpPr>
        <p:spPr>
          <a:xfrm>
            <a:off x="8001000" y="1783080"/>
            <a:ext cx="3337200" cy="1096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3"/>
          <p:cNvSpPr/>
          <p:nvPr/>
        </p:nvSpPr>
        <p:spPr>
          <a:xfrm>
            <a:off x="8001000" y="1783080"/>
            <a:ext cx="3337200" cy="411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8165520" y="1819800"/>
            <a:ext cx="30081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Datos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5"/>
          <p:cNvSpPr/>
          <p:nvPr/>
        </p:nvSpPr>
        <p:spPr>
          <a:xfrm>
            <a:off x="8220600" y="2221920"/>
            <a:ext cx="2898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base de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datos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persistencia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6"/>
          <p:cNvSpPr/>
          <p:nvPr/>
        </p:nvSpPr>
        <p:spPr>
          <a:xfrm>
            <a:off x="1691640" y="3291840"/>
            <a:ext cx="4160160" cy="1096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7"/>
          <p:cNvSpPr/>
          <p:nvPr/>
        </p:nvSpPr>
        <p:spPr>
          <a:xfrm>
            <a:off x="1691640" y="3291840"/>
            <a:ext cx="4160160" cy="411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1856160" y="3328560"/>
            <a:ext cx="3831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Configuración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9"/>
          <p:cNvSpPr/>
          <p:nvPr/>
        </p:nvSpPr>
        <p:spPr>
          <a:xfrm>
            <a:off x="1911240" y="3867840"/>
            <a:ext cx="372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valores por entorno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0"/>
          <p:cNvSpPr/>
          <p:nvPr/>
        </p:nvSpPr>
        <p:spPr>
          <a:xfrm>
            <a:off x="6336720" y="3291840"/>
            <a:ext cx="4160160" cy="1096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1"/>
          <p:cNvSpPr/>
          <p:nvPr/>
        </p:nvSpPr>
        <p:spPr>
          <a:xfrm>
            <a:off x="6336720" y="3291840"/>
            <a:ext cx="4160160" cy="411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6501240" y="3328560"/>
            <a:ext cx="3831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Secretos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3"/>
          <p:cNvSpPr/>
          <p:nvPr/>
        </p:nvSpPr>
        <p:spPr>
          <a:xfrm>
            <a:off x="6556320" y="3867840"/>
            <a:ext cx="372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credenciales y tokens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5"/>
          <p:cNvSpPr/>
          <p:nvPr/>
        </p:nvSpPr>
        <p:spPr>
          <a:xfrm>
            <a:off x="1124640" y="5733360"/>
            <a:ext cx="99576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arquitectura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puede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ser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sencilla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pero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estas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responsabilidades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no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desaparecen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Escaparate: el hilo conductor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141" name="Text 3"/>
          <p:cNvSpPr/>
          <p:nvPr/>
        </p:nvSpPr>
        <p:spPr>
          <a:xfrm>
            <a:off x="548640" y="1024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El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problema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interesante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no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será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programar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la app,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sino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desplegarla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868680" y="1783080"/>
            <a:ext cx="5211720" cy="3382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868680" y="1783080"/>
            <a:ext cx="5211720" cy="548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1033200" y="1819800"/>
            <a:ext cx="4882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Primera versión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1088280" y="2496240"/>
            <a:ext cx="477288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Frontend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servido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desde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Spring Boot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API y frontend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el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mismo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contenedor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puerto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Backend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empaquetado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como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WAR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ejecutable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PostgreSQL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como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base de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datos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Configuración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recibida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desde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fuera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6108120" y="1783080"/>
            <a:ext cx="5211720" cy="3382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9"/>
          <p:cNvSpPr/>
          <p:nvPr/>
        </p:nvSpPr>
        <p:spPr>
          <a:xfrm>
            <a:off x="6108120" y="1783080"/>
            <a:ext cx="5211720" cy="548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6272640" y="1819800"/>
            <a:ext cx="4882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Más adelante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1"/>
          <p:cNvSpPr/>
          <p:nvPr/>
        </p:nvSpPr>
        <p:spPr>
          <a:xfrm>
            <a:off x="6327720" y="2496240"/>
            <a:ext cx="477288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Separaremos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piezas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Añadiremos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Nginx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Mediremos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observaremos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Automatizaremos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con CI/CD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Orquestaremos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despliegues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868680" y="5650920"/>
            <a:ext cx="10451160" cy="548280"/>
          </a:xfrm>
          <a:prstGeom prst="roundRect">
            <a:avLst>
              <a:gd name="adj" fmla="val 13333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1124640" y="5760720"/>
            <a:ext cx="9939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Separar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frontend no </a:t>
            </a:r>
            <a:r>
              <a:rPr lang="en-US" sz="19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convierte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9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automáticamente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el </a:t>
            </a:r>
            <a:r>
              <a:rPr lang="en-US" sz="19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sistema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9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9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microservicios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Desplegar es un recorrido, no un salto</a:t>
            </a:r>
          </a:p>
        </p:txBody>
      </p:sp>
      <p:sp>
        <p:nvSpPr>
          <p:cNvPr id="154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pic>
        <p:nvPicPr>
          <p:cNvPr id="156" name="Image 0" descr="/mnt/data/del_código_al_usuario_flujo_de_despliegue.png"/>
          <p:cNvPicPr/>
          <p:nvPr/>
        </p:nvPicPr>
        <p:blipFill>
          <a:blip r:embed="rId3"/>
          <a:stretch/>
        </p:blipFill>
        <p:spPr>
          <a:xfrm>
            <a:off x="1530726" y="969624"/>
            <a:ext cx="9130548" cy="5303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Actividad</a:t>
            </a:r>
            <a:r>
              <a:rPr lang="en-U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1.1: </a:t>
            </a: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Qué se puede saber de un despliegue desde fuera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162" name="Text 3"/>
          <p:cNvSpPr/>
          <p:nvPr/>
        </p:nvSpPr>
        <p:spPr>
          <a:xfrm>
            <a:off x="548640" y="1024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Evidencia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inferencia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límites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548640" y="1737360"/>
            <a:ext cx="1954800" cy="77688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658440" y="1810440"/>
            <a:ext cx="173520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Predice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2458080" y="1755720"/>
            <a:ext cx="420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2832840" y="1737360"/>
            <a:ext cx="1954800" cy="77688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2942640" y="1810440"/>
            <a:ext cx="173520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Observa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4741920" y="1755720"/>
            <a:ext cx="420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5117040" y="1737360"/>
            <a:ext cx="1954800" cy="77688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5226840" y="1810440"/>
            <a:ext cx="173520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Captura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7026120" y="1755720"/>
            <a:ext cx="420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3"/>
          <p:cNvSpPr/>
          <p:nvPr/>
        </p:nvSpPr>
        <p:spPr>
          <a:xfrm>
            <a:off x="7401240" y="1737360"/>
            <a:ext cx="1954800" cy="77688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7511040" y="1810440"/>
            <a:ext cx="173520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Interpreta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9310320" y="1755720"/>
            <a:ext cx="420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6"/>
          <p:cNvSpPr/>
          <p:nvPr/>
        </p:nvSpPr>
        <p:spPr>
          <a:xfrm>
            <a:off x="9685440" y="1737360"/>
            <a:ext cx="1954800" cy="77688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524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9794880" y="1810440"/>
            <a:ext cx="173520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Concluye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7" name="Table 0"/>
          <p:cNvGraphicFramePr/>
          <p:nvPr>
            <p:extLst>
              <p:ext uri="{D42A27DB-BD31-4B8C-83A1-F6EECF244321}">
                <p14:modId xmlns:p14="http://schemas.microsoft.com/office/powerpoint/2010/main" val="286001585"/>
              </p:ext>
            </p:extLst>
          </p:nvPr>
        </p:nvGraphicFramePr>
        <p:xfrm>
          <a:off x="1143000" y="2926080"/>
          <a:ext cx="9921240" cy="235915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9788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1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Categoría</a:t>
                      </a:r>
                      <a:endParaRPr lang="en-US" sz="165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Significado</a:t>
                      </a:r>
                      <a:endParaRPr lang="en-US" sz="16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78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Observado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hay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evidencia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directa</a:t>
                      </a:r>
                      <a:endParaRPr lang="en-US" sz="16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78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Inferido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hay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indicios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,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pero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no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demostración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completa</a:t>
                      </a:r>
                      <a:endParaRPr lang="en-US" sz="16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78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1" u="none" strike="noStrike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observable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se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puede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conocer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desde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fuera con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esas</a:t>
                      </a:r>
                      <a:r>
                        <a:rPr lang="en-US" sz="1650" b="0" u="none" strike="noStrike" dirty="0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650" b="0" u="none" strike="noStrike" dirty="0" err="1">
                          <a:solidFill>
                            <a:srgbClr val="21212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herramientas</a:t>
                      </a:r>
                      <a:endParaRPr lang="en-US" sz="16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anchor="ctr">
                    <a:lnL w="8640">
                      <a:solidFill>
                        <a:srgbClr val="EEEEEE"/>
                      </a:solidFill>
                      <a:prstDash val="solid"/>
                    </a:lnL>
                    <a:lnR w="8640">
                      <a:solidFill>
                        <a:srgbClr val="EEEEEE"/>
                      </a:solidFill>
                      <a:prstDash val="solid"/>
                    </a:lnR>
                    <a:lnT w="8640">
                      <a:solidFill>
                        <a:srgbClr val="EEEEEE"/>
                      </a:solidFill>
                      <a:prstDash val="solid"/>
                    </a:lnT>
                    <a:lnB w="8640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8" name="Shape 18"/>
          <p:cNvSpPr/>
          <p:nvPr/>
        </p:nvSpPr>
        <p:spPr>
          <a:xfrm>
            <a:off x="1143000" y="5532120"/>
            <a:ext cx="992088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1398960" y="5641920"/>
            <a:ext cx="94089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Herramientas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iniciales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navegador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DevTools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curl.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8">
            <a:extLst>
              <a:ext uri="{FF2B5EF4-FFF2-40B4-BE49-F238E27FC236}">
                <a16:creationId xmlns:a16="http://schemas.microsoft.com/office/drawing/2014/main" id="{7FC16846-633D-C74B-DD00-92F639BE091E}"/>
              </a:ext>
            </a:extLst>
          </p:cNvPr>
          <p:cNvSpPr/>
          <p:nvPr/>
        </p:nvSpPr>
        <p:spPr>
          <a:xfrm>
            <a:off x="1143000" y="5372100"/>
            <a:ext cx="992088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0"/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Cierre de la sesión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Aplicaciones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— Tema 1: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Sesión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1 —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Arquitecturas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web y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proceso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ea typeface="Arial"/>
              </a:rPr>
              <a:t>despliegue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183" name="Text 3"/>
          <p:cNvSpPr/>
          <p:nvPr/>
        </p:nvSpPr>
        <p:spPr>
          <a:xfrm>
            <a:off x="548640" y="102420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Lo mínimo que debe quedar claro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"/>
          <p:cNvSpPr/>
          <p:nvPr/>
        </p:nvSpPr>
        <p:spPr>
          <a:xfrm>
            <a:off x="868680" y="1828800"/>
            <a:ext cx="10469520" cy="31363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301"/>
              </a:spcAft>
              <a:buFont typeface="Wingdings" panose="05000000000000000000" pitchFamily="2" charset="2"/>
              <a:buChar char="ü"/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Una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aplicación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que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solo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funciona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tu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equipo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todavía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no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está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desplegada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301"/>
              </a:spcAft>
              <a:buFont typeface="Wingdings" panose="05000000000000000000" pitchFamily="2" charset="2"/>
              <a:buChar char="ü"/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moderno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busca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reproducibilidad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trazabilidad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automatización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progresiva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301"/>
              </a:spcAft>
              <a:buFont typeface="Wingdings" panose="05000000000000000000" pitchFamily="2" charset="2"/>
              <a:buChar char="ü"/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HTTP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proporciona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pistas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útiles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para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diagnosticar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</a:p>
          <a:p>
            <a:pPr marL="285750" indent="-285750">
              <a:spcAft>
                <a:spcPts val="1301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rgbClr val="212121"/>
                </a:solidFill>
                <a:ea typeface="Arial"/>
              </a:rPr>
              <a:t>Capas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lógicas</a:t>
            </a:r>
            <a:r>
              <a:rPr lang="en-US" dirty="0">
                <a:solidFill>
                  <a:srgbClr val="212121"/>
                </a:solidFill>
                <a:ea typeface="Arial"/>
              </a:rPr>
              <a:t> y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unidades</a:t>
            </a:r>
            <a:r>
              <a:rPr lang="en-US" dirty="0">
                <a:solidFill>
                  <a:srgbClr val="212121"/>
                </a:solidFill>
                <a:ea typeface="Arial"/>
              </a:rPr>
              <a:t> de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despliegue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responden</a:t>
            </a:r>
            <a:r>
              <a:rPr lang="en-US" dirty="0">
                <a:solidFill>
                  <a:srgbClr val="212121"/>
                </a:solidFill>
                <a:ea typeface="Arial"/>
              </a:rPr>
              <a:t> a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preguntas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distintas</a:t>
            </a:r>
            <a:r>
              <a:rPr lang="en-US" dirty="0">
                <a:solidFill>
                  <a:srgbClr val="212121"/>
                </a:solidFill>
                <a:ea typeface="Arial"/>
              </a:rPr>
              <a:t>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spcAft>
                <a:spcPts val="1301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12121"/>
                </a:solidFill>
                <a:ea typeface="Arial"/>
              </a:rPr>
              <a:t>Monolito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puede</a:t>
            </a:r>
            <a:r>
              <a:rPr lang="en-US" dirty="0">
                <a:solidFill>
                  <a:srgbClr val="212121"/>
                </a:solidFill>
                <a:ea typeface="Arial"/>
              </a:rPr>
              <a:t> ser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una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solución</a:t>
            </a:r>
            <a:r>
              <a:rPr lang="en-US" dirty="0">
                <a:solidFill>
                  <a:srgbClr val="212121"/>
                </a:solidFill>
                <a:ea typeface="Arial"/>
              </a:rPr>
              <a:t> actual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si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está</a:t>
            </a:r>
            <a:r>
              <a:rPr lang="en-US" dirty="0">
                <a:solidFill>
                  <a:srgbClr val="212121"/>
                </a:solidFill>
                <a:ea typeface="Arial"/>
              </a:rPr>
              <a:t> bien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organizado</a:t>
            </a:r>
            <a:r>
              <a:rPr lang="en-US" dirty="0">
                <a:solidFill>
                  <a:srgbClr val="212121"/>
                </a:solidFill>
                <a:ea typeface="Arial"/>
              </a:rPr>
              <a:t>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spcAft>
                <a:spcPts val="1301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rgbClr val="212121"/>
                </a:solidFill>
                <a:ea typeface="Arial"/>
              </a:rPr>
              <a:t>Observar</a:t>
            </a:r>
            <a:r>
              <a:rPr lang="en-US" dirty="0">
                <a:solidFill>
                  <a:srgbClr val="212121"/>
                </a:solidFill>
                <a:ea typeface="Arial"/>
              </a:rPr>
              <a:t> no es lo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mismo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que</a:t>
            </a:r>
            <a:r>
              <a:rPr lang="en-US" dirty="0">
                <a:solidFill>
                  <a:srgbClr val="212121"/>
                </a:solidFill>
                <a:ea typeface="Arial"/>
              </a:rPr>
              <a:t> </a:t>
            </a:r>
            <a:r>
              <a:rPr lang="en-US" dirty="0" err="1">
                <a:solidFill>
                  <a:srgbClr val="212121"/>
                </a:solidFill>
                <a:ea typeface="Arial"/>
              </a:rPr>
              <a:t>inferir</a:t>
            </a:r>
            <a:r>
              <a:rPr lang="en-US" dirty="0">
                <a:solidFill>
                  <a:srgbClr val="212121"/>
                </a:solidFill>
                <a:ea typeface="Arial"/>
              </a:rPr>
              <a:t>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7" name="Text 7"/>
          <p:cNvSpPr/>
          <p:nvPr/>
        </p:nvSpPr>
        <p:spPr>
          <a:xfrm>
            <a:off x="1124640" y="5459040"/>
            <a:ext cx="99576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Próxima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: el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repositorio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convierte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la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fuente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verdad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982</Words>
  <Application>Microsoft Office PowerPoint</Application>
  <PresentationFormat>Panorámica</PresentationFormat>
  <Paragraphs>198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Courier New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IES Álvaro Falomir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</dc:creator>
  <cp:lastModifiedBy>ROIG AGUILAR, ALEJANDRO</cp:lastModifiedBy>
  <cp:revision>1</cp:revision>
  <dcterms:modified xsi:type="dcterms:W3CDTF">2026-09-15T15:40:12Z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2026-09-10T21:31:24Z</dcterms:created>
  <dc:creator>Alejandro Roig Aguilar</dc:creator>
  <dc:description/>
  <dc:language>en-US</dc:language>
  <cp:lastModifiedBy>Alejandro Roig Aguilar</cp:lastModifiedBy>
  <dcterms:modified xsi:type="dcterms:W3CDTF">2026-09-10T21:31:24Z</dcterms:modified>
  <cp:revision>1</cp:revision>
  <dc:subject>Tema 1 · Arquitecturas web y proceso de despliegue</dc:subject>
  <dc:title>Arquitecturas web y proceso de despliegue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14</vt:r8>
  </property>
</Properties>
</file>